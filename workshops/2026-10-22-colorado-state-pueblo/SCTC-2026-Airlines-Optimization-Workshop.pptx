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4" r:id="rId2"/>
    <p:sldId id="256" r:id="rId3"/>
    <p:sldId id="276" r:id="rId4"/>
    <p:sldId id="288" r:id="rId5"/>
    <p:sldId id="275" r:id="rId6"/>
    <p:sldId id="278" r:id="rId7"/>
    <p:sldId id="277" r:id="rId8"/>
    <p:sldId id="257" r:id="rId9"/>
    <p:sldId id="258" r:id="rId10"/>
    <p:sldId id="261" r:id="rId11"/>
    <p:sldId id="283" r:id="rId12"/>
    <p:sldId id="287" r:id="rId13"/>
    <p:sldId id="262" r:id="rId14"/>
    <p:sldId id="263" r:id="rId15"/>
    <p:sldId id="289" r:id="rId16"/>
    <p:sldId id="264" r:id="rId17"/>
    <p:sldId id="284" r:id="rId18"/>
    <p:sldId id="265" r:id="rId19"/>
    <p:sldId id="292" r:id="rId20"/>
    <p:sldId id="293" r:id="rId21"/>
    <p:sldId id="294" r:id="rId22"/>
    <p:sldId id="260" r:id="rId23"/>
    <p:sldId id="266" r:id="rId24"/>
    <p:sldId id="268" r:id="rId25"/>
    <p:sldId id="267" r:id="rId26"/>
    <p:sldId id="295" r:id="rId27"/>
    <p:sldId id="285" r:id="rId28"/>
    <p:sldId id="271" r:id="rId29"/>
    <p:sldId id="272" r:id="rId30"/>
    <p:sldId id="27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42B"/>
    <a:srgbClr val="F97316"/>
    <a:srgbClr val="F7F8FA"/>
    <a:srgbClr val="E9F1FB"/>
    <a:srgbClr val="F1F5F9"/>
    <a:srgbClr val="F9F2EE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247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B7D80-9A1B-459B-ADCD-49EFEE497B7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6DFAB4-4C9C-4453-833B-22B2A19EB338}">
      <dgm:prSet phldrT="[Text]" phldr="0" custT="1"/>
      <dgm:spPr/>
      <dgm:t>
        <a:bodyPr/>
        <a:lstStyle/>
        <a:p>
          <a:r>
            <a:rPr lang="en-US" sz="4000" b="1" dirty="0"/>
            <a:t>Adapt</a:t>
          </a:r>
        </a:p>
      </dgm:t>
    </dgm:pt>
    <dgm:pt modelId="{C0A306D7-42E9-45E8-BD4B-7B95BF673B5F}" type="parTrans" cxnId="{54C35C5D-9990-48AC-B043-F9EE02B63494}">
      <dgm:prSet/>
      <dgm:spPr/>
      <dgm:t>
        <a:bodyPr/>
        <a:lstStyle/>
        <a:p>
          <a:endParaRPr lang="en-US"/>
        </a:p>
      </dgm:t>
    </dgm:pt>
    <dgm:pt modelId="{9BF2DF7C-CCEB-4445-A14A-425E2A57FC2D}" type="sibTrans" cxnId="{54C35C5D-9990-48AC-B043-F9EE02B63494}">
      <dgm:prSet/>
      <dgm:spPr/>
      <dgm:t>
        <a:bodyPr/>
        <a:lstStyle/>
        <a:p>
          <a:endParaRPr lang="en-US"/>
        </a:p>
      </dgm:t>
    </dgm:pt>
    <dgm:pt modelId="{27DD6F7D-55BA-4AC1-975C-DF728B056618}">
      <dgm:prSet phldrT="[Text]" phldr="0" custT="1"/>
      <dgm:spPr/>
      <dgm:t>
        <a:bodyPr/>
        <a:lstStyle/>
        <a:p>
          <a:r>
            <a:rPr lang="en-US" sz="4000" b="1" dirty="0"/>
            <a:t>Learn</a:t>
          </a:r>
          <a:endParaRPr lang="en-US" sz="4400" b="1" dirty="0"/>
        </a:p>
      </dgm:t>
    </dgm:pt>
    <dgm:pt modelId="{C3C755E6-8ADA-4941-8AF7-201321C974DD}" type="parTrans" cxnId="{73E8E2D4-62B0-4FA4-BE4F-936E724A546B}">
      <dgm:prSet/>
      <dgm:spPr/>
      <dgm:t>
        <a:bodyPr/>
        <a:lstStyle/>
        <a:p>
          <a:endParaRPr lang="en-US"/>
        </a:p>
      </dgm:t>
    </dgm:pt>
    <dgm:pt modelId="{792B36C3-79A5-414B-AE18-146518492D70}" type="sibTrans" cxnId="{73E8E2D4-62B0-4FA4-BE4F-936E724A546B}">
      <dgm:prSet/>
      <dgm:spPr/>
      <dgm:t>
        <a:bodyPr/>
        <a:lstStyle/>
        <a:p>
          <a:endParaRPr lang="en-US"/>
        </a:p>
      </dgm:t>
    </dgm:pt>
    <dgm:pt modelId="{12019EC4-D26C-4A7E-837D-21CC1D6BF0E0}" type="pres">
      <dgm:prSet presAssocID="{FE9B7D80-9A1B-459B-ADCD-49EFEE497B73}" presName="cycle" presStyleCnt="0">
        <dgm:presLayoutVars>
          <dgm:dir/>
          <dgm:resizeHandles val="exact"/>
        </dgm:presLayoutVars>
      </dgm:prSet>
      <dgm:spPr/>
    </dgm:pt>
    <dgm:pt modelId="{73274EA0-3F4F-4B55-B2C8-DAE374E822EE}" type="pres">
      <dgm:prSet presAssocID="{376DFAB4-4C9C-4453-833B-22B2A19EB338}" presName="dummy" presStyleCnt="0"/>
      <dgm:spPr/>
    </dgm:pt>
    <dgm:pt modelId="{3567B15F-E0FD-44E4-B1E4-4EF47527B01D}" type="pres">
      <dgm:prSet presAssocID="{376DFAB4-4C9C-4453-833B-22B2A19EB338}" presName="node" presStyleLbl="revTx" presStyleIdx="0" presStyleCnt="2">
        <dgm:presLayoutVars>
          <dgm:bulletEnabled val="1"/>
        </dgm:presLayoutVars>
      </dgm:prSet>
      <dgm:spPr/>
    </dgm:pt>
    <dgm:pt modelId="{F47B4486-4893-449B-B6E8-F6B0C3165D0F}" type="pres">
      <dgm:prSet presAssocID="{9BF2DF7C-CCEB-4445-A14A-425E2A57FC2D}" presName="sibTrans" presStyleLbl="node1" presStyleIdx="0" presStyleCnt="2"/>
      <dgm:spPr/>
    </dgm:pt>
    <dgm:pt modelId="{C0C878E9-41AB-4F4A-A446-4831F54643E6}" type="pres">
      <dgm:prSet presAssocID="{27DD6F7D-55BA-4AC1-975C-DF728B056618}" presName="dummy" presStyleCnt="0"/>
      <dgm:spPr/>
    </dgm:pt>
    <dgm:pt modelId="{0CE4C7AF-0BB3-433F-89C4-1122CC6994E8}" type="pres">
      <dgm:prSet presAssocID="{27DD6F7D-55BA-4AC1-975C-DF728B056618}" presName="node" presStyleLbl="revTx" presStyleIdx="1" presStyleCnt="2">
        <dgm:presLayoutVars>
          <dgm:bulletEnabled val="1"/>
        </dgm:presLayoutVars>
      </dgm:prSet>
      <dgm:spPr/>
    </dgm:pt>
    <dgm:pt modelId="{5B45765C-EBFD-45CB-BA8F-20EB05C97DC9}" type="pres">
      <dgm:prSet presAssocID="{792B36C3-79A5-414B-AE18-146518492D70}" presName="sibTrans" presStyleLbl="node1" presStyleIdx="1" presStyleCnt="2"/>
      <dgm:spPr/>
    </dgm:pt>
  </dgm:ptLst>
  <dgm:cxnLst>
    <dgm:cxn modelId="{436C6310-6524-48B6-8107-22B21DE4C087}" type="presOf" srcId="{9BF2DF7C-CCEB-4445-A14A-425E2A57FC2D}" destId="{F47B4486-4893-449B-B6E8-F6B0C3165D0F}" srcOrd="0" destOrd="0" presId="urn:microsoft.com/office/officeart/2005/8/layout/cycle1"/>
    <dgm:cxn modelId="{B83C3720-5B49-4D24-A1A2-F67659859FE0}" type="presOf" srcId="{27DD6F7D-55BA-4AC1-975C-DF728B056618}" destId="{0CE4C7AF-0BB3-433F-89C4-1122CC6994E8}" srcOrd="0" destOrd="0" presId="urn:microsoft.com/office/officeart/2005/8/layout/cycle1"/>
    <dgm:cxn modelId="{569C0E29-F536-41EC-A051-996E6B801A82}" type="presOf" srcId="{FE9B7D80-9A1B-459B-ADCD-49EFEE497B73}" destId="{12019EC4-D26C-4A7E-837D-21CC1D6BF0E0}" srcOrd="0" destOrd="0" presId="urn:microsoft.com/office/officeart/2005/8/layout/cycle1"/>
    <dgm:cxn modelId="{54C35C5D-9990-48AC-B043-F9EE02B63494}" srcId="{FE9B7D80-9A1B-459B-ADCD-49EFEE497B73}" destId="{376DFAB4-4C9C-4453-833B-22B2A19EB338}" srcOrd="0" destOrd="0" parTransId="{C0A306D7-42E9-45E8-BD4B-7B95BF673B5F}" sibTransId="{9BF2DF7C-CCEB-4445-A14A-425E2A57FC2D}"/>
    <dgm:cxn modelId="{B21EA689-655F-4B46-9293-AD6BCF144C22}" type="presOf" srcId="{376DFAB4-4C9C-4453-833B-22B2A19EB338}" destId="{3567B15F-E0FD-44E4-B1E4-4EF47527B01D}" srcOrd="0" destOrd="0" presId="urn:microsoft.com/office/officeart/2005/8/layout/cycle1"/>
    <dgm:cxn modelId="{F4B451AA-5BAE-4837-A6F2-22450AFEDFA4}" type="presOf" srcId="{792B36C3-79A5-414B-AE18-146518492D70}" destId="{5B45765C-EBFD-45CB-BA8F-20EB05C97DC9}" srcOrd="0" destOrd="0" presId="urn:microsoft.com/office/officeart/2005/8/layout/cycle1"/>
    <dgm:cxn modelId="{73E8E2D4-62B0-4FA4-BE4F-936E724A546B}" srcId="{FE9B7D80-9A1B-459B-ADCD-49EFEE497B73}" destId="{27DD6F7D-55BA-4AC1-975C-DF728B056618}" srcOrd="1" destOrd="0" parTransId="{C3C755E6-8ADA-4941-8AF7-201321C974DD}" sibTransId="{792B36C3-79A5-414B-AE18-146518492D70}"/>
    <dgm:cxn modelId="{0AA1C26E-E2DF-455F-93D0-C64BF938F1D9}" type="presParOf" srcId="{12019EC4-D26C-4A7E-837D-21CC1D6BF0E0}" destId="{73274EA0-3F4F-4B55-B2C8-DAE374E822EE}" srcOrd="0" destOrd="0" presId="urn:microsoft.com/office/officeart/2005/8/layout/cycle1"/>
    <dgm:cxn modelId="{555FAC33-9673-4E2C-9167-8340B6DF37DD}" type="presParOf" srcId="{12019EC4-D26C-4A7E-837D-21CC1D6BF0E0}" destId="{3567B15F-E0FD-44E4-B1E4-4EF47527B01D}" srcOrd="1" destOrd="0" presId="urn:microsoft.com/office/officeart/2005/8/layout/cycle1"/>
    <dgm:cxn modelId="{4C44EB1E-2F26-4A3C-9A7F-030F93A257C8}" type="presParOf" srcId="{12019EC4-D26C-4A7E-837D-21CC1D6BF0E0}" destId="{F47B4486-4893-449B-B6E8-F6B0C3165D0F}" srcOrd="2" destOrd="0" presId="urn:microsoft.com/office/officeart/2005/8/layout/cycle1"/>
    <dgm:cxn modelId="{0D90AA66-96F0-4567-8E23-85250544AD33}" type="presParOf" srcId="{12019EC4-D26C-4A7E-837D-21CC1D6BF0E0}" destId="{C0C878E9-41AB-4F4A-A446-4831F54643E6}" srcOrd="3" destOrd="0" presId="urn:microsoft.com/office/officeart/2005/8/layout/cycle1"/>
    <dgm:cxn modelId="{7FE542CA-3047-4210-8869-9BBEAC66C7F5}" type="presParOf" srcId="{12019EC4-D26C-4A7E-837D-21CC1D6BF0E0}" destId="{0CE4C7AF-0BB3-433F-89C4-1122CC6994E8}" srcOrd="4" destOrd="0" presId="urn:microsoft.com/office/officeart/2005/8/layout/cycle1"/>
    <dgm:cxn modelId="{119B4E87-74FF-4313-B04B-5929E95A46C3}" type="presParOf" srcId="{12019EC4-D26C-4A7E-837D-21CC1D6BF0E0}" destId="{5B45765C-EBFD-45CB-BA8F-20EB05C97DC9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7B15F-E0FD-44E4-B1E4-4EF47527B01D}">
      <dsp:nvSpPr>
        <dsp:cNvPr id="0" name=""/>
        <dsp:cNvSpPr/>
      </dsp:nvSpPr>
      <dsp:spPr>
        <a:xfrm>
          <a:off x="3675830" y="1043781"/>
          <a:ext cx="1976437" cy="19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Adapt</a:t>
          </a:r>
        </a:p>
      </dsp:txBody>
      <dsp:txXfrm>
        <a:off x="3675830" y="1043781"/>
        <a:ext cx="1976437" cy="1976437"/>
      </dsp:txXfrm>
    </dsp:sp>
    <dsp:sp modelId="{F47B4486-4893-449B-B6E8-F6B0C3165D0F}">
      <dsp:nvSpPr>
        <dsp:cNvPr id="0" name=""/>
        <dsp:cNvSpPr/>
      </dsp:nvSpPr>
      <dsp:spPr>
        <a:xfrm>
          <a:off x="1014428" y="-1571"/>
          <a:ext cx="4067142" cy="4067142"/>
        </a:xfrm>
        <a:prstGeom prst="circularArrow">
          <a:avLst>
            <a:gd name="adj1" fmla="val 9476"/>
            <a:gd name="adj2" fmla="val 684342"/>
            <a:gd name="adj3" fmla="val 7853762"/>
            <a:gd name="adj4" fmla="val 2261896"/>
            <a:gd name="adj5" fmla="val 11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4C7AF-0BB3-433F-89C4-1122CC6994E8}">
      <dsp:nvSpPr>
        <dsp:cNvPr id="0" name=""/>
        <dsp:cNvSpPr/>
      </dsp:nvSpPr>
      <dsp:spPr>
        <a:xfrm>
          <a:off x="443732" y="1043781"/>
          <a:ext cx="1976437" cy="19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Learn</a:t>
          </a:r>
          <a:endParaRPr lang="en-US" sz="4400" b="1" kern="1200" dirty="0"/>
        </a:p>
      </dsp:txBody>
      <dsp:txXfrm>
        <a:off x="443732" y="1043781"/>
        <a:ext cx="1976437" cy="1976437"/>
      </dsp:txXfrm>
    </dsp:sp>
    <dsp:sp modelId="{5B45765C-EBFD-45CB-BA8F-20EB05C97DC9}">
      <dsp:nvSpPr>
        <dsp:cNvPr id="0" name=""/>
        <dsp:cNvSpPr/>
      </dsp:nvSpPr>
      <dsp:spPr>
        <a:xfrm>
          <a:off x="1014428" y="-1571"/>
          <a:ext cx="4067142" cy="4067142"/>
        </a:xfrm>
        <a:prstGeom prst="circularArrow">
          <a:avLst>
            <a:gd name="adj1" fmla="val 9476"/>
            <a:gd name="adj2" fmla="val 684342"/>
            <a:gd name="adj3" fmla="val 18653762"/>
            <a:gd name="adj4" fmla="val 13061896"/>
            <a:gd name="adj5" fmla="val 11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8B69-4B04-442E-A249-3DCED873EEF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E717D-2DA7-42E8-9D35-D8C4861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C3CA-049D-ED21-409A-D7C65A1E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25674-1CB4-5C65-CB8E-A48468C88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6E2C4-47D3-23F1-D6D9-9AF7635EF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AB952-5644-29B1-EE3A-3514229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83888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762C-DE22-5FEC-CE3D-A7BB5BF8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F6DB3-C39E-E752-E7FD-ED95C7087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1B9D5-5555-F473-F6CE-4E77AA097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3A04F-A6EC-B4AD-B756-25F49554F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1025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0DA5-3219-21B5-FF05-72EF0036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52076-553C-1F92-DE0D-E5CCD869F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BD9AC-625B-C659-2AE5-CF487F610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These are 4 big elements to create a DSS. We are only going to scratch the surface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F753-B632-DCD6-5785-89FCB10AC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54418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9A71-D8D3-B13E-23AA-8B86985E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D7736-6D63-C3EB-16FC-1A1E69D3B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6A43F-9735-828D-8E7D-35BE98D6E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110A3-CF59-8354-C154-047A45BF1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02476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740E-3CE4-68A6-CBBF-310AC75B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BC363-5CA3-8939-3156-321946DF1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2F113-88B8-78CE-F626-6437846CC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Implications:</a:t>
            </a:r>
          </a:p>
          <a:p>
            <a:pPr marL="171450" indent="-171450">
              <a:buFontTx/>
              <a:buChar char="-"/>
            </a:pPr>
            <a:r>
              <a:rPr lang="en-US" dirty="0"/>
              <a:t>A decision is useful if someone uses it</a:t>
            </a:r>
          </a:p>
          <a:p>
            <a:pPr marL="171450" indent="-171450">
              <a:buFontTx/>
              <a:buChar char="-"/>
            </a:pPr>
            <a:r>
              <a:rPr lang="en-US" dirty="0"/>
              <a:t>A DSS requires software because it is run recurringly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5604D-3B0D-CE2F-4204-8804F1DF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774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STORY TALKING POINTS</a:t>
            </a:r>
            <a:endParaRPr lang="en-US" dirty="0"/>
          </a:p>
          <a:p>
            <a:r>
              <a:rPr lang="en-US" dirty="0"/>
              <a:t>- What can go wrong?</a:t>
            </a:r>
            <a:endParaRPr dirty="0"/>
          </a:p>
          <a:p>
            <a:r>
              <a:rPr dirty="0"/>
              <a:t>- Answer: "optimal" only means optimal for the model as it was coded. Before acting I need</a:t>
            </a:r>
            <a:r>
              <a:rPr lang="en-US" dirty="0"/>
              <a:t> </a:t>
            </a:r>
            <a:r>
              <a:rPr dirty="0"/>
              <a:t>evidence on three things: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he data is correct and current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he model states </a:t>
            </a:r>
            <a:r>
              <a:rPr lang="en-US" dirty="0"/>
              <a:t>reasonably the</a:t>
            </a:r>
            <a:r>
              <a:rPr dirty="0"/>
              <a:t> business's</a:t>
            </a:r>
            <a:r>
              <a:rPr lang="en-US" dirty="0"/>
              <a:t> </a:t>
            </a:r>
            <a:r>
              <a:rPr dirty="0"/>
              <a:t>real objective and rules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he software computes what the model says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Basically: solving the right problem, and doing it right: validation &amp; verification.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STORY TALKING POINTS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translation may have errors: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first one: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Misunderstanding of the business problem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Over simplification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Under simplification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 second one: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Code does not do what it is supposed to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472E-C074-5588-B3A4-1B58C67D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C3150-96EC-9043-DF51-290D227CD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6C3F4-313F-48C3-69D1-FCA7EFD96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A0F93-EF18-AF01-C975-9C6BCC45B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1211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E576-97DB-254C-B8F4-AEC3BEAF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DBAE0-287E-7935-3C89-6AE074B56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1A7BC-9614-1F24-BD6C-6FC6F4A39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2712A-F3AF-173F-C029-F1F9F0B31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4247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5A00-C65C-9A91-AB1F-7843A51C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DC59-DB2E-EE70-EF16-C92696755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FF6C6-C3D1-BE7F-DC35-E92EFD703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18B22-8694-79F6-D061-0B4B3F14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4017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53C3-89CE-57F7-26A6-685CA2CA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0C246-7ABB-7F3E-758A-EF987CCE3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C336F-FFD8-1482-45BC-C45B3E5F6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3EAEB-1E08-CB83-7153-015949A4D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125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C4C4-FF65-2563-802F-816EAF40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2BA71-E4CC-2E81-9609-6BC957266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60B7A-459B-5133-C8D7-29B5CA70E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 would you plan your vacations if your family behave like this?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B64E5-8436-1179-4263-C0891150E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4169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2DFA-7EC7-0FFE-4D4A-B8C2C4C1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BF2F6-DFF2-56BD-F64E-8F5611EFD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62F48-B822-D853-98CA-2D21CF0BF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FC28-6EFA-A6A4-601C-5ED0C5288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5448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08ACA-01EE-96BF-024A-BC6E5F94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28794-1053-DFBB-28E8-9148716B5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77F65-9B7C-DC47-6F80-FB3760122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FCF82-2C49-6673-DFF1-27268C8DA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417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 | A DSS example design</a:t>
            </a:r>
          </a:p>
          <a:p>
            <a:r>
              <a:t>Suggested elapsed workshop minutes: 51–59 (90 minutes total).</a:t>
            </a:r>
          </a:p>
          <a:p>
            <a:endParaRPr/>
          </a:p>
          <a:p>
            <a:r>
              <a:t>PRESENTER GUIDE</a:t>
            </a:r>
          </a:p>
          <a:p>
            <a:r>
              <a:t>LIVE DEMO: Run python -m cli optimize_cargo SC101 from the prepared environment. Show each stage announcement, then interpret the recommendation: S1–S4, $9,600, 1,000 kg, two customers. Open src/: reading is adapters/json_data_loader.py; preprocessing, optimization and postprocessing are the folders under use_cases/solving/; output is adapters/console_result_writer.py. Explain each module’s single responsibility. Arrows show execution flow rather than dependency direction. Do not write code live. A successful run is not yet evidence of correctness; transition to the tests.</a:t>
            </a:r>
          </a:p>
          <a:p>
            <a:endParaRPr/>
          </a:p>
          <a:p>
            <a:r>
              <a:t>STORY TALKING POINTS</a:t>
            </a:r>
          </a:p>
          <a:p>
            <a:r>
              <a:t>- A DSS is usually divided into the same modules: reading data, preprocessing, optimization,</a:t>
            </a:r>
          </a:p>
          <a:p>
            <a:r>
              <a:t>  postprocessing, and presenting the result.</a:t>
            </a:r>
          </a:p>
          <a:p>
            <a:r>
              <a:t>- Run the first version on flight SC101: the console announces each stage in a box: Read data,</a:t>
            </a:r>
          </a:p>
          <a:p>
            <a:r>
              <a:t>  Preprocess, Solve, Postprocess, Result.</a:t>
            </a:r>
          </a:p>
          <a:p>
            <a:r>
              <a:t>- Open the repository: each box is one place in `src/`. Reading data is</a:t>
            </a:r>
          </a:p>
          <a:p>
            <a:r>
              <a:t>  `adapters/json_data_loader.py`; preprocessing, optimization and postprocessing are folders</a:t>
            </a:r>
          </a:p>
          <a:p>
            <a:r>
              <a:t>  under `use_cases/solving/`; presenting the result is `adapters/console_result_writer.py`.</a:t>
            </a:r>
          </a:p>
          <a:p>
            <a:r>
              <a:t>- Interpret the proposed load with the audience.</a:t>
            </a:r>
          </a:p>
          <a:p>
            <a:r>
              <a:t>- Connecting idea: the program produces a load, but does it compute what the model states? Tests</a:t>
            </a:r>
          </a:p>
          <a:p>
            <a:r>
              <a:t>  are the evidence.</a:t>
            </a:r>
          </a:p>
          <a:p>
            <a:endParaRPr/>
          </a:p>
          <a:p>
            <a:r>
              <a:t>Workshop source: assets/slide-story.md. Format reference: AGIFORS Annual Symposium 2026 deck.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7D91-8412-220F-6D36-096E6D95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E3096-389A-5616-718D-15A82864E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DAE2C-100D-5B17-FBEB-66B96D2A1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3D3FA-F838-52E1-4FF5-B1A5AD9BE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29236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265E-8522-2EF8-2153-8307665A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664D3-E6F9-1EB4-7CEA-067D0E55D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DD203-9C1D-2194-9BD4-CF103C387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4F74-2CD4-00A5-CEF5-F28FA9B85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5086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 | Questions and discussion</a:t>
            </a:r>
          </a:p>
          <a:p>
            <a:r>
              <a:t>Suggested elapsed workshop minutes: 80–90 (90 minutes total).</a:t>
            </a:r>
          </a:p>
          <a:p>
            <a:endParaRPr/>
          </a:p>
          <a:p>
            <a:r>
              <a:t>PRESENTER GUIDE</a:t>
            </a:r>
          </a:p>
          <a:p>
            <a:r>
              <a:t>DISCUSSION, 10 MINUTES: What remains unclear about turning a business request into decision-support software? Where would you apply learning and adaptation in your own project? Leave the QR visible throughout. If questions slow, invite an example from a student project and trace its next request through validation and verification. Close by returning to the cycle: the next business request begins another turn.</a:t>
            </a:r>
          </a:p>
          <a:p>
            <a:endParaRPr/>
          </a:p>
          <a:p>
            <a:r>
              <a:t>STORY TALKING POINTS</a:t>
            </a:r>
          </a:p>
          <a:p>
            <a:r>
              <a:t>- What remains unclear about turning a business request into decision-support software?</a:t>
            </a:r>
          </a:p>
          <a:p>
            <a:r>
              <a:t>- Where would you apply learning and adaptation in your own project?</a:t>
            </a:r>
          </a:p>
          <a:p>
            <a:r>
              <a:t>- Connecting idea: there is no next slide; the next business request starts validation and</a:t>
            </a:r>
          </a:p>
          <a:p>
            <a:r>
              <a:t>  verification again, back round the cycle of slide 5.</a:t>
            </a:r>
          </a:p>
          <a:p>
            <a:endParaRPr/>
          </a:p>
          <a:p>
            <a:r>
              <a:t>Workshop source: assets/slide-story.md. Format reference: AGIFORS Annual Symposium 2026 deck.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834B-6ACA-4DCF-8FEC-6DA8D66A44F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42BB-FC80-4FC9-8097-46A38978D0E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A1B7-07B7-4C4D-A283-31F92FCE7F90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BE28-8FDB-46DB-9BF4-C7F10DE8AB14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E0DE1-8F39-4938-B8BB-11B784D0D403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25D38-E93F-4B5A-AFA9-AE8C21D29AF9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8584-AEAC-4A7C-A864-63761EEEF0A2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9325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40DB-43C0-41DD-BC40-EAE2D5C708F7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A1139-968A-4504-947F-5E3A1813CD5D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F49B-A3CC-4BCE-A523-ADBE2BA279C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9F92-2623-4FF3-B5E5-906F0EF44E98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AF699-2753-49E1-9105-B789148E0EA9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efop/sefop-sctc-202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s.org/Professional-Development/INFORMS-Analytics-Framework/Explor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615880"/>
            <a:ext cx="9601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b="0" dirty="0">
                <a:solidFill>
                  <a:srgbClr val="E2EBF2"/>
                </a:solidFill>
                <a:latin typeface="Aptos"/>
              </a:rPr>
              <a:t>Southern Colorado Transportation Conference 2026</a:t>
            </a:r>
            <a:endParaRPr sz="1800" b="0" dirty="0">
              <a:solidFill>
                <a:srgbClr val="E2EBF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5850" y="1933778"/>
            <a:ext cx="10058400" cy="1107996"/>
          </a:xfrm>
          <a:prstGeom prst="rect">
            <a:avLst/>
          </a:prstGeom>
          <a:solidFill>
            <a:srgbClr val="07142B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ptos Display"/>
              </a:rPr>
              <a:t>Airlines Optimization Workshop: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Aptos Display"/>
              </a:rPr>
              <a:t>Industry best practices for a decision-support system</a:t>
            </a:r>
            <a:endParaRPr sz="3200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834187"/>
            <a:ext cx="105156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591500"/>
            <a:ext cx="1219200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Francisco Zenteno Smith</a:t>
            </a:r>
            <a:endParaRPr lang="en-US" sz="28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Senior Operations Research Scientist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American Airlines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About me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ACB328-ACAC-BB7F-0A9C-8C534476800F}"/>
              </a:ext>
            </a:extLst>
          </p:cNvPr>
          <p:cNvSpPr txBox="1"/>
          <p:nvPr/>
        </p:nvSpPr>
        <p:spPr>
          <a:xfrm>
            <a:off x="502920" y="2149419"/>
            <a:ext cx="80467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Senior Operations Research Scientist</a:t>
            </a:r>
            <a:r>
              <a:rPr lang="en-US"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 at </a:t>
            </a:r>
            <a:r>
              <a:rPr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
</a:t>
            </a:r>
            <a:r>
              <a:rPr lang="en-US" sz="2400" dirty="0">
                <a:solidFill>
                  <a:srgbClr val="2D3748"/>
                </a:solidFill>
                <a:latin typeface="Aptos" panose="020B0004020202020204" pitchFamily="34" charset="0"/>
              </a:rPr>
              <a:t>&gt; 10</a:t>
            </a:r>
            <a:r>
              <a:rPr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 years in applied Operations Research.</a:t>
            </a:r>
            <a:endParaRPr lang="en-US" sz="2400" b="0" i="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algn="l"/>
            <a:endParaRPr lang="en-US" sz="240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algn="l"/>
            <a:r>
              <a:rPr lang="en-US" sz="2400" dirty="0">
                <a:solidFill>
                  <a:srgbClr val="2D3748"/>
                </a:solidFill>
                <a:latin typeface="Aptos" panose="020B0004020202020204" pitchFamily="34" charset="0"/>
              </a:rPr>
              <a:t>Education</a:t>
            </a:r>
          </a:p>
          <a:p>
            <a:pPr marL="342900" indent="-342900" algn="l">
              <a:buFontTx/>
              <a:buChar char="-"/>
            </a:pPr>
            <a:r>
              <a:rPr lang="en-US"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Bache</a:t>
            </a:r>
            <a:r>
              <a:rPr lang="en-US" sz="2400" dirty="0">
                <a:solidFill>
                  <a:srgbClr val="2D3748"/>
                </a:solidFill>
                <a:latin typeface="Aptos" panose="020B0004020202020204" pitchFamily="34" charset="0"/>
              </a:rPr>
              <a:t>lors in Industrial Engineering PUC</a:t>
            </a:r>
          </a:p>
          <a:p>
            <a:pPr marL="342900" indent="-342900" algn="l">
              <a:buFontTx/>
              <a:buChar char="-"/>
            </a:pPr>
            <a:r>
              <a:rPr lang="en-US"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Masters in Operations Research PUC</a:t>
            </a:r>
            <a:r>
              <a:rPr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
</a:t>
            </a:r>
            <a:r>
              <a:rPr lang="en-US" sz="2400" b="0" i="0" dirty="0">
                <a:solidFill>
                  <a:srgbClr val="2D3748"/>
                </a:solidFill>
                <a:latin typeface="Aptos" panose="020B0004020202020204" pitchFamily="34" charset="0"/>
              </a:rPr>
              <a:t>Masters in Computer Science UCSD</a:t>
            </a:r>
          </a:p>
          <a:p>
            <a:pPr marL="342900" indent="-342900" algn="l">
              <a:buFontTx/>
              <a:buChar char="-"/>
            </a:pPr>
            <a:endParaRPr lang="en-US" sz="2400" dirty="0">
              <a:solidFill>
                <a:srgbClr val="2D3748"/>
              </a:solidFill>
              <a:latin typeface="Aptos" panose="020B00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AE9276-8ADB-3660-AAAE-29013FB3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514" y="3112198"/>
            <a:ext cx="2171126" cy="2917994"/>
          </a:xfrm>
          <a:prstGeom prst="rect">
            <a:avLst/>
          </a:prstGeom>
        </p:spPr>
      </p:pic>
      <p:pic>
        <p:nvPicPr>
          <p:cNvPr id="25" name="Picture 24" descr="UCSD Logo, symbol, meaning, history, PNG, brand">
            <a:extLst>
              <a:ext uri="{FF2B5EF4-FFF2-40B4-BE49-F238E27FC236}">
                <a16:creationId xmlns:a16="http://schemas.microsoft.com/office/drawing/2014/main" id="{B9BE2318-8370-26EF-19AA-AC06A952E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07" y="3626697"/>
            <a:ext cx="4272878" cy="24034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C1DB49-576C-5CE9-F049-3370BF077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55705"/>
            <a:ext cx="5065782" cy="769800"/>
          </a:xfrm>
          <a:prstGeom prst="rect">
            <a:avLst/>
          </a:prstGeom>
        </p:spPr>
      </p:pic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72C2E68E-9C73-91AA-22DB-95809DAC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D174B-D3BD-AD06-AE89-10A6D68A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BAA50DE-F8B3-61FE-2901-B9DB721F725C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Resources for today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3D6B22-BE56-9DB2-E73F-2DA91A620841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: 1">
            <a:extLst>
              <a:ext uri="{FF2B5EF4-FFF2-40B4-BE49-F238E27FC236}">
                <a16:creationId xmlns:a16="http://schemas.microsoft.com/office/drawing/2014/main" id="{7C2FCA52-A7C4-401F-1803-7C9924F20017}"/>
              </a:ext>
            </a:extLst>
          </p:cNvPr>
          <p:cNvSpPr txBox="1"/>
          <p:nvPr/>
        </p:nvSpPr>
        <p:spPr>
          <a:xfrm>
            <a:off x="11137392" y="647395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49385C-F2CE-AB91-79ED-09774D4DC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265" y="-460641"/>
            <a:ext cx="7080735" cy="7080735"/>
          </a:xfrm>
          <a:prstGeom prst="rect">
            <a:avLst/>
          </a:prstGeom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E648C8-27EB-DE2C-822B-40AEA5641233}"/>
              </a:ext>
            </a:extLst>
          </p:cNvPr>
          <p:cNvSpPr txBox="1"/>
          <p:nvPr/>
        </p:nvSpPr>
        <p:spPr>
          <a:xfrm>
            <a:off x="365760" y="2143571"/>
            <a:ext cx="4495607" cy="4370427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After the workshop you will have the repo and this ppt to explore 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No laptop required during the session.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Have some paper and pencil to do some exercises.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Form pairs.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3E829-C4C0-5A63-F189-3CD410B4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B8600-BF8E-AE05-C10F-45ED0DEFD098}"/>
              </a:ext>
            </a:extLst>
          </p:cNvPr>
          <p:cNvSpPr txBox="1"/>
          <p:nvPr/>
        </p:nvSpPr>
        <p:spPr>
          <a:xfrm>
            <a:off x="5938195" y="5938973"/>
            <a:ext cx="5426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4"/>
              </a:rPr>
              <a:t>https://github.com/sefop/sefop-sctc-2026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924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FC8E-5A3D-EF5A-4EE1-0FB4B9B2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D53D69C1-E748-DC49-4F94-B8EA4D5C47CC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Quick survey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F2C67-A101-B976-4B73-22187AAFFAFB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E2982-CB64-C618-9508-0B8489BF6B2A}"/>
              </a:ext>
            </a:extLst>
          </p:cNvPr>
          <p:cNvSpPr txBox="1"/>
          <p:nvPr/>
        </p:nvSpPr>
        <p:spPr>
          <a:xfrm>
            <a:off x="502920" y="1995130"/>
            <a:ext cx="4495607" cy="38779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Optimization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Coding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Python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Unit testing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0D029-0651-9225-F7EB-B316D5D4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2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B56A-4F3C-DABE-B785-1BB86071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1CE97122-A849-A217-C89C-1B141C04EB87}"/>
              </a:ext>
            </a:extLst>
          </p:cNvPr>
          <p:cNvSpPr txBox="1"/>
          <p:nvPr/>
        </p:nvSpPr>
        <p:spPr>
          <a:xfrm>
            <a:off x="190500" y="246888"/>
            <a:ext cx="118567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Goal today: touching the surface of a DSS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89CCE-F292-6936-D106-FFF75C5B0387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: 1">
            <a:extLst>
              <a:ext uri="{FF2B5EF4-FFF2-40B4-BE49-F238E27FC236}">
                <a16:creationId xmlns:a16="http://schemas.microsoft.com/office/drawing/2014/main" id="{E58CD427-6E8C-354E-7D88-163ABF1C738C}"/>
              </a:ext>
            </a:extLst>
          </p:cNvPr>
          <p:cNvSpPr txBox="1"/>
          <p:nvPr/>
        </p:nvSpPr>
        <p:spPr>
          <a:xfrm>
            <a:off x="11137392" y="647395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E74C81-61F4-B7CD-7B41-F95B40AAC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0137"/>
            <a:ext cx="12192000" cy="686164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6C9C1B5-D274-F596-75B5-0B35DD46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7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8521-53AF-E4D3-7966-E7B4D03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17252CF2-9167-36BC-0786-AB5E20E7B9DD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Agenda for today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3D04AA-A053-150D-391D-4D55E58049C7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F48B3-920B-D521-CDEA-836A4673C7FB}"/>
              </a:ext>
            </a:extLst>
          </p:cNvPr>
          <p:cNvSpPr txBox="1"/>
          <p:nvPr/>
        </p:nvSpPr>
        <p:spPr>
          <a:xfrm>
            <a:off x="458724" y="1749871"/>
            <a:ext cx="11274552" cy="380700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2343"/>
                </a:solidFill>
                <a:latin typeface="Aptos"/>
              </a:rPr>
              <a:t>Part I – What is a decision-support system?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 – Are we solving the right problem?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III – Are we solving the problem right?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IV – Closing &amp; conclusions</a:t>
            </a:r>
            <a:endParaRPr lang="en-US" sz="2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605E3-7C45-F823-044D-EECB5FB4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7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7633-C639-25E4-A452-0C27E104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D085262-5ED5-ECF1-9256-9F90ADC4A70B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What is a decision-support system?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973A8-EDFF-31F3-5A57-5322244B6608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fleet" descr="fleet">
            <a:extLst>
              <a:ext uri="{FF2B5EF4-FFF2-40B4-BE49-F238E27FC236}">
                <a16:creationId xmlns:a16="http://schemas.microsoft.com/office/drawing/2014/main" id="{FE746FC9-2D82-CEF7-E977-2B772CB51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1328" y="3319041"/>
            <a:ext cx="1828800" cy="1828800"/>
          </a:xfrm>
          <a:prstGeom prst="rect">
            <a:avLst/>
          </a:prstGeom>
        </p:spPr>
      </p:pic>
      <p:sp>
        <p:nvSpPr>
          <p:cNvPr id="7" name="Text: Plan the fleet">
            <a:extLst>
              <a:ext uri="{FF2B5EF4-FFF2-40B4-BE49-F238E27FC236}">
                <a16:creationId xmlns:a16="http://schemas.microsoft.com/office/drawing/2014/main" id="{5F70B599-8E48-65C5-5666-7211BBC9F2D3}"/>
              </a:ext>
            </a:extLst>
          </p:cNvPr>
          <p:cNvSpPr txBox="1"/>
          <p:nvPr/>
        </p:nvSpPr>
        <p:spPr>
          <a:xfrm>
            <a:off x="649224" y="5395422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F2343"/>
                </a:solidFill>
                <a:latin typeface="Aptos"/>
              </a:rPr>
              <a:t>Plan the fleet</a:t>
            </a:r>
          </a:p>
        </p:txBody>
      </p:sp>
      <p:sp>
        <p:nvSpPr>
          <p:cNvPr id="8" name="Text: Annually">
            <a:extLst>
              <a:ext uri="{FF2B5EF4-FFF2-40B4-BE49-F238E27FC236}">
                <a16:creationId xmlns:a16="http://schemas.microsoft.com/office/drawing/2014/main" id="{09427772-7F24-0F06-02F0-04D426030DD7}"/>
              </a:ext>
            </a:extLst>
          </p:cNvPr>
          <p:cNvSpPr txBox="1"/>
          <p:nvPr/>
        </p:nvSpPr>
        <p:spPr>
          <a:xfrm>
            <a:off x="841248" y="5914315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F97316"/>
                </a:solidFill>
                <a:latin typeface="Aptos"/>
              </a:rPr>
              <a:t>Annually</a:t>
            </a:r>
          </a:p>
        </p:txBody>
      </p:sp>
      <p:pic>
        <p:nvPicPr>
          <p:cNvPr id="9" name="crew" descr="crew">
            <a:extLst>
              <a:ext uri="{FF2B5EF4-FFF2-40B4-BE49-F238E27FC236}">
                <a16:creationId xmlns:a16="http://schemas.microsoft.com/office/drawing/2014/main" id="{D877AF5A-B17D-DA07-A810-3D6934304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5504" y="3319041"/>
            <a:ext cx="1828800" cy="1828800"/>
          </a:xfrm>
          <a:prstGeom prst="rect">
            <a:avLst/>
          </a:prstGeom>
        </p:spPr>
      </p:pic>
      <p:sp>
        <p:nvSpPr>
          <p:cNvPr id="10" name="Text: Schedule crews">
            <a:extLst>
              <a:ext uri="{FF2B5EF4-FFF2-40B4-BE49-F238E27FC236}">
                <a16:creationId xmlns:a16="http://schemas.microsoft.com/office/drawing/2014/main" id="{8D7D20ED-72D8-A880-0315-3DAC24607721}"/>
              </a:ext>
            </a:extLst>
          </p:cNvPr>
          <p:cNvSpPr txBox="1"/>
          <p:nvPr/>
        </p:nvSpPr>
        <p:spPr>
          <a:xfrm>
            <a:off x="4343400" y="5395422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Schedule crews</a:t>
            </a:r>
          </a:p>
        </p:txBody>
      </p:sp>
      <p:sp>
        <p:nvSpPr>
          <p:cNvPr id="11" name="Text: Monthly">
            <a:extLst>
              <a:ext uri="{FF2B5EF4-FFF2-40B4-BE49-F238E27FC236}">
                <a16:creationId xmlns:a16="http://schemas.microsoft.com/office/drawing/2014/main" id="{C36DE821-15AA-F958-BBBC-B5086CE188D1}"/>
              </a:ext>
            </a:extLst>
          </p:cNvPr>
          <p:cNvSpPr txBox="1"/>
          <p:nvPr/>
        </p:nvSpPr>
        <p:spPr>
          <a:xfrm>
            <a:off x="4535424" y="5914315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7316"/>
                </a:solidFill>
                <a:latin typeface="Aptos"/>
              </a:rPr>
              <a:t>Monthly</a:t>
            </a:r>
          </a:p>
        </p:txBody>
      </p:sp>
      <p:pic>
        <p:nvPicPr>
          <p:cNvPr id="12" name="disruption" descr="disruption">
            <a:extLst>
              <a:ext uri="{FF2B5EF4-FFF2-40B4-BE49-F238E27FC236}">
                <a16:creationId xmlns:a16="http://schemas.microsoft.com/office/drawing/2014/main" id="{5584C9F2-F804-BE7D-3B12-B86CCED0B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9680" y="3319041"/>
            <a:ext cx="1828800" cy="1828800"/>
          </a:xfrm>
          <a:prstGeom prst="rect">
            <a:avLst/>
          </a:prstGeom>
        </p:spPr>
      </p:pic>
      <p:sp>
        <p:nvSpPr>
          <p:cNvPr id="13" name="Text: Recover operations">
            <a:extLst>
              <a:ext uri="{FF2B5EF4-FFF2-40B4-BE49-F238E27FC236}">
                <a16:creationId xmlns:a16="http://schemas.microsoft.com/office/drawing/2014/main" id="{E0649B19-C305-E36C-9BBD-577FEC101B90}"/>
              </a:ext>
            </a:extLst>
          </p:cNvPr>
          <p:cNvSpPr txBox="1"/>
          <p:nvPr/>
        </p:nvSpPr>
        <p:spPr>
          <a:xfrm>
            <a:off x="8037575" y="5395422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Recover operations</a:t>
            </a:r>
          </a:p>
        </p:txBody>
      </p:sp>
      <p:sp>
        <p:nvSpPr>
          <p:cNvPr id="14" name="Text: Daily">
            <a:extLst>
              <a:ext uri="{FF2B5EF4-FFF2-40B4-BE49-F238E27FC236}">
                <a16:creationId xmlns:a16="http://schemas.microsoft.com/office/drawing/2014/main" id="{85C32A7B-FF16-7B83-C05E-A848ECA7CB8B}"/>
              </a:ext>
            </a:extLst>
          </p:cNvPr>
          <p:cNvSpPr txBox="1"/>
          <p:nvPr/>
        </p:nvSpPr>
        <p:spPr>
          <a:xfrm>
            <a:off x="8229600" y="5914315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7316"/>
                </a:solidFill>
                <a:latin typeface="Aptos"/>
              </a:rPr>
              <a:t>Daily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41EEF0-3C1F-1C1B-6FD7-B3E34A553B02}"/>
              </a:ext>
            </a:extLst>
          </p:cNvPr>
          <p:cNvSpPr txBox="1"/>
          <p:nvPr/>
        </p:nvSpPr>
        <p:spPr>
          <a:xfrm>
            <a:off x="365760" y="1824531"/>
            <a:ext cx="11567160" cy="124829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Operations Research (OR) turns data + business needs + mathematics </a:t>
            </a:r>
            <a:r>
              <a:rPr lang="en-US" sz="2400" b="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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decision.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n</a:t>
            </a:r>
            <a:r>
              <a:rPr sz="200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1" dirty="0">
                <a:solidFill>
                  <a:srgbClr val="0F2343"/>
                </a:solidFill>
                <a:latin typeface="Aptos"/>
              </a:rPr>
              <a:t>analysis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a one-time decision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lang="en-US" sz="2000" b="1" dirty="0">
                <a:solidFill>
                  <a:srgbClr val="0F2343"/>
                </a:solidFill>
                <a:latin typeface="Aptos"/>
              </a:rPr>
              <a:t>decision-support system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 a recurring decision.</a:t>
            </a: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CC4C49D7-396A-014B-0555-091ACBBC0C30}"/>
              </a:ext>
            </a:extLst>
          </p:cNvPr>
          <p:cNvSpPr/>
          <p:nvPr/>
        </p:nvSpPr>
        <p:spPr>
          <a:xfrm>
            <a:off x="7919336" y="2296441"/>
            <a:ext cx="3429372" cy="2330605"/>
          </a:xfrm>
          <a:prstGeom prst="wedgeRectCallout">
            <a:avLst>
              <a:gd name="adj1" fmla="val -67007"/>
              <a:gd name="adj2" fmla="val -2075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ptos" panose="020B0004020202020204" pitchFamily="34" charset="0"/>
              </a:rPr>
              <a:t>What is the implication?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FAB56C8-DF34-A23C-2A97-662AF813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  <p:bldP spid="15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46888"/>
            <a:ext cx="1144691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What would you need before trusting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a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recommendation from a mathematical model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63906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7824" y="2066543"/>
            <a:ext cx="4325112" cy="258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6696" y="2304288"/>
            <a:ext cx="4087368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: OPTIMAL"/>
          <p:cNvSpPr txBox="1"/>
          <p:nvPr/>
        </p:nvSpPr>
        <p:spPr>
          <a:xfrm>
            <a:off x="1133856" y="2862072"/>
            <a:ext cx="3813048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00" b="1" dirty="0">
                <a:solidFill>
                  <a:srgbClr val="0F2343"/>
                </a:solidFill>
                <a:latin typeface="Aptos"/>
              </a:rPr>
              <a:t>MODEL SAYS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dirty="0">
                <a:solidFill>
                  <a:srgbClr val="0F2343"/>
                </a:solidFill>
                <a:latin typeface="Aptos"/>
              </a:rPr>
              <a:t>OPTIMAL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663440"/>
            <a:ext cx="594360" cy="411480"/>
          </a:xfrm>
          <a:prstGeom prst="rect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76272" y="5056632"/>
            <a:ext cx="1719072" cy="118872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7772400" y="5074920"/>
            <a:ext cx="283464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" y="5852160"/>
            <a:ext cx="10145080" cy="457200"/>
          </a:xfrm>
          <a:prstGeom prst="roundRect">
            <a:avLst>
              <a:gd name="adj" fmla="val 12000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7142B"/>
                </a:solidFill>
                <a:latin typeface="Aptos" panose="020B0004020202020204" pitchFamily="34" charset="0"/>
              </a:rPr>
              <a:t>Question for the audience</a:t>
            </a:r>
            <a:endParaRPr sz="2800"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Picture 19" descr="Curious human line icon isolated on white background | Premium Vector">
            <a:extLst>
              <a:ext uri="{FF2B5EF4-FFF2-40B4-BE49-F238E27FC236}">
                <a16:creationId xmlns:a16="http://schemas.microsoft.com/office/drawing/2014/main" id="{6450489D-FF6A-9916-38D8-41B10BF35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908" y="2173201"/>
            <a:ext cx="2949623" cy="29496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9AFF6DF-D528-8ADF-FC36-38AEB671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46888"/>
            <a:ext cx="1118311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 useful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DSS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requires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validation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048372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68302" y="2483626"/>
            <a:ext cx="237012" cy="23701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39837" y="2483626"/>
            <a:ext cx="237012" cy="23701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2789767"/>
            <a:ext cx="325892" cy="345643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90459" y="2789767"/>
            <a:ext cx="325892" cy="345643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64567" y="2335493"/>
            <a:ext cx="316016" cy="316016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65812" y="2740389"/>
            <a:ext cx="513527" cy="483900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: Business problem"/>
          <p:cNvSpPr txBox="1"/>
          <p:nvPr/>
        </p:nvSpPr>
        <p:spPr>
          <a:xfrm>
            <a:off x="749808" y="3401684"/>
            <a:ext cx="31546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343"/>
                </a:solidFill>
                <a:latin typeface="Aptos"/>
              </a:rPr>
              <a:t>Business 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048372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Mathematical model"/>
          <p:cNvSpPr txBox="1"/>
          <p:nvPr/>
        </p:nvSpPr>
        <p:spPr>
          <a:xfrm>
            <a:off x="4517136" y="3401684"/>
            <a:ext cx="31546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343"/>
                </a:solidFill>
                <a:latin typeface="Aptos"/>
              </a:rPr>
              <a:t>Mathematical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048372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H="1">
            <a:off x="9462211" y="2513252"/>
            <a:ext cx="197510" cy="26664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62211" y="2779892"/>
            <a:ext cx="197510" cy="266639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54742" y="2513252"/>
            <a:ext cx="197510" cy="26664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054742" y="2779892"/>
            <a:ext cx="197510" cy="266639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778227" y="2434248"/>
            <a:ext cx="167884" cy="69128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: Code"/>
          <p:cNvSpPr txBox="1"/>
          <p:nvPr/>
        </p:nvSpPr>
        <p:spPr>
          <a:xfrm>
            <a:off x="8284464" y="3401684"/>
            <a:ext cx="31546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343"/>
                </a:solidFill>
                <a:latin typeface="Aptos"/>
              </a:rPr>
              <a:t>Code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50791" y="2990204"/>
            <a:ext cx="320041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18120" y="2990204"/>
            <a:ext cx="320040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>
            <a:off x="1552702" y="4169780"/>
            <a:ext cx="4144010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52702" y="4004424"/>
            <a:ext cx="0" cy="17373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96712" y="3996043"/>
            <a:ext cx="0" cy="17373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: Validation"/>
          <p:cNvSpPr txBox="1"/>
          <p:nvPr/>
        </p:nvSpPr>
        <p:spPr>
          <a:xfrm>
            <a:off x="1179229" y="4750792"/>
            <a:ext cx="4517483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0F2343"/>
                </a:solidFill>
                <a:latin typeface="Aptos"/>
              </a:rPr>
              <a:t>Validation</a:t>
            </a:r>
          </a:p>
        </p:txBody>
      </p:sp>
      <p:sp>
        <p:nvSpPr>
          <p:cNvPr id="30" name="Text: The right problem?"/>
          <p:cNvSpPr txBox="1"/>
          <p:nvPr/>
        </p:nvSpPr>
        <p:spPr>
          <a:xfrm>
            <a:off x="1179229" y="5346724"/>
            <a:ext cx="4517483" cy="10270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0" dirty="0">
                <a:solidFill>
                  <a:srgbClr val="0F2343"/>
                </a:solidFill>
                <a:latin typeface="Aptos"/>
              </a:rPr>
              <a:t>Are we solving the right problem</a:t>
            </a:r>
            <a:r>
              <a:rPr sz="2500" b="0" dirty="0">
                <a:solidFill>
                  <a:srgbClr val="0F2343"/>
                </a:solidFill>
                <a:latin typeface="Aptos"/>
              </a:rPr>
              <a:t>?</a:t>
            </a:r>
            <a:endParaRPr lang="en-US" sz="2500" b="0" dirty="0">
              <a:solidFill>
                <a:srgbClr val="0F2343"/>
              </a:solidFill>
              <a:latin typeface="Aptos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rgbClr val="0F2343"/>
                </a:solidFill>
                <a:latin typeface="Aptos"/>
              </a:rPr>
              <a:t>(consulting problem)</a:t>
            </a:r>
            <a:endParaRPr lang="en-US" sz="2000" b="0" i="1" dirty="0">
              <a:solidFill>
                <a:srgbClr val="0F2343"/>
              </a:solidFill>
              <a:latin typeface="Aptos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endParaRPr sz="2500" b="0" dirty="0">
              <a:solidFill>
                <a:srgbClr val="0F2343"/>
              </a:solidFill>
              <a:latin typeface="Aptos"/>
            </a:endParaRP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>
            <a:off x="6126480" y="4169780"/>
            <a:ext cx="4352396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26480" y="3996043"/>
            <a:ext cx="0" cy="17373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478876" y="3996043"/>
            <a:ext cx="0" cy="17373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: Verification"/>
          <p:cNvSpPr txBox="1"/>
          <p:nvPr/>
        </p:nvSpPr>
        <p:spPr>
          <a:xfrm>
            <a:off x="6563558" y="4730005"/>
            <a:ext cx="4490819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0F2343"/>
                </a:solidFill>
                <a:latin typeface="Aptos"/>
              </a:rPr>
              <a:t>Verification</a:t>
            </a:r>
          </a:p>
        </p:txBody>
      </p:sp>
      <p:sp>
        <p:nvSpPr>
          <p:cNvPr id="35" name="Text: Solved right?"/>
          <p:cNvSpPr txBox="1"/>
          <p:nvPr/>
        </p:nvSpPr>
        <p:spPr>
          <a:xfrm>
            <a:off x="6169769" y="5315801"/>
            <a:ext cx="5367355" cy="8419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0" dirty="0">
                <a:solidFill>
                  <a:srgbClr val="0F2343"/>
                </a:solidFill>
                <a:latin typeface="Aptos"/>
              </a:rPr>
              <a:t>Are we solving the problem right</a:t>
            </a:r>
            <a:r>
              <a:rPr sz="2500" b="0" dirty="0">
                <a:solidFill>
                  <a:srgbClr val="0F2343"/>
                </a:solidFill>
                <a:latin typeface="Aptos"/>
              </a:rPr>
              <a:t>?</a:t>
            </a:r>
            <a:endParaRPr lang="en-US" sz="2500" b="0" dirty="0">
              <a:solidFill>
                <a:srgbClr val="0F2343"/>
              </a:solidFill>
              <a:latin typeface="Aptos"/>
            </a:endParaRPr>
          </a:p>
          <a:p>
            <a:pPr algn="ctr">
              <a:lnSpc>
                <a:spcPct val="106000"/>
              </a:lnSpc>
            </a:pPr>
            <a:r>
              <a:rPr lang="en-US" sz="2000" i="1" dirty="0">
                <a:solidFill>
                  <a:srgbClr val="0F2343"/>
                </a:solidFill>
                <a:latin typeface="Aptos"/>
              </a:rPr>
              <a:t>(software problem)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endParaRPr sz="25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CE84F1-75B7-ACCB-BA87-95B7455F737D}"/>
              </a:ext>
            </a:extLst>
          </p:cNvPr>
          <p:cNvSpPr txBox="1"/>
          <p:nvPr/>
        </p:nvSpPr>
        <p:spPr>
          <a:xfrm>
            <a:off x="2961064" y="4167149"/>
            <a:ext cx="1327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97316"/>
                </a:solidFill>
                <a:latin typeface="Aptos" panose="020B0004020202020204" pitchFamily="34" charset="0"/>
              </a:rPr>
              <a:t>translation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BA9670-478E-C84E-DEF8-1F11ECBC36BD}"/>
              </a:ext>
            </a:extLst>
          </p:cNvPr>
          <p:cNvSpPr txBox="1"/>
          <p:nvPr/>
        </p:nvSpPr>
        <p:spPr>
          <a:xfrm>
            <a:off x="7731505" y="4156483"/>
            <a:ext cx="1327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97316"/>
                </a:solidFill>
                <a:latin typeface="Aptos" panose="020B0004020202020204" pitchFamily="34" charset="0"/>
              </a:rPr>
              <a:t>translation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484C15-D885-FB0C-4F95-FE1CCD51E826}"/>
                  </a:ext>
                </a:extLst>
              </p:cNvPr>
              <p:cNvSpPr txBox="1"/>
              <p:nvPr/>
            </p:nvSpPr>
            <p:spPr>
              <a:xfrm>
                <a:off x="5205862" y="2304276"/>
                <a:ext cx="1624868" cy="993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𝑴𝒊𝒏</m:t>
                      </m:r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714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7142B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7142B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dirty="0">
                  <a:solidFill>
                    <a:srgbClr val="07142B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1" i="1" smtClean="0">
                          <a:solidFill>
                            <a:srgbClr val="07142B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3200" b="1" dirty="0">
                  <a:solidFill>
                    <a:srgbClr val="07142B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484C15-D885-FB0C-4F95-FE1CCD51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862" y="2304276"/>
                <a:ext cx="1624868" cy="993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7066ACB-7113-27EB-7CF1-3D08D1E5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Our example: selecting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cargo for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flight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rgo-planner" descr="cargo planner"/>
          <p:cNvPicPr>
            <a:picLocks noChangeAspect="1"/>
          </p:cNvPicPr>
          <p:nvPr/>
        </p:nvPicPr>
        <p:blipFill>
          <a:blip r:embed="rId3"/>
          <a:srcRect t="14207" b="14207"/>
          <a:stretch>
            <a:fillRect/>
          </a:stretch>
        </p:blipFill>
        <p:spPr>
          <a:xfrm>
            <a:off x="521207" y="1746504"/>
            <a:ext cx="11155680" cy="448970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E86C11-132B-AADC-7F12-83AB055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DAD4-3697-20B9-EA62-E6E55DED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02F7972D-CE3B-EC1B-3C8E-04D4F2813CBC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Agenda for today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0FD848-6CC1-36A1-4436-4DEBC44785B0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15CE9-B78F-FE76-AB13-FCE941B0C439}"/>
              </a:ext>
            </a:extLst>
          </p:cNvPr>
          <p:cNvSpPr txBox="1"/>
          <p:nvPr/>
        </p:nvSpPr>
        <p:spPr>
          <a:xfrm>
            <a:off x="458724" y="1749871"/>
            <a:ext cx="11274552" cy="380700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 – What is a decision-support system?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2343"/>
                </a:solidFill>
                <a:latin typeface="Aptos"/>
              </a:rPr>
              <a:t>Part II – Are we solving the right problem?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III – Are we solving the problem right?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IV – Closing &amp; conclusions</a:t>
            </a:r>
            <a:endParaRPr lang="en-US" sz="2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4F969-1D96-9837-03F2-055239A8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8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3434-F38A-A508-4E51-7BB77C1E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5AC68A64-2666-2259-15D9-47B1AF53F07A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Key elements to define an analytical problem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DE811-85DC-C5BE-E867-803C751464EA}"/>
              </a:ext>
            </a:extLst>
          </p:cNvPr>
          <p:cNvSpPr/>
          <p:nvPr/>
        </p:nvSpPr>
        <p:spPr>
          <a:xfrm>
            <a:off x="502920" y="1684103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11F7D-47FF-EF2C-9867-32C71970DA71}"/>
              </a:ext>
            </a:extLst>
          </p:cNvPr>
          <p:cNvSpPr txBox="1"/>
          <p:nvPr/>
        </p:nvSpPr>
        <p:spPr>
          <a:xfrm>
            <a:off x="365760" y="2074330"/>
            <a:ext cx="11567160" cy="429527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Stakeholders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: 		who cares?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Objectives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: 		what do we want to achieve?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Decisions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: 			what do we control?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Constraints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: 		what can’t we do? (hard &amp; soft)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Data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: 				what information is available?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Risk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: 				what can go wrong?</a:t>
            </a:r>
            <a:endParaRPr lang="en-US" sz="2400" b="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2343"/>
                </a:solidFill>
                <a:latin typeface="Aptos"/>
              </a:rPr>
              <a:t>Scope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: 				what do we omit?</a:t>
            </a:r>
            <a:endParaRPr lang="en-US" sz="2400" b="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DAF79-1E16-88D7-0B03-70EE943B740C}"/>
              </a:ext>
            </a:extLst>
          </p:cNvPr>
          <p:cNvSpPr txBox="1"/>
          <p:nvPr/>
        </p:nvSpPr>
        <p:spPr>
          <a:xfrm>
            <a:off x="365760" y="6366333"/>
            <a:ext cx="5899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Other sources: </a:t>
            </a:r>
            <a:r>
              <a:rPr lang="en-US" sz="1000" dirty="0">
                <a:hlinkClick r:id="rId3"/>
              </a:rPr>
              <a:t>https://www.informs.org/Professional-Development/INFORMS-Analytics-Framework/Explore</a:t>
            </a:r>
            <a:r>
              <a:rPr lang="en-US" sz="1000" dirty="0"/>
              <a:t>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863E3CC-4941-3590-689D-6F8858A5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3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Read the initial email of the problem and then interview the planner (me)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3388" y="1781708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95884" y="6062472"/>
            <a:ext cx="11000232" cy="457200"/>
          </a:xfrm>
          <a:prstGeom prst="roundRect">
            <a:avLst>
              <a:gd name="adj" fmla="val 12000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: Pairs  ·  1 minute  ·  2 questions"/>
          <p:cNvSpPr txBox="1"/>
          <p:nvPr/>
        </p:nvSpPr>
        <p:spPr>
          <a:xfrm>
            <a:off x="723900" y="609904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F2343"/>
                </a:solidFill>
                <a:latin typeface="Aptos"/>
              </a:rPr>
              <a:t>Pairs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-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10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minute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s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+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questions</a:t>
            </a:r>
          </a:p>
        </p:txBody>
      </p:sp>
      <p:pic>
        <p:nvPicPr>
          <p:cNvPr id="43" name="cargo-planner" descr="cargo planner">
            <a:extLst>
              <a:ext uri="{FF2B5EF4-FFF2-40B4-BE49-F238E27FC236}">
                <a16:creationId xmlns:a16="http://schemas.microsoft.com/office/drawing/2014/main" id="{22D012DE-3CFA-4116-E3C6-D33064200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07" b="14207"/>
          <a:stretch>
            <a:fillRect/>
          </a:stretch>
        </p:blipFill>
        <p:spPr>
          <a:xfrm>
            <a:off x="914612" y="1972442"/>
            <a:ext cx="9813640" cy="3949588"/>
          </a:xfrm>
          <a:prstGeom prst="rect">
            <a:avLst/>
          </a:prstGeom>
        </p:spPr>
      </p:pic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837177A9-D2D9-4E05-C9D6-38AA6C7E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These e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xamples show what the planner would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Example 1"/>
          <p:cNvSpPr txBox="1"/>
          <p:nvPr/>
        </p:nvSpPr>
        <p:spPr>
          <a:xfrm>
            <a:off x="777240" y="17647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343"/>
                </a:solidFill>
                <a:latin typeface="Aptos"/>
              </a:rPr>
              <a:t>Example 1</a:t>
            </a:r>
          </a:p>
        </p:txBody>
      </p:sp>
      <p:sp>
        <p:nvSpPr>
          <p:cNvPr id="7" name="Text: 500 kg limit"/>
          <p:cNvSpPr txBox="1"/>
          <p:nvPr/>
        </p:nvSpPr>
        <p:spPr>
          <a:xfrm>
            <a:off x="777240" y="2212848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F97316"/>
                </a:solidFill>
                <a:latin typeface="Aptos"/>
              </a:rPr>
              <a:t>Aircraft </a:t>
            </a:r>
            <a:r>
              <a:rPr sz="2100" b="1" dirty="0">
                <a:solidFill>
                  <a:srgbClr val="F97316"/>
                </a:solidFill>
                <a:latin typeface="Aptos"/>
              </a:rPr>
              <a:t>500 kg limit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761488"/>
          <a:ext cx="50291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Atlas Steel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500 kg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$3,000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Bighorn Auto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250 kg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$2,000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Cedar Pharma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250 kg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$1,800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3840480"/>
            <a:ext cx="5029200" cy="603504"/>
          </a:xfrm>
          <a:prstGeom prst="rect">
            <a:avLst/>
          </a:prstGeom>
          <a:noFill/>
          <a:ln w="2032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: ✓"/>
          <p:cNvSpPr txBox="1"/>
          <p:nvPr/>
        </p:nvSpPr>
        <p:spPr>
          <a:xfrm>
            <a:off x="402336" y="3922776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43984"/>
            <a:ext cx="5029200" cy="603504"/>
          </a:xfrm>
          <a:prstGeom prst="rect">
            <a:avLst/>
          </a:prstGeom>
          <a:noFill/>
          <a:ln w="2032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: ✓"/>
          <p:cNvSpPr txBox="1"/>
          <p:nvPr/>
        </p:nvSpPr>
        <p:spPr>
          <a:xfrm>
            <a:off x="402336" y="452628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13" name="Text: Bighorn + Cedar"/>
          <p:cNvSpPr txBox="1"/>
          <p:nvPr/>
        </p:nvSpPr>
        <p:spPr>
          <a:xfrm>
            <a:off x="777240" y="52760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2343"/>
                </a:solidFill>
                <a:latin typeface="Aptos"/>
              </a:rPr>
              <a:t>Bighorn + Cedar</a:t>
            </a:r>
          </a:p>
        </p:txBody>
      </p:sp>
      <p:sp>
        <p:nvSpPr>
          <p:cNvPr id="14" name="Text: $3,800  ·  500 kg"/>
          <p:cNvSpPr txBox="1"/>
          <p:nvPr/>
        </p:nvSpPr>
        <p:spPr>
          <a:xfrm>
            <a:off x="777240" y="5724144"/>
            <a:ext cx="502920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$3,800  ·  500 kg</a:t>
            </a:r>
          </a:p>
        </p:txBody>
      </p:sp>
      <p:sp>
        <p:nvSpPr>
          <p:cNvPr id="15" name="Text: Example 2"/>
          <p:cNvSpPr txBox="1"/>
          <p:nvPr/>
        </p:nvSpPr>
        <p:spPr>
          <a:xfrm>
            <a:off x="6355080" y="17647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2343"/>
                </a:solidFill>
                <a:latin typeface="Aptos"/>
              </a:rPr>
              <a:t>Example 2</a:t>
            </a:r>
          </a:p>
        </p:txBody>
      </p:sp>
      <p:sp>
        <p:nvSpPr>
          <p:cNvPr id="16" name="Text: 500 kg limit"/>
          <p:cNvSpPr txBox="1"/>
          <p:nvPr/>
        </p:nvSpPr>
        <p:spPr>
          <a:xfrm>
            <a:off x="6355080" y="2212848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F97316"/>
                </a:solidFill>
                <a:latin typeface="Aptos"/>
              </a:rPr>
              <a:t>Aircraft </a:t>
            </a:r>
            <a:r>
              <a:rPr sz="2100" b="1" dirty="0">
                <a:solidFill>
                  <a:srgbClr val="F97316"/>
                </a:solidFill>
                <a:latin typeface="Aptos"/>
              </a:rPr>
              <a:t>500 kg limit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55080" y="2761488"/>
          <a:ext cx="50291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marL="128016" marR="109728" anchor="ctr">
                    <a:solidFill>
                      <a:srgbClr val="0F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Atlas Steel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300 kg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0F2343"/>
                          </a:solidFill>
                          <a:latin typeface="Aptos"/>
                        </a:rPr>
                        <a:t>$3,000</a:t>
                      </a:r>
                    </a:p>
                  </a:txBody>
                  <a:tcPr marL="128016" marR="109728"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Bighorn Auto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900 kg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$9,000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Cedar Pharma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300 kg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0F2343"/>
                          </a:solidFill>
                          <a:latin typeface="Aptos"/>
                        </a:rPr>
                        <a:t>$800</a:t>
                      </a:r>
                    </a:p>
                  </a:txBody>
                  <a:tcPr marL="128016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355080" y="3236976"/>
            <a:ext cx="5029200" cy="603504"/>
          </a:xfrm>
          <a:prstGeom prst="rect">
            <a:avLst/>
          </a:prstGeom>
          <a:noFill/>
          <a:ln w="2032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✓"/>
          <p:cNvSpPr txBox="1"/>
          <p:nvPr/>
        </p:nvSpPr>
        <p:spPr>
          <a:xfrm>
            <a:off x="5980176" y="3319272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20" name="Text: Atlas"/>
          <p:cNvSpPr txBox="1"/>
          <p:nvPr/>
        </p:nvSpPr>
        <p:spPr>
          <a:xfrm>
            <a:off x="6355080" y="52760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2343"/>
                </a:solidFill>
                <a:latin typeface="Aptos"/>
              </a:rPr>
              <a:t>Atlas</a:t>
            </a:r>
          </a:p>
        </p:txBody>
      </p:sp>
      <p:sp>
        <p:nvSpPr>
          <p:cNvPr id="21" name="Text: $3,000  ·  300 kg"/>
          <p:cNvSpPr txBox="1"/>
          <p:nvPr/>
        </p:nvSpPr>
        <p:spPr>
          <a:xfrm>
            <a:off x="6355080" y="5724144"/>
            <a:ext cx="502920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$3,000  ·  300 kg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EEC4AB1-66E2-1627-22F5-EEE68A9B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462B5-0349-4C07-E66F-F5F6DA70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FA0DC58-9B25-183C-CA65-68634A09F71C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Now frame this problem as an optimization problem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82DB2-CD7D-E6D0-3FE8-C8C78946E2BF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70C31AC-D465-3E87-C5C1-739B0C28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8836785-A0D6-C070-957D-910CD57E7192}"/>
              </a:ext>
            </a:extLst>
          </p:cNvPr>
          <p:cNvSpPr/>
          <p:nvPr/>
        </p:nvSpPr>
        <p:spPr>
          <a:xfrm>
            <a:off x="1021936" y="3160349"/>
            <a:ext cx="10145080" cy="457200"/>
          </a:xfrm>
          <a:prstGeom prst="roundRect">
            <a:avLst>
              <a:gd name="adj" fmla="val 12000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7142B"/>
                </a:solidFill>
                <a:latin typeface="Aptos" panose="020B0004020202020204" pitchFamily="34" charset="0"/>
              </a:rPr>
              <a:t>10 minutes</a:t>
            </a:r>
            <a:endParaRPr sz="2800"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293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The business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problem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lead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s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to a knapsack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Each shipment flies whole or stays"/>
          <p:cNvSpPr txBox="1"/>
          <p:nvPr/>
        </p:nvSpPr>
        <p:spPr>
          <a:xfrm>
            <a:off x="749808" y="1965960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F2343"/>
                </a:solidFill>
                <a:latin typeface="Aptos"/>
              </a:rPr>
              <a:t>Each shipment flies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F2343"/>
                </a:solidFill>
                <a:latin typeface="Aptos"/>
              </a:rPr>
              <a:t>whole or stays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0" y="2423160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xᵢ ∈ {0, 1}"/>
          <p:cNvSpPr txBox="1"/>
          <p:nvPr/>
        </p:nvSpPr>
        <p:spPr>
          <a:xfrm>
            <a:off x="6492240" y="1975104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F2343"/>
                </a:solidFill>
                <a:latin typeface="Cambria Math"/>
              </a:rPr>
              <a:t>xᵢ ∈ {0, 1}</a:t>
            </a:r>
          </a:p>
        </p:txBody>
      </p:sp>
      <p:sp>
        <p:nvSpPr>
          <p:cNvPr id="9" name="Text: Earn the most revenue"/>
          <p:cNvSpPr txBox="1"/>
          <p:nvPr/>
        </p:nvSpPr>
        <p:spPr>
          <a:xfrm>
            <a:off x="749808" y="3227832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Earn the most revenue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3685032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: max  ∑ᵢ rᵢ xᵢ"/>
          <p:cNvSpPr txBox="1"/>
          <p:nvPr/>
        </p:nvSpPr>
        <p:spPr>
          <a:xfrm>
            <a:off x="6492240" y="3236976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dirty="0">
                <a:solidFill>
                  <a:srgbClr val="0F2343"/>
                </a:solidFill>
                <a:latin typeface="Cambria Math"/>
              </a:rPr>
              <a:t>max  ∑ᵢ rᵢ xᵢ</a:t>
            </a:r>
          </a:p>
        </p:txBody>
      </p:sp>
      <p:sp>
        <p:nvSpPr>
          <p:cNvPr id="12" name="Text: Stay within the weight limit"/>
          <p:cNvSpPr txBox="1"/>
          <p:nvPr/>
        </p:nvSpPr>
        <p:spPr>
          <a:xfrm>
            <a:off x="749808" y="4489704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Stay within the weight limit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4946904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∑ᵢ wᵢ xᵢ ≤ W"/>
          <p:cNvSpPr txBox="1"/>
          <p:nvPr/>
        </p:nvSpPr>
        <p:spPr>
          <a:xfrm>
            <a:off x="6492240" y="4498848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F2343"/>
                </a:solidFill>
                <a:latin typeface="Cambria Math"/>
              </a:rPr>
              <a:t>∑ᵢ wᵢ xᵢ ≤ W</a:t>
            </a:r>
          </a:p>
        </p:txBody>
      </p:sp>
      <p:sp>
        <p:nvSpPr>
          <p:cNvPr id="15" name="Text: i: shipment   ·   xᵢ: fly / stay   ·   rᵢ: revenue   ·   wᵢ: weig"/>
          <p:cNvSpPr txBox="1"/>
          <p:nvPr/>
        </p:nvSpPr>
        <p:spPr>
          <a:xfrm>
            <a:off x="676656" y="5879592"/>
            <a:ext cx="108356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i: shipment   ·   xᵢ: fly / stay   ·   rᵢ: revenue   ·   wᵢ: weight   ·   W: weight limit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608C344-1BC5-550D-36A6-975178BB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8" name="Text: Each shipment flies whole or stays">
            <a:extLst>
              <a:ext uri="{FF2B5EF4-FFF2-40B4-BE49-F238E27FC236}">
                <a16:creationId xmlns:a16="http://schemas.microsoft.com/office/drawing/2014/main" id="{52AFF7A3-EE4E-D48C-5593-B5F5D7E6E49D}"/>
              </a:ext>
            </a:extLst>
          </p:cNvPr>
          <p:cNvSpPr txBox="1"/>
          <p:nvPr/>
        </p:nvSpPr>
        <p:spPr>
          <a:xfrm>
            <a:off x="9839201" y="2140449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Decisions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9" name="Text: Each shipment flies whole or stays">
            <a:extLst>
              <a:ext uri="{FF2B5EF4-FFF2-40B4-BE49-F238E27FC236}">
                <a16:creationId xmlns:a16="http://schemas.microsoft.com/office/drawing/2014/main" id="{F1ACD765-AB22-152D-B4B8-DB202A8FC89B}"/>
              </a:ext>
            </a:extLst>
          </p:cNvPr>
          <p:cNvSpPr txBox="1"/>
          <p:nvPr/>
        </p:nvSpPr>
        <p:spPr>
          <a:xfrm>
            <a:off x="9839200" y="4654672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Constraints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0" name="Text: Each shipment flies whole or stays">
            <a:extLst>
              <a:ext uri="{FF2B5EF4-FFF2-40B4-BE49-F238E27FC236}">
                <a16:creationId xmlns:a16="http://schemas.microsoft.com/office/drawing/2014/main" id="{D4F98E5B-0697-5879-C51C-CB1A038C7DB5}"/>
              </a:ext>
            </a:extLst>
          </p:cNvPr>
          <p:cNvSpPr txBox="1"/>
          <p:nvPr/>
        </p:nvSpPr>
        <p:spPr>
          <a:xfrm>
            <a:off x="9839325" y="3413827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Objective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7BA0-CE2F-AFA8-BFD4-9834059E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5287EE04-5C81-78EF-F20E-850D2906BDAF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Agenda for today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53D3D-DCD1-2E33-1F86-BA5A057EB8E1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A3188-008F-CA72-70D1-8DA4481E5DDD}"/>
              </a:ext>
            </a:extLst>
          </p:cNvPr>
          <p:cNvSpPr txBox="1"/>
          <p:nvPr/>
        </p:nvSpPr>
        <p:spPr>
          <a:xfrm>
            <a:off x="458724" y="1749871"/>
            <a:ext cx="11274552" cy="380700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 – What is a decision-support system?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 – Are we solving the right problem?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2343"/>
                </a:solidFill>
                <a:latin typeface="Aptos"/>
              </a:rPr>
              <a:t>Part III – Are we solving the problem right?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IV – Closing &amp; conclusions</a:t>
            </a:r>
            <a:endParaRPr lang="en-US" sz="2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063C8-25EE-DF9F-6458-6BE6CB6D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3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Software is a different kind of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Civil engineering"/>
          <p:cNvSpPr txBox="1"/>
          <p:nvPr/>
        </p:nvSpPr>
        <p:spPr>
          <a:xfrm>
            <a:off x="713232" y="180136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Civil engineering</a:t>
            </a:r>
          </a:p>
        </p:txBody>
      </p:sp>
      <p:pic>
        <p:nvPicPr>
          <p:cNvPr id="7" name="civil-engineering" descr="civil engineering"/>
          <p:cNvPicPr>
            <a:picLocks noChangeAspect="1"/>
          </p:cNvPicPr>
          <p:nvPr/>
        </p:nvPicPr>
        <p:blipFill>
          <a:blip r:embed="rId3"/>
          <a:srcRect t="14424" b="14424"/>
          <a:stretch>
            <a:fillRect/>
          </a:stretch>
        </p:blipFill>
        <p:spPr>
          <a:xfrm>
            <a:off x="713232" y="2359152"/>
            <a:ext cx="5120640" cy="2432304"/>
          </a:xfrm>
          <a:prstGeom prst="rect">
            <a:avLst/>
          </a:prstGeom>
        </p:spPr>
      </p:pic>
      <p:sp>
        <p:nvSpPr>
          <p:cNvPr id="10" name="Text: Software engineering"/>
          <p:cNvSpPr txBox="1"/>
          <p:nvPr/>
        </p:nvSpPr>
        <p:spPr>
          <a:xfrm>
            <a:off x="6355080" y="180136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Software engineering</a:t>
            </a:r>
          </a:p>
        </p:txBody>
      </p:sp>
      <p:pic>
        <p:nvPicPr>
          <p:cNvPr id="11" name="software-engineering" descr="software engineering"/>
          <p:cNvPicPr>
            <a:picLocks noChangeAspect="1"/>
          </p:cNvPicPr>
          <p:nvPr/>
        </p:nvPicPr>
        <p:blipFill>
          <a:blip r:embed="rId4"/>
          <a:srcRect t="7778" b="7778"/>
          <a:stretch>
            <a:fillRect/>
          </a:stretch>
        </p:blipFill>
        <p:spPr>
          <a:xfrm>
            <a:off x="6355080" y="2359152"/>
            <a:ext cx="5120640" cy="2432304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9D0050-9EE5-77ED-65AE-093A7886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099075E6-B028-523A-65BD-5BBCFBD769A4}"/>
              </a:ext>
            </a:extLst>
          </p:cNvPr>
          <p:cNvSpPr/>
          <p:nvPr/>
        </p:nvSpPr>
        <p:spPr>
          <a:xfrm>
            <a:off x="1322832" y="4937760"/>
            <a:ext cx="3901440" cy="1349495"/>
          </a:xfrm>
          <a:prstGeom prst="wedgeRectCallout">
            <a:avLst>
              <a:gd name="adj1" fmla="val -19884"/>
              <a:gd name="adj2" fmla="val -6813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Constructions are </a:t>
            </a:r>
            <a:r>
              <a:rPr lang="en-US" sz="1600" b="1" dirty="0">
                <a:solidFill>
                  <a:schemeClr val="tx1"/>
                </a:solidFill>
              </a:rPr>
              <a:t>robust to tiny errors.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When designing, the </a:t>
            </a:r>
            <a:r>
              <a:rPr lang="en-US" sz="1600" b="1" dirty="0">
                <a:solidFill>
                  <a:schemeClr val="tx1"/>
                </a:solidFill>
              </a:rPr>
              <a:t>requirements are known reasonably well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B1C07DA1-7FB4-9CA8-B312-CD7866542885}"/>
              </a:ext>
            </a:extLst>
          </p:cNvPr>
          <p:cNvSpPr/>
          <p:nvPr/>
        </p:nvSpPr>
        <p:spPr>
          <a:xfrm>
            <a:off x="7230177" y="4899155"/>
            <a:ext cx="3901440" cy="1349495"/>
          </a:xfrm>
          <a:prstGeom prst="wedgeRectCallout">
            <a:avLst>
              <a:gd name="adj1" fmla="val -21704"/>
              <a:gd name="adj2" fmla="val -7253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Software is </a:t>
            </a:r>
            <a:r>
              <a:rPr lang="en-US" sz="1600" b="1" dirty="0">
                <a:solidFill>
                  <a:schemeClr val="tx1"/>
                </a:solidFill>
              </a:rPr>
              <a:t>incredible flexible and fragile </a:t>
            </a:r>
            <a:r>
              <a:rPr lang="en-US" sz="1600" dirty="0">
                <a:solidFill>
                  <a:schemeClr val="tx1"/>
                </a:solidFill>
              </a:rPr>
              <a:t>at the same time.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SE lives in a world of highly </a:t>
            </a:r>
            <a:r>
              <a:rPr lang="en-US" sz="1600" b="1" dirty="0">
                <a:solidFill>
                  <a:schemeClr val="tx1"/>
                </a:solidFill>
              </a:rPr>
              <a:t>imperfect information.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AC47-B3B3-0FDD-277C-6B79A256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5716A72-5AF9-6813-2256-79CE34816B8E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Software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engineering is a discovery process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F6D07C-CA1E-9A95-9F94-F12BAEDE4DE4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AB787C3-CEB7-FC6C-8968-BAE901CC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9626693D-D325-6491-CB8E-2E989ACAF7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640" y="1810511"/>
            <a:ext cx="2275840" cy="2275840"/>
          </a:xfrm>
          <a:prstGeom prst="rect">
            <a:avLst/>
          </a:prstGeom>
        </p:spPr>
      </p:pic>
      <p:pic>
        <p:nvPicPr>
          <p:cNvPr id="5" name="Graphic 4" descr="Users with solid fill">
            <a:extLst>
              <a:ext uri="{FF2B5EF4-FFF2-40B4-BE49-F238E27FC236}">
                <a16:creationId xmlns:a16="http://schemas.microsoft.com/office/drawing/2014/main" id="{D116F651-F278-4E99-C44F-667ED5ABAC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520" y="2534919"/>
            <a:ext cx="1849120" cy="1849120"/>
          </a:xfrm>
          <a:prstGeom prst="rect">
            <a:avLst/>
          </a:prstGeom>
        </p:spPr>
      </p:pic>
      <p:pic>
        <p:nvPicPr>
          <p:cNvPr id="8" name="Graphic 7" descr="Transfer with solid fill">
            <a:extLst>
              <a:ext uri="{FF2B5EF4-FFF2-40B4-BE49-F238E27FC236}">
                <a16:creationId xmlns:a16="http://schemas.microsoft.com/office/drawing/2014/main" id="{4CB32C21-A00C-9C78-3FD1-418487DB1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388" y="1856690"/>
            <a:ext cx="913384" cy="913384"/>
          </a:xfrm>
          <a:prstGeom prst="rect">
            <a:avLst/>
          </a:prstGeom>
        </p:spPr>
      </p:pic>
      <p:pic>
        <p:nvPicPr>
          <p:cNvPr id="9" name="Graphic 8" descr="Help with solid fill">
            <a:extLst>
              <a:ext uri="{FF2B5EF4-FFF2-40B4-BE49-F238E27FC236}">
                <a16:creationId xmlns:a16="http://schemas.microsoft.com/office/drawing/2014/main" id="{14DE821F-00EE-A93A-042B-7657FD0FE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2310" y="2094482"/>
            <a:ext cx="1771652" cy="17716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7BDE93-2110-F132-7F12-8E877092B784}"/>
              </a:ext>
            </a:extLst>
          </p:cNvPr>
          <p:cNvSpPr txBox="1"/>
          <p:nvPr/>
        </p:nvSpPr>
        <p:spPr>
          <a:xfrm>
            <a:off x="731520" y="4270810"/>
            <a:ext cx="2885440" cy="132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67" dirty="0">
                <a:solidFill>
                  <a:srgbClr val="2D3748"/>
                </a:solidFill>
                <a:latin typeface="Calibri"/>
              </a:rPr>
              <a:t>Users </a:t>
            </a:r>
            <a:r>
              <a:rPr lang="en-US" sz="2667" b="1" dirty="0">
                <a:solidFill>
                  <a:srgbClr val="2D3748"/>
                </a:solidFill>
                <a:latin typeface="Calibri"/>
              </a:rPr>
              <a:t>don’t fully know </a:t>
            </a:r>
            <a:r>
              <a:rPr lang="en-US" sz="2667" dirty="0">
                <a:solidFill>
                  <a:srgbClr val="2D3748"/>
                </a:solidFill>
                <a:latin typeface="Calibri"/>
              </a:rPr>
              <a:t>what they want.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35F219-3707-97E6-5203-5AF3B26C8983}"/>
              </a:ext>
            </a:extLst>
          </p:cNvPr>
          <p:cNvSpPr txBox="1"/>
          <p:nvPr/>
        </p:nvSpPr>
        <p:spPr>
          <a:xfrm>
            <a:off x="4815840" y="4356050"/>
            <a:ext cx="259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D3748"/>
                </a:solidFill>
                <a:latin typeface="Calibri"/>
              </a:rPr>
              <a:t>Users </a:t>
            </a:r>
            <a:r>
              <a:rPr lang="en-US" sz="2400" b="1" dirty="0">
                <a:solidFill>
                  <a:srgbClr val="2D3748"/>
                </a:solidFill>
                <a:latin typeface="Calibri"/>
              </a:rPr>
              <a:t>will change </a:t>
            </a:r>
            <a:r>
              <a:rPr lang="en-US" sz="2400" dirty="0">
                <a:solidFill>
                  <a:srgbClr val="2D3748"/>
                </a:solidFill>
                <a:latin typeface="Calibri"/>
              </a:rPr>
              <a:t>their mind.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6E7C34-9326-039A-963A-CBF96F66FF95}"/>
              </a:ext>
            </a:extLst>
          </p:cNvPr>
          <p:cNvSpPr txBox="1"/>
          <p:nvPr/>
        </p:nvSpPr>
        <p:spPr>
          <a:xfrm>
            <a:off x="8605520" y="4200026"/>
            <a:ext cx="332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2D3748"/>
                </a:solidFill>
                <a:latin typeface="Calibri"/>
              </a:rPr>
              <a:t>Building the software </a:t>
            </a:r>
            <a:r>
              <a:rPr lang="en-US" sz="2400" b="1" dirty="0">
                <a:solidFill>
                  <a:srgbClr val="2D3748"/>
                </a:solidFill>
                <a:latin typeface="Calibri"/>
              </a:rPr>
              <a:t>reveals unknown challenges </a:t>
            </a:r>
            <a:r>
              <a:rPr lang="en-US" sz="2400" dirty="0">
                <a:solidFill>
                  <a:srgbClr val="2D3748"/>
                </a:solidFill>
                <a:latin typeface="Calibri"/>
              </a:rPr>
              <a:t>over time.</a:t>
            </a:r>
            <a:endParaRPr lang="en-US" sz="2400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4A53602-993B-7C07-DF98-E43AD49C10B3}"/>
              </a:ext>
            </a:extLst>
          </p:cNvPr>
          <p:cNvSpPr/>
          <p:nvPr/>
        </p:nvSpPr>
        <p:spPr>
          <a:xfrm>
            <a:off x="2353912" y="5696716"/>
            <a:ext cx="7748336" cy="687503"/>
          </a:xfrm>
          <a:prstGeom prst="wedgeRectCallout">
            <a:avLst>
              <a:gd name="adj1" fmla="val -21401"/>
              <a:gd name="adj2" fmla="val -8685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ptos" panose="020B0004020202020204" pitchFamily="34" charset="0"/>
              </a:rPr>
              <a:t>How would you plan your vacations?</a:t>
            </a:r>
          </a:p>
        </p:txBody>
      </p:sp>
    </p:spTree>
    <p:extLst>
      <p:ext uri="{BB962C8B-B14F-4D97-AF65-F5344CB8AC3E}">
        <p14:creationId xmlns:p14="http://schemas.microsoft.com/office/powerpoint/2010/main" val="292758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8D78-AC58-E099-276E-0C08DC36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280881EA-80A1-85CF-3048-1E5B70BF7B14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The most important abilities in software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84FE6-B647-D425-122E-55D5ED2E74BA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38F794-B90C-98BE-486F-CB2A295C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D7D2695-2C75-210B-7BEA-386A822CE1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269929"/>
              </p:ext>
            </p:extLst>
          </p:nvPr>
        </p:nvGraphicFramePr>
        <p:xfrm>
          <a:off x="2386652" y="181825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A083681-0C74-FACD-4AA5-38D0709BBB28}"/>
              </a:ext>
            </a:extLst>
          </p:cNvPr>
          <p:cNvSpPr/>
          <p:nvPr/>
        </p:nvSpPr>
        <p:spPr>
          <a:xfrm>
            <a:off x="8807337" y="3184058"/>
            <a:ext cx="2480423" cy="1051559"/>
          </a:xfrm>
          <a:prstGeom prst="wedgeRectCallout">
            <a:avLst>
              <a:gd name="adj1" fmla="val -58659"/>
              <a:gd name="adj2" fmla="val 1950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The faster you can do this, the better.</a:t>
            </a:r>
          </a:p>
        </p:txBody>
      </p:sp>
    </p:spTree>
    <p:extLst>
      <p:ext uri="{BB962C8B-B14F-4D97-AF65-F5344CB8AC3E}">
        <p14:creationId xmlns:p14="http://schemas.microsoft.com/office/powerpoint/2010/main" val="828627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7958-BB6E-59C0-1943-89AB5783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70F37E31-C77A-0CD1-F896-DCFA3ABBA798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Learning and adapting quickly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B58FFD-F487-A5FD-5716-5546B10A6713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8D8FE8-0C77-F099-AD22-0E99ABE1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D7C7C-321D-BB5F-176B-FE3ACACFDFC0}"/>
              </a:ext>
            </a:extLst>
          </p:cNvPr>
          <p:cNvSpPr txBox="1"/>
          <p:nvPr/>
        </p:nvSpPr>
        <p:spPr>
          <a:xfrm>
            <a:off x="2093762" y="2041234"/>
            <a:ext cx="2373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Learn quickly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EFB00-E16A-F0AE-1FF9-6FE5131F9018}"/>
              </a:ext>
            </a:extLst>
          </p:cNvPr>
          <p:cNvSpPr txBox="1"/>
          <p:nvPr/>
        </p:nvSpPr>
        <p:spPr>
          <a:xfrm>
            <a:off x="7261168" y="2068627"/>
            <a:ext cx="2416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Adapt quickly</a:t>
            </a:r>
          </a:p>
        </p:txBody>
      </p:sp>
      <p:pic>
        <p:nvPicPr>
          <p:cNvPr id="10" name="Graphic 9" descr="Lightbulb with solid fill">
            <a:extLst>
              <a:ext uri="{FF2B5EF4-FFF2-40B4-BE49-F238E27FC236}">
                <a16:creationId xmlns:a16="http://schemas.microsoft.com/office/drawing/2014/main" id="{535C694C-924F-012B-E360-5C13102529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873037"/>
            <a:ext cx="914400" cy="914400"/>
          </a:xfrm>
          <a:prstGeom prst="rect">
            <a:avLst/>
          </a:prstGeom>
        </p:spPr>
      </p:pic>
      <p:pic>
        <p:nvPicPr>
          <p:cNvPr id="13" name="Picture 12" descr="6,100+ Adapt Icon Stock Illustrations, Royalty-Free Vector ...">
            <a:extLst>
              <a:ext uri="{FF2B5EF4-FFF2-40B4-BE49-F238E27FC236}">
                <a16:creationId xmlns:a16="http://schemas.microsoft.com/office/drawing/2014/main" id="{F9978EBE-0553-08E4-D59F-A46D36BBB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058" y="1821221"/>
            <a:ext cx="1214435" cy="12144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4346844-0893-290D-2D6E-AB58D8B868A3}"/>
              </a:ext>
            </a:extLst>
          </p:cNvPr>
          <p:cNvSpPr/>
          <p:nvPr/>
        </p:nvSpPr>
        <p:spPr>
          <a:xfrm>
            <a:off x="5912015" y="2787437"/>
            <a:ext cx="1112520" cy="455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BEE257-F2C6-69E5-255E-4E38160E4561}"/>
              </a:ext>
            </a:extLst>
          </p:cNvPr>
          <p:cNvSpPr txBox="1"/>
          <p:nvPr/>
        </p:nvSpPr>
        <p:spPr>
          <a:xfrm>
            <a:off x="960659" y="3324051"/>
            <a:ext cx="42006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D3748"/>
                </a:solidFill>
                <a:latin typeface="Aptos" panose="020B0004020202020204" pitchFamily="34" charset="0"/>
              </a:rPr>
              <a:t>Agile</a:t>
            </a: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 to have quick feedback loops.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The </a:t>
            </a:r>
            <a:r>
              <a:rPr lang="en-US" sz="2000" b="1" dirty="0">
                <a:solidFill>
                  <a:srgbClr val="2D3748"/>
                </a:solidFill>
                <a:latin typeface="Aptos" panose="020B0004020202020204" pitchFamily="34" charset="0"/>
              </a:rPr>
              <a:t>scientific method </a:t>
            </a: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to learn effectively on those loops.</a:t>
            </a:r>
            <a:endParaRPr sz="2000" b="0" dirty="0">
              <a:solidFill>
                <a:srgbClr val="2D374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D1A57A-D9FA-883D-15F1-413F128CCD0E}"/>
              </a:ext>
            </a:extLst>
          </p:cNvPr>
          <p:cNvSpPr txBox="1"/>
          <p:nvPr/>
        </p:nvSpPr>
        <p:spPr>
          <a:xfrm>
            <a:off x="5912015" y="3317840"/>
            <a:ext cx="55281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Keep </a:t>
            </a:r>
            <a:r>
              <a:rPr lang="en-US" sz="2000" b="1" dirty="0">
                <a:solidFill>
                  <a:srgbClr val="2D3748"/>
                </a:solidFill>
                <a:latin typeface="Aptos" panose="020B0004020202020204" pitchFamily="34" charset="0"/>
              </a:rPr>
              <a:t>code complexity </a:t>
            </a: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D3748"/>
                </a:solidFill>
                <a:latin typeface="Aptos" panose="020B0004020202020204" pitchFamily="34" charset="0"/>
              </a:rPr>
              <a:t>Modularity</a:t>
            </a: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 &amp; isolation of changes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2D3748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D3748"/>
                </a:solidFill>
                <a:latin typeface="Aptos" panose="020B0004020202020204" pitchFamily="34" charset="0"/>
              </a:rPr>
              <a:t>Automated testing </a:t>
            </a:r>
            <a:r>
              <a:rPr lang="en-US" sz="2000" dirty="0">
                <a:solidFill>
                  <a:srgbClr val="2D3748"/>
                </a:solidFill>
                <a:latin typeface="Aptos" panose="020B0004020202020204" pitchFamily="34" charset="0"/>
              </a:rPr>
              <a:t>as a safety mechanism for changes</a:t>
            </a:r>
            <a:endParaRPr sz="2000" b="0" dirty="0">
              <a:solidFill>
                <a:srgbClr val="2D374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9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 typical workflow in a decision-support system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7281367" y="2450592"/>
            <a:ext cx="475488" cy="72238"/>
          </a:xfrm>
          <a:custGeom>
            <a:avLst/>
            <a:gdLst/>
            <a:ahLst/>
            <a:cxnLst/>
            <a:rect l="l" t="t" r="r" b="b"/>
            <a:pathLst>
              <a:path w="520" h="79">
                <a:moveTo>
                  <a:pt x="0" y="0"/>
                </a:moveTo>
                <a:lnTo>
                  <a:pt x="16" y="2"/>
                </a:lnTo>
                <a:lnTo>
                  <a:pt x="33" y="4"/>
                </a:lnTo>
                <a:lnTo>
                  <a:pt x="49" y="6"/>
                </a:lnTo>
                <a:lnTo>
                  <a:pt x="66" y="8"/>
                </a:lnTo>
                <a:lnTo>
                  <a:pt x="82" y="10"/>
                </a:lnTo>
                <a:lnTo>
                  <a:pt x="99" y="13"/>
                </a:lnTo>
                <a:lnTo>
                  <a:pt x="115" y="15"/>
                </a:lnTo>
                <a:lnTo>
                  <a:pt x="132" y="17"/>
                </a:lnTo>
                <a:lnTo>
                  <a:pt x="148" y="19"/>
                </a:lnTo>
                <a:lnTo>
                  <a:pt x="165" y="22"/>
                </a:lnTo>
                <a:lnTo>
                  <a:pt x="181" y="24"/>
                </a:lnTo>
                <a:lnTo>
                  <a:pt x="198" y="26"/>
                </a:lnTo>
                <a:lnTo>
                  <a:pt x="214" y="29"/>
                </a:lnTo>
                <a:lnTo>
                  <a:pt x="230" y="31"/>
                </a:lnTo>
                <a:lnTo>
                  <a:pt x="247" y="34"/>
                </a:lnTo>
                <a:lnTo>
                  <a:pt x="263" y="36"/>
                </a:lnTo>
                <a:lnTo>
                  <a:pt x="279" y="39"/>
                </a:lnTo>
                <a:lnTo>
                  <a:pt x="295" y="41"/>
                </a:lnTo>
                <a:lnTo>
                  <a:pt x="312" y="44"/>
                </a:lnTo>
                <a:lnTo>
                  <a:pt x="328" y="46"/>
                </a:lnTo>
                <a:lnTo>
                  <a:pt x="344" y="49"/>
                </a:lnTo>
                <a:lnTo>
                  <a:pt x="360" y="52"/>
                </a:lnTo>
                <a:lnTo>
                  <a:pt x="376" y="54"/>
                </a:lnTo>
                <a:lnTo>
                  <a:pt x="392" y="57"/>
                </a:lnTo>
                <a:lnTo>
                  <a:pt x="408" y="60"/>
                </a:lnTo>
                <a:lnTo>
                  <a:pt x="424" y="62"/>
                </a:lnTo>
                <a:lnTo>
                  <a:pt x="440" y="65"/>
                </a:lnTo>
                <a:lnTo>
                  <a:pt x="456" y="68"/>
                </a:lnTo>
                <a:lnTo>
                  <a:pt x="472" y="71"/>
                </a:lnTo>
                <a:lnTo>
                  <a:pt x="488" y="74"/>
                </a:lnTo>
                <a:lnTo>
                  <a:pt x="504" y="77"/>
                </a:lnTo>
                <a:lnTo>
                  <a:pt x="520" y="79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9669780" y="3253435"/>
            <a:ext cx="351130" cy="373075"/>
          </a:xfrm>
          <a:custGeom>
            <a:avLst/>
            <a:gdLst/>
            <a:ahLst/>
            <a:cxnLst/>
            <a:rect l="l" t="t" r="r" b="b"/>
            <a:pathLst>
              <a:path w="384" h="408">
                <a:moveTo>
                  <a:pt x="0" y="0"/>
                </a:moveTo>
                <a:lnTo>
                  <a:pt x="8" y="6"/>
                </a:lnTo>
                <a:lnTo>
                  <a:pt x="16" y="12"/>
                </a:lnTo>
                <a:lnTo>
                  <a:pt x="24" y="19"/>
                </a:lnTo>
                <a:lnTo>
                  <a:pt x="32" y="25"/>
                </a:lnTo>
                <a:lnTo>
                  <a:pt x="40" y="31"/>
                </a:lnTo>
                <a:lnTo>
                  <a:pt x="48" y="37"/>
                </a:lnTo>
                <a:lnTo>
                  <a:pt x="56" y="44"/>
                </a:lnTo>
                <a:lnTo>
                  <a:pt x="63" y="50"/>
                </a:lnTo>
                <a:lnTo>
                  <a:pt x="71" y="56"/>
                </a:lnTo>
                <a:lnTo>
                  <a:pt x="78" y="63"/>
                </a:lnTo>
                <a:lnTo>
                  <a:pt x="86" y="69"/>
                </a:lnTo>
                <a:lnTo>
                  <a:pt x="93" y="76"/>
                </a:lnTo>
                <a:lnTo>
                  <a:pt x="101" y="82"/>
                </a:lnTo>
                <a:lnTo>
                  <a:pt x="108" y="88"/>
                </a:lnTo>
                <a:lnTo>
                  <a:pt x="115" y="95"/>
                </a:lnTo>
                <a:lnTo>
                  <a:pt x="123" y="101"/>
                </a:lnTo>
                <a:lnTo>
                  <a:pt x="130" y="108"/>
                </a:lnTo>
                <a:lnTo>
                  <a:pt x="137" y="114"/>
                </a:lnTo>
                <a:lnTo>
                  <a:pt x="144" y="121"/>
                </a:lnTo>
                <a:lnTo>
                  <a:pt x="151" y="127"/>
                </a:lnTo>
                <a:lnTo>
                  <a:pt x="158" y="134"/>
                </a:lnTo>
                <a:lnTo>
                  <a:pt x="164" y="140"/>
                </a:lnTo>
                <a:lnTo>
                  <a:pt x="171" y="147"/>
                </a:lnTo>
                <a:lnTo>
                  <a:pt x="178" y="153"/>
                </a:lnTo>
                <a:lnTo>
                  <a:pt x="184" y="160"/>
                </a:lnTo>
                <a:lnTo>
                  <a:pt x="191" y="166"/>
                </a:lnTo>
                <a:lnTo>
                  <a:pt x="197" y="173"/>
                </a:lnTo>
                <a:lnTo>
                  <a:pt x="204" y="179"/>
                </a:lnTo>
                <a:lnTo>
                  <a:pt x="210" y="186"/>
                </a:lnTo>
                <a:lnTo>
                  <a:pt x="217" y="193"/>
                </a:lnTo>
                <a:lnTo>
                  <a:pt x="223" y="199"/>
                </a:lnTo>
                <a:lnTo>
                  <a:pt x="229" y="206"/>
                </a:lnTo>
                <a:lnTo>
                  <a:pt x="235" y="212"/>
                </a:lnTo>
                <a:lnTo>
                  <a:pt x="241" y="219"/>
                </a:lnTo>
                <a:lnTo>
                  <a:pt x="247" y="226"/>
                </a:lnTo>
                <a:lnTo>
                  <a:pt x="253" y="232"/>
                </a:lnTo>
                <a:lnTo>
                  <a:pt x="259" y="239"/>
                </a:lnTo>
                <a:lnTo>
                  <a:pt x="265" y="246"/>
                </a:lnTo>
                <a:lnTo>
                  <a:pt x="270" y="252"/>
                </a:lnTo>
                <a:lnTo>
                  <a:pt x="276" y="259"/>
                </a:lnTo>
                <a:lnTo>
                  <a:pt x="282" y="266"/>
                </a:lnTo>
                <a:lnTo>
                  <a:pt x="287" y="272"/>
                </a:lnTo>
                <a:lnTo>
                  <a:pt x="293" y="279"/>
                </a:lnTo>
                <a:lnTo>
                  <a:pt x="298" y="286"/>
                </a:lnTo>
                <a:lnTo>
                  <a:pt x="304" y="292"/>
                </a:lnTo>
                <a:lnTo>
                  <a:pt x="309" y="299"/>
                </a:lnTo>
                <a:lnTo>
                  <a:pt x="314" y="306"/>
                </a:lnTo>
                <a:lnTo>
                  <a:pt x="319" y="313"/>
                </a:lnTo>
                <a:lnTo>
                  <a:pt x="324" y="319"/>
                </a:lnTo>
                <a:lnTo>
                  <a:pt x="329" y="326"/>
                </a:lnTo>
                <a:lnTo>
                  <a:pt x="334" y="333"/>
                </a:lnTo>
                <a:lnTo>
                  <a:pt x="339" y="340"/>
                </a:lnTo>
                <a:lnTo>
                  <a:pt x="344" y="347"/>
                </a:lnTo>
                <a:lnTo>
                  <a:pt x="349" y="353"/>
                </a:lnTo>
                <a:lnTo>
                  <a:pt x="353" y="360"/>
                </a:lnTo>
                <a:lnTo>
                  <a:pt x="358" y="367"/>
                </a:lnTo>
                <a:lnTo>
                  <a:pt x="363" y="374"/>
                </a:lnTo>
                <a:lnTo>
                  <a:pt x="367" y="381"/>
                </a:lnTo>
                <a:lnTo>
                  <a:pt x="371" y="388"/>
                </a:lnTo>
                <a:lnTo>
                  <a:pt x="376" y="394"/>
                </a:lnTo>
                <a:lnTo>
                  <a:pt x="380" y="401"/>
                </a:lnTo>
                <a:lnTo>
                  <a:pt x="384" y="408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9669780" y="4420210"/>
            <a:ext cx="351130" cy="373075"/>
          </a:xfrm>
          <a:custGeom>
            <a:avLst/>
            <a:gdLst/>
            <a:ahLst/>
            <a:cxnLst/>
            <a:rect l="l" t="t" r="r" b="b"/>
            <a:pathLst>
              <a:path w="384" h="408">
                <a:moveTo>
                  <a:pt x="384" y="0"/>
                </a:moveTo>
                <a:lnTo>
                  <a:pt x="380" y="7"/>
                </a:lnTo>
                <a:lnTo>
                  <a:pt x="376" y="14"/>
                </a:lnTo>
                <a:lnTo>
                  <a:pt x="371" y="20"/>
                </a:lnTo>
                <a:lnTo>
                  <a:pt x="367" y="27"/>
                </a:lnTo>
                <a:lnTo>
                  <a:pt x="363" y="34"/>
                </a:lnTo>
                <a:lnTo>
                  <a:pt x="358" y="41"/>
                </a:lnTo>
                <a:lnTo>
                  <a:pt x="353" y="48"/>
                </a:lnTo>
                <a:lnTo>
                  <a:pt x="349" y="55"/>
                </a:lnTo>
                <a:lnTo>
                  <a:pt x="344" y="61"/>
                </a:lnTo>
                <a:lnTo>
                  <a:pt x="339" y="68"/>
                </a:lnTo>
                <a:lnTo>
                  <a:pt x="334" y="75"/>
                </a:lnTo>
                <a:lnTo>
                  <a:pt x="329" y="82"/>
                </a:lnTo>
                <a:lnTo>
                  <a:pt x="324" y="89"/>
                </a:lnTo>
                <a:lnTo>
                  <a:pt x="319" y="95"/>
                </a:lnTo>
                <a:lnTo>
                  <a:pt x="314" y="102"/>
                </a:lnTo>
                <a:lnTo>
                  <a:pt x="309" y="109"/>
                </a:lnTo>
                <a:lnTo>
                  <a:pt x="304" y="116"/>
                </a:lnTo>
                <a:lnTo>
                  <a:pt x="298" y="122"/>
                </a:lnTo>
                <a:lnTo>
                  <a:pt x="293" y="129"/>
                </a:lnTo>
                <a:lnTo>
                  <a:pt x="287" y="136"/>
                </a:lnTo>
                <a:lnTo>
                  <a:pt x="282" y="142"/>
                </a:lnTo>
                <a:lnTo>
                  <a:pt x="276" y="149"/>
                </a:lnTo>
                <a:lnTo>
                  <a:pt x="270" y="156"/>
                </a:lnTo>
                <a:lnTo>
                  <a:pt x="265" y="162"/>
                </a:lnTo>
                <a:lnTo>
                  <a:pt x="259" y="169"/>
                </a:lnTo>
                <a:lnTo>
                  <a:pt x="253" y="176"/>
                </a:lnTo>
                <a:lnTo>
                  <a:pt x="247" y="182"/>
                </a:lnTo>
                <a:lnTo>
                  <a:pt x="241" y="189"/>
                </a:lnTo>
                <a:lnTo>
                  <a:pt x="235" y="196"/>
                </a:lnTo>
                <a:lnTo>
                  <a:pt x="229" y="202"/>
                </a:lnTo>
                <a:lnTo>
                  <a:pt x="223" y="209"/>
                </a:lnTo>
                <a:lnTo>
                  <a:pt x="217" y="215"/>
                </a:lnTo>
                <a:lnTo>
                  <a:pt x="210" y="222"/>
                </a:lnTo>
                <a:lnTo>
                  <a:pt x="204" y="229"/>
                </a:lnTo>
                <a:lnTo>
                  <a:pt x="197" y="235"/>
                </a:lnTo>
                <a:lnTo>
                  <a:pt x="191" y="242"/>
                </a:lnTo>
                <a:lnTo>
                  <a:pt x="184" y="248"/>
                </a:lnTo>
                <a:lnTo>
                  <a:pt x="178" y="255"/>
                </a:lnTo>
                <a:lnTo>
                  <a:pt x="171" y="261"/>
                </a:lnTo>
                <a:lnTo>
                  <a:pt x="164" y="268"/>
                </a:lnTo>
                <a:lnTo>
                  <a:pt x="158" y="274"/>
                </a:lnTo>
                <a:lnTo>
                  <a:pt x="151" y="281"/>
                </a:lnTo>
                <a:lnTo>
                  <a:pt x="144" y="287"/>
                </a:lnTo>
                <a:lnTo>
                  <a:pt x="137" y="294"/>
                </a:lnTo>
                <a:lnTo>
                  <a:pt x="130" y="300"/>
                </a:lnTo>
                <a:lnTo>
                  <a:pt x="123" y="307"/>
                </a:lnTo>
                <a:lnTo>
                  <a:pt x="115" y="313"/>
                </a:lnTo>
                <a:lnTo>
                  <a:pt x="108" y="320"/>
                </a:lnTo>
                <a:lnTo>
                  <a:pt x="101" y="326"/>
                </a:lnTo>
                <a:lnTo>
                  <a:pt x="93" y="332"/>
                </a:lnTo>
                <a:lnTo>
                  <a:pt x="86" y="339"/>
                </a:lnTo>
                <a:lnTo>
                  <a:pt x="78" y="345"/>
                </a:lnTo>
                <a:lnTo>
                  <a:pt x="71" y="352"/>
                </a:lnTo>
                <a:lnTo>
                  <a:pt x="63" y="358"/>
                </a:lnTo>
                <a:lnTo>
                  <a:pt x="56" y="364"/>
                </a:lnTo>
                <a:lnTo>
                  <a:pt x="48" y="371"/>
                </a:lnTo>
                <a:lnTo>
                  <a:pt x="40" y="377"/>
                </a:lnTo>
                <a:lnTo>
                  <a:pt x="32" y="383"/>
                </a:lnTo>
                <a:lnTo>
                  <a:pt x="24" y="389"/>
                </a:lnTo>
                <a:lnTo>
                  <a:pt x="16" y="396"/>
                </a:lnTo>
                <a:lnTo>
                  <a:pt x="8" y="402"/>
                </a:lnTo>
                <a:lnTo>
                  <a:pt x="0" y="408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7281367" y="5523890"/>
            <a:ext cx="475488" cy="72238"/>
          </a:xfrm>
          <a:custGeom>
            <a:avLst/>
            <a:gdLst/>
            <a:ahLst/>
            <a:cxnLst/>
            <a:rect l="l" t="t" r="r" b="b"/>
            <a:pathLst>
              <a:path w="520" h="79">
                <a:moveTo>
                  <a:pt x="520" y="0"/>
                </a:moveTo>
                <a:lnTo>
                  <a:pt x="504" y="2"/>
                </a:lnTo>
                <a:lnTo>
                  <a:pt x="488" y="5"/>
                </a:lnTo>
                <a:lnTo>
                  <a:pt x="472" y="8"/>
                </a:lnTo>
                <a:lnTo>
                  <a:pt x="456" y="11"/>
                </a:lnTo>
                <a:lnTo>
                  <a:pt x="440" y="14"/>
                </a:lnTo>
                <a:lnTo>
                  <a:pt x="424" y="17"/>
                </a:lnTo>
                <a:lnTo>
                  <a:pt x="408" y="19"/>
                </a:lnTo>
                <a:lnTo>
                  <a:pt x="392" y="22"/>
                </a:lnTo>
                <a:lnTo>
                  <a:pt x="376" y="25"/>
                </a:lnTo>
                <a:lnTo>
                  <a:pt x="360" y="27"/>
                </a:lnTo>
                <a:lnTo>
                  <a:pt x="344" y="30"/>
                </a:lnTo>
                <a:lnTo>
                  <a:pt x="328" y="33"/>
                </a:lnTo>
                <a:lnTo>
                  <a:pt x="312" y="35"/>
                </a:lnTo>
                <a:lnTo>
                  <a:pt x="295" y="38"/>
                </a:lnTo>
                <a:lnTo>
                  <a:pt x="279" y="40"/>
                </a:lnTo>
                <a:lnTo>
                  <a:pt x="263" y="43"/>
                </a:lnTo>
                <a:lnTo>
                  <a:pt x="247" y="45"/>
                </a:lnTo>
                <a:lnTo>
                  <a:pt x="230" y="48"/>
                </a:lnTo>
                <a:lnTo>
                  <a:pt x="214" y="50"/>
                </a:lnTo>
                <a:lnTo>
                  <a:pt x="198" y="53"/>
                </a:lnTo>
                <a:lnTo>
                  <a:pt x="181" y="55"/>
                </a:lnTo>
                <a:lnTo>
                  <a:pt x="165" y="57"/>
                </a:lnTo>
                <a:lnTo>
                  <a:pt x="148" y="60"/>
                </a:lnTo>
                <a:lnTo>
                  <a:pt x="132" y="62"/>
                </a:lnTo>
                <a:lnTo>
                  <a:pt x="115" y="64"/>
                </a:lnTo>
                <a:lnTo>
                  <a:pt x="99" y="66"/>
                </a:lnTo>
                <a:lnTo>
                  <a:pt x="82" y="69"/>
                </a:lnTo>
                <a:lnTo>
                  <a:pt x="66" y="71"/>
                </a:lnTo>
                <a:lnTo>
                  <a:pt x="49" y="73"/>
                </a:lnTo>
                <a:lnTo>
                  <a:pt x="33" y="75"/>
                </a:lnTo>
                <a:lnTo>
                  <a:pt x="16" y="77"/>
                </a:lnTo>
                <a:lnTo>
                  <a:pt x="0" y="79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4422953" y="5523890"/>
            <a:ext cx="475488" cy="72238"/>
          </a:xfrm>
          <a:custGeom>
            <a:avLst/>
            <a:gdLst/>
            <a:ahLst/>
            <a:cxnLst/>
            <a:rect l="l" t="t" r="r" b="b"/>
            <a:pathLst>
              <a:path w="520" h="79">
                <a:moveTo>
                  <a:pt x="520" y="79"/>
                </a:moveTo>
                <a:lnTo>
                  <a:pt x="504" y="77"/>
                </a:lnTo>
                <a:lnTo>
                  <a:pt x="487" y="75"/>
                </a:lnTo>
                <a:lnTo>
                  <a:pt x="471" y="73"/>
                </a:lnTo>
                <a:lnTo>
                  <a:pt x="454" y="71"/>
                </a:lnTo>
                <a:lnTo>
                  <a:pt x="438" y="69"/>
                </a:lnTo>
                <a:lnTo>
                  <a:pt x="421" y="66"/>
                </a:lnTo>
                <a:lnTo>
                  <a:pt x="405" y="64"/>
                </a:lnTo>
                <a:lnTo>
                  <a:pt x="388" y="62"/>
                </a:lnTo>
                <a:lnTo>
                  <a:pt x="372" y="60"/>
                </a:lnTo>
                <a:lnTo>
                  <a:pt x="355" y="57"/>
                </a:lnTo>
                <a:lnTo>
                  <a:pt x="339" y="55"/>
                </a:lnTo>
                <a:lnTo>
                  <a:pt x="322" y="53"/>
                </a:lnTo>
                <a:lnTo>
                  <a:pt x="306" y="50"/>
                </a:lnTo>
                <a:lnTo>
                  <a:pt x="290" y="48"/>
                </a:lnTo>
                <a:lnTo>
                  <a:pt x="273" y="45"/>
                </a:lnTo>
                <a:lnTo>
                  <a:pt x="257" y="43"/>
                </a:lnTo>
                <a:lnTo>
                  <a:pt x="241" y="40"/>
                </a:lnTo>
                <a:lnTo>
                  <a:pt x="225" y="38"/>
                </a:lnTo>
                <a:lnTo>
                  <a:pt x="208" y="35"/>
                </a:lnTo>
                <a:lnTo>
                  <a:pt x="192" y="33"/>
                </a:lnTo>
                <a:lnTo>
                  <a:pt x="176" y="30"/>
                </a:lnTo>
                <a:lnTo>
                  <a:pt x="160" y="27"/>
                </a:lnTo>
                <a:lnTo>
                  <a:pt x="144" y="25"/>
                </a:lnTo>
                <a:lnTo>
                  <a:pt x="128" y="22"/>
                </a:lnTo>
                <a:lnTo>
                  <a:pt x="112" y="19"/>
                </a:lnTo>
                <a:lnTo>
                  <a:pt x="96" y="17"/>
                </a:lnTo>
                <a:lnTo>
                  <a:pt x="80" y="14"/>
                </a:lnTo>
                <a:lnTo>
                  <a:pt x="64" y="11"/>
                </a:lnTo>
                <a:lnTo>
                  <a:pt x="48" y="8"/>
                </a:lnTo>
                <a:lnTo>
                  <a:pt x="32" y="5"/>
                </a:lnTo>
                <a:lnTo>
                  <a:pt x="16" y="2"/>
                </a:lnTo>
                <a:lnTo>
                  <a:pt x="0" y="0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2158898" y="4420210"/>
            <a:ext cx="351130" cy="373075"/>
          </a:xfrm>
          <a:custGeom>
            <a:avLst/>
            <a:gdLst/>
            <a:ahLst/>
            <a:cxnLst/>
            <a:rect l="l" t="t" r="r" b="b"/>
            <a:pathLst>
              <a:path w="384" h="408">
                <a:moveTo>
                  <a:pt x="384" y="408"/>
                </a:moveTo>
                <a:lnTo>
                  <a:pt x="376" y="402"/>
                </a:lnTo>
                <a:lnTo>
                  <a:pt x="368" y="396"/>
                </a:lnTo>
                <a:lnTo>
                  <a:pt x="360" y="389"/>
                </a:lnTo>
                <a:lnTo>
                  <a:pt x="352" y="383"/>
                </a:lnTo>
                <a:lnTo>
                  <a:pt x="344" y="377"/>
                </a:lnTo>
                <a:lnTo>
                  <a:pt x="336" y="371"/>
                </a:lnTo>
                <a:lnTo>
                  <a:pt x="328" y="364"/>
                </a:lnTo>
                <a:lnTo>
                  <a:pt x="321" y="358"/>
                </a:lnTo>
                <a:lnTo>
                  <a:pt x="313" y="352"/>
                </a:lnTo>
                <a:lnTo>
                  <a:pt x="306" y="345"/>
                </a:lnTo>
                <a:lnTo>
                  <a:pt x="298" y="339"/>
                </a:lnTo>
                <a:lnTo>
                  <a:pt x="291" y="332"/>
                </a:lnTo>
                <a:lnTo>
                  <a:pt x="283" y="326"/>
                </a:lnTo>
                <a:lnTo>
                  <a:pt x="276" y="320"/>
                </a:lnTo>
                <a:lnTo>
                  <a:pt x="269" y="313"/>
                </a:lnTo>
                <a:lnTo>
                  <a:pt x="261" y="307"/>
                </a:lnTo>
                <a:lnTo>
                  <a:pt x="254" y="300"/>
                </a:lnTo>
                <a:lnTo>
                  <a:pt x="247" y="294"/>
                </a:lnTo>
                <a:lnTo>
                  <a:pt x="240" y="287"/>
                </a:lnTo>
                <a:lnTo>
                  <a:pt x="233" y="281"/>
                </a:lnTo>
                <a:lnTo>
                  <a:pt x="226" y="274"/>
                </a:lnTo>
                <a:lnTo>
                  <a:pt x="220" y="268"/>
                </a:lnTo>
                <a:lnTo>
                  <a:pt x="213" y="261"/>
                </a:lnTo>
                <a:lnTo>
                  <a:pt x="206" y="255"/>
                </a:lnTo>
                <a:lnTo>
                  <a:pt x="200" y="248"/>
                </a:lnTo>
                <a:lnTo>
                  <a:pt x="193" y="242"/>
                </a:lnTo>
                <a:lnTo>
                  <a:pt x="187" y="235"/>
                </a:lnTo>
                <a:lnTo>
                  <a:pt x="180" y="229"/>
                </a:lnTo>
                <a:lnTo>
                  <a:pt x="174" y="222"/>
                </a:lnTo>
                <a:lnTo>
                  <a:pt x="167" y="215"/>
                </a:lnTo>
                <a:lnTo>
                  <a:pt x="161" y="209"/>
                </a:lnTo>
                <a:lnTo>
                  <a:pt x="155" y="202"/>
                </a:lnTo>
                <a:lnTo>
                  <a:pt x="149" y="196"/>
                </a:lnTo>
                <a:lnTo>
                  <a:pt x="143" y="189"/>
                </a:lnTo>
                <a:lnTo>
                  <a:pt x="137" y="182"/>
                </a:lnTo>
                <a:lnTo>
                  <a:pt x="131" y="176"/>
                </a:lnTo>
                <a:lnTo>
                  <a:pt x="125" y="169"/>
                </a:lnTo>
                <a:lnTo>
                  <a:pt x="119" y="162"/>
                </a:lnTo>
                <a:lnTo>
                  <a:pt x="114" y="156"/>
                </a:lnTo>
                <a:lnTo>
                  <a:pt x="108" y="149"/>
                </a:lnTo>
                <a:lnTo>
                  <a:pt x="102" y="142"/>
                </a:lnTo>
                <a:lnTo>
                  <a:pt x="97" y="136"/>
                </a:lnTo>
                <a:lnTo>
                  <a:pt x="91" y="129"/>
                </a:lnTo>
                <a:lnTo>
                  <a:pt x="86" y="122"/>
                </a:lnTo>
                <a:lnTo>
                  <a:pt x="80" y="116"/>
                </a:lnTo>
                <a:lnTo>
                  <a:pt x="75" y="109"/>
                </a:lnTo>
                <a:lnTo>
                  <a:pt x="70" y="102"/>
                </a:lnTo>
                <a:lnTo>
                  <a:pt x="65" y="95"/>
                </a:lnTo>
                <a:lnTo>
                  <a:pt x="60" y="89"/>
                </a:lnTo>
                <a:lnTo>
                  <a:pt x="55" y="82"/>
                </a:lnTo>
                <a:lnTo>
                  <a:pt x="50" y="75"/>
                </a:lnTo>
                <a:lnTo>
                  <a:pt x="45" y="68"/>
                </a:lnTo>
                <a:lnTo>
                  <a:pt x="40" y="61"/>
                </a:lnTo>
                <a:lnTo>
                  <a:pt x="35" y="55"/>
                </a:lnTo>
                <a:lnTo>
                  <a:pt x="31" y="48"/>
                </a:lnTo>
                <a:lnTo>
                  <a:pt x="26" y="41"/>
                </a:lnTo>
                <a:lnTo>
                  <a:pt x="21" y="34"/>
                </a:lnTo>
                <a:lnTo>
                  <a:pt x="17" y="27"/>
                </a:lnTo>
                <a:lnTo>
                  <a:pt x="13" y="20"/>
                </a:lnTo>
                <a:lnTo>
                  <a:pt x="8" y="14"/>
                </a:lnTo>
                <a:lnTo>
                  <a:pt x="4" y="7"/>
                </a:lnTo>
                <a:lnTo>
                  <a:pt x="0" y="0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2158898" y="3253435"/>
            <a:ext cx="351130" cy="373075"/>
          </a:xfrm>
          <a:custGeom>
            <a:avLst/>
            <a:gdLst/>
            <a:ahLst/>
            <a:cxnLst/>
            <a:rect l="l" t="t" r="r" b="b"/>
            <a:pathLst>
              <a:path w="384" h="408">
                <a:moveTo>
                  <a:pt x="0" y="408"/>
                </a:moveTo>
                <a:lnTo>
                  <a:pt x="4" y="401"/>
                </a:lnTo>
                <a:lnTo>
                  <a:pt x="8" y="394"/>
                </a:lnTo>
                <a:lnTo>
                  <a:pt x="13" y="388"/>
                </a:lnTo>
                <a:lnTo>
                  <a:pt x="17" y="381"/>
                </a:lnTo>
                <a:lnTo>
                  <a:pt x="21" y="374"/>
                </a:lnTo>
                <a:lnTo>
                  <a:pt x="26" y="367"/>
                </a:lnTo>
                <a:lnTo>
                  <a:pt x="31" y="360"/>
                </a:lnTo>
                <a:lnTo>
                  <a:pt x="35" y="353"/>
                </a:lnTo>
                <a:lnTo>
                  <a:pt x="40" y="347"/>
                </a:lnTo>
                <a:lnTo>
                  <a:pt x="45" y="340"/>
                </a:lnTo>
                <a:lnTo>
                  <a:pt x="50" y="333"/>
                </a:lnTo>
                <a:lnTo>
                  <a:pt x="55" y="326"/>
                </a:lnTo>
                <a:lnTo>
                  <a:pt x="60" y="319"/>
                </a:lnTo>
                <a:lnTo>
                  <a:pt x="65" y="313"/>
                </a:lnTo>
                <a:lnTo>
                  <a:pt x="70" y="306"/>
                </a:lnTo>
                <a:lnTo>
                  <a:pt x="75" y="299"/>
                </a:lnTo>
                <a:lnTo>
                  <a:pt x="80" y="292"/>
                </a:lnTo>
                <a:lnTo>
                  <a:pt x="86" y="286"/>
                </a:lnTo>
                <a:lnTo>
                  <a:pt x="91" y="279"/>
                </a:lnTo>
                <a:lnTo>
                  <a:pt x="97" y="272"/>
                </a:lnTo>
                <a:lnTo>
                  <a:pt x="102" y="266"/>
                </a:lnTo>
                <a:lnTo>
                  <a:pt x="108" y="259"/>
                </a:lnTo>
                <a:lnTo>
                  <a:pt x="114" y="252"/>
                </a:lnTo>
                <a:lnTo>
                  <a:pt x="119" y="246"/>
                </a:lnTo>
                <a:lnTo>
                  <a:pt x="125" y="239"/>
                </a:lnTo>
                <a:lnTo>
                  <a:pt x="131" y="232"/>
                </a:lnTo>
                <a:lnTo>
                  <a:pt x="137" y="226"/>
                </a:lnTo>
                <a:lnTo>
                  <a:pt x="143" y="219"/>
                </a:lnTo>
                <a:lnTo>
                  <a:pt x="149" y="212"/>
                </a:lnTo>
                <a:lnTo>
                  <a:pt x="155" y="206"/>
                </a:lnTo>
                <a:lnTo>
                  <a:pt x="161" y="199"/>
                </a:lnTo>
                <a:lnTo>
                  <a:pt x="167" y="193"/>
                </a:lnTo>
                <a:lnTo>
                  <a:pt x="174" y="186"/>
                </a:lnTo>
                <a:lnTo>
                  <a:pt x="180" y="179"/>
                </a:lnTo>
                <a:lnTo>
                  <a:pt x="187" y="173"/>
                </a:lnTo>
                <a:lnTo>
                  <a:pt x="193" y="166"/>
                </a:lnTo>
                <a:lnTo>
                  <a:pt x="200" y="160"/>
                </a:lnTo>
                <a:lnTo>
                  <a:pt x="206" y="153"/>
                </a:lnTo>
                <a:lnTo>
                  <a:pt x="213" y="147"/>
                </a:lnTo>
                <a:lnTo>
                  <a:pt x="220" y="140"/>
                </a:lnTo>
                <a:lnTo>
                  <a:pt x="226" y="134"/>
                </a:lnTo>
                <a:lnTo>
                  <a:pt x="233" y="127"/>
                </a:lnTo>
                <a:lnTo>
                  <a:pt x="240" y="121"/>
                </a:lnTo>
                <a:lnTo>
                  <a:pt x="247" y="114"/>
                </a:lnTo>
                <a:lnTo>
                  <a:pt x="254" y="108"/>
                </a:lnTo>
                <a:lnTo>
                  <a:pt x="261" y="101"/>
                </a:lnTo>
                <a:lnTo>
                  <a:pt x="269" y="95"/>
                </a:lnTo>
                <a:lnTo>
                  <a:pt x="276" y="88"/>
                </a:lnTo>
                <a:lnTo>
                  <a:pt x="283" y="82"/>
                </a:lnTo>
                <a:lnTo>
                  <a:pt x="291" y="76"/>
                </a:lnTo>
                <a:lnTo>
                  <a:pt x="298" y="69"/>
                </a:lnTo>
                <a:lnTo>
                  <a:pt x="306" y="63"/>
                </a:lnTo>
                <a:lnTo>
                  <a:pt x="313" y="56"/>
                </a:lnTo>
                <a:lnTo>
                  <a:pt x="321" y="50"/>
                </a:lnTo>
                <a:lnTo>
                  <a:pt x="328" y="44"/>
                </a:lnTo>
                <a:lnTo>
                  <a:pt x="336" y="37"/>
                </a:lnTo>
                <a:lnTo>
                  <a:pt x="344" y="31"/>
                </a:lnTo>
                <a:lnTo>
                  <a:pt x="352" y="25"/>
                </a:lnTo>
                <a:lnTo>
                  <a:pt x="360" y="19"/>
                </a:lnTo>
                <a:lnTo>
                  <a:pt x="368" y="12"/>
                </a:lnTo>
                <a:lnTo>
                  <a:pt x="376" y="6"/>
                </a:lnTo>
                <a:lnTo>
                  <a:pt x="384" y="0"/>
                </a:lnTo>
              </a:path>
            </a:pathLst>
          </a:custGeom>
          <a:noFill/>
          <a:ln w="21590">
            <a:solidFill>
              <a:srgbClr val="64748B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4422953" y="2450592"/>
            <a:ext cx="475488" cy="72238"/>
          </a:xfrm>
          <a:custGeom>
            <a:avLst/>
            <a:gdLst/>
            <a:ahLst/>
            <a:cxnLst/>
            <a:rect l="l" t="t" r="r" b="b"/>
            <a:pathLst>
              <a:path w="520" h="79">
                <a:moveTo>
                  <a:pt x="0" y="79"/>
                </a:moveTo>
                <a:lnTo>
                  <a:pt x="16" y="77"/>
                </a:lnTo>
                <a:lnTo>
                  <a:pt x="32" y="74"/>
                </a:lnTo>
                <a:lnTo>
                  <a:pt x="48" y="71"/>
                </a:lnTo>
                <a:lnTo>
                  <a:pt x="64" y="68"/>
                </a:lnTo>
                <a:lnTo>
                  <a:pt x="80" y="65"/>
                </a:lnTo>
                <a:lnTo>
                  <a:pt x="96" y="62"/>
                </a:lnTo>
                <a:lnTo>
                  <a:pt x="112" y="60"/>
                </a:lnTo>
                <a:lnTo>
                  <a:pt x="128" y="57"/>
                </a:lnTo>
                <a:lnTo>
                  <a:pt x="144" y="54"/>
                </a:lnTo>
                <a:lnTo>
                  <a:pt x="160" y="52"/>
                </a:lnTo>
                <a:lnTo>
                  <a:pt x="176" y="49"/>
                </a:lnTo>
                <a:lnTo>
                  <a:pt x="192" y="46"/>
                </a:lnTo>
                <a:lnTo>
                  <a:pt x="208" y="44"/>
                </a:lnTo>
                <a:lnTo>
                  <a:pt x="225" y="41"/>
                </a:lnTo>
                <a:lnTo>
                  <a:pt x="241" y="39"/>
                </a:lnTo>
                <a:lnTo>
                  <a:pt x="257" y="36"/>
                </a:lnTo>
                <a:lnTo>
                  <a:pt x="273" y="34"/>
                </a:lnTo>
                <a:lnTo>
                  <a:pt x="290" y="31"/>
                </a:lnTo>
                <a:lnTo>
                  <a:pt x="306" y="29"/>
                </a:lnTo>
                <a:lnTo>
                  <a:pt x="322" y="26"/>
                </a:lnTo>
                <a:lnTo>
                  <a:pt x="339" y="24"/>
                </a:lnTo>
                <a:lnTo>
                  <a:pt x="355" y="22"/>
                </a:lnTo>
                <a:lnTo>
                  <a:pt x="372" y="19"/>
                </a:lnTo>
                <a:lnTo>
                  <a:pt x="388" y="17"/>
                </a:lnTo>
                <a:lnTo>
                  <a:pt x="405" y="15"/>
                </a:lnTo>
                <a:lnTo>
                  <a:pt x="421" y="13"/>
                </a:lnTo>
                <a:lnTo>
                  <a:pt x="438" y="10"/>
                </a:lnTo>
                <a:lnTo>
                  <a:pt x="454" y="8"/>
                </a:lnTo>
                <a:lnTo>
                  <a:pt x="471" y="6"/>
                </a:lnTo>
                <a:lnTo>
                  <a:pt x="487" y="4"/>
                </a:lnTo>
                <a:lnTo>
                  <a:pt x="504" y="2"/>
                </a:lnTo>
                <a:lnTo>
                  <a:pt x="520" y="0"/>
                </a:lnTo>
              </a:path>
            </a:pathLst>
          </a:custGeom>
          <a:noFill/>
          <a:ln w="31750">
            <a:solidFill>
              <a:srgbClr val="F97316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fecycle: Request"/>
          <p:cNvSpPr/>
          <p:nvPr/>
        </p:nvSpPr>
        <p:spPr>
          <a:xfrm>
            <a:off x="4946904" y="2029968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66507" y="2206264"/>
            <a:ext cx="346008" cy="24140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134904" y="2447665"/>
            <a:ext cx="0" cy="7242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34904" y="2447665"/>
            <a:ext cx="84491" cy="7242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36916" y="2316906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25430" y="2316906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13944" y="2316906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: Request"/>
          <p:cNvSpPr txBox="1"/>
          <p:nvPr/>
        </p:nvSpPr>
        <p:spPr>
          <a:xfrm>
            <a:off x="5504688" y="210312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Request</a:t>
            </a:r>
          </a:p>
        </p:txBody>
      </p:sp>
      <p:sp>
        <p:nvSpPr>
          <p:cNvPr id="22" name="Lifecycle: Requirements"/>
          <p:cNvSpPr/>
          <p:nvPr/>
        </p:nvSpPr>
        <p:spPr>
          <a:xfrm>
            <a:off x="7811246" y="2512046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79130" y="2668226"/>
            <a:ext cx="249448" cy="346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27410" y="2776857"/>
            <a:ext cx="152888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27410" y="2841230"/>
            <a:ext cx="152888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27410" y="2909627"/>
            <a:ext cx="104608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: Requirements"/>
          <p:cNvSpPr txBox="1"/>
          <p:nvPr/>
        </p:nvSpPr>
        <p:spPr>
          <a:xfrm>
            <a:off x="8369030" y="258519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43"/>
                </a:solidFill>
                <a:latin typeface="Aptos"/>
              </a:rPr>
              <a:t>Requirements</a:t>
            </a:r>
          </a:p>
        </p:txBody>
      </p:sp>
      <p:sp>
        <p:nvSpPr>
          <p:cNvPr id="28" name="Lifecycle: Model"/>
          <p:cNvSpPr/>
          <p:nvPr/>
        </p:nvSpPr>
        <p:spPr>
          <a:xfrm>
            <a:off x="8997696" y="3675888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: ∑"/>
          <p:cNvSpPr txBox="1"/>
          <p:nvPr/>
        </p:nvSpPr>
        <p:spPr>
          <a:xfrm>
            <a:off x="9089136" y="38039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23" b="0">
                <a:solidFill>
                  <a:srgbClr val="0F2343"/>
                </a:solidFill>
                <a:latin typeface="Cambria Math"/>
              </a:rPr>
              <a:t>∑</a:t>
            </a:r>
          </a:p>
        </p:txBody>
      </p:sp>
      <p:sp>
        <p:nvSpPr>
          <p:cNvPr id="30" name="Text: Model"/>
          <p:cNvSpPr txBox="1"/>
          <p:nvPr/>
        </p:nvSpPr>
        <p:spPr>
          <a:xfrm>
            <a:off x="9555480" y="374904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Model</a:t>
            </a:r>
          </a:p>
        </p:txBody>
      </p:sp>
      <p:sp>
        <p:nvSpPr>
          <p:cNvPr id="31" name="Lifecycle: Design &amp; code"/>
          <p:cNvSpPr/>
          <p:nvPr/>
        </p:nvSpPr>
        <p:spPr>
          <a:xfrm>
            <a:off x="7811246" y="4839729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H="1">
            <a:off x="7942920" y="5060282"/>
            <a:ext cx="80467" cy="10863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42920" y="5168913"/>
            <a:ext cx="80467" cy="10863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184321" y="5060282"/>
            <a:ext cx="80467" cy="10863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184321" y="5168913"/>
            <a:ext cx="80467" cy="10863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071667" y="5028095"/>
            <a:ext cx="68397" cy="281635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: Design &amp; code"/>
          <p:cNvSpPr txBox="1"/>
          <p:nvPr/>
        </p:nvSpPr>
        <p:spPr>
          <a:xfrm>
            <a:off x="8369030" y="4912881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43"/>
                </a:solidFill>
                <a:latin typeface="Aptos"/>
              </a:rPr>
              <a:t>Design &amp; code</a:t>
            </a:r>
          </a:p>
        </p:txBody>
      </p:sp>
      <p:sp>
        <p:nvSpPr>
          <p:cNvPr id="38" name="Lifecycle: Tests"/>
          <p:cNvSpPr/>
          <p:nvPr/>
        </p:nvSpPr>
        <p:spPr>
          <a:xfrm>
            <a:off x="4946904" y="5321808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0647" y="5490057"/>
            <a:ext cx="297728" cy="3218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150998" y="5646968"/>
            <a:ext cx="64373" cy="64374"/>
          </a:xfrm>
          <a:prstGeom prst="line">
            <a:avLst/>
          </a:prstGeom>
          <a:ln w="3175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215371" y="5570524"/>
            <a:ext cx="116678" cy="140818"/>
          </a:xfrm>
          <a:prstGeom prst="line">
            <a:avLst/>
          </a:prstGeom>
          <a:ln w="3175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: Tests"/>
          <p:cNvSpPr txBox="1"/>
          <p:nvPr/>
        </p:nvSpPr>
        <p:spPr>
          <a:xfrm>
            <a:off x="5504688" y="5394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Tests</a:t>
            </a:r>
          </a:p>
        </p:txBody>
      </p:sp>
      <p:sp>
        <p:nvSpPr>
          <p:cNvPr id="43" name="Lifecycle: Deploy"/>
          <p:cNvSpPr/>
          <p:nvPr/>
        </p:nvSpPr>
        <p:spPr>
          <a:xfrm>
            <a:off x="2082561" y="4839729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226305" y="5168913"/>
            <a:ext cx="297728" cy="16093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2375169" y="5007978"/>
            <a:ext cx="0" cy="217262"/>
          </a:xfrm>
          <a:prstGeom prst="line">
            <a:avLst/>
          </a:prstGeom>
          <a:ln w="3175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286655" y="5007978"/>
            <a:ext cx="88514" cy="88514"/>
          </a:xfrm>
          <a:prstGeom prst="line">
            <a:avLst/>
          </a:prstGeom>
          <a:ln w="3175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375169" y="5007978"/>
            <a:ext cx="88514" cy="88514"/>
          </a:xfrm>
          <a:prstGeom prst="line">
            <a:avLst/>
          </a:prstGeom>
          <a:ln w="3175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: Deploy"/>
          <p:cNvSpPr txBox="1"/>
          <p:nvPr/>
        </p:nvSpPr>
        <p:spPr>
          <a:xfrm>
            <a:off x="2640345" y="4912881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Deploy</a:t>
            </a:r>
          </a:p>
        </p:txBody>
      </p:sp>
      <p:sp>
        <p:nvSpPr>
          <p:cNvPr id="49" name="Lifecycle: Use"/>
          <p:cNvSpPr/>
          <p:nvPr/>
        </p:nvSpPr>
        <p:spPr>
          <a:xfrm>
            <a:off x="896112" y="3675888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4346" y="3824020"/>
            <a:ext cx="128747" cy="128747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84112" y="3988978"/>
            <a:ext cx="209214" cy="197144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: Use"/>
          <p:cNvSpPr txBox="1"/>
          <p:nvPr/>
        </p:nvSpPr>
        <p:spPr>
          <a:xfrm>
            <a:off x="1453896" y="374904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Use</a:t>
            </a:r>
          </a:p>
        </p:txBody>
      </p:sp>
      <p:sp>
        <p:nvSpPr>
          <p:cNvPr id="53" name="Lifecycle: Feedback"/>
          <p:cNvSpPr/>
          <p:nvPr/>
        </p:nvSpPr>
        <p:spPr>
          <a:xfrm>
            <a:off x="2082561" y="2512046"/>
            <a:ext cx="228600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202165" y="2688343"/>
            <a:ext cx="346008" cy="24140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2270562" y="2929744"/>
            <a:ext cx="0" cy="7242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270562" y="2929744"/>
            <a:ext cx="84490" cy="7242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272573" y="2798985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361087" y="2798985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449601" y="2798985"/>
            <a:ext cx="28163" cy="28163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: Feedback"/>
          <p:cNvSpPr txBox="1"/>
          <p:nvPr/>
        </p:nvSpPr>
        <p:spPr>
          <a:xfrm>
            <a:off x="2640345" y="258519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43"/>
                </a:solidFill>
                <a:latin typeface="Aptos"/>
              </a:rPr>
              <a:t>Feedback</a:t>
            </a:r>
          </a:p>
        </p:txBody>
      </p:sp>
      <p:sp>
        <p:nvSpPr>
          <p:cNvPr id="61" name="Text: Validation"/>
          <p:cNvSpPr txBox="1"/>
          <p:nvPr/>
        </p:nvSpPr>
        <p:spPr>
          <a:xfrm>
            <a:off x="7955279" y="19019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343"/>
                </a:solidFill>
                <a:latin typeface="Aptos"/>
              </a:rPr>
              <a:t>Validation</a:t>
            </a:r>
          </a:p>
        </p:txBody>
      </p:sp>
      <p:sp>
        <p:nvSpPr>
          <p:cNvPr id="62" name="Text: Verification"/>
          <p:cNvSpPr txBox="1"/>
          <p:nvPr/>
        </p:nvSpPr>
        <p:spPr>
          <a:xfrm>
            <a:off x="7955279" y="58064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343"/>
                </a:solidFill>
                <a:latin typeface="Aptos"/>
              </a:rPr>
              <a:t>Verification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772400" y="2295144"/>
            <a:ext cx="1490472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772400" y="2295144"/>
            <a:ext cx="0" cy="13716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262872" y="2295144"/>
            <a:ext cx="0" cy="13716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772400" y="5669280"/>
            <a:ext cx="1490472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772400" y="5550408"/>
            <a:ext cx="0" cy="118872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62872" y="5550408"/>
            <a:ext cx="0" cy="118872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DF2130AD-D3E8-928D-0456-089424F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46888"/>
            <a:ext cx="1118311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Design 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helps to modularize your code and to facilitate testing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1754571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453895" y="2761488"/>
            <a:ext cx="2075689" cy="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53895" y="2761488"/>
            <a:ext cx="3520441" cy="109728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53895" y="2761488"/>
            <a:ext cx="2075689" cy="226771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53895" y="2761488"/>
            <a:ext cx="0" cy="226771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8136" y="2761488"/>
            <a:ext cx="365759" cy="109728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29584" y="2761488"/>
            <a:ext cx="1444752" cy="109728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29584" y="2761488"/>
            <a:ext cx="0" cy="226771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453895" y="2761488"/>
            <a:ext cx="2075689" cy="226771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88136" y="2761488"/>
            <a:ext cx="2441448" cy="109728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29584" y="3858768"/>
            <a:ext cx="1444752" cy="117043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453895" y="3858768"/>
            <a:ext cx="3520441" cy="117043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88136" y="3858768"/>
            <a:ext cx="3886200" cy="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453895" y="5029200"/>
            <a:ext cx="2075689" cy="0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88136" y="3858768"/>
            <a:ext cx="2441448" cy="117043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88136" y="3858768"/>
            <a:ext cx="365759" cy="1170432"/>
          </a:xfrm>
          <a:prstGeom prst="line">
            <a:avLst/>
          </a:prstGeom>
          <a:ln w="16510">
            <a:solidFill>
              <a:srgbClr val="DDE4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59168" y="2880360"/>
            <a:ext cx="1636776" cy="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95944" y="2880360"/>
            <a:ext cx="1636776" cy="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59168" y="2880360"/>
            <a:ext cx="0" cy="1682496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95944" y="2880360"/>
            <a:ext cx="0" cy="1682496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32720" y="2880360"/>
            <a:ext cx="0" cy="1682496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59168" y="4562856"/>
            <a:ext cx="1636776" cy="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95944" y="4562856"/>
            <a:ext cx="1636776" cy="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78992" y="2487168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: A"/>
          <p:cNvSpPr txBox="1"/>
          <p:nvPr/>
        </p:nvSpPr>
        <p:spPr>
          <a:xfrm>
            <a:off x="1078992" y="2532888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2487168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2159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: B"/>
          <p:cNvSpPr txBox="1"/>
          <p:nvPr/>
        </p:nvSpPr>
        <p:spPr>
          <a:xfrm>
            <a:off x="3154680" y="2532888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9432" y="3584448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: C"/>
          <p:cNvSpPr txBox="1"/>
          <p:nvPr/>
        </p:nvSpPr>
        <p:spPr>
          <a:xfrm>
            <a:off x="4599432" y="3630168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4754880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: D"/>
          <p:cNvSpPr txBox="1"/>
          <p:nvPr/>
        </p:nvSpPr>
        <p:spPr>
          <a:xfrm>
            <a:off x="3154680" y="4800600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" y="4754880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: E"/>
          <p:cNvSpPr txBox="1"/>
          <p:nvPr/>
        </p:nvSpPr>
        <p:spPr>
          <a:xfrm>
            <a:off x="1078992" y="4800600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3584448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: F"/>
          <p:cNvSpPr txBox="1"/>
          <p:nvPr/>
        </p:nvSpPr>
        <p:spPr>
          <a:xfrm>
            <a:off x="713232" y="3630168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84264" y="2606040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: A"/>
          <p:cNvSpPr txBox="1"/>
          <p:nvPr/>
        </p:nvSpPr>
        <p:spPr>
          <a:xfrm>
            <a:off x="6684264" y="2651760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59168" y="3154680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57416" y="3538728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: ✓"/>
          <p:cNvSpPr txBox="1"/>
          <p:nvPr/>
        </p:nvSpPr>
        <p:spPr>
          <a:xfrm>
            <a:off x="6821424" y="3547872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2606040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2159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: B"/>
          <p:cNvSpPr txBox="1"/>
          <p:nvPr/>
        </p:nvSpPr>
        <p:spPr>
          <a:xfrm>
            <a:off x="8321040" y="2651760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695944" y="3154680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394192" y="3538728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: ✓"/>
          <p:cNvSpPr txBox="1"/>
          <p:nvPr/>
        </p:nvSpPr>
        <p:spPr>
          <a:xfrm>
            <a:off x="8458200" y="3547872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57816" y="2606040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: C"/>
          <p:cNvSpPr txBox="1"/>
          <p:nvPr/>
        </p:nvSpPr>
        <p:spPr>
          <a:xfrm>
            <a:off x="9957816" y="2651760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332720" y="3154680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0030968" y="3538728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: ✓"/>
          <p:cNvSpPr txBox="1"/>
          <p:nvPr/>
        </p:nvSpPr>
        <p:spPr>
          <a:xfrm>
            <a:off x="10094976" y="3547872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84264" y="4288536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: D"/>
          <p:cNvSpPr txBox="1"/>
          <p:nvPr/>
        </p:nvSpPr>
        <p:spPr>
          <a:xfrm>
            <a:off x="6684264" y="4334256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9168" y="4837176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757416" y="5221224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: ✓"/>
          <p:cNvSpPr txBox="1"/>
          <p:nvPr/>
        </p:nvSpPr>
        <p:spPr>
          <a:xfrm>
            <a:off x="6821424" y="5230368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0" y="4288536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: E"/>
          <p:cNvSpPr txBox="1"/>
          <p:nvPr/>
        </p:nvSpPr>
        <p:spPr>
          <a:xfrm>
            <a:off x="8321040" y="4334256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95944" y="4837176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394192" y="5221224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: ✓"/>
          <p:cNvSpPr txBox="1"/>
          <p:nvPr/>
        </p:nvSpPr>
        <p:spPr>
          <a:xfrm>
            <a:off x="8458200" y="5230368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57816" y="4288536"/>
            <a:ext cx="74980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159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: F"/>
          <p:cNvSpPr txBox="1"/>
          <p:nvPr/>
        </p:nvSpPr>
        <p:spPr>
          <a:xfrm>
            <a:off x="9957816" y="4334256"/>
            <a:ext cx="749808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F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332720" y="4837176"/>
            <a:ext cx="0" cy="384048"/>
          </a:xfrm>
          <a:prstGeom prst="line">
            <a:avLst/>
          </a:prstGeom>
          <a:ln w="1651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030968" y="5221224"/>
            <a:ext cx="60350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: ✓"/>
          <p:cNvSpPr txBox="1"/>
          <p:nvPr/>
        </p:nvSpPr>
        <p:spPr>
          <a:xfrm>
            <a:off x="10094976" y="5230368"/>
            <a:ext cx="4663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97316"/>
                </a:solidFill>
                <a:latin typeface="Segoe UI Symbol"/>
              </a:rPr>
              <a:t>✓</a:t>
            </a:r>
          </a:p>
        </p:txBody>
      </p:sp>
      <p:sp>
        <p:nvSpPr>
          <p:cNvPr id="71" name="Text: Changes spread"/>
          <p:cNvSpPr txBox="1"/>
          <p:nvPr/>
        </p:nvSpPr>
        <p:spPr>
          <a:xfrm>
            <a:off x="649224" y="5833872"/>
            <a:ext cx="514807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Changes spread</a:t>
            </a:r>
          </a:p>
        </p:txBody>
      </p:sp>
      <p:sp>
        <p:nvSpPr>
          <p:cNvPr id="72" name="Text: Changes stay manageable"/>
          <p:cNvSpPr txBox="1"/>
          <p:nvPr/>
        </p:nvSpPr>
        <p:spPr>
          <a:xfrm>
            <a:off x="6263640" y="5833872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Changes stay manageable</a:t>
            </a:r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7933BDDC-39BF-E63A-F9C0-3B5B2B34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2343"/>
                </a:solidFill>
                <a:latin typeface="Aptos Display"/>
              </a:rPr>
              <a:t>A DSS example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93852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45778" y="2813791"/>
            <a:ext cx="544250" cy="754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51117" y="3050804"/>
            <a:ext cx="333573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51117" y="3191256"/>
            <a:ext cx="333573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51117" y="3340486"/>
            <a:ext cx="228234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: Read data"/>
          <p:cNvSpPr txBox="1"/>
          <p:nvPr/>
        </p:nvSpPr>
        <p:spPr>
          <a:xfrm>
            <a:off x="603503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Read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547872"/>
            <a:ext cx="246888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487168"/>
            <a:ext cx="193852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2159" y="2840126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46184" y="2840126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09172" y="3296594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3612611" y="3103473"/>
            <a:ext cx="0" cy="9656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86636" y="3103473"/>
            <a:ext cx="0" cy="9656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2611" y="3200034"/>
            <a:ext cx="474025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49624" y="3200034"/>
            <a:ext cx="0" cy="9656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: Preprocess"/>
          <p:cNvSpPr txBox="1"/>
          <p:nvPr/>
        </p:nvSpPr>
        <p:spPr>
          <a:xfrm>
            <a:off x="2935224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Preprocess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92040" y="3547872"/>
            <a:ext cx="246888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79" y="2487168"/>
            <a:ext cx="193852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: ∑"/>
          <p:cNvSpPr txBox="1"/>
          <p:nvPr/>
        </p:nvSpPr>
        <p:spPr>
          <a:xfrm>
            <a:off x="5742431" y="2752344"/>
            <a:ext cx="877824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16" b="0">
                <a:solidFill>
                  <a:srgbClr val="0F2343"/>
                </a:solidFill>
                <a:latin typeface="Cambria Math"/>
              </a:rPr>
              <a:t>∑</a:t>
            </a:r>
          </a:p>
        </p:txBody>
      </p:sp>
      <p:sp>
        <p:nvSpPr>
          <p:cNvPr id="25" name="Text: Solve"/>
          <p:cNvSpPr txBox="1"/>
          <p:nvPr/>
        </p:nvSpPr>
        <p:spPr>
          <a:xfrm>
            <a:off x="5266943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Solve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23759" y="3547872"/>
            <a:ext cx="246889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43800" y="2487168"/>
            <a:ext cx="193852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5599" y="2840126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09624" y="2840126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72612" y="3296594"/>
            <a:ext cx="280903" cy="2633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8276051" y="3103473"/>
            <a:ext cx="0" cy="9656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50076" y="3103473"/>
            <a:ext cx="0" cy="96561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76051" y="3200034"/>
            <a:ext cx="474025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13064" y="3200034"/>
            <a:ext cx="0" cy="9656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: Postprocess"/>
          <p:cNvSpPr txBox="1"/>
          <p:nvPr/>
        </p:nvSpPr>
        <p:spPr>
          <a:xfrm>
            <a:off x="7598664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2343"/>
                </a:solidFill>
                <a:latin typeface="Aptos"/>
              </a:rPr>
              <a:t>Postprocess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55480" y="3547872"/>
            <a:ext cx="246888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75519" y="2487168"/>
            <a:ext cx="193852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467319" y="2866461"/>
            <a:ext cx="754928" cy="6408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10511210" y="3050804"/>
            <a:ext cx="667147" cy="0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572658" y="3191256"/>
            <a:ext cx="535473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572658" y="3340486"/>
            <a:ext cx="535473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827227" y="3050804"/>
            <a:ext cx="0" cy="403799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: Result"/>
          <p:cNvSpPr txBox="1"/>
          <p:nvPr/>
        </p:nvSpPr>
        <p:spPr>
          <a:xfrm>
            <a:off x="9930384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Result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614416"/>
            <a:ext cx="11000232" cy="457200"/>
          </a:xfrm>
          <a:prstGeom prst="roundRect">
            <a:avLst>
              <a:gd name="adj" fmla="val 12000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: SC101  ·  Live demonstration"/>
          <p:cNvSpPr txBox="1"/>
          <p:nvPr/>
        </p:nvSpPr>
        <p:spPr>
          <a:xfrm>
            <a:off x="722376" y="5650992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SC101  ·  Live demonstration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9A07465C-6210-6D25-8DE7-95C1496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Automated testing 101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687068" y="2240280"/>
            <a:ext cx="859536" cy="859536"/>
          </a:xfrm>
          <a:custGeom>
            <a:avLst/>
            <a:gdLst/>
            <a:ahLst/>
            <a:cxnLst/>
            <a:rect l="l" t="t" r="r" b="b"/>
            <a:pathLst>
              <a:path w="940" h="940">
                <a:moveTo>
                  <a:pt x="470" y="0"/>
                </a:moveTo>
                <a:lnTo>
                  <a:pt x="940" y="940"/>
                </a:lnTo>
                <a:lnTo>
                  <a:pt x="0" y="940"/>
                </a:lnTo>
                <a:close/>
              </a:path>
            </a:pathLst>
          </a:custGeom>
          <a:solidFill>
            <a:srgbClr val="90CAF9"/>
          </a:solidFill>
          <a:ln w="1778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202436" y="3209544"/>
            <a:ext cx="1828800" cy="859536"/>
          </a:xfrm>
          <a:custGeom>
            <a:avLst/>
            <a:gdLst/>
            <a:ahLst/>
            <a:cxnLst/>
            <a:rect l="l" t="t" r="r" b="b"/>
            <a:pathLst>
              <a:path w="2000" h="940">
                <a:moveTo>
                  <a:pt x="460" y="0"/>
                </a:moveTo>
                <a:lnTo>
                  <a:pt x="1540" y="0"/>
                </a:lnTo>
                <a:lnTo>
                  <a:pt x="2000" y="940"/>
                </a:lnTo>
                <a:lnTo>
                  <a:pt x="0" y="940"/>
                </a:lnTo>
                <a:close/>
              </a:path>
            </a:pathLst>
          </a:custGeom>
          <a:solidFill>
            <a:srgbClr val="FFF59D"/>
          </a:solidFill>
          <a:ln w="17780">
            <a:solidFill>
              <a:srgbClr val="8A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699516" y="4178808"/>
            <a:ext cx="2834640" cy="859536"/>
          </a:xfrm>
          <a:custGeom>
            <a:avLst/>
            <a:gdLst/>
            <a:ahLst/>
            <a:cxnLst/>
            <a:rect l="l" t="t" r="r" b="b"/>
            <a:pathLst>
              <a:path w="3100" h="940">
                <a:moveTo>
                  <a:pt x="480" y="0"/>
                </a:moveTo>
                <a:lnTo>
                  <a:pt x="2620" y="0"/>
                </a:lnTo>
                <a:lnTo>
                  <a:pt x="3100" y="940"/>
                </a:lnTo>
                <a:lnTo>
                  <a:pt x="0" y="940"/>
                </a:lnTo>
                <a:close/>
              </a:path>
            </a:pathLst>
          </a:custGeom>
          <a:solidFill>
            <a:srgbClr val="A5D6A7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: End-to-end"/>
          <p:cNvSpPr txBox="1"/>
          <p:nvPr/>
        </p:nvSpPr>
        <p:spPr>
          <a:xfrm>
            <a:off x="685800" y="1819656"/>
            <a:ext cx="2862072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5C0"/>
                </a:solidFill>
                <a:latin typeface="Aptos"/>
              </a:rPr>
              <a:t>End-to-end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16836" y="2157984"/>
            <a:ext cx="0" cy="82296"/>
          </a:xfrm>
          <a:prstGeom prst="line">
            <a:avLst/>
          </a:prstGeom>
          <a:ln w="16510">
            <a:solidFill>
              <a:srgbClr val="1565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: Integration"/>
          <p:cNvSpPr txBox="1"/>
          <p:nvPr/>
        </p:nvSpPr>
        <p:spPr>
          <a:xfrm>
            <a:off x="932688" y="3538728"/>
            <a:ext cx="236829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A6500"/>
                </a:solidFill>
                <a:latin typeface="Aptos"/>
              </a:rPr>
              <a:t>Integration</a:t>
            </a:r>
          </a:p>
        </p:txBody>
      </p:sp>
      <p:sp>
        <p:nvSpPr>
          <p:cNvPr id="12" name="Text: Unit"/>
          <p:cNvSpPr txBox="1"/>
          <p:nvPr/>
        </p:nvSpPr>
        <p:spPr>
          <a:xfrm>
            <a:off x="932688" y="4471416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E7D32"/>
                </a:solidFill>
                <a:latin typeface="Aptos"/>
              </a:rPr>
              <a:t>Unit</a:t>
            </a:r>
          </a:p>
        </p:txBody>
      </p:sp>
      <p:sp>
        <p:nvSpPr>
          <p:cNvPr id="13" name="Text: Unit"/>
          <p:cNvSpPr txBox="1"/>
          <p:nvPr/>
        </p:nvSpPr>
        <p:spPr>
          <a:xfrm>
            <a:off x="4014215" y="1865376"/>
            <a:ext cx="2258568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E7D32"/>
                </a:solidFill>
                <a:latin typeface="Aptos"/>
              </a:rPr>
              <a:t>Unit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4064" y="3255264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78224" y="2734056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: Read"/>
          <p:cNvSpPr txBox="1"/>
          <p:nvPr/>
        </p:nvSpPr>
        <p:spPr>
          <a:xfrm>
            <a:off x="4123944" y="2788920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84064" y="4096512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78224" y="3575304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A5D6A7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: Compute"/>
          <p:cNvSpPr txBox="1"/>
          <p:nvPr/>
        </p:nvSpPr>
        <p:spPr>
          <a:xfrm>
            <a:off x="4123944" y="3630168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Compute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4416552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: Report"/>
          <p:cNvSpPr txBox="1"/>
          <p:nvPr/>
        </p:nvSpPr>
        <p:spPr>
          <a:xfrm>
            <a:off x="4123944" y="4471416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Report</a:t>
            </a:r>
          </a:p>
        </p:txBody>
      </p:sp>
      <p:sp>
        <p:nvSpPr>
          <p:cNvPr id="22" name="Text: Integration"/>
          <p:cNvSpPr txBox="1"/>
          <p:nvPr/>
        </p:nvSpPr>
        <p:spPr>
          <a:xfrm>
            <a:off x="6446520" y="1865376"/>
            <a:ext cx="2258568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8A6500"/>
                </a:solidFill>
                <a:latin typeface="Aptos"/>
              </a:rPr>
              <a:t>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3429000"/>
            <a:ext cx="2267712" cy="1627632"/>
          </a:xfrm>
          <a:prstGeom prst="roundRect">
            <a:avLst>
              <a:gd name="adj" fmla="val 12000"/>
            </a:avLst>
          </a:prstGeom>
          <a:solidFill>
            <a:srgbClr val="FFF59D"/>
          </a:solidFill>
          <a:ln w="19050">
            <a:solidFill>
              <a:srgbClr val="8A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516368" y="3255264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10528" y="2734056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: Read"/>
          <p:cNvSpPr txBox="1"/>
          <p:nvPr/>
        </p:nvSpPr>
        <p:spPr>
          <a:xfrm>
            <a:off x="6556248" y="2788920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16368" y="4096512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10528" y="3575304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: Compute"/>
          <p:cNvSpPr txBox="1"/>
          <p:nvPr/>
        </p:nvSpPr>
        <p:spPr>
          <a:xfrm>
            <a:off x="6556248" y="3630168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Compute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0528" y="4416552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: Report"/>
          <p:cNvSpPr txBox="1"/>
          <p:nvPr/>
        </p:nvSpPr>
        <p:spPr>
          <a:xfrm>
            <a:off x="6556248" y="4471416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Report</a:t>
            </a:r>
          </a:p>
        </p:txBody>
      </p:sp>
      <p:sp>
        <p:nvSpPr>
          <p:cNvPr id="32" name="Text: End-to-end"/>
          <p:cNvSpPr txBox="1"/>
          <p:nvPr/>
        </p:nvSpPr>
        <p:spPr>
          <a:xfrm>
            <a:off x="8878824" y="1865376"/>
            <a:ext cx="2258568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65C0"/>
                </a:solidFill>
                <a:latin typeface="Aptos"/>
              </a:rPr>
              <a:t>End-to-end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569464"/>
            <a:ext cx="2267712" cy="2487168"/>
          </a:xfrm>
          <a:prstGeom prst="roundRect">
            <a:avLst>
              <a:gd name="adj" fmla="val 12000"/>
            </a:avLst>
          </a:prstGeom>
          <a:solidFill>
            <a:srgbClr val="90CAF9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9948672" y="3255264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42832" y="2734056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: Read"/>
          <p:cNvSpPr txBox="1"/>
          <p:nvPr/>
        </p:nvSpPr>
        <p:spPr>
          <a:xfrm>
            <a:off x="8988552" y="2788920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48672" y="4096512"/>
            <a:ext cx="0" cy="274320"/>
          </a:xfrm>
          <a:prstGeom prst="line">
            <a:avLst/>
          </a:prstGeom>
          <a:ln w="2159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42832" y="3575304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: Compute"/>
          <p:cNvSpPr txBox="1"/>
          <p:nvPr/>
        </p:nvSpPr>
        <p:spPr>
          <a:xfrm>
            <a:off x="8988552" y="3630168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Compute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2832" y="4416552"/>
            <a:ext cx="2020824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DD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: Report"/>
          <p:cNvSpPr txBox="1"/>
          <p:nvPr/>
        </p:nvSpPr>
        <p:spPr>
          <a:xfrm>
            <a:off x="8988552" y="4471416"/>
            <a:ext cx="1929384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43"/>
                </a:solidFill>
                <a:latin typeface="Aptos"/>
              </a:rPr>
              <a:t>Report</a:t>
            </a:r>
          </a:p>
        </p:txBody>
      </p:sp>
      <p:sp>
        <p:nvSpPr>
          <p:cNvPr id="42" name="Text: Arrange"/>
          <p:cNvSpPr txBox="1"/>
          <p:nvPr/>
        </p:nvSpPr>
        <p:spPr>
          <a:xfrm>
            <a:off x="1828800" y="5559552"/>
            <a:ext cx="25603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43"/>
                </a:solidFill>
                <a:latin typeface="Aptos"/>
              </a:rPr>
              <a:t>Arrange</a:t>
            </a:r>
          </a:p>
        </p:txBody>
      </p:sp>
      <p:sp>
        <p:nvSpPr>
          <p:cNvPr id="43" name="Text: Set up"/>
          <p:cNvSpPr txBox="1"/>
          <p:nvPr/>
        </p:nvSpPr>
        <p:spPr>
          <a:xfrm>
            <a:off x="1828800" y="602589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48B"/>
                </a:solidFill>
                <a:latin typeface="Aptos"/>
              </a:rPr>
              <a:t>Set up</a:t>
            </a:r>
          </a:p>
        </p:txBody>
      </p:sp>
      <p:sp>
        <p:nvSpPr>
          <p:cNvPr id="44" name="Text: Act"/>
          <p:cNvSpPr txBox="1"/>
          <p:nvPr/>
        </p:nvSpPr>
        <p:spPr>
          <a:xfrm>
            <a:off x="4818888" y="5559552"/>
            <a:ext cx="25603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43"/>
                </a:solidFill>
                <a:latin typeface="Aptos"/>
              </a:rPr>
              <a:t>Act</a:t>
            </a:r>
          </a:p>
        </p:txBody>
      </p:sp>
      <p:sp>
        <p:nvSpPr>
          <p:cNvPr id="45" name="Text: Run"/>
          <p:cNvSpPr txBox="1"/>
          <p:nvPr/>
        </p:nvSpPr>
        <p:spPr>
          <a:xfrm>
            <a:off x="4818888" y="602589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48B"/>
                </a:solidFill>
                <a:latin typeface="Aptos"/>
              </a:rPr>
              <a:t>Run</a:t>
            </a:r>
          </a:p>
        </p:txBody>
      </p:sp>
      <p:sp>
        <p:nvSpPr>
          <p:cNvPr id="46" name="Text: Assert"/>
          <p:cNvSpPr txBox="1"/>
          <p:nvPr/>
        </p:nvSpPr>
        <p:spPr>
          <a:xfrm>
            <a:off x="7799831" y="5559552"/>
            <a:ext cx="25603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43"/>
                </a:solidFill>
                <a:latin typeface="Aptos"/>
              </a:rPr>
              <a:t>Assert</a:t>
            </a:r>
          </a:p>
        </p:txBody>
      </p:sp>
      <p:sp>
        <p:nvSpPr>
          <p:cNvPr id="47" name="Text: Check"/>
          <p:cNvSpPr txBox="1"/>
          <p:nvPr/>
        </p:nvSpPr>
        <p:spPr>
          <a:xfrm>
            <a:off x="7799831" y="602589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48B"/>
                </a:solidFill>
                <a:latin typeface="Aptos"/>
              </a:rPr>
              <a:t>Check</a:t>
            </a:r>
          </a:p>
        </p:txBody>
      </p:sp>
      <p:sp>
        <p:nvSpPr>
          <p:cNvPr id="48" name="Text: →"/>
          <p:cNvSpPr txBox="1"/>
          <p:nvPr/>
        </p:nvSpPr>
        <p:spPr>
          <a:xfrm>
            <a:off x="4416552" y="5596128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49" name="Text: →"/>
          <p:cNvSpPr txBox="1"/>
          <p:nvPr/>
        </p:nvSpPr>
        <p:spPr>
          <a:xfrm>
            <a:off x="7406640" y="5596128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FD4FCE59-E9DD-2789-6049-C09EB96B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55F6-88D7-F559-26E2-E068F3FE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763192CE-3062-E874-A2DD-11DC599B0B8B}"/>
              </a:ext>
            </a:extLst>
          </p:cNvPr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How would you test this optimization model?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C0119-64E6-1F52-9B6A-C1D3B2382FC0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: Each shipment flies whole or stays">
            <a:extLst>
              <a:ext uri="{FF2B5EF4-FFF2-40B4-BE49-F238E27FC236}">
                <a16:creationId xmlns:a16="http://schemas.microsoft.com/office/drawing/2014/main" id="{DECA407B-A50A-C9E9-EC35-78B1D4B1C5A6}"/>
              </a:ext>
            </a:extLst>
          </p:cNvPr>
          <p:cNvSpPr txBox="1"/>
          <p:nvPr/>
        </p:nvSpPr>
        <p:spPr>
          <a:xfrm>
            <a:off x="749808" y="1965960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F2343"/>
                </a:solidFill>
                <a:latin typeface="Aptos"/>
              </a:rPr>
              <a:t>Each shipment flies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F2343"/>
                </a:solidFill>
                <a:latin typeface="Aptos"/>
              </a:rPr>
              <a:t>whole or stays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B272CA4-8E13-36A1-FC31-563D39B739D3}"/>
              </a:ext>
            </a:extLst>
          </p:cNvPr>
          <p:cNvCxnSpPr/>
          <p:nvPr/>
        </p:nvCxnSpPr>
        <p:spPr>
          <a:xfrm>
            <a:off x="5577840" y="2423160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xᵢ ∈ {0, 1}">
            <a:extLst>
              <a:ext uri="{FF2B5EF4-FFF2-40B4-BE49-F238E27FC236}">
                <a16:creationId xmlns:a16="http://schemas.microsoft.com/office/drawing/2014/main" id="{970DBBE5-5557-2C22-890E-02B7DB80F190}"/>
              </a:ext>
            </a:extLst>
          </p:cNvPr>
          <p:cNvSpPr txBox="1"/>
          <p:nvPr/>
        </p:nvSpPr>
        <p:spPr>
          <a:xfrm>
            <a:off x="6492240" y="1975104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F2343"/>
                </a:solidFill>
                <a:latin typeface="Cambria Math"/>
              </a:rPr>
              <a:t>xᵢ ∈ {0, 1}</a:t>
            </a:r>
          </a:p>
        </p:txBody>
      </p:sp>
      <p:sp>
        <p:nvSpPr>
          <p:cNvPr id="9" name="Text: Earn the most revenue">
            <a:extLst>
              <a:ext uri="{FF2B5EF4-FFF2-40B4-BE49-F238E27FC236}">
                <a16:creationId xmlns:a16="http://schemas.microsoft.com/office/drawing/2014/main" id="{3A9C5BC1-3093-470A-7ECE-BE381DA0557E}"/>
              </a:ext>
            </a:extLst>
          </p:cNvPr>
          <p:cNvSpPr txBox="1"/>
          <p:nvPr/>
        </p:nvSpPr>
        <p:spPr>
          <a:xfrm>
            <a:off x="749808" y="3227832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Earn the most revenue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AA5290F8-A49C-FBAC-B914-846BA487D65D}"/>
              </a:ext>
            </a:extLst>
          </p:cNvPr>
          <p:cNvCxnSpPr/>
          <p:nvPr/>
        </p:nvCxnSpPr>
        <p:spPr>
          <a:xfrm>
            <a:off x="5577840" y="3685032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: max  ∑ᵢ rᵢ xᵢ">
            <a:extLst>
              <a:ext uri="{FF2B5EF4-FFF2-40B4-BE49-F238E27FC236}">
                <a16:creationId xmlns:a16="http://schemas.microsoft.com/office/drawing/2014/main" id="{5B7A90A8-908F-6EB8-1F69-2FA6CB3EFE1A}"/>
              </a:ext>
            </a:extLst>
          </p:cNvPr>
          <p:cNvSpPr txBox="1"/>
          <p:nvPr/>
        </p:nvSpPr>
        <p:spPr>
          <a:xfrm>
            <a:off x="6492240" y="3236976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dirty="0">
                <a:solidFill>
                  <a:srgbClr val="0F2343"/>
                </a:solidFill>
                <a:latin typeface="Cambria Math"/>
              </a:rPr>
              <a:t>max  ∑ᵢ rᵢ xᵢ</a:t>
            </a:r>
          </a:p>
        </p:txBody>
      </p:sp>
      <p:sp>
        <p:nvSpPr>
          <p:cNvPr id="12" name="Text: Stay within the weight limit">
            <a:extLst>
              <a:ext uri="{FF2B5EF4-FFF2-40B4-BE49-F238E27FC236}">
                <a16:creationId xmlns:a16="http://schemas.microsoft.com/office/drawing/2014/main" id="{8A57EEE7-898F-F149-5535-E2183F63571E}"/>
              </a:ext>
            </a:extLst>
          </p:cNvPr>
          <p:cNvSpPr txBox="1"/>
          <p:nvPr/>
        </p:nvSpPr>
        <p:spPr>
          <a:xfrm>
            <a:off x="749808" y="4489704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2343"/>
                </a:solidFill>
                <a:latin typeface="Aptos"/>
              </a:rPr>
              <a:t>Stay within the weight limit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F7E5839F-BA19-3447-BFCF-BDD1401D46DA}"/>
              </a:ext>
            </a:extLst>
          </p:cNvPr>
          <p:cNvCxnSpPr/>
          <p:nvPr/>
        </p:nvCxnSpPr>
        <p:spPr>
          <a:xfrm>
            <a:off x="5577840" y="4946904"/>
            <a:ext cx="530352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∑ᵢ wᵢ xᵢ ≤ W">
            <a:extLst>
              <a:ext uri="{FF2B5EF4-FFF2-40B4-BE49-F238E27FC236}">
                <a16:creationId xmlns:a16="http://schemas.microsoft.com/office/drawing/2014/main" id="{0922A7FF-023E-438F-43CA-DB9455F83F31}"/>
              </a:ext>
            </a:extLst>
          </p:cNvPr>
          <p:cNvSpPr txBox="1"/>
          <p:nvPr/>
        </p:nvSpPr>
        <p:spPr>
          <a:xfrm>
            <a:off x="6492240" y="4498848"/>
            <a:ext cx="493776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F2343"/>
                </a:solidFill>
                <a:latin typeface="Cambria Math"/>
              </a:rPr>
              <a:t>∑ᵢ wᵢ xᵢ ≤ W</a:t>
            </a:r>
          </a:p>
        </p:txBody>
      </p:sp>
      <p:sp>
        <p:nvSpPr>
          <p:cNvPr id="15" name="Text: i: shipment   ·   xᵢ: fly / stay   ·   rᵢ: revenue   ·   wᵢ: weig">
            <a:extLst>
              <a:ext uri="{FF2B5EF4-FFF2-40B4-BE49-F238E27FC236}">
                <a16:creationId xmlns:a16="http://schemas.microsoft.com/office/drawing/2014/main" id="{DDCA56E2-A2B8-96DB-CAE0-91416148CCE8}"/>
              </a:ext>
            </a:extLst>
          </p:cNvPr>
          <p:cNvSpPr txBox="1"/>
          <p:nvPr/>
        </p:nvSpPr>
        <p:spPr>
          <a:xfrm>
            <a:off x="676656" y="5879592"/>
            <a:ext cx="108356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i: shipment   ·   xᵢ: fly / stay   ·   rᵢ: revenue   ·   wᵢ: weight   ·   W: weight limit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CD9D16B-C67B-BC1E-88EA-4101213D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18" name="Text: Each shipment flies whole or stays">
            <a:extLst>
              <a:ext uri="{FF2B5EF4-FFF2-40B4-BE49-F238E27FC236}">
                <a16:creationId xmlns:a16="http://schemas.microsoft.com/office/drawing/2014/main" id="{7C88E023-13A8-8D18-4C36-4D0C1E8D5546}"/>
              </a:ext>
            </a:extLst>
          </p:cNvPr>
          <p:cNvSpPr txBox="1"/>
          <p:nvPr/>
        </p:nvSpPr>
        <p:spPr>
          <a:xfrm>
            <a:off x="9839201" y="2140449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Decisions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9" name="Text: Each shipment flies whole or stays">
            <a:extLst>
              <a:ext uri="{FF2B5EF4-FFF2-40B4-BE49-F238E27FC236}">
                <a16:creationId xmlns:a16="http://schemas.microsoft.com/office/drawing/2014/main" id="{C1B31FD5-BC1A-6A4A-5BBB-ED7B358D9EA6}"/>
              </a:ext>
            </a:extLst>
          </p:cNvPr>
          <p:cNvSpPr txBox="1"/>
          <p:nvPr/>
        </p:nvSpPr>
        <p:spPr>
          <a:xfrm>
            <a:off x="9839200" y="4654672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Constraints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0" name="Text: Each shipment flies whole or stays">
            <a:extLst>
              <a:ext uri="{FF2B5EF4-FFF2-40B4-BE49-F238E27FC236}">
                <a16:creationId xmlns:a16="http://schemas.microsoft.com/office/drawing/2014/main" id="{CF4E7A53-AF62-D47C-E5A7-62141D36DEC1}"/>
              </a:ext>
            </a:extLst>
          </p:cNvPr>
          <p:cNvSpPr txBox="1"/>
          <p:nvPr/>
        </p:nvSpPr>
        <p:spPr>
          <a:xfrm>
            <a:off x="9839325" y="3413827"/>
            <a:ext cx="1846831" cy="6027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F2343"/>
                </a:solidFill>
                <a:latin typeface="Aptos"/>
              </a:rPr>
              <a:t>Objective</a:t>
            </a:r>
            <a:endParaRPr sz="2700" b="1" dirty="0">
              <a:solidFill>
                <a:srgbClr val="0F234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111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24FF9-4027-F573-BD83-6B12E259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013F7618-E48B-E31E-4FFA-5969D5609BD7}"/>
              </a:ext>
            </a:extLst>
          </p:cNvPr>
          <p:cNvSpPr txBox="1"/>
          <p:nvPr/>
        </p:nvSpPr>
        <p:spPr>
          <a:xfrm>
            <a:off x="502920" y="246888"/>
            <a:ext cx="115443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Agenda for today</a:t>
            </a:r>
            <a:endParaRPr sz="40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32509-9FD8-E9DB-D22D-19E8ABADC69E}"/>
              </a:ext>
            </a:extLst>
          </p:cNvPr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D0728-2AF0-DDBE-39AF-898ECA0366E1}"/>
              </a:ext>
            </a:extLst>
          </p:cNvPr>
          <p:cNvSpPr txBox="1"/>
          <p:nvPr/>
        </p:nvSpPr>
        <p:spPr>
          <a:xfrm>
            <a:off x="458724" y="1749871"/>
            <a:ext cx="11274552" cy="380700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 – What is a decision-support system?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 – Are we solving the right problem?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2343"/>
                </a:solidFill>
                <a:latin typeface="Aptos"/>
              </a:rPr>
              <a:t>Part III – Are we solving the problem right?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2343"/>
                </a:solidFill>
                <a:latin typeface="Aptos"/>
              </a:rPr>
              <a:t>Part IV – Closing &amp; conclusions</a:t>
            </a:r>
            <a:endParaRPr lang="en-US" sz="28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AEB48-0B7B-54F1-7E9F-458DF40F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49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What this profession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93468" y="2776118"/>
            <a:ext cx="1367942" cy="9015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28723" y="2496312"/>
            <a:ext cx="497433" cy="2798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F2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724558" y="3087014"/>
            <a:ext cx="1305763" cy="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4171" y="3009290"/>
            <a:ext cx="186537" cy="186537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: Business skills"/>
          <p:cNvSpPr txBox="1"/>
          <p:nvPr/>
        </p:nvSpPr>
        <p:spPr>
          <a:xfrm>
            <a:off x="713232" y="4572000"/>
            <a:ext cx="3328416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343"/>
                </a:solidFill>
                <a:latin typeface="Aptos"/>
              </a:rPr>
              <a:t>Business skills</a:t>
            </a:r>
          </a:p>
        </p:txBody>
      </p:sp>
      <p:sp>
        <p:nvSpPr>
          <p:cNvPr id="18" name="Text: Software skills"/>
          <p:cNvSpPr txBox="1"/>
          <p:nvPr/>
        </p:nvSpPr>
        <p:spPr>
          <a:xfrm>
            <a:off x="4425696" y="4572000"/>
            <a:ext cx="3328416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0F2343"/>
                </a:solidFill>
                <a:latin typeface="Aptos"/>
              </a:rPr>
              <a:t>Software skills</a:t>
            </a:r>
          </a:p>
        </p:txBody>
      </p:sp>
      <p:sp>
        <p:nvSpPr>
          <p:cNvPr id="19" name="Oval 18"/>
          <p:cNvSpPr/>
          <p:nvPr/>
        </p:nvSpPr>
        <p:spPr>
          <a:xfrm>
            <a:off x="9087307" y="2651760"/>
            <a:ext cx="373075" cy="373075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44353" y="2651760"/>
            <a:ext cx="373075" cy="373075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25128" y="3133648"/>
            <a:ext cx="512978" cy="544068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066629" y="3133648"/>
            <a:ext cx="512978" cy="544068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53651" y="2418588"/>
            <a:ext cx="497433" cy="497433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98203" y="3055924"/>
            <a:ext cx="808329" cy="761695"/>
          </a:xfrm>
          <a:prstGeom prst="roundRect">
            <a:avLst>
              <a:gd name="adj" fmla="val 12000"/>
            </a:avLst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: People skills"/>
          <p:cNvSpPr txBox="1"/>
          <p:nvPr/>
        </p:nvSpPr>
        <p:spPr>
          <a:xfrm>
            <a:off x="8138160" y="4572000"/>
            <a:ext cx="3328416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343"/>
                </a:solidFill>
                <a:latin typeface="Aptos"/>
              </a:rPr>
              <a:t>People skills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06101D1-95E4-9322-AD90-0F073A22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cxnSp>
        <p:nvCxnSpPr>
          <p:cNvPr id="27" name="Connector 17">
            <a:extLst>
              <a:ext uri="{FF2B5EF4-FFF2-40B4-BE49-F238E27FC236}">
                <a16:creationId xmlns:a16="http://schemas.microsoft.com/office/drawing/2014/main" id="{D752AA1F-85D1-17BE-7781-767012C95B3F}"/>
              </a:ext>
            </a:extLst>
          </p:cNvPr>
          <p:cNvCxnSpPr/>
          <p:nvPr/>
        </p:nvCxnSpPr>
        <p:spPr>
          <a:xfrm flipH="1">
            <a:off x="5674561" y="2913541"/>
            <a:ext cx="197510" cy="26664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8">
            <a:extLst>
              <a:ext uri="{FF2B5EF4-FFF2-40B4-BE49-F238E27FC236}">
                <a16:creationId xmlns:a16="http://schemas.microsoft.com/office/drawing/2014/main" id="{DF7CE990-0C66-7EAA-B8C6-E5A67A4185BB}"/>
              </a:ext>
            </a:extLst>
          </p:cNvPr>
          <p:cNvCxnSpPr/>
          <p:nvPr/>
        </p:nvCxnSpPr>
        <p:spPr>
          <a:xfrm>
            <a:off x="5674561" y="3180181"/>
            <a:ext cx="197510" cy="266639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9">
            <a:extLst>
              <a:ext uri="{FF2B5EF4-FFF2-40B4-BE49-F238E27FC236}">
                <a16:creationId xmlns:a16="http://schemas.microsoft.com/office/drawing/2014/main" id="{4FB98B83-4571-F7E6-F6C7-C071936ED073}"/>
              </a:ext>
            </a:extLst>
          </p:cNvPr>
          <p:cNvCxnSpPr/>
          <p:nvPr/>
        </p:nvCxnSpPr>
        <p:spPr>
          <a:xfrm>
            <a:off x="6267092" y="2913541"/>
            <a:ext cx="197510" cy="266640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0">
            <a:extLst>
              <a:ext uri="{FF2B5EF4-FFF2-40B4-BE49-F238E27FC236}">
                <a16:creationId xmlns:a16="http://schemas.microsoft.com/office/drawing/2014/main" id="{E39BAB5C-6DC9-3078-8A50-13BC6B336276}"/>
              </a:ext>
            </a:extLst>
          </p:cNvPr>
          <p:cNvCxnSpPr/>
          <p:nvPr/>
        </p:nvCxnSpPr>
        <p:spPr>
          <a:xfrm flipH="1">
            <a:off x="6267092" y="3180181"/>
            <a:ext cx="197510" cy="266639"/>
          </a:xfrm>
          <a:prstGeom prst="line">
            <a:avLst/>
          </a:prstGeom>
          <a:ln w="25400">
            <a:solidFill>
              <a:srgbClr val="0F23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21">
            <a:extLst>
              <a:ext uri="{FF2B5EF4-FFF2-40B4-BE49-F238E27FC236}">
                <a16:creationId xmlns:a16="http://schemas.microsoft.com/office/drawing/2014/main" id="{4028D711-9D09-EC5B-EB94-49203BCC9A72}"/>
              </a:ext>
            </a:extLst>
          </p:cNvPr>
          <p:cNvCxnSpPr/>
          <p:nvPr/>
        </p:nvCxnSpPr>
        <p:spPr>
          <a:xfrm flipH="1">
            <a:off x="5990577" y="2834537"/>
            <a:ext cx="167884" cy="691287"/>
          </a:xfrm>
          <a:prstGeom prst="line">
            <a:avLst/>
          </a:prstGeom>
          <a:ln w="254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02920" y="292608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F2343"/>
                </a:solidFill>
                <a:latin typeface="Aptos Display"/>
              </a:rPr>
              <a:t>SEFOP: to keep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63040"/>
            <a:ext cx="530352" cy="502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21CD28C-E9E2-9F36-ABBF-A579F4C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77BF1-C59D-1A3F-A688-AB5CF98A0EFF}"/>
              </a:ext>
            </a:extLst>
          </p:cNvPr>
          <p:cNvSpPr txBox="1"/>
          <p:nvPr/>
        </p:nvSpPr>
        <p:spPr>
          <a:xfrm>
            <a:off x="365760" y="1895295"/>
            <a:ext cx="6193875" cy="73866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</a:rPr>
              <a:t>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oftware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E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ngineering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F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ramework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for 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O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ptimization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1" dirty="0">
                <a:solidFill>
                  <a:srgbClr val="0F2343"/>
                </a:solidFill>
                <a:latin typeface="Aptos" panose="020B0004020202020204" pitchFamily="34" charset="0"/>
              </a:rPr>
              <a:t>P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rograms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— free &amp; open-source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38B4223-7DDE-2F6E-0C78-F6DAE246C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357" y="2645739"/>
            <a:ext cx="1737360" cy="17373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7275546-2D6B-8FED-352A-34E737A02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74" y="4569191"/>
            <a:ext cx="1737360" cy="17373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5F592D1-FCA9-9836-1B26-4E2295964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14" y="2737179"/>
            <a:ext cx="1554480" cy="155448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CD8FB0A-44BE-2ED5-06B3-3BBBADE4C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797" y="4660631"/>
            <a:ext cx="1554480" cy="155448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529F71D-6063-F0B7-A8B3-E0DEA56529F9}"/>
              </a:ext>
            </a:extLst>
          </p:cNvPr>
          <p:cNvSpPr txBox="1"/>
          <p:nvPr/>
        </p:nvSpPr>
        <p:spPr>
          <a:xfrm>
            <a:off x="1321821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Train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BC7850-4740-06FD-948D-6A3DEF9A6816}"/>
              </a:ext>
            </a:extLst>
          </p:cNvPr>
          <p:cNvSpPr txBox="1"/>
          <p:nvPr/>
        </p:nvSpPr>
        <p:spPr>
          <a:xfrm>
            <a:off x="4220920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Lead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021F83-9F1A-2611-E689-90AE92AB9E3D}"/>
              </a:ext>
            </a:extLst>
          </p:cNvPr>
          <p:cNvSpPr txBox="1"/>
          <p:nvPr/>
        </p:nvSpPr>
        <p:spPr>
          <a:xfrm>
            <a:off x="1196626" y="6153588"/>
            <a:ext cx="1225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Deliver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EFD89F-D5A3-8139-94C6-3B69AA5424AB}"/>
              </a:ext>
            </a:extLst>
          </p:cNvPr>
          <p:cNvSpPr txBox="1"/>
          <p:nvPr/>
        </p:nvSpPr>
        <p:spPr>
          <a:xfrm>
            <a:off x="3916797" y="615012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Go agentic</a:t>
            </a:r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DA7B73E-0256-1C1D-288C-7C8633EA87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098" y="983064"/>
            <a:ext cx="5373286" cy="537328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910E8CD-58F8-C659-22AA-3842D4303DFA}"/>
              </a:ext>
            </a:extLst>
          </p:cNvPr>
          <p:cNvSpPr txBox="1"/>
          <p:nvPr/>
        </p:nvSpPr>
        <p:spPr>
          <a:xfrm>
            <a:off x="7877880" y="5910153"/>
            <a:ext cx="3133796" cy="43088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F2343"/>
                </a:solidFill>
                <a:latin typeface="Aptos"/>
              </a:rPr>
              <a:t>github.com/</a:t>
            </a:r>
            <a:r>
              <a:rPr sz="2800" b="1" dirty="0" err="1">
                <a:solidFill>
                  <a:srgbClr val="0F2343"/>
                </a:solidFill>
                <a:latin typeface="Aptos"/>
              </a:rPr>
              <a:t>sefop</a:t>
            </a:r>
            <a:endParaRPr sz="2800" b="1" dirty="0">
              <a:solidFill>
                <a:srgbClr val="0F23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: Questions?"/>
          <p:cNvSpPr txBox="1"/>
          <p:nvPr/>
        </p:nvSpPr>
        <p:spPr>
          <a:xfrm>
            <a:off x="758952" y="2551176"/>
            <a:ext cx="5650992" cy="107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0F2343"/>
                </a:solidFill>
                <a:latin typeface="Aptos Display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" y="3950208"/>
            <a:ext cx="841248" cy="5943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4DEEFE-A372-A52B-3B1F-0CB9D18A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8B1AC-6967-6614-27C6-119FA800C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396" y="274962"/>
            <a:ext cx="6081388" cy="6081388"/>
          </a:xfrm>
          <a:prstGeom prst="rect">
            <a:avLst/>
          </a:prstGeom>
        </p:spPr>
      </p:pic>
      <p:sp>
        <p:nvSpPr>
          <p:cNvPr id="12" name="Text: Software skills">
            <a:extLst>
              <a:ext uri="{FF2B5EF4-FFF2-40B4-BE49-F238E27FC236}">
                <a16:creationId xmlns:a16="http://schemas.microsoft.com/office/drawing/2014/main" id="{F394EAE7-EACD-E799-6758-0A01B70432D8}"/>
              </a:ext>
            </a:extLst>
          </p:cNvPr>
          <p:cNvSpPr txBox="1"/>
          <p:nvPr/>
        </p:nvSpPr>
        <p:spPr>
          <a:xfrm>
            <a:off x="6783414" y="5798566"/>
            <a:ext cx="3328416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900" b="1" dirty="0">
                <a:solidFill>
                  <a:srgbClr val="0F2343"/>
                </a:solidFill>
                <a:latin typeface="Aptos"/>
              </a:rPr>
              <a:t>1 min survey</a:t>
            </a:r>
            <a:endParaRPr sz="2900" b="1" dirty="0">
              <a:solidFill>
                <a:srgbClr val="0F2343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1689</Words>
  <Application>Microsoft Office PowerPoint</Application>
  <PresentationFormat>Widescreen</PresentationFormat>
  <Paragraphs>347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Airlines Optimization Workshop: Industry best practices for a decision-support system</dc:title>
  <dc:subject>SCTC 2026: from business requests to trustworthy decision-support software</dc:subject>
  <dc:creator>Francisco Zenteno Smith</dc:creator>
  <cp:keywords>SEFOP, SCTC 2026, operations research, software engineering, validation, verification</cp:keywords>
  <dc:description>18-slide workshop; visual decisions and presenter material: assets/slide-story.md</dc:description>
  <cp:lastModifiedBy>Francisco Zenteno Smith</cp:lastModifiedBy>
  <cp:revision>250</cp:revision>
  <dcterms:created xsi:type="dcterms:W3CDTF">2013-01-27T09:14:16Z</dcterms:created>
  <dcterms:modified xsi:type="dcterms:W3CDTF">2026-10-20T02:43:34Z</dcterms:modified>
  <cp:category/>
</cp:coreProperties>
</file>