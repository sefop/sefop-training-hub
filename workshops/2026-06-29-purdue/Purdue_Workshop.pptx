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90" r:id="rId5"/>
    <p:sldId id="259" r:id="rId6"/>
    <p:sldId id="260" r:id="rId7"/>
    <p:sldId id="262" r:id="rId8"/>
    <p:sldId id="265" r:id="rId9"/>
    <p:sldId id="280" r:id="rId10"/>
    <p:sldId id="281" r:id="rId11"/>
    <p:sldId id="283" r:id="rId12"/>
    <p:sldId id="284" r:id="rId13"/>
    <p:sldId id="285" r:id="rId14"/>
    <p:sldId id="286" r:id="rId15"/>
    <p:sldId id="266" r:id="rId16"/>
    <p:sldId id="267" r:id="rId17"/>
    <p:sldId id="289" r:id="rId18"/>
    <p:sldId id="287" r:id="rId19"/>
    <p:sldId id="268" r:id="rId20"/>
    <p:sldId id="291" r:id="rId21"/>
    <p:sldId id="269" r:id="rId22"/>
    <p:sldId id="270" r:id="rId23"/>
    <p:sldId id="272" r:id="rId24"/>
    <p:sldId id="273" r:id="rId25"/>
    <p:sldId id="274" r:id="rId26"/>
    <p:sldId id="275" r:id="rId27"/>
    <p:sldId id="276" r:id="rId28"/>
    <p:sldId id="277" r:id="rId29"/>
    <p:sldId id="278" r:id="rId30"/>
    <p:sldId id="279" r:id="rId31"/>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9346" autoAdjust="0"/>
  </p:normalViewPr>
  <p:slideViewPr>
    <p:cSldViewPr snapToGrid="0" snapToObjects="1">
      <p:cViewPr>
        <p:scale>
          <a:sx n="125" d="100"/>
          <a:sy n="125" d="100"/>
        </p:scale>
        <p:origin x="1116"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E9B7D80-9A1B-459B-ADCD-49EFEE497B73}" type="doc">
      <dgm:prSet loTypeId="urn:microsoft.com/office/officeart/2005/8/layout/cycle1" loCatId="cycle" qsTypeId="urn:microsoft.com/office/officeart/2005/8/quickstyle/simple1" qsCatId="simple" csTypeId="urn:microsoft.com/office/officeart/2005/8/colors/accent1_2" csCatId="accent1" phldr="1"/>
      <dgm:spPr/>
      <dgm:t>
        <a:bodyPr/>
        <a:lstStyle/>
        <a:p>
          <a:endParaRPr lang="en-US"/>
        </a:p>
      </dgm:t>
    </dgm:pt>
    <dgm:pt modelId="{376DFAB4-4C9C-4453-833B-22B2A19EB338}">
      <dgm:prSet phldrT="[Text]" phldr="0" custT="1"/>
      <dgm:spPr/>
      <dgm:t>
        <a:bodyPr/>
        <a:lstStyle/>
        <a:p>
          <a:r>
            <a:rPr lang="en-US" sz="4000" b="1" dirty="0"/>
            <a:t>Adapt</a:t>
          </a:r>
        </a:p>
      </dgm:t>
    </dgm:pt>
    <dgm:pt modelId="{C0A306D7-42E9-45E8-BD4B-7B95BF673B5F}" type="parTrans" cxnId="{54C35C5D-9990-48AC-B043-F9EE02B63494}">
      <dgm:prSet/>
      <dgm:spPr/>
      <dgm:t>
        <a:bodyPr/>
        <a:lstStyle/>
        <a:p>
          <a:endParaRPr lang="en-US"/>
        </a:p>
      </dgm:t>
    </dgm:pt>
    <dgm:pt modelId="{9BF2DF7C-CCEB-4445-A14A-425E2A57FC2D}" type="sibTrans" cxnId="{54C35C5D-9990-48AC-B043-F9EE02B63494}">
      <dgm:prSet/>
      <dgm:spPr/>
      <dgm:t>
        <a:bodyPr/>
        <a:lstStyle/>
        <a:p>
          <a:endParaRPr lang="en-US"/>
        </a:p>
      </dgm:t>
    </dgm:pt>
    <dgm:pt modelId="{27DD6F7D-55BA-4AC1-975C-DF728B056618}">
      <dgm:prSet phldrT="[Text]" phldr="0" custT="1"/>
      <dgm:spPr/>
      <dgm:t>
        <a:bodyPr/>
        <a:lstStyle/>
        <a:p>
          <a:r>
            <a:rPr lang="en-US" sz="4000" b="1" dirty="0"/>
            <a:t>Learn</a:t>
          </a:r>
          <a:endParaRPr lang="en-US" sz="4400" b="1" dirty="0"/>
        </a:p>
      </dgm:t>
    </dgm:pt>
    <dgm:pt modelId="{C3C755E6-8ADA-4941-8AF7-201321C974DD}" type="parTrans" cxnId="{73E8E2D4-62B0-4FA4-BE4F-936E724A546B}">
      <dgm:prSet/>
      <dgm:spPr/>
      <dgm:t>
        <a:bodyPr/>
        <a:lstStyle/>
        <a:p>
          <a:endParaRPr lang="en-US"/>
        </a:p>
      </dgm:t>
    </dgm:pt>
    <dgm:pt modelId="{792B36C3-79A5-414B-AE18-146518492D70}" type="sibTrans" cxnId="{73E8E2D4-62B0-4FA4-BE4F-936E724A546B}">
      <dgm:prSet/>
      <dgm:spPr/>
      <dgm:t>
        <a:bodyPr/>
        <a:lstStyle/>
        <a:p>
          <a:endParaRPr lang="en-US"/>
        </a:p>
      </dgm:t>
    </dgm:pt>
    <dgm:pt modelId="{12019EC4-D26C-4A7E-837D-21CC1D6BF0E0}" type="pres">
      <dgm:prSet presAssocID="{FE9B7D80-9A1B-459B-ADCD-49EFEE497B73}" presName="cycle" presStyleCnt="0">
        <dgm:presLayoutVars>
          <dgm:dir/>
          <dgm:resizeHandles val="exact"/>
        </dgm:presLayoutVars>
      </dgm:prSet>
      <dgm:spPr/>
    </dgm:pt>
    <dgm:pt modelId="{73274EA0-3F4F-4B55-B2C8-DAE374E822EE}" type="pres">
      <dgm:prSet presAssocID="{376DFAB4-4C9C-4453-833B-22B2A19EB338}" presName="dummy" presStyleCnt="0"/>
      <dgm:spPr/>
    </dgm:pt>
    <dgm:pt modelId="{3567B15F-E0FD-44E4-B1E4-4EF47527B01D}" type="pres">
      <dgm:prSet presAssocID="{376DFAB4-4C9C-4453-833B-22B2A19EB338}" presName="node" presStyleLbl="revTx" presStyleIdx="0" presStyleCnt="2">
        <dgm:presLayoutVars>
          <dgm:bulletEnabled val="1"/>
        </dgm:presLayoutVars>
      </dgm:prSet>
      <dgm:spPr/>
    </dgm:pt>
    <dgm:pt modelId="{F47B4486-4893-449B-B6E8-F6B0C3165D0F}" type="pres">
      <dgm:prSet presAssocID="{9BF2DF7C-CCEB-4445-A14A-425E2A57FC2D}" presName="sibTrans" presStyleLbl="node1" presStyleIdx="0" presStyleCnt="2"/>
      <dgm:spPr/>
    </dgm:pt>
    <dgm:pt modelId="{C0C878E9-41AB-4F4A-A446-4831F54643E6}" type="pres">
      <dgm:prSet presAssocID="{27DD6F7D-55BA-4AC1-975C-DF728B056618}" presName="dummy" presStyleCnt="0"/>
      <dgm:spPr/>
    </dgm:pt>
    <dgm:pt modelId="{0CE4C7AF-0BB3-433F-89C4-1122CC6994E8}" type="pres">
      <dgm:prSet presAssocID="{27DD6F7D-55BA-4AC1-975C-DF728B056618}" presName="node" presStyleLbl="revTx" presStyleIdx="1" presStyleCnt="2">
        <dgm:presLayoutVars>
          <dgm:bulletEnabled val="1"/>
        </dgm:presLayoutVars>
      </dgm:prSet>
      <dgm:spPr/>
    </dgm:pt>
    <dgm:pt modelId="{5B45765C-EBFD-45CB-BA8F-20EB05C97DC9}" type="pres">
      <dgm:prSet presAssocID="{792B36C3-79A5-414B-AE18-146518492D70}" presName="sibTrans" presStyleLbl="node1" presStyleIdx="1" presStyleCnt="2"/>
      <dgm:spPr/>
    </dgm:pt>
  </dgm:ptLst>
  <dgm:cxnLst>
    <dgm:cxn modelId="{436C6310-6524-48B6-8107-22B21DE4C087}" type="presOf" srcId="{9BF2DF7C-CCEB-4445-A14A-425E2A57FC2D}" destId="{F47B4486-4893-449B-B6E8-F6B0C3165D0F}" srcOrd="0" destOrd="0" presId="urn:microsoft.com/office/officeart/2005/8/layout/cycle1"/>
    <dgm:cxn modelId="{B83C3720-5B49-4D24-A1A2-F67659859FE0}" type="presOf" srcId="{27DD6F7D-55BA-4AC1-975C-DF728B056618}" destId="{0CE4C7AF-0BB3-433F-89C4-1122CC6994E8}" srcOrd="0" destOrd="0" presId="urn:microsoft.com/office/officeart/2005/8/layout/cycle1"/>
    <dgm:cxn modelId="{569C0E29-F536-41EC-A051-996E6B801A82}" type="presOf" srcId="{FE9B7D80-9A1B-459B-ADCD-49EFEE497B73}" destId="{12019EC4-D26C-4A7E-837D-21CC1D6BF0E0}" srcOrd="0" destOrd="0" presId="urn:microsoft.com/office/officeart/2005/8/layout/cycle1"/>
    <dgm:cxn modelId="{54C35C5D-9990-48AC-B043-F9EE02B63494}" srcId="{FE9B7D80-9A1B-459B-ADCD-49EFEE497B73}" destId="{376DFAB4-4C9C-4453-833B-22B2A19EB338}" srcOrd="0" destOrd="0" parTransId="{C0A306D7-42E9-45E8-BD4B-7B95BF673B5F}" sibTransId="{9BF2DF7C-CCEB-4445-A14A-425E2A57FC2D}"/>
    <dgm:cxn modelId="{B21EA689-655F-4B46-9293-AD6BCF144C22}" type="presOf" srcId="{376DFAB4-4C9C-4453-833B-22B2A19EB338}" destId="{3567B15F-E0FD-44E4-B1E4-4EF47527B01D}" srcOrd="0" destOrd="0" presId="urn:microsoft.com/office/officeart/2005/8/layout/cycle1"/>
    <dgm:cxn modelId="{F4B451AA-5BAE-4837-A6F2-22450AFEDFA4}" type="presOf" srcId="{792B36C3-79A5-414B-AE18-146518492D70}" destId="{5B45765C-EBFD-45CB-BA8F-20EB05C97DC9}" srcOrd="0" destOrd="0" presId="urn:microsoft.com/office/officeart/2005/8/layout/cycle1"/>
    <dgm:cxn modelId="{73E8E2D4-62B0-4FA4-BE4F-936E724A546B}" srcId="{FE9B7D80-9A1B-459B-ADCD-49EFEE497B73}" destId="{27DD6F7D-55BA-4AC1-975C-DF728B056618}" srcOrd="1" destOrd="0" parTransId="{C3C755E6-8ADA-4941-8AF7-201321C974DD}" sibTransId="{792B36C3-79A5-414B-AE18-146518492D70}"/>
    <dgm:cxn modelId="{0AA1C26E-E2DF-455F-93D0-C64BF938F1D9}" type="presParOf" srcId="{12019EC4-D26C-4A7E-837D-21CC1D6BF0E0}" destId="{73274EA0-3F4F-4B55-B2C8-DAE374E822EE}" srcOrd="0" destOrd="0" presId="urn:microsoft.com/office/officeart/2005/8/layout/cycle1"/>
    <dgm:cxn modelId="{555FAC33-9673-4E2C-9167-8340B6DF37DD}" type="presParOf" srcId="{12019EC4-D26C-4A7E-837D-21CC1D6BF0E0}" destId="{3567B15F-E0FD-44E4-B1E4-4EF47527B01D}" srcOrd="1" destOrd="0" presId="urn:microsoft.com/office/officeart/2005/8/layout/cycle1"/>
    <dgm:cxn modelId="{4C44EB1E-2F26-4A3C-9A7F-030F93A257C8}" type="presParOf" srcId="{12019EC4-D26C-4A7E-837D-21CC1D6BF0E0}" destId="{F47B4486-4893-449B-B6E8-F6B0C3165D0F}" srcOrd="2" destOrd="0" presId="urn:microsoft.com/office/officeart/2005/8/layout/cycle1"/>
    <dgm:cxn modelId="{0D90AA66-96F0-4567-8E23-85250544AD33}" type="presParOf" srcId="{12019EC4-D26C-4A7E-837D-21CC1D6BF0E0}" destId="{C0C878E9-41AB-4F4A-A446-4831F54643E6}" srcOrd="3" destOrd="0" presId="urn:microsoft.com/office/officeart/2005/8/layout/cycle1"/>
    <dgm:cxn modelId="{7FE542CA-3047-4210-8869-9BBEAC66C7F5}" type="presParOf" srcId="{12019EC4-D26C-4A7E-837D-21CC1D6BF0E0}" destId="{0CE4C7AF-0BB3-433F-89C4-1122CC6994E8}" srcOrd="4" destOrd="0" presId="urn:microsoft.com/office/officeart/2005/8/layout/cycle1"/>
    <dgm:cxn modelId="{119B4E87-74FF-4313-B04B-5929E95A46C3}" type="presParOf" srcId="{12019EC4-D26C-4A7E-837D-21CC1D6BF0E0}" destId="{5B45765C-EBFD-45CB-BA8F-20EB05C97DC9}" srcOrd="5" destOrd="0" presId="urn:microsoft.com/office/officeart/2005/8/layout/cycle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67B15F-E0FD-44E4-B1E4-4EF47527B01D}">
      <dsp:nvSpPr>
        <dsp:cNvPr id="0" name=""/>
        <dsp:cNvSpPr/>
      </dsp:nvSpPr>
      <dsp:spPr>
        <a:xfrm>
          <a:off x="3675830" y="1043781"/>
          <a:ext cx="1976437" cy="197643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50800" rIns="50800" bIns="50800" numCol="1" spcCol="1270" anchor="ctr" anchorCtr="0">
          <a:noAutofit/>
        </a:bodyPr>
        <a:lstStyle/>
        <a:p>
          <a:pPr marL="0" lvl="0" indent="0" algn="ctr" defTabSz="1778000">
            <a:lnSpc>
              <a:spcPct val="90000"/>
            </a:lnSpc>
            <a:spcBef>
              <a:spcPct val="0"/>
            </a:spcBef>
            <a:spcAft>
              <a:spcPct val="35000"/>
            </a:spcAft>
            <a:buNone/>
          </a:pPr>
          <a:r>
            <a:rPr lang="en-US" sz="4000" b="1" kern="1200" dirty="0"/>
            <a:t>Adapt</a:t>
          </a:r>
        </a:p>
      </dsp:txBody>
      <dsp:txXfrm>
        <a:off x="3675830" y="1043781"/>
        <a:ext cx="1976437" cy="1976437"/>
      </dsp:txXfrm>
    </dsp:sp>
    <dsp:sp modelId="{F47B4486-4893-449B-B6E8-F6B0C3165D0F}">
      <dsp:nvSpPr>
        <dsp:cNvPr id="0" name=""/>
        <dsp:cNvSpPr/>
      </dsp:nvSpPr>
      <dsp:spPr>
        <a:xfrm>
          <a:off x="1014428" y="-1571"/>
          <a:ext cx="4067142" cy="4067142"/>
        </a:xfrm>
        <a:prstGeom prst="circularArrow">
          <a:avLst>
            <a:gd name="adj1" fmla="val 9476"/>
            <a:gd name="adj2" fmla="val 684342"/>
            <a:gd name="adj3" fmla="val 7853762"/>
            <a:gd name="adj4" fmla="val 2261896"/>
            <a:gd name="adj5" fmla="val 11055"/>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CE4C7AF-0BB3-433F-89C4-1122CC6994E8}">
      <dsp:nvSpPr>
        <dsp:cNvPr id="0" name=""/>
        <dsp:cNvSpPr/>
      </dsp:nvSpPr>
      <dsp:spPr>
        <a:xfrm>
          <a:off x="443732" y="1043781"/>
          <a:ext cx="1976437" cy="197643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0800" tIns="50800" rIns="50800" bIns="50800" numCol="1" spcCol="1270" anchor="ctr" anchorCtr="0">
          <a:noAutofit/>
        </a:bodyPr>
        <a:lstStyle/>
        <a:p>
          <a:pPr marL="0" lvl="0" indent="0" algn="ctr" defTabSz="1778000">
            <a:lnSpc>
              <a:spcPct val="90000"/>
            </a:lnSpc>
            <a:spcBef>
              <a:spcPct val="0"/>
            </a:spcBef>
            <a:spcAft>
              <a:spcPct val="35000"/>
            </a:spcAft>
            <a:buNone/>
          </a:pPr>
          <a:r>
            <a:rPr lang="en-US" sz="4000" b="1" kern="1200" dirty="0"/>
            <a:t>Learn</a:t>
          </a:r>
          <a:endParaRPr lang="en-US" sz="4400" b="1" kern="1200" dirty="0"/>
        </a:p>
      </dsp:txBody>
      <dsp:txXfrm>
        <a:off x="443732" y="1043781"/>
        <a:ext cx="1976437" cy="1976437"/>
      </dsp:txXfrm>
    </dsp:sp>
    <dsp:sp modelId="{5B45765C-EBFD-45CB-BA8F-20EB05C97DC9}">
      <dsp:nvSpPr>
        <dsp:cNvPr id="0" name=""/>
        <dsp:cNvSpPr/>
      </dsp:nvSpPr>
      <dsp:spPr>
        <a:xfrm>
          <a:off x="1014428" y="-1571"/>
          <a:ext cx="4067142" cy="4067142"/>
        </a:xfrm>
        <a:prstGeom prst="circularArrow">
          <a:avLst>
            <a:gd name="adj1" fmla="val 9476"/>
            <a:gd name="adj2" fmla="val 684342"/>
            <a:gd name="adj3" fmla="val 18653762"/>
            <a:gd name="adj4" fmla="val 13061896"/>
            <a:gd name="adj5" fmla="val 11055"/>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cycle1">
  <dgm:title val=""/>
  <dgm:desc val=""/>
  <dgm:catLst>
    <dgm:cat type="cycle" pri="2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alg type="cycle">
          <dgm:param type="stAng" val="0"/>
          <dgm:param type="spanAng" val="360"/>
        </dgm:alg>
      </dgm:if>
      <dgm:else name="Name2">
        <dgm:alg type="cycle">
          <dgm:param type="stAng" val="0"/>
          <dgm:param type="spanAng" val="-360"/>
        </dgm:alg>
      </dgm:else>
    </dgm:choose>
    <dgm:shape xmlns:r="http://schemas.openxmlformats.org/officeDocument/2006/relationships" r:blip="">
      <dgm:adjLst/>
    </dgm:shape>
    <dgm:presOf/>
    <dgm:choose name="Name3">
      <dgm:if name="Name4" func="var" arg="dir" op="equ" val="norm">
        <dgm:constrLst>
          <dgm:constr type="diam" val="1"/>
          <dgm:constr type="w" for="ch" forName="node" refType="w"/>
          <dgm:constr type="w" for="ch" ptType="sibTrans" refType="w" refFor="ch" refForName="node" fact="0.5"/>
          <dgm:constr type="h" for="ch" ptType="sibTrans" op="equ"/>
          <dgm:constr type="diam" for="ch" ptType="sibTrans" refType="diam" op="equ"/>
          <dgm:constr type="sibSp" refType="w" refFor="ch" refForName="node" fact="0.15"/>
          <dgm:constr type="w" for="ch" forName="dummy" refType="sibSp" fact="2.8"/>
          <dgm:constr type="primFontSz" for="ch" forName="node" op="equ" val="65"/>
        </dgm:constrLst>
      </dgm:if>
      <dgm:else name="Name5">
        <dgm:constrLst>
          <dgm:constr type="diam" val="1"/>
          <dgm:constr type="w" for="ch" forName="node" refType="w"/>
          <dgm:constr type="w" for="ch" ptType="sibTrans" refType="w" refFor="ch" refForName="node" fact="0.5"/>
          <dgm:constr type="h" for="ch" ptType="sibTrans" op="equ"/>
          <dgm:constr type="diam" for="ch" ptType="sibTrans" refType="diam" op="equ" fact="-1"/>
          <dgm:constr type="sibSp" refType="w" refFor="ch" refForName="node" fact="0.15"/>
          <dgm:constr type="w" for="ch" forName="dummy" refType="sibSp" fact="2.8"/>
          <dgm:constr type="primFontSz" for="ch" forName="node" op="equ" val="65"/>
        </dgm:constrLst>
      </dgm:else>
    </dgm:choose>
    <dgm:ruleLst>
      <dgm:rule type="diam" val="INF" fact="NaN" max="NaN"/>
    </dgm:ruleLst>
    <dgm:forEach name="nodesForEach" axis="ch" ptType="node">
      <dgm:choose name="Name6">
        <dgm:if name="Name7" axis="par ch" ptType="doc node" func="cnt" op="gt" val="1">
          <dgm:layoutNode name="dummy">
            <dgm:alg type="sp"/>
            <dgm:shape xmlns:r="http://schemas.openxmlformats.org/officeDocument/2006/relationships" r:blip="">
              <dgm:adjLst/>
            </dgm:shape>
            <dgm:presOf/>
            <dgm:constrLst>
              <dgm:constr type="h" refType="w"/>
            </dgm:constrLst>
            <dgm:ruleLst/>
          </dgm:layoutNode>
        </dgm:if>
        <dgm:else name="Name8"/>
      </dgm:choose>
      <dgm:layoutNode name="node" styleLbl="revTx">
        <dgm:varLst>
          <dgm:bulletEnabled val="1"/>
        </dgm:varLst>
        <dgm:alg type="tx">
          <dgm:param type="txAnchorVertCh" val="mid"/>
        </dgm:alg>
        <dgm:shape xmlns:r="http://schemas.openxmlformats.org/officeDocument/2006/relationships" type="rect"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Name11" axis="followSib" ptType="sibTrans" hideLastTrans="0" cnt="1">
            <dgm:layoutNode name="sibTrans" styleLbl="node1">
              <dgm:alg type="conn">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begPad"/>
                <dgm:constr type="endPad"/>
              </dgm:constrLst>
              <dgm:ruleLst/>
            </dgm:layoutNode>
          </dgm:forEach>
        </dgm:if>
        <dgm:else name="Name12"/>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4956B9-647A-4037-9FC9-E7553A40054A}" type="datetimeFigureOut">
              <a:rPr lang="en-US" smtClean="0"/>
              <a:t>6/27/2026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5BE8A4-D8EF-4587-8089-654936417D02}" type="slidenum">
              <a:rPr lang="en-US" smtClean="0"/>
              <a:t>‹#›</a:t>
            </a:fld>
            <a:endParaRPr lang="en-US"/>
          </a:p>
        </p:txBody>
      </p:sp>
    </p:spTree>
    <p:extLst>
      <p:ext uri="{BB962C8B-B14F-4D97-AF65-F5344CB8AC3E}">
        <p14:creationId xmlns:p14="http://schemas.microsoft.com/office/powerpoint/2010/main" val="27711823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show the direction, convince you why you should move into that direction, and how to reach that point.</a:t>
            </a:r>
          </a:p>
        </p:txBody>
      </p:sp>
      <p:sp>
        <p:nvSpPr>
          <p:cNvPr id="4" name="Slide Number Placeholder 3"/>
          <p:cNvSpPr>
            <a:spLocks noGrp="1"/>
          </p:cNvSpPr>
          <p:nvPr>
            <p:ph type="sldNum" sz="quarter" idx="5"/>
          </p:nvPr>
        </p:nvSpPr>
        <p:spPr/>
        <p:txBody>
          <a:bodyPr/>
          <a:lstStyle/>
          <a:p>
            <a:fld id="{9E5BE8A4-D8EF-4587-8089-654936417D02}" type="slidenum">
              <a:rPr lang="en-US" smtClean="0"/>
              <a:t>8</a:t>
            </a:fld>
            <a:endParaRPr lang="en-US"/>
          </a:p>
        </p:txBody>
      </p:sp>
    </p:spTree>
    <p:extLst>
      <p:ext uri="{BB962C8B-B14F-4D97-AF65-F5344CB8AC3E}">
        <p14:creationId xmlns:p14="http://schemas.microsoft.com/office/powerpoint/2010/main" val="94612614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887876-884F-C956-AECE-62FB0FED4B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0C9025-639F-093E-94E0-C0F99E1F47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E249C6-6964-2DAD-7CBC-3FC73106686D}"/>
              </a:ext>
            </a:extLst>
          </p:cNvPr>
          <p:cNvSpPr>
            <a:spLocks noGrp="1"/>
          </p:cNvSpPr>
          <p:nvPr>
            <p:ph type="body" idx="1"/>
          </p:nvPr>
        </p:nvSpPr>
        <p:spPr/>
        <p:txBody>
          <a:bodyPr/>
          <a:lstStyle/>
          <a:p>
            <a:r>
              <a:rPr lang="en-US" dirty="0"/>
              <a:t>Indicate that all the software principles apply for all these situations, the technology might be different on each situation.</a:t>
            </a:r>
          </a:p>
        </p:txBody>
      </p:sp>
      <p:sp>
        <p:nvSpPr>
          <p:cNvPr id="4" name="Slide Number Placeholder 3">
            <a:extLst>
              <a:ext uri="{FF2B5EF4-FFF2-40B4-BE49-F238E27FC236}">
                <a16:creationId xmlns:a16="http://schemas.microsoft.com/office/drawing/2014/main" id="{9471BD1F-E878-99F2-F2CB-4F2FDE8D5F4B}"/>
              </a:ext>
            </a:extLst>
          </p:cNvPr>
          <p:cNvSpPr>
            <a:spLocks noGrp="1"/>
          </p:cNvSpPr>
          <p:nvPr>
            <p:ph type="sldNum" sz="quarter" idx="5"/>
          </p:nvPr>
        </p:nvSpPr>
        <p:spPr/>
        <p:txBody>
          <a:bodyPr/>
          <a:lstStyle/>
          <a:p>
            <a:fld id="{9E5BE8A4-D8EF-4587-8089-654936417D02}" type="slidenum">
              <a:rPr lang="en-US" smtClean="0"/>
              <a:t>9</a:t>
            </a:fld>
            <a:endParaRPr lang="en-US"/>
          </a:p>
        </p:txBody>
      </p:sp>
    </p:spTree>
    <p:extLst>
      <p:ext uri="{BB962C8B-B14F-4D97-AF65-F5344CB8AC3E}">
        <p14:creationId xmlns:p14="http://schemas.microsoft.com/office/powerpoint/2010/main" val="11662738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0A4BF-DCAC-8324-5B09-6DE1699520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06F91E-C260-F62C-5743-A56DC2B0C9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850360-E578-F63F-D8AA-1E6B0D24F08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ADCCF5-AA61-3DD2-1D0E-FDE9543E1F05}"/>
              </a:ext>
            </a:extLst>
          </p:cNvPr>
          <p:cNvSpPr>
            <a:spLocks noGrp="1"/>
          </p:cNvSpPr>
          <p:nvPr>
            <p:ph type="sldNum" sz="quarter" idx="5"/>
          </p:nvPr>
        </p:nvSpPr>
        <p:spPr/>
        <p:txBody>
          <a:bodyPr/>
          <a:lstStyle/>
          <a:p>
            <a:fld id="{9E5BE8A4-D8EF-4587-8089-654936417D02}" type="slidenum">
              <a:rPr lang="en-US" smtClean="0"/>
              <a:t>10</a:t>
            </a:fld>
            <a:endParaRPr lang="en-US"/>
          </a:p>
        </p:txBody>
      </p:sp>
    </p:spTree>
    <p:extLst>
      <p:ext uri="{BB962C8B-B14F-4D97-AF65-F5344CB8AC3E}">
        <p14:creationId xmlns:p14="http://schemas.microsoft.com/office/powerpoint/2010/main" val="16281535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E97A9-4026-9B3E-8EE3-3522C477AB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E11566-85BF-AF73-7C88-DA413143E1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BAE137-223F-6407-1891-E1251B67C4E6}"/>
              </a:ext>
            </a:extLst>
          </p:cNvPr>
          <p:cNvSpPr>
            <a:spLocks noGrp="1"/>
          </p:cNvSpPr>
          <p:nvPr>
            <p:ph type="body" idx="1"/>
          </p:nvPr>
        </p:nvSpPr>
        <p:spPr/>
        <p:txBody>
          <a:bodyPr/>
          <a:lstStyle/>
          <a:p>
            <a:r>
              <a:rPr lang="en-US" dirty="0"/>
              <a:t>Ask the audience: how would you go to some vacations with these characteristics?</a:t>
            </a:r>
          </a:p>
        </p:txBody>
      </p:sp>
      <p:sp>
        <p:nvSpPr>
          <p:cNvPr id="4" name="Slide Number Placeholder 3">
            <a:extLst>
              <a:ext uri="{FF2B5EF4-FFF2-40B4-BE49-F238E27FC236}">
                <a16:creationId xmlns:a16="http://schemas.microsoft.com/office/drawing/2014/main" id="{60550539-F2F6-9B0D-4480-A3979077654B}"/>
              </a:ext>
            </a:extLst>
          </p:cNvPr>
          <p:cNvSpPr>
            <a:spLocks noGrp="1"/>
          </p:cNvSpPr>
          <p:nvPr>
            <p:ph type="sldNum" sz="quarter" idx="5"/>
          </p:nvPr>
        </p:nvSpPr>
        <p:spPr/>
        <p:txBody>
          <a:bodyPr/>
          <a:lstStyle/>
          <a:p>
            <a:fld id="{9E5BE8A4-D8EF-4587-8089-654936417D02}" type="slidenum">
              <a:rPr lang="en-US" smtClean="0"/>
              <a:t>11</a:t>
            </a:fld>
            <a:endParaRPr lang="en-US"/>
          </a:p>
        </p:txBody>
      </p:sp>
    </p:spTree>
    <p:extLst>
      <p:ext uri="{BB962C8B-B14F-4D97-AF65-F5344CB8AC3E}">
        <p14:creationId xmlns:p14="http://schemas.microsoft.com/office/powerpoint/2010/main" val="743088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E6470E-387E-ECBA-5B3B-BCBD4B6221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9D13D1-F412-37E6-5A59-4A882B131C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C746D9-6621-635E-3F27-0FFCAFE6B0C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EB991E-BA18-71B4-094E-639EC8C9CE7B}"/>
              </a:ext>
            </a:extLst>
          </p:cNvPr>
          <p:cNvSpPr>
            <a:spLocks noGrp="1"/>
          </p:cNvSpPr>
          <p:nvPr>
            <p:ph type="sldNum" sz="quarter" idx="5"/>
          </p:nvPr>
        </p:nvSpPr>
        <p:spPr/>
        <p:txBody>
          <a:bodyPr/>
          <a:lstStyle/>
          <a:p>
            <a:fld id="{9E5BE8A4-D8EF-4587-8089-654936417D02}" type="slidenum">
              <a:rPr lang="en-US" smtClean="0"/>
              <a:t>12</a:t>
            </a:fld>
            <a:endParaRPr lang="en-US"/>
          </a:p>
        </p:txBody>
      </p:sp>
    </p:spTree>
    <p:extLst>
      <p:ext uri="{BB962C8B-B14F-4D97-AF65-F5344CB8AC3E}">
        <p14:creationId xmlns:p14="http://schemas.microsoft.com/office/powerpoint/2010/main" val="18380567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6A72F-8CDB-AFAC-CF9E-F292FBAD43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74E9CA-1AF9-B146-BF97-BE1BEF6C73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E7FEF9-587E-10A0-FFF5-378AFE350B3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18442E-CB06-3866-0A8E-0180BF7CA2AC}"/>
              </a:ext>
            </a:extLst>
          </p:cNvPr>
          <p:cNvSpPr>
            <a:spLocks noGrp="1"/>
          </p:cNvSpPr>
          <p:nvPr>
            <p:ph type="sldNum" sz="quarter" idx="5"/>
          </p:nvPr>
        </p:nvSpPr>
        <p:spPr/>
        <p:txBody>
          <a:bodyPr/>
          <a:lstStyle/>
          <a:p>
            <a:fld id="{9E5BE8A4-D8EF-4587-8089-654936417D02}" type="slidenum">
              <a:rPr lang="en-US" smtClean="0"/>
              <a:t>13</a:t>
            </a:fld>
            <a:endParaRPr lang="en-US"/>
          </a:p>
        </p:txBody>
      </p:sp>
    </p:spTree>
    <p:extLst>
      <p:ext uri="{BB962C8B-B14F-4D97-AF65-F5344CB8AC3E}">
        <p14:creationId xmlns:p14="http://schemas.microsoft.com/office/powerpoint/2010/main" val="29575446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288C5-D5E0-EEDB-677D-126DC1B91A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7CC1AD-8C0A-CB60-1A2C-995D582B09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E2A892-3AFD-AB44-28F0-126608EC11E5}"/>
              </a:ext>
            </a:extLst>
          </p:cNvPr>
          <p:cNvSpPr>
            <a:spLocks noGrp="1"/>
          </p:cNvSpPr>
          <p:nvPr>
            <p:ph type="body" idx="1"/>
          </p:nvPr>
        </p:nvSpPr>
        <p:spPr/>
        <p:txBody>
          <a:bodyPr/>
          <a:lstStyle/>
          <a:p>
            <a:r>
              <a:rPr lang="en-US" dirty="0"/>
              <a:t>Ask the audience first</a:t>
            </a:r>
          </a:p>
        </p:txBody>
      </p:sp>
      <p:sp>
        <p:nvSpPr>
          <p:cNvPr id="4" name="Slide Number Placeholder 3">
            <a:extLst>
              <a:ext uri="{FF2B5EF4-FFF2-40B4-BE49-F238E27FC236}">
                <a16:creationId xmlns:a16="http://schemas.microsoft.com/office/drawing/2014/main" id="{793E21C6-2FBB-9484-8645-5ADE5CB4AD46}"/>
              </a:ext>
            </a:extLst>
          </p:cNvPr>
          <p:cNvSpPr>
            <a:spLocks noGrp="1"/>
          </p:cNvSpPr>
          <p:nvPr>
            <p:ph type="sldNum" sz="quarter" idx="5"/>
          </p:nvPr>
        </p:nvSpPr>
        <p:spPr/>
        <p:txBody>
          <a:bodyPr/>
          <a:lstStyle/>
          <a:p>
            <a:fld id="{9E5BE8A4-D8EF-4587-8089-654936417D02}" type="slidenum">
              <a:rPr lang="en-US" smtClean="0"/>
              <a:t>14</a:t>
            </a:fld>
            <a:endParaRPr lang="en-US"/>
          </a:p>
        </p:txBody>
      </p:sp>
    </p:spTree>
    <p:extLst>
      <p:ext uri="{BB962C8B-B14F-4D97-AF65-F5344CB8AC3E}">
        <p14:creationId xmlns:p14="http://schemas.microsoft.com/office/powerpoint/2010/main" val="1360530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E5BE8A4-D8EF-4587-8089-654936417D02}" type="slidenum">
              <a:rPr lang="en-US" smtClean="0"/>
              <a:t>18</a:t>
            </a:fld>
            <a:endParaRPr lang="en-US"/>
          </a:p>
        </p:txBody>
      </p:sp>
    </p:spTree>
    <p:extLst>
      <p:ext uri="{BB962C8B-B14F-4D97-AF65-F5344CB8AC3E}">
        <p14:creationId xmlns:p14="http://schemas.microsoft.com/office/powerpoint/2010/main" val="12266749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8F42D1CD-6AB1-4632-BD93-8036A9CEFF23}" type="datetime1">
              <a:rPr lang="en-US" smtClean="0"/>
              <a:t>6/27/2026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D00EA7E-9CA4-48E5-AE0F-8EB3D9C4CEFB}" type="datetime1">
              <a:rPr lang="en-US" smtClean="0"/>
              <a:t>6/27/2026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4F74363-77CA-4138-8286-11DFC9A682A9}" type="datetime1">
              <a:rPr lang="en-US" smtClean="0"/>
              <a:t>6/27/2026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BB3B3468-378A-4E8F-A396-A32E33B2EC7F}" type="datetime1">
              <a:rPr lang="en-US" smtClean="0"/>
              <a:t>6/27/2026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910099B-0CB6-4B47-A9FE-5D03141F6A59}" type="datetime1">
              <a:rPr lang="en-US" smtClean="0"/>
              <a:t>6/27/2026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E4A6B215-2DC8-464E-9BB9-CCDF4BAF4AAD}" type="datetime1">
              <a:rPr lang="en-US" smtClean="0"/>
              <a:t>6/27/2026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234634-A279-4D99-8043-05016171F086}" type="datetime1">
              <a:rPr lang="en-US" smtClean="0"/>
              <a:t>6/27/2026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EA4EEF5-1E0F-4E32-85A6-DE84C2FE1F72}" type="datetime1">
              <a:rPr lang="en-US" smtClean="0"/>
              <a:t>6/27/2026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72AC6DC-4DE5-4950-9546-1509DD61DC9D}" type="datetime1">
              <a:rPr lang="en-US" smtClean="0"/>
              <a:t>6/27/2026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DE0D227-684F-4C4A-9180-D6AC381CF6A0}" type="datetime1">
              <a:rPr lang="en-US" smtClean="0"/>
              <a:t>6/27/2026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188DED5-2788-4AF6-8CD2-D9EF3324F112}" type="datetime1">
              <a:rPr lang="en-US" smtClean="0"/>
              <a:t>6/27/2026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40504-DADD-4441-A07E-1EAA97398A05}" type="datetime1">
              <a:rPr lang="en-US" smtClean="0"/>
              <a:t>6/27/2026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sefop/training-testing-python" TargetMode="External"/><Relationship Id="rId2" Type="http://schemas.openxmlformats.org/officeDocument/2006/relationships/hyperlink" Target="https://github.com/sefop"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hyperlink" Target="https://en.wikipedia.org/wiki/Ariane_flight_V88" TargetMode="External"/><Relationship Id="rId2" Type="http://schemas.openxmlformats.org/officeDocument/2006/relationships/hyperlink" Target="https://en.wikipedia.org/wiki/Geoffrey_Chang" TargetMode="External"/><Relationship Id="rId1" Type="http://schemas.openxmlformats.org/officeDocument/2006/relationships/slideLayout" Target="../slideLayouts/slideLayout7.xml"/><Relationship Id="rId4" Type="http://schemas.openxmlformats.org/officeDocument/2006/relationships/image" Target="../media/image3.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6.jpeg"/></Relationships>
</file>

<file path=ppt/slides/_rels/slide1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0.svg"/><Relationship Id="rId5" Type="http://schemas.openxmlformats.org/officeDocument/2006/relationships/image" Target="../media/image9.svg"/><Relationship Id="rId4" Type="http://schemas.openxmlformats.org/officeDocument/2006/relationships/image" Target="../media/image8.svg"/></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2.jpeg"/></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hyperlink" Target="https://dora.dev/research/2025/dora-report/" TargetMode="External"/><Relationship Id="rId5" Type="http://schemas.openxmlformats.org/officeDocument/2006/relationships/image" Target="../media/image15.pn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hyperlink" Target="https://management.org/waterfall-methodology" TargetMode="External"/><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hyperlink" Target="https://agilemanifesto.org/" TargetMode="External"/><Relationship Id="rId2" Type="http://schemas.openxmlformats.org/officeDocument/2006/relationships/image" Target="../media/image17.jpe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hyperlink" Target="https://www.australianenvironmentaleducation.com.au/education-resources/what-is-the-scientific-method/" TargetMode="External"/><Relationship Id="rId2" Type="http://schemas.openxmlformats.org/officeDocument/2006/relationships/image" Target="../media/image19.jpe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788819"/>
            <a:ext cx="8229600" cy="1446550"/>
          </a:xfrm>
          <a:prstGeom prst="rect">
            <a:avLst/>
          </a:prstGeom>
          <a:noFill/>
        </p:spPr>
        <p:txBody>
          <a:bodyPr wrap="square">
            <a:spAutoFit/>
          </a:bodyPr>
          <a:lstStyle/>
          <a:p>
            <a:pPr algn="ctr"/>
            <a:r>
              <a:rPr sz="4400" b="1" i="0" dirty="0">
                <a:solidFill>
                  <a:srgbClr val="0A1628"/>
                </a:solidFill>
                <a:ea typeface="Microsoft GothicNeo Light" panose="020B0503020000020004" pitchFamily="34" charset="-127"/>
                <a:cs typeface="Microsoft GothicNeo Light" panose="020B0503020000020004" pitchFamily="34" charset="-127"/>
              </a:rPr>
              <a:t>Operations Research
meets Software Engineering</a:t>
            </a:r>
          </a:p>
        </p:txBody>
      </p:sp>
      <p:sp>
        <p:nvSpPr>
          <p:cNvPr id="3" name="TextBox 2"/>
          <p:cNvSpPr txBox="1"/>
          <p:nvPr/>
        </p:nvSpPr>
        <p:spPr>
          <a:xfrm>
            <a:off x="457200" y="2560320"/>
            <a:ext cx="8229600" cy="369332"/>
          </a:xfrm>
          <a:prstGeom prst="rect">
            <a:avLst/>
          </a:prstGeom>
          <a:noFill/>
        </p:spPr>
        <p:txBody>
          <a:bodyPr wrap="square">
            <a:spAutoFit/>
          </a:bodyPr>
          <a:lstStyle/>
          <a:p>
            <a:pPr algn="ctr"/>
            <a:r>
              <a:rPr sz="1800" b="0" i="0" dirty="0" err="1">
                <a:solidFill>
                  <a:srgbClr val="0077A8"/>
                </a:solidFill>
                <a:ea typeface="Microsoft GothicNeo Light" panose="020B0503020000020004" pitchFamily="34" charset="-127"/>
                <a:cs typeface="Microsoft GothicNeo Light" panose="020B0503020000020004" pitchFamily="34" charset="-127"/>
              </a:rPr>
              <a:t>Secquoia</a:t>
            </a:r>
            <a:r>
              <a:rPr sz="1800" b="0" i="0" dirty="0">
                <a:solidFill>
                  <a:srgbClr val="0077A8"/>
                </a:solidFill>
                <a:ea typeface="Microsoft GothicNeo Light" panose="020B0503020000020004" pitchFamily="34" charset="-127"/>
                <a:cs typeface="Microsoft GothicNeo Light" panose="020B0503020000020004" pitchFamily="34" charset="-127"/>
              </a:rPr>
              <a:t> Lab — Purdue University  |  June 29, 2026</a:t>
            </a:r>
          </a:p>
        </p:txBody>
      </p:sp>
      <p:sp>
        <p:nvSpPr>
          <p:cNvPr id="5" name="TextBox 4"/>
          <p:cNvSpPr txBox="1"/>
          <p:nvPr/>
        </p:nvSpPr>
        <p:spPr>
          <a:xfrm>
            <a:off x="457200" y="3569940"/>
            <a:ext cx="8229600" cy="307777"/>
          </a:xfrm>
          <a:prstGeom prst="rect">
            <a:avLst/>
          </a:prstGeom>
          <a:noFill/>
        </p:spPr>
        <p:txBody>
          <a:bodyPr wrap="square">
            <a:spAutoFit/>
          </a:bodyPr>
          <a:lstStyle/>
          <a:p>
            <a:pPr algn="ctr"/>
            <a:r>
              <a:rPr sz="1400" b="1" i="0" dirty="0">
                <a:solidFill>
                  <a:srgbClr val="2D3748"/>
                </a:solidFill>
                <a:ea typeface="Microsoft GothicNeo Light" panose="020B0503020000020004" pitchFamily="34" charset="-127"/>
                <a:cs typeface="Microsoft GothicNeo Light" panose="020B0503020000020004" pitchFamily="34" charset="-127"/>
              </a:rPr>
              <a:t>Francisco Zenteno Smith</a:t>
            </a:r>
          </a:p>
        </p:txBody>
      </p:sp>
      <p:sp>
        <p:nvSpPr>
          <p:cNvPr id="7" name="Slide Number Placeholder 6">
            <a:extLst>
              <a:ext uri="{FF2B5EF4-FFF2-40B4-BE49-F238E27FC236}">
                <a16:creationId xmlns:a16="http://schemas.microsoft.com/office/drawing/2014/main" id="{E89B60CB-83D4-5B71-69C9-6C5519514EF6}"/>
              </a:ext>
            </a:extLst>
          </p:cNvPr>
          <p:cNvSpPr>
            <a:spLocks noGrp="1"/>
          </p:cNvSpPr>
          <p:nvPr>
            <p:ph type="sldNum" sz="quarter" idx="12"/>
          </p:nvPr>
        </p:nvSpPr>
        <p:spPr/>
        <p:txBody>
          <a:bodyPr/>
          <a:lstStyle/>
          <a:p>
            <a:fld id="{C1FF6DA9-008F-8B48-92A6-B652298478BF}" type="slidenum">
              <a:rPr lang="en-US" smtClean="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640080"/>
          </a:xfrm>
          <a:prstGeom prst="rect">
            <a:avLst/>
          </a:prstGeom>
          <a:noFill/>
        </p:spPr>
        <p:txBody>
          <a:bodyPr wrap="square">
            <a:spAutoFit/>
          </a:bodyPr>
          <a:lstStyle/>
          <a:p>
            <a:pPr algn="l"/>
            <a:r>
              <a:rPr sz="3000" b="1" i="0" dirty="0">
                <a:solidFill>
                  <a:srgbClr val="0A1628"/>
                </a:solidFill>
                <a:latin typeface="Calibri"/>
              </a:rPr>
              <a:t>About me</a:t>
            </a:r>
          </a:p>
        </p:txBody>
      </p:sp>
      <p:sp>
        <p:nvSpPr>
          <p:cNvPr id="3" name="Rectangle 2"/>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188720"/>
            <a:ext cx="8046720" cy="2800767"/>
          </a:xfrm>
          <a:prstGeom prst="rect">
            <a:avLst/>
          </a:prstGeom>
          <a:noFill/>
        </p:spPr>
        <p:txBody>
          <a:bodyPr wrap="square">
            <a:spAutoFit/>
          </a:bodyPr>
          <a:lstStyle/>
          <a:p>
            <a:pPr algn="l"/>
            <a:r>
              <a:rPr sz="2200" b="0" i="0" dirty="0">
                <a:solidFill>
                  <a:srgbClr val="2D3748"/>
                </a:solidFill>
                <a:latin typeface="Calibri"/>
              </a:rPr>
              <a:t>Senior Operations Research Scientist</a:t>
            </a:r>
            <a:r>
              <a:rPr lang="en-US" sz="2200" b="0" i="0" dirty="0">
                <a:solidFill>
                  <a:srgbClr val="2D3748"/>
                </a:solidFill>
                <a:latin typeface="Calibri"/>
              </a:rPr>
              <a:t> at American Airlines</a:t>
            </a:r>
            <a:r>
              <a:rPr sz="2200" b="0" i="0" dirty="0">
                <a:solidFill>
                  <a:srgbClr val="2D3748"/>
                </a:solidFill>
                <a:latin typeface="Calibri"/>
              </a:rPr>
              <a:t>
</a:t>
            </a:r>
            <a:r>
              <a:rPr lang="en-US" sz="2200" b="0" i="0" dirty="0">
                <a:solidFill>
                  <a:srgbClr val="2D3748"/>
                </a:solidFill>
                <a:latin typeface="Calibri"/>
              </a:rPr>
              <a:t>- </a:t>
            </a:r>
            <a:r>
              <a:rPr sz="2200" b="0" i="0" dirty="0">
                <a:solidFill>
                  <a:srgbClr val="2D3748"/>
                </a:solidFill>
                <a:latin typeface="Calibri"/>
              </a:rPr>
              <a:t>10 years in applied Operations Research.</a:t>
            </a:r>
            <a:endParaRPr lang="en-US" sz="2200" b="0" i="0" dirty="0">
              <a:solidFill>
                <a:srgbClr val="2D3748"/>
              </a:solidFill>
              <a:latin typeface="Calibri"/>
            </a:endParaRPr>
          </a:p>
          <a:p>
            <a:pPr algn="l"/>
            <a:endParaRPr lang="en-US" sz="2200" dirty="0">
              <a:solidFill>
                <a:srgbClr val="2D3748"/>
              </a:solidFill>
              <a:latin typeface="Calibri"/>
            </a:endParaRPr>
          </a:p>
          <a:p>
            <a:pPr algn="l"/>
            <a:r>
              <a:rPr lang="en-US" sz="2200" dirty="0">
                <a:solidFill>
                  <a:srgbClr val="2D3748"/>
                </a:solidFill>
                <a:latin typeface="Calibri"/>
              </a:rPr>
              <a:t>Education</a:t>
            </a:r>
          </a:p>
          <a:p>
            <a:pPr marL="342900" indent="-342900" algn="l">
              <a:buFontTx/>
              <a:buChar char="-"/>
            </a:pPr>
            <a:r>
              <a:rPr lang="en-US" sz="2200" b="0" i="0" dirty="0">
                <a:solidFill>
                  <a:srgbClr val="2D3748"/>
                </a:solidFill>
                <a:latin typeface="Calibri"/>
              </a:rPr>
              <a:t>Bache</a:t>
            </a:r>
            <a:r>
              <a:rPr lang="en-US" sz="2200" dirty="0">
                <a:solidFill>
                  <a:srgbClr val="2D3748"/>
                </a:solidFill>
                <a:latin typeface="Calibri"/>
              </a:rPr>
              <a:t>lors in Industrial Engineering PUC</a:t>
            </a:r>
          </a:p>
          <a:p>
            <a:pPr marL="342900" indent="-342900" algn="l">
              <a:buFontTx/>
              <a:buChar char="-"/>
            </a:pPr>
            <a:r>
              <a:rPr lang="en-US" sz="2200" b="0" i="0" dirty="0">
                <a:solidFill>
                  <a:srgbClr val="2D3748"/>
                </a:solidFill>
                <a:latin typeface="Calibri"/>
              </a:rPr>
              <a:t>Masters in Operations Research PUC</a:t>
            </a:r>
            <a:r>
              <a:rPr sz="2200" b="0" i="0" dirty="0">
                <a:solidFill>
                  <a:srgbClr val="2D3748"/>
                </a:solidFill>
                <a:latin typeface="Calibri"/>
              </a:rPr>
              <a:t>
</a:t>
            </a:r>
            <a:r>
              <a:rPr lang="en-US" sz="2200" b="0" i="0" dirty="0">
                <a:solidFill>
                  <a:srgbClr val="2D3748"/>
                </a:solidFill>
                <a:latin typeface="Calibri"/>
              </a:rPr>
              <a:t>Masters in Computer Science UCSD</a:t>
            </a:r>
          </a:p>
          <a:p>
            <a:pPr marL="342900" indent="-342900" algn="l">
              <a:buFontTx/>
              <a:buChar char="-"/>
            </a:pPr>
            <a:endParaRPr lang="en-US" sz="2200" dirty="0">
              <a:solidFill>
                <a:srgbClr val="2D3748"/>
              </a:solidFill>
              <a:latin typeface="Calibri"/>
            </a:endParaRPr>
          </a:p>
        </p:txBody>
      </p:sp>
      <p:pic>
        <p:nvPicPr>
          <p:cNvPr id="5" name="Picture 4">
            <a:extLst>
              <a:ext uri="{FF2B5EF4-FFF2-40B4-BE49-F238E27FC236}">
                <a16:creationId xmlns:a16="http://schemas.microsoft.com/office/drawing/2014/main" id="{4025C809-3C63-52B7-B8D3-193C3CB45238}"/>
              </a:ext>
            </a:extLst>
          </p:cNvPr>
          <p:cNvPicPr>
            <a:picLocks noChangeAspect="1"/>
          </p:cNvPicPr>
          <p:nvPr/>
        </p:nvPicPr>
        <p:blipFill>
          <a:blip r:embed="rId2"/>
          <a:stretch>
            <a:fillRect/>
          </a:stretch>
        </p:blipFill>
        <p:spPr>
          <a:xfrm>
            <a:off x="5786475" y="1960579"/>
            <a:ext cx="1144290" cy="1537926"/>
          </a:xfrm>
          <a:prstGeom prst="rect">
            <a:avLst/>
          </a:prstGeom>
        </p:spPr>
      </p:pic>
      <p:pic>
        <p:nvPicPr>
          <p:cNvPr id="6" name="Picture 5" descr="UCSD Logo, symbol, meaning, history, PNG, brand">
            <a:extLst>
              <a:ext uri="{FF2B5EF4-FFF2-40B4-BE49-F238E27FC236}">
                <a16:creationId xmlns:a16="http://schemas.microsoft.com/office/drawing/2014/main" id="{84A64771-4CEE-D593-7499-EB893C5F11CE}"/>
              </a:ext>
            </a:extLst>
          </p:cNvPr>
          <p:cNvPicPr>
            <a:picLocks noChangeAspect="1"/>
          </p:cNvPicPr>
          <p:nvPr/>
        </p:nvPicPr>
        <p:blipFill>
          <a:blip r:embed="rId3"/>
          <a:stretch>
            <a:fillRect/>
          </a:stretch>
        </p:blipFill>
        <p:spPr>
          <a:xfrm>
            <a:off x="5157020" y="3589311"/>
            <a:ext cx="2403200" cy="1351800"/>
          </a:xfrm>
          <a:prstGeom prst="rect">
            <a:avLst/>
          </a:prstGeom>
        </p:spPr>
      </p:pic>
      <p:sp>
        <p:nvSpPr>
          <p:cNvPr id="7" name="Slide Number Placeholder 6">
            <a:extLst>
              <a:ext uri="{FF2B5EF4-FFF2-40B4-BE49-F238E27FC236}">
                <a16:creationId xmlns:a16="http://schemas.microsoft.com/office/drawing/2014/main" id="{8D2E058B-5DF7-D80C-DE7B-4B05647A14BA}"/>
              </a:ext>
            </a:extLst>
          </p:cNvP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640080"/>
          </a:xfrm>
          <a:prstGeom prst="rect">
            <a:avLst/>
          </a:prstGeom>
          <a:noFill/>
        </p:spPr>
        <p:txBody>
          <a:bodyPr wrap="square">
            <a:spAutoFit/>
          </a:bodyPr>
          <a:lstStyle/>
          <a:p>
            <a:pPr algn="l"/>
            <a:r>
              <a:rPr sz="3000" b="1" i="0" dirty="0">
                <a:solidFill>
                  <a:srgbClr val="0A1628"/>
                </a:solidFill>
                <a:latin typeface="Calibri"/>
              </a:rPr>
              <a:t>Schedule</a:t>
            </a:r>
          </a:p>
        </p:txBody>
      </p:sp>
      <p:sp>
        <p:nvSpPr>
          <p:cNvPr id="3" name="Rectangle 2"/>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91360" y="1412954"/>
            <a:ext cx="7361280" cy="3170099"/>
          </a:xfrm>
          <a:prstGeom prst="rect">
            <a:avLst/>
          </a:prstGeom>
          <a:noFill/>
        </p:spPr>
        <p:txBody>
          <a:bodyPr wrap="square">
            <a:spAutoFit/>
          </a:bodyPr>
          <a:lstStyle/>
          <a:p>
            <a:pPr algn="l"/>
            <a:r>
              <a:rPr sz="2000" dirty="0">
                <a:solidFill>
                  <a:srgbClr val="2D3748"/>
                </a:solidFill>
                <a:latin typeface="+mj-lt"/>
              </a:rPr>
              <a:t>09:00–09:50    Block 1: Why learn Software Engineering?
09:50–10:00    Break
10:00–10:50    Block 2: Optimize for Learning
10:50–11:00    Break
11:00–11:50    Block 3: </a:t>
            </a:r>
            <a:r>
              <a:rPr lang="en-US" sz="2000" dirty="0">
                <a:solidFill>
                  <a:srgbClr val="2D3748"/>
                </a:solidFill>
                <a:latin typeface="+mj-lt"/>
              </a:rPr>
              <a:t>Hands-on </a:t>
            </a:r>
            <a:r>
              <a:rPr sz="2000" dirty="0">
                <a:solidFill>
                  <a:srgbClr val="2D3748"/>
                </a:solidFill>
                <a:latin typeface="+mj-lt"/>
              </a:rPr>
              <a:t>Unit Testing in Practice
11:50–12:00    Break
12:00–13:00    Lunch
13:00–13:50    Block 4: Optimize for Managing Complexity
13:50–14:00    Break
14:00–17:00    Putting it all together: SEFOP</a:t>
            </a:r>
          </a:p>
        </p:txBody>
      </p:sp>
      <p:sp>
        <p:nvSpPr>
          <p:cNvPr id="5" name="Slide Number Placeholder 4">
            <a:extLst>
              <a:ext uri="{FF2B5EF4-FFF2-40B4-BE49-F238E27FC236}">
                <a16:creationId xmlns:a16="http://schemas.microsoft.com/office/drawing/2014/main" id="{1DF7FD55-2857-88B4-12F0-7472B7814B1E}"/>
              </a:ext>
            </a:extLst>
          </p:cNvPr>
          <p:cNvSpPr>
            <a:spLocks noGrp="1"/>
          </p:cNvSpPr>
          <p:nvPr>
            <p:ph type="sldNum" sz="quarter" idx="12"/>
          </p:nvPr>
        </p:nvSpPr>
        <p:spPr/>
        <p:txBody>
          <a:bodyPr/>
          <a:lstStyle/>
          <a:p>
            <a:fld id="{C1FF6DA9-008F-8B48-92A6-B652298478BF}" type="slidenum">
              <a:rPr lang="en-US" smtClean="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3F31A-F887-AA40-6297-E3932420EB1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CB5F4C9-8917-E78D-A4DA-F3EA1DCDCA73}"/>
              </a:ext>
            </a:extLst>
          </p:cNvPr>
          <p:cNvSpPr txBox="1"/>
          <p:nvPr/>
        </p:nvSpPr>
        <p:spPr>
          <a:xfrm>
            <a:off x="457200" y="274320"/>
            <a:ext cx="8229600" cy="553998"/>
          </a:xfrm>
          <a:prstGeom prst="rect">
            <a:avLst/>
          </a:prstGeom>
          <a:noFill/>
        </p:spPr>
        <p:txBody>
          <a:bodyPr wrap="square">
            <a:spAutoFit/>
          </a:bodyPr>
          <a:lstStyle/>
          <a:p>
            <a:pPr algn="l"/>
            <a:r>
              <a:rPr lang="en-US" sz="3000" b="1" i="0" dirty="0">
                <a:solidFill>
                  <a:srgbClr val="0A1628"/>
                </a:solidFill>
                <a:latin typeface="Calibri"/>
              </a:rPr>
              <a:t>Materials and resources</a:t>
            </a:r>
            <a:endParaRPr sz="3000" b="1" i="0" dirty="0">
              <a:solidFill>
                <a:srgbClr val="0A1628"/>
              </a:solidFill>
              <a:latin typeface="Calibri"/>
            </a:endParaRPr>
          </a:p>
        </p:txBody>
      </p:sp>
      <p:sp>
        <p:nvSpPr>
          <p:cNvPr id="3" name="Rectangle 2">
            <a:extLst>
              <a:ext uri="{FF2B5EF4-FFF2-40B4-BE49-F238E27FC236}">
                <a16:creationId xmlns:a16="http://schemas.microsoft.com/office/drawing/2014/main" id="{BA490831-EC19-E3A8-200D-6E7824C94AB8}"/>
              </a:ext>
            </a:extLst>
          </p:cNvPr>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Slide Number Placeholder 4">
            <a:extLst>
              <a:ext uri="{FF2B5EF4-FFF2-40B4-BE49-F238E27FC236}">
                <a16:creationId xmlns:a16="http://schemas.microsoft.com/office/drawing/2014/main" id="{A3D2A2A8-2CDB-8048-A19B-1B549C2BA212}"/>
              </a:ext>
            </a:extLst>
          </p:cNvPr>
          <p:cNvSpPr>
            <a:spLocks noGrp="1"/>
          </p:cNvSpPr>
          <p:nvPr>
            <p:ph type="sldNum" sz="quarter" idx="12"/>
          </p:nvPr>
        </p:nvSpPr>
        <p:spPr/>
        <p:txBody>
          <a:bodyPr/>
          <a:lstStyle/>
          <a:p>
            <a:fld id="{C1FF6DA9-008F-8B48-92A6-B652298478BF}" type="slidenum">
              <a:rPr lang="en-US" smtClean="0"/>
              <a:t>4</a:t>
            </a:fld>
            <a:endParaRPr lang="en-US"/>
          </a:p>
        </p:txBody>
      </p:sp>
      <p:sp>
        <p:nvSpPr>
          <p:cNvPr id="7" name="TextBox 6">
            <a:extLst>
              <a:ext uri="{FF2B5EF4-FFF2-40B4-BE49-F238E27FC236}">
                <a16:creationId xmlns:a16="http://schemas.microsoft.com/office/drawing/2014/main" id="{091324D5-EC19-FC47-AA14-1322FAFA96EA}"/>
              </a:ext>
            </a:extLst>
          </p:cNvPr>
          <p:cNvSpPr txBox="1"/>
          <p:nvPr/>
        </p:nvSpPr>
        <p:spPr>
          <a:xfrm>
            <a:off x="762000" y="1646418"/>
            <a:ext cx="4572000" cy="523220"/>
          </a:xfrm>
          <a:prstGeom prst="rect">
            <a:avLst/>
          </a:prstGeom>
          <a:noFill/>
        </p:spPr>
        <p:txBody>
          <a:bodyPr wrap="square">
            <a:spAutoFit/>
          </a:bodyPr>
          <a:lstStyle/>
          <a:p>
            <a:r>
              <a:rPr lang="en-US" sz="2800" dirty="0">
                <a:hlinkClick r:id="rId2"/>
              </a:rPr>
              <a:t>https://github.com/sefop</a:t>
            </a:r>
            <a:r>
              <a:rPr lang="en-US" sz="2800" dirty="0"/>
              <a:t> </a:t>
            </a:r>
          </a:p>
        </p:txBody>
      </p:sp>
      <p:sp>
        <p:nvSpPr>
          <p:cNvPr id="9" name="TextBox 8">
            <a:extLst>
              <a:ext uri="{FF2B5EF4-FFF2-40B4-BE49-F238E27FC236}">
                <a16:creationId xmlns:a16="http://schemas.microsoft.com/office/drawing/2014/main" id="{0185BF4B-E63C-4049-7E3E-B3F439D0C266}"/>
              </a:ext>
            </a:extLst>
          </p:cNvPr>
          <p:cNvSpPr txBox="1"/>
          <p:nvPr/>
        </p:nvSpPr>
        <p:spPr>
          <a:xfrm>
            <a:off x="762000" y="2934633"/>
            <a:ext cx="7589520" cy="523220"/>
          </a:xfrm>
          <a:prstGeom prst="rect">
            <a:avLst/>
          </a:prstGeom>
          <a:noFill/>
        </p:spPr>
        <p:txBody>
          <a:bodyPr wrap="square">
            <a:spAutoFit/>
          </a:bodyPr>
          <a:lstStyle/>
          <a:p>
            <a:r>
              <a:rPr lang="en-US" sz="2800" dirty="0">
                <a:hlinkClick r:id="rId3"/>
              </a:rPr>
              <a:t>https://github.com/sefop/training-testing-python</a:t>
            </a:r>
            <a:r>
              <a:rPr lang="en-US" sz="2800" dirty="0"/>
              <a:t> </a:t>
            </a:r>
          </a:p>
        </p:txBody>
      </p:sp>
      <p:sp>
        <p:nvSpPr>
          <p:cNvPr id="10" name="Speech Bubble: Rectangle 9">
            <a:extLst>
              <a:ext uri="{FF2B5EF4-FFF2-40B4-BE49-F238E27FC236}">
                <a16:creationId xmlns:a16="http://schemas.microsoft.com/office/drawing/2014/main" id="{51E943FB-BD3A-0E56-95BB-E42B45F2D127}"/>
              </a:ext>
            </a:extLst>
          </p:cNvPr>
          <p:cNvSpPr/>
          <p:nvPr/>
        </p:nvSpPr>
        <p:spPr>
          <a:xfrm>
            <a:off x="7077808" y="1695878"/>
            <a:ext cx="1608992" cy="826274"/>
          </a:xfrm>
          <a:prstGeom prst="wedgeRectCallout">
            <a:avLst>
              <a:gd name="adj1" fmla="val -60748"/>
              <a:gd name="adj2" fmla="val 19741"/>
            </a:avLst>
          </a:prstGeom>
          <a:solidFill>
            <a:schemeClr val="accent6">
              <a:lumMod val="20000"/>
              <a:lumOff val="80000"/>
            </a:schemeClr>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Leave a star if you like it </a:t>
            </a:r>
            <a:r>
              <a:rPr lang="en-US" dirty="0">
                <a:solidFill>
                  <a:schemeClr val="tx1"/>
                </a:solidFill>
                <a:sym typeface="Wingdings" panose="05000000000000000000" pitchFamily="2" charset="2"/>
              </a:rPr>
              <a:t></a:t>
            </a:r>
            <a:endParaRPr lang="en-US" dirty="0">
              <a:solidFill>
                <a:schemeClr val="tx1"/>
              </a:solidFill>
            </a:endParaRPr>
          </a:p>
        </p:txBody>
      </p:sp>
    </p:spTree>
    <p:extLst>
      <p:ext uri="{BB962C8B-B14F-4D97-AF65-F5344CB8AC3E}">
        <p14:creationId xmlns:p14="http://schemas.microsoft.com/office/powerpoint/2010/main" val="4249155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1645920"/>
            <a:ext cx="8229600" cy="457200"/>
          </a:xfrm>
          <a:prstGeom prst="rect">
            <a:avLst/>
          </a:prstGeom>
          <a:noFill/>
        </p:spPr>
        <p:txBody>
          <a:bodyPr wrap="square">
            <a:spAutoFit/>
          </a:bodyPr>
          <a:lstStyle/>
          <a:p>
            <a:pPr algn="l"/>
            <a:r>
              <a:rPr sz="1300" b="1" i="0">
                <a:solidFill>
                  <a:srgbClr val="0077A8"/>
                </a:solidFill>
                <a:latin typeface="Calibri"/>
              </a:rPr>
              <a:t>BLOCK 1</a:t>
            </a:r>
          </a:p>
        </p:txBody>
      </p:sp>
      <p:sp>
        <p:nvSpPr>
          <p:cNvPr id="3" name="TextBox 2"/>
          <p:cNvSpPr txBox="1"/>
          <p:nvPr/>
        </p:nvSpPr>
        <p:spPr>
          <a:xfrm>
            <a:off x="457200" y="2011680"/>
            <a:ext cx="8229600" cy="1371600"/>
          </a:xfrm>
          <a:prstGeom prst="rect">
            <a:avLst/>
          </a:prstGeom>
          <a:noFill/>
        </p:spPr>
        <p:txBody>
          <a:bodyPr wrap="square">
            <a:spAutoFit/>
          </a:bodyPr>
          <a:lstStyle/>
          <a:p>
            <a:pPr algn="l"/>
            <a:r>
              <a:rPr sz="4000" b="1" i="0">
                <a:solidFill>
                  <a:srgbClr val="0A1628"/>
                </a:solidFill>
                <a:latin typeface="Calibri"/>
              </a:rPr>
              <a:t>Why learn Software Engineering?</a:t>
            </a:r>
          </a:p>
        </p:txBody>
      </p:sp>
      <p:sp>
        <p:nvSpPr>
          <p:cNvPr id="4" name="Rectangle 3"/>
          <p:cNvSpPr/>
          <p:nvPr/>
        </p:nvSpPr>
        <p:spPr>
          <a:xfrm>
            <a:off x="457200" y="1508760"/>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Slide Number Placeholder 4">
            <a:extLst>
              <a:ext uri="{FF2B5EF4-FFF2-40B4-BE49-F238E27FC236}">
                <a16:creationId xmlns:a16="http://schemas.microsoft.com/office/drawing/2014/main" id="{1922EFBE-7D7D-3DC0-2F9E-BF7022DB2166}"/>
              </a:ext>
            </a:extLst>
          </p:cNvPr>
          <p:cNvSpPr>
            <a:spLocks noGrp="1"/>
          </p:cNvSpPr>
          <p:nvPr>
            <p:ph type="sldNum" sz="quarter" idx="12"/>
          </p:nvPr>
        </p:nvSpPr>
        <p:spPr/>
        <p:txBody>
          <a:bodyPr/>
          <a:lstStyle/>
          <a:p>
            <a:fld id="{C1FF6DA9-008F-8B48-92A6-B652298478BF}" type="slidenum">
              <a:rPr lang="en-US" smtClean="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8465"/>
            <a:ext cx="8229600" cy="1015663"/>
          </a:xfrm>
          <a:prstGeom prst="rect">
            <a:avLst/>
          </a:prstGeom>
          <a:noFill/>
        </p:spPr>
        <p:txBody>
          <a:bodyPr wrap="square">
            <a:spAutoFit/>
          </a:bodyPr>
          <a:lstStyle/>
          <a:p>
            <a:pPr algn="l"/>
            <a:r>
              <a:rPr lang="en-US" sz="3000" b="1" i="0" dirty="0" err="1">
                <a:solidFill>
                  <a:srgbClr val="0A1628"/>
                </a:solidFill>
                <a:latin typeface="Calibri"/>
              </a:rPr>
              <a:t>Sofware</a:t>
            </a:r>
            <a:r>
              <a:rPr lang="en-US" sz="3000" b="1" i="0" dirty="0">
                <a:solidFill>
                  <a:srgbClr val="0A1628"/>
                </a:solidFill>
                <a:latin typeface="Calibri"/>
              </a:rPr>
              <a:t> engineering principles always apply… whether you know them or not</a:t>
            </a:r>
            <a:endParaRPr sz="3000" b="1" i="0" dirty="0">
              <a:solidFill>
                <a:srgbClr val="0A1628"/>
              </a:solidFill>
              <a:latin typeface="Calibri"/>
            </a:endParaRPr>
          </a:p>
        </p:txBody>
      </p:sp>
      <p:sp>
        <p:nvSpPr>
          <p:cNvPr id="3" name="Rectangle 2"/>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188720"/>
            <a:ext cx="8046720" cy="3416320"/>
          </a:xfrm>
          <a:prstGeom prst="rect">
            <a:avLst/>
          </a:prstGeom>
          <a:noFill/>
        </p:spPr>
        <p:txBody>
          <a:bodyPr wrap="square">
            <a:spAutoFit/>
          </a:bodyPr>
          <a:lstStyle/>
          <a:p>
            <a:pPr algn="l"/>
            <a:r>
              <a:rPr lang="en-US" sz="2400" b="1" i="0" dirty="0">
                <a:solidFill>
                  <a:srgbClr val="2D3748"/>
                </a:solidFill>
                <a:latin typeface="Calibri"/>
              </a:rPr>
              <a:t>Tragedy in the academy</a:t>
            </a:r>
            <a:r>
              <a:rPr lang="en-US" sz="2400" b="1" i="0" baseline="30000" dirty="0">
                <a:solidFill>
                  <a:srgbClr val="2D3748"/>
                </a:solidFill>
                <a:latin typeface="Calibri"/>
              </a:rPr>
              <a:t>1</a:t>
            </a:r>
            <a:r>
              <a:rPr lang="en-US" sz="2400" b="0" i="0" dirty="0">
                <a:solidFill>
                  <a:srgbClr val="2D3748"/>
                </a:solidFill>
                <a:latin typeface="Calibri"/>
              </a:rPr>
              <a:t>:</a:t>
            </a:r>
          </a:p>
          <a:p>
            <a:pPr marL="342900" indent="-342900" algn="l">
              <a:buFont typeface="Arial" panose="020B0604020202020204" pitchFamily="34" charset="0"/>
              <a:buChar char="•"/>
            </a:pPr>
            <a:r>
              <a:rPr sz="1600" b="0" i="0" dirty="0">
                <a:solidFill>
                  <a:srgbClr val="2D3748"/>
                </a:solidFill>
                <a:latin typeface="Calibri"/>
              </a:rPr>
              <a:t>Geoffrey Chang, Scripps Institute  (2006)
A sign error in a data-processing script corrupted all results.
5 high-impact papers on membrane protein structures retracted.</a:t>
            </a:r>
            <a:endParaRPr lang="en-US" sz="1600" b="0" i="0" dirty="0">
              <a:solidFill>
                <a:srgbClr val="2D3748"/>
              </a:solidFill>
              <a:latin typeface="Calibri"/>
            </a:endParaRPr>
          </a:p>
          <a:p>
            <a:pPr marL="342900" indent="-342900" algn="l">
              <a:buFont typeface="Arial" panose="020B0604020202020204" pitchFamily="34" charset="0"/>
              <a:buChar char="•"/>
            </a:pPr>
            <a:endParaRPr lang="en-US" sz="2000" dirty="0">
              <a:solidFill>
                <a:srgbClr val="2D3748"/>
              </a:solidFill>
              <a:latin typeface="Calibri"/>
            </a:endParaRPr>
          </a:p>
          <a:p>
            <a:r>
              <a:rPr lang="en-US" sz="2400" b="1" i="0" dirty="0">
                <a:solidFill>
                  <a:srgbClr val="2D3748"/>
                </a:solidFill>
                <a:latin typeface="Calibri"/>
              </a:rPr>
              <a:t>Tragedy in the industry</a:t>
            </a:r>
            <a:r>
              <a:rPr lang="en-US" sz="2400" b="1" i="0" baseline="30000" dirty="0">
                <a:solidFill>
                  <a:srgbClr val="2D3748"/>
                </a:solidFill>
                <a:latin typeface="Calibri"/>
              </a:rPr>
              <a:t>2</a:t>
            </a:r>
            <a:r>
              <a:rPr lang="en-US" sz="2400" dirty="0">
                <a:solidFill>
                  <a:srgbClr val="2D3748"/>
                </a:solidFill>
              </a:rPr>
              <a:t>:</a:t>
            </a:r>
            <a:endParaRPr lang="en-US" sz="2400" b="1" i="0" baseline="30000" dirty="0">
              <a:solidFill>
                <a:srgbClr val="2D3748"/>
              </a:solidFill>
              <a:latin typeface="Calibri"/>
            </a:endParaRPr>
          </a:p>
          <a:p>
            <a:pPr marL="285750" indent="-285750">
              <a:buFont typeface="Arial" panose="020B0604020202020204" pitchFamily="34" charset="0"/>
              <a:buChar char="•"/>
            </a:pPr>
            <a:r>
              <a:rPr lang="en-US" sz="1600" dirty="0">
                <a:solidFill>
                  <a:srgbClr val="2D3748"/>
                </a:solidFill>
              </a:rPr>
              <a:t>Ariane 5 Rocket Explosion (1996)
A reused software component caused an unhandled </a:t>
            </a:r>
          </a:p>
          <a:p>
            <a:r>
              <a:rPr lang="en-US" sz="1600" dirty="0">
                <a:solidFill>
                  <a:srgbClr val="2D3748"/>
                </a:solidFill>
              </a:rPr>
              <a:t>overflow exception.</a:t>
            </a:r>
          </a:p>
          <a:p>
            <a:pPr marL="285750" indent="-285750">
              <a:buFont typeface="Arial" panose="020B0604020202020204" pitchFamily="34" charset="0"/>
              <a:buChar char="•"/>
            </a:pPr>
            <a:r>
              <a:rPr lang="en-US" sz="1600" dirty="0">
                <a:solidFill>
                  <a:srgbClr val="2D3748"/>
                </a:solidFill>
              </a:rPr>
              <a:t>The rocket self-destructed 37 seconds after launch.
$370 million USD payload destroyed.</a:t>
            </a:r>
          </a:p>
          <a:p>
            <a:pPr algn="l"/>
            <a:endParaRPr sz="2000" b="0" i="0" dirty="0">
              <a:solidFill>
                <a:srgbClr val="2D3748"/>
              </a:solidFill>
              <a:latin typeface="Calibri"/>
            </a:endParaRPr>
          </a:p>
        </p:txBody>
      </p:sp>
      <p:sp>
        <p:nvSpPr>
          <p:cNvPr id="5" name="TextBox 4">
            <a:extLst>
              <a:ext uri="{FF2B5EF4-FFF2-40B4-BE49-F238E27FC236}">
                <a16:creationId xmlns:a16="http://schemas.microsoft.com/office/drawing/2014/main" id="{6E76441B-92D8-4B83-AD8C-1DC9BCD38357}"/>
              </a:ext>
            </a:extLst>
          </p:cNvPr>
          <p:cNvSpPr txBox="1"/>
          <p:nvPr/>
        </p:nvSpPr>
        <p:spPr>
          <a:xfrm>
            <a:off x="255600" y="4667520"/>
            <a:ext cx="8046720" cy="400110"/>
          </a:xfrm>
          <a:prstGeom prst="rect">
            <a:avLst/>
          </a:prstGeom>
          <a:noFill/>
        </p:spPr>
        <p:txBody>
          <a:bodyPr wrap="square">
            <a:spAutoFit/>
          </a:bodyPr>
          <a:lstStyle/>
          <a:p>
            <a:pPr marL="228600" indent="-228600">
              <a:buAutoNum type="arabicParenR"/>
            </a:pPr>
            <a:r>
              <a:rPr lang="en-US" sz="1000" dirty="0">
                <a:solidFill>
                  <a:srgbClr val="2D3748"/>
                </a:solidFill>
              </a:rPr>
              <a:t>Source: </a:t>
            </a:r>
            <a:r>
              <a:rPr lang="en-US" sz="1000" dirty="0">
                <a:solidFill>
                  <a:srgbClr val="2D3748"/>
                </a:solidFill>
                <a:hlinkClick r:id="rId2"/>
              </a:rPr>
              <a:t>https://en.wikipedia.org/wiki/Geoffrey_Chang</a:t>
            </a:r>
            <a:r>
              <a:rPr lang="en-US" sz="1000" dirty="0">
                <a:solidFill>
                  <a:srgbClr val="2D3748"/>
                </a:solidFill>
              </a:rPr>
              <a:t> </a:t>
            </a:r>
          </a:p>
          <a:p>
            <a:pPr marL="228600" indent="-228600">
              <a:buAutoNum type="arabicParenR"/>
            </a:pPr>
            <a:r>
              <a:rPr lang="en-US" sz="1000" i="0" dirty="0">
                <a:solidFill>
                  <a:srgbClr val="2D3748"/>
                </a:solidFill>
                <a:latin typeface="Calibri"/>
              </a:rPr>
              <a:t>Source: </a:t>
            </a:r>
            <a:r>
              <a:rPr lang="en-US" sz="1000" dirty="0">
                <a:solidFill>
                  <a:srgbClr val="2D3748"/>
                </a:solidFill>
                <a:hlinkClick r:id="rId3"/>
              </a:rPr>
              <a:t>https://en.wikipedia.org/wiki/Ariane_flight_V88</a:t>
            </a:r>
            <a:r>
              <a:rPr lang="en-US" sz="1000" dirty="0">
                <a:solidFill>
                  <a:srgbClr val="2D3748"/>
                </a:solidFill>
              </a:rPr>
              <a:t> </a:t>
            </a:r>
            <a:endParaRPr sz="1000" i="0" dirty="0">
              <a:solidFill>
                <a:srgbClr val="2D3748"/>
              </a:solidFill>
              <a:latin typeface="Calibri"/>
            </a:endParaRPr>
          </a:p>
        </p:txBody>
      </p:sp>
      <p:pic>
        <p:nvPicPr>
          <p:cNvPr id="6" name="Picture 5">
            <a:extLst>
              <a:ext uri="{FF2B5EF4-FFF2-40B4-BE49-F238E27FC236}">
                <a16:creationId xmlns:a16="http://schemas.microsoft.com/office/drawing/2014/main" id="{254EA24E-351F-DC4F-FB1E-5BED0B02E582}"/>
              </a:ext>
            </a:extLst>
          </p:cNvPr>
          <p:cNvPicPr>
            <a:picLocks noChangeAspect="1"/>
          </p:cNvPicPr>
          <p:nvPr/>
        </p:nvPicPr>
        <p:blipFill>
          <a:blip r:embed="rId4"/>
          <a:stretch>
            <a:fillRect/>
          </a:stretch>
        </p:blipFill>
        <p:spPr>
          <a:xfrm>
            <a:off x="5363997" y="2481808"/>
            <a:ext cx="3497137" cy="2185711"/>
          </a:xfrm>
          <a:prstGeom prst="rect">
            <a:avLst/>
          </a:prstGeom>
        </p:spPr>
      </p:pic>
      <p:sp>
        <p:nvSpPr>
          <p:cNvPr id="9" name="Slide Number Placeholder 8">
            <a:extLst>
              <a:ext uri="{FF2B5EF4-FFF2-40B4-BE49-F238E27FC236}">
                <a16:creationId xmlns:a16="http://schemas.microsoft.com/office/drawing/2014/main" id="{2FE6D91B-E583-3F91-1C89-368DDBC4DE26}"/>
              </a:ext>
            </a:extLst>
          </p:cNvPr>
          <p:cNvSpPr>
            <a:spLocks noGrp="1"/>
          </p:cNvSpPr>
          <p:nvPr>
            <p:ph type="sldNum" sz="quarter" idx="12"/>
          </p:nvPr>
        </p:nvSpPr>
        <p:spPr/>
        <p:txBody>
          <a:bodyPr/>
          <a:lstStyle/>
          <a:p>
            <a:fld id="{C1FF6DA9-008F-8B48-92A6-B652298478BF}" type="slidenum">
              <a:rPr lang="en-US" smtClean="0"/>
              <a:t>6</a:t>
            </a:fld>
            <a:endParaRPr lang="en-US"/>
          </a:p>
        </p:txBody>
      </p:sp>
      <p:sp>
        <p:nvSpPr>
          <p:cNvPr id="11" name="TextBox 10">
            <a:extLst>
              <a:ext uri="{FF2B5EF4-FFF2-40B4-BE49-F238E27FC236}">
                <a16:creationId xmlns:a16="http://schemas.microsoft.com/office/drawing/2014/main" id="{82676FC2-45D6-8261-DBEF-AADA89902F58}"/>
              </a:ext>
            </a:extLst>
          </p:cNvPr>
          <p:cNvSpPr txBox="1"/>
          <p:nvPr/>
        </p:nvSpPr>
        <p:spPr>
          <a:xfrm>
            <a:off x="5875020" y="4667519"/>
            <a:ext cx="2872740" cy="261610"/>
          </a:xfrm>
          <a:prstGeom prst="rect">
            <a:avLst/>
          </a:prstGeom>
          <a:noFill/>
        </p:spPr>
        <p:txBody>
          <a:bodyPr wrap="square">
            <a:spAutoFit/>
          </a:bodyPr>
          <a:lstStyle/>
          <a:p>
            <a:r>
              <a:rPr lang="en-US" sz="1100" b="0" i="0" dirty="0">
                <a:solidFill>
                  <a:srgbClr val="000000"/>
                </a:solidFill>
                <a:effectLst/>
              </a:rPr>
              <a:t>Ariane flight V88 exploding during launch</a:t>
            </a:r>
            <a:endParaRPr lang="en-US" sz="11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allAtOnce"/>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553998"/>
          </a:xfrm>
          <a:prstGeom prst="rect">
            <a:avLst/>
          </a:prstGeom>
          <a:noFill/>
        </p:spPr>
        <p:txBody>
          <a:bodyPr wrap="square">
            <a:spAutoFit/>
          </a:bodyPr>
          <a:lstStyle/>
          <a:p>
            <a:pPr algn="l"/>
            <a:r>
              <a:rPr lang="en-US" sz="3000" b="1" i="0" dirty="0">
                <a:solidFill>
                  <a:srgbClr val="0A1628"/>
                </a:solidFill>
                <a:latin typeface="Calibri"/>
              </a:rPr>
              <a:t>Symptoms of being in a bad spot </a:t>
            </a:r>
            <a:endParaRPr sz="3000" b="1" i="0" dirty="0">
              <a:solidFill>
                <a:srgbClr val="0A1628"/>
              </a:solidFill>
              <a:latin typeface="Calibri"/>
            </a:endParaRPr>
          </a:p>
        </p:txBody>
      </p:sp>
      <p:sp>
        <p:nvSpPr>
          <p:cNvPr id="3" name="Rectangle 2"/>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131234"/>
            <a:ext cx="8046720" cy="3737946"/>
          </a:xfrm>
          <a:prstGeom prst="rect">
            <a:avLst/>
          </a:prstGeom>
          <a:noFill/>
        </p:spPr>
        <p:txBody>
          <a:bodyPr wrap="square">
            <a:spAutoFit/>
          </a:bodyPr>
          <a:lstStyle/>
          <a:p>
            <a:pPr marL="342900" indent="-342900" algn="l">
              <a:lnSpc>
                <a:spcPct val="150000"/>
              </a:lnSpc>
              <a:buFont typeface="Arial" panose="020B0604020202020204" pitchFamily="34" charset="0"/>
              <a:buChar char="•"/>
            </a:pPr>
            <a:r>
              <a:rPr sz="2000" b="0" i="0" dirty="0">
                <a:solidFill>
                  <a:srgbClr val="2D3748"/>
                </a:solidFill>
                <a:latin typeface="Calibri"/>
              </a:rPr>
              <a:t>Can't </a:t>
            </a:r>
            <a:r>
              <a:rPr sz="2000" b="1" i="0" dirty="0">
                <a:solidFill>
                  <a:srgbClr val="2D3748"/>
                </a:solidFill>
                <a:latin typeface="Calibri"/>
              </a:rPr>
              <a:t>reproduce</a:t>
            </a:r>
            <a:r>
              <a:rPr sz="2000" b="0" i="0" dirty="0">
                <a:solidFill>
                  <a:srgbClr val="2D3748"/>
                </a:solidFill>
                <a:latin typeface="Calibri"/>
              </a:rPr>
              <a:t> your own results </a:t>
            </a:r>
            <a:r>
              <a:rPr lang="en-US" sz="2000" b="0" i="0" dirty="0">
                <a:solidFill>
                  <a:srgbClr val="2D3748"/>
                </a:solidFill>
                <a:latin typeface="Calibri"/>
              </a:rPr>
              <a:t>quickly.</a:t>
            </a:r>
          </a:p>
          <a:p>
            <a:pPr marL="342900" indent="-342900" algn="l">
              <a:lnSpc>
                <a:spcPct val="150000"/>
              </a:lnSpc>
              <a:buFont typeface="Arial" panose="020B0604020202020204" pitchFamily="34" charset="0"/>
              <a:buChar char="•"/>
            </a:pPr>
            <a:r>
              <a:rPr lang="en-US" sz="2000" b="0" i="0" dirty="0">
                <a:solidFill>
                  <a:srgbClr val="2D3748"/>
                </a:solidFill>
                <a:latin typeface="Calibri"/>
              </a:rPr>
              <a:t>Code runs on </a:t>
            </a:r>
            <a:r>
              <a:rPr lang="en-US" sz="2000" b="1" i="0" dirty="0">
                <a:solidFill>
                  <a:srgbClr val="2D3748"/>
                </a:solidFill>
                <a:latin typeface="Calibri"/>
              </a:rPr>
              <a:t>your machine</a:t>
            </a:r>
            <a:r>
              <a:rPr lang="en-US" sz="2000" b="0" i="0" dirty="0">
                <a:solidFill>
                  <a:srgbClr val="2D3748"/>
                </a:solidFill>
                <a:latin typeface="Calibri"/>
              </a:rPr>
              <a:t>, but not in your teammate’s.</a:t>
            </a:r>
          </a:p>
          <a:p>
            <a:pPr marL="342900" indent="-342900" algn="l">
              <a:lnSpc>
                <a:spcPct val="150000"/>
              </a:lnSpc>
              <a:buFont typeface="Arial" panose="020B0604020202020204" pitchFamily="34" charset="0"/>
              <a:buChar char="•"/>
            </a:pPr>
            <a:r>
              <a:rPr lang="en-US" sz="2000" dirty="0">
                <a:solidFill>
                  <a:srgbClr val="2D3748"/>
                </a:solidFill>
                <a:latin typeface="Calibri"/>
              </a:rPr>
              <a:t>You are </a:t>
            </a:r>
            <a:r>
              <a:rPr lang="en-US" sz="2000" b="1" dirty="0">
                <a:solidFill>
                  <a:srgbClr val="2D3748"/>
                </a:solidFill>
                <a:latin typeface="Calibri"/>
              </a:rPr>
              <a:t>afraid</a:t>
            </a:r>
            <a:r>
              <a:rPr lang="en-US" sz="2000" dirty="0">
                <a:solidFill>
                  <a:srgbClr val="2D3748"/>
                </a:solidFill>
                <a:latin typeface="Calibri"/>
              </a:rPr>
              <a:t> of making changes.</a:t>
            </a:r>
          </a:p>
          <a:p>
            <a:pPr marL="342900" indent="-342900" algn="l">
              <a:lnSpc>
                <a:spcPct val="150000"/>
              </a:lnSpc>
              <a:buFont typeface="Arial" panose="020B0604020202020204" pitchFamily="34" charset="0"/>
              <a:buChar char="•"/>
            </a:pPr>
            <a:r>
              <a:rPr lang="en-US" sz="2000" dirty="0">
                <a:solidFill>
                  <a:srgbClr val="2D3748"/>
                </a:solidFill>
                <a:latin typeface="Calibri"/>
              </a:rPr>
              <a:t>Adding new things to the codebase is difficult.</a:t>
            </a:r>
          </a:p>
          <a:p>
            <a:pPr marL="342900" indent="-342900" algn="l">
              <a:lnSpc>
                <a:spcPct val="150000"/>
              </a:lnSpc>
              <a:buFont typeface="Arial" panose="020B0604020202020204" pitchFamily="34" charset="0"/>
              <a:buChar char="•"/>
            </a:pPr>
            <a:r>
              <a:rPr lang="en-US" sz="2000" dirty="0">
                <a:solidFill>
                  <a:srgbClr val="2D3748"/>
                </a:solidFill>
                <a:latin typeface="Calibri"/>
              </a:rPr>
              <a:t>There are </a:t>
            </a:r>
            <a:r>
              <a:rPr lang="en-US" sz="2000" b="1" dirty="0">
                <a:solidFill>
                  <a:srgbClr val="2D3748"/>
                </a:solidFill>
                <a:latin typeface="Calibri"/>
              </a:rPr>
              <a:t>not enough tests </a:t>
            </a:r>
            <a:r>
              <a:rPr lang="en-US" sz="2000" dirty="0">
                <a:solidFill>
                  <a:srgbClr val="2D3748"/>
                </a:solidFill>
                <a:latin typeface="Calibri"/>
              </a:rPr>
              <a:t>to check the codebase works as expected.</a:t>
            </a:r>
          </a:p>
          <a:p>
            <a:pPr marL="342900" indent="-342900" algn="l">
              <a:lnSpc>
                <a:spcPct val="150000"/>
              </a:lnSpc>
              <a:buFont typeface="Arial" panose="020B0604020202020204" pitchFamily="34" charset="0"/>
              <a:buChar char="•"/>
            </a:pPr>
            <a:r>
              <a:rPr lang="en-US" sz="2000" dirty="0">
                <a:solidFill>
                  <a:srgbClr val="2D3748"/>
                </a:solidFill>
                <a:latin typeface="Calibri"/>
              </a:rPr>
              <a:t>Low </a:t>
            </a:r>
            <a:r>
              <a:rPr lang="en-US" sz="2000" b="1" dirty="0">
                <a:solidFill>
                  <a:srgbClr val="2D3748"/>
                </a:solidFill>
                <a:latin typeface="Calibri"/>
              </a:rPr>
              <a:t>morale</a:t>
            </a:r>
            <a:r>
              <a:rPr lang="en-US" sz="2000" dirty="0">
                <a:solidFill>
                  <a:srgbClr val="2D3748"/>
                </a:solidFill>
                <a:latin typeface="Calibri"/>
              </a:rPr>
              <a:t> of the team working on the codebase.</a:t>
            </a:r>
            <a:r>
              <a:rPr sz="2000" b="0" i="0" dirty="0">
                <a:solidFill>
                  <a:srgbClr val="2D3748"/>
                </a:solidFill>
                <a:latin typeface="Calibri"/>
              </a:rPr>
              <a:t>
</a:t>
            </a:r>
            <a:r>
              <a:rPr lang="en-US" sz="2000" b="1" i="0" dirty="0">
                <a:solidFill>
                  <a:srgbClr val="2D3748"/>
                </a:solidFill>
                <a:latin typeface="Calibri"/>
              </a:rPr>
              <a:t>Unknown crashes </a:t>
            </a:r>
            <a:r>
              <a:rPr lang="en-US" sz="2000" b="0" i="0" dirty="0">
                <a:solidFill>
                  <a:srgbClr val="2D3748"/>
                </a:solidFill>
                <a:latin typeface="Calibri"/>
              </a:rPr>
              <a:t>of the codebase.</a:t>
            </a:r>
          </a:p>
          <a:p>
            <a:pPr marL="342900" indent="-342900" algn="l">
              <a:lnSpc>
                <a:spcPct val="150000"/>
              </a:lnSpc>
              <a:buFont typeface="Arial" panose="020B0604020202020204" pitchFamily="34" charset="0"/>
              <a:buChar char="•"/>
            </a:pPr>
            <a:r>
              <a:rPr lang="en-US" sz="2000" dirty="0">
                <a:solidFill>
                  <a:srgbClr val="2D3748"/>
                </a:solidFill>
                <a:latin typeface="Calibri"/>
              </a:rPr>
              <a:t>Other examples? – </a:t>
            </a:r>
            <a:r>
              <a:rPr lang="en-US" sz="2000" dirty="0">
                <a:solidFill>
                  <a:schemeClr val="bg1">
                    <a:lumMod val="65000"/>
                  </a:schemeClr>
                </a:solidFill>
                <a:latin typeface="Calibri"/>
              </a:rPr>
              <a:t>mention Russel Beckett example</a:t>
            </a:r>
            <a:endParaRPr sz="2000" b="0" i="0" dirty="0">
              <a:solidFill>
                <a:schemeClr val="bg1">
                  <a:lumMod val="65000"/>
                </a:schemeClr>
              </a:solidFill>
              <a:latin typeface="Calibri"/>
            </a:endParaRPr>
          </a:p>
        </p:txBody>
      </p:sp>
      <p:sp>
        <p:nvSpPr>
          <p:cNvPr id="5" name="Slide Number Placeholder 4">
            <a:extLst>
              <a:ext uri="{FF2B5EF4-FFF2-40B4-BE49-F238E27FC236}">
                <a16:creationId xmlns:a16="http://schemas.microsoft.com/office/drawing/2014/main" id="{48E728EB-9E71-985F-40CC-24426399850E}"/>
              </a:ext>
            </a:extLst>
          </p:cNvPr>
          <p:cNvSpPr>
            <a:spLocks noGrp="1"/>
          </p:cNvSpPr>
          <p:nvPr>
            <p:ph type="sldNum" sz="quarter" idx="12"/>
          </p:nvPr>
        </p:nvSpPr>
        <p:spPr/>
        <p:txBody>
          <a:bodyPr/>
          <a:lstStyle/>
          <a:p>
            <a:fld id="{C1FF6DA9-008F-8B48-92A6-B652298478BF}" type="slidenum">
              <a:rPr lang="en-US" smtClean="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8465"/>
            <a:ext cx="8229600" cy="1015663"/>
          </a:xfrm>
          <a:prstGeom prst="rect">
            <a:avLst/>
          </a:prstGeom>
          <a:noFill/>
        </p:spPr>
        <p:txBody>
          <a:bodyPr wrap="square">
            <a:spAutoFit/>
          </a:bodyPr>
          <a:lstStyle/>
          <a:p>
            <a:pPr algn="l"/>
            <a:r>
              <a:rPr lang="en-US" sz="3000" b="1" i="0" dirty="0">
                <a:solidFill>
                  <a:srgbClr val="0A1628"/>
                </a:solidFill>
                <a:latin typeface="Calibri"/>
              </a:rPr>
              <a:t>Disclaimer: acquiring software engineering skills takes practice</a:t>
            </a:r>
            <a:endParaRPr sz="3000" b="1" i="0" dirty="0">
              <a:solidFill>
                <a:srgbClr val="0A1628"/>
              </a:solidFill>
              <a:latin typeface="Calibri"/>
            </a:endParaRPr>
          </a:p>
        </p:txBody>
      </p:sp>
      <p:sp>
        <p:nvSpPr>
          <p:cNvPr id="3" name="Rectangle 2"/>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6" descr="simple bicycle icon 17744685 PNG">
            <a:extLst>
              <a:ext uri="{FF2B5EF4-FFF2-40B4-BE49-F238E27FC236}">
                <a16:creationId xmlns:a16="http://schemas.microsoft.com/office/drawing/2014/main" id="{793D8ED5-6529-5735-29D3-EB9EBF73C5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20480773">
            <a:off x="1063553" y="2048221"/>
            <a:ext cx="1644894" cy="1644894"/>
          </a:xfrm>
          <a:prstGeom prst="rect">
            <a:avLst/>
          </a:prstGeom>
          <a:noFill/>
          <a:extLst>
            <a:ext uri="{909E8E84-426E-40DD-AFC4-6F175D3DCCD1}">
              <a14:hiddenFill xmlns:a14="http://schemas.microsoft.com/office/drawing/2010/main">
                <a:solidFill>
                  <a:srgbClr val="FFFFFF"/>
                </a:solidFill>
              </a14:hiddenFill>
            </a:ext>
          </a:extLst>
        </p:spPr>
      </p:pic>
      <p:sp>
        <p:nvSpPr>
          <p:cNvPr id="6" name="Oval 5">
            <a:extLst>
              <a:ext uri="{FF2B5EF4-FFF2-40B4-BE49-F238E27FC236}">
                <a16:creationId xmlns:a16="http://schemas.microsoft.com/office/drawing/2014/main" id="{2645D4A6-2AD6-6067-20A4-F2B17FB7E44B}"/>
              </a:ext>
            </a:extLst>
          </p:cNvPr>
          <p:cNvSpPr/>
          <p:nvPr/>
        </p:nvSpPr>
        <p:spPr>
          <a:xfrm>
            <a:off x="843699" y="3544588"/>
            <a:ext cx="443060" cy="443060"/>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3E1CFD22-B832-3E5B-F8D6-D6D9C8DB3CD3}"/>
              </a:ext>
            </a:extLst>
          </p:cNvPr>
          <p:cNvSpPr/>
          <p:nvPr/>
        </p:nvSpPr>
        <p:spPr>
          <a:xfrm>
            <a:off x="7777352" y="1314383"/>
            <a:ext cx="443060" cy="443060"/>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DED5D1A-0488-4974-6AFA-EDFE19AEFF29}"/>
              </a:ext>
            </a:extLst>
          </p:cNvPr>
          <p:cNvSpPr txBox="1"/>
          <p:nvPr/>
        </p:nvSpPr>
        <p:spPr>
          <a:xfrm>
            <a:off x="512706" y="4129049"/>
            <a:ext cx="1105046" cy="369332"/>
          </a:xfrm>
          <a:prstGeom prst="rect">
            <a:avLst/>
          </a:prstGeom>
          <a:noFill/>
        </p:spPr>
        <p:txBody>
          <a:bodyPr wrap="none" rtlCol="0">
            <a:spAutoFit/>
          </a:bodyPr>
          <a:lstStyle/>
          <a:p>
            <a:r>
              <a:rPr lang="en-US" dirty="0"/>
              <a:t>You today</a:t>
            </a:r>
          </a:p>
        </p:txBody>
      </p:sp>
      <p:sp>
        <p:nvSpPr>
          <p:cNvPr id="9" name="TextBox 8">
            <a:extLst>
              <a:ext uri="{FF2B5EF4-FFF2-40B4-BE49-F238E27FC236}">
                <a16:creationId xmlns:a16="http://schemas.microsoft.com/office/drawing/2014/main" id="{13F6A30D-5D0C-CF16-8338-6E7CF672493C}"/>
              </a:ext>
            </a:extLst>
          </p:cNvPr>
          <p:cNvSpPr txBox="1"/>
          <p:nvPr/>
        </p:nvSpPr>
        <p:spPr>
          <a:xfrm>
            <a:off x="7389650" y="1852074"/>
            <a:ext cx="1297150" cy="646331"/>
          </a:xfrm>
          <a:prstGeom prst="rect">
            <a:avLst/>
          </a:prstGeom>
          <a:noFill/>
        </p:spPr>
        <p:txBody>
          <a:bodyPr wrap="none" rtlCol="0">
            <a:spAutoFit/>
          </a:bodyPr>
          <a:lstStyle/>
          <a:p>
            <a:pPr algn="ctr"/>
            <a:r>
              <a:rPr lang="en-US" dirty="0"/>
              <a:t>Software</a:t>
            </a:r>
          </a:p>
          <a:p>
            <a:pPr algn="ctr"/>
            <a:r>
              <a:rPr lang="en-US" dirty="0"/>
              <a:t>Engineering</a:t>
            </a:r>
          </a:p>
        </p:txBody>
      </p:sp>
      <p:sp>
        <p:nvSpPr>
          <p:cNvPr id="10" name="Arrow: Right 9">
            <a:extLst>
              <a:ext uri="{FF2B5EF4-FFF2-40B4-BE49-F238E27FC236}">
                <a16:creationId xmlns:a16="http://schemas.microsoft.com/office/drawing/2014/main" id="{7170B1B6-DE04-54EC-E196-53F11163B4B0}"/>
              </a:ext>
            </a:extLst>
          </p:cNvPr>
          <p:cNvSpPr/>
          <p:nvPr/>
        </p:nvSpPr>
        <p:spPr>
          <a:xfrm rot="20598476">
            <a:off x="1456035" y="3334774"/>
            <a:ext cx="1232648" cy="348178"/>
          </a:xfrm>
          <a:prstGeom prst="rightArrow">
            <a:avLst>
              <a:gd name="adj1" fmla="val 50000"/>
              <a:gd name="adj2" fmla="val 89862"/>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peech Bubble: Rectangle 10">
            <a:extLst>
              <a:ext uri="{FF2B5EF4-FFF2-40B4-BE49-F238E27FC236}">
                <a16:creationId xmlns:a16="http://schemas.microsoft.com/office/drawing/2014/main" id="{22FFFBC4-E18E-FFB4-19F4-DA4228665BF8}"/>
              </a:ext>
            </a:extLst>
          </p:cNvPr>
          <p:cNvSpPr/>
          <p:nvPr/>
        </p:nvSpPr>
        <p:spPr>
          <a:xfrm>
            <a:off x="5972908" y="2927160"/>
            <a:ext cx="2833483" cy="1850963"/>
          </a:xfrm>
          <a:prstGeom prst="wedgeRectCallout">
            <a:avLst>
              <a:gd name="adj1" fmla="val -61695"/>
              <a:gd name="adj2" fmla="val -30981"/>
            </a:avLst>
          </a:prstGeom>
          <a:solidFill>
            <a:schemeClr val="accent6">
              <a:lumMod val="20000"/>
              <a:lumOff val="80000"/>
            </a:schemeClr>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rPr>
              <a:t>I can provide you the bicycle, but I can’t ride it for you.</a:t>
            </a:r>
          </a:p>
          <a:p>
            <a:endParaRPr lang="en-US" sz="1400" dirty="0">
              <a:solidFill>
                <a:schemeClr val="tx1"/>
              </a:solidFill>
            </a:endParaRPr>
          </a:p>
          <a:p>
            <a:r>
              <a:rPr lang="en-US" sz="1400" dirty="0">
                <a:solidFill>
                  <a:schemeClr val="tx1"/>
                </a:solidFill>
              </a:rPr>
              <a:t>I will emphasize </a:t>
            </a:r>
            <a:r>
              <a:rPr lang="en-US" sz="1400" u="sng" dirty="0">
                <a:solidFill>
                  <a:schemeClr val="tx1"/>
                </a:solidFill>
              </a:rPr>
              <a:t>principles</a:t>
            </a:r>
            <a:r>
              <a:rPr lang="en-US" sz="1400" dirty="0">
                <a:solidFill>
                  <a:schemeClr val="tx1"/>
                </a:solidFill>
              </a:rPr>
              <a:t> over technologies.</a:t>
            </a:r>
          </a:p>
          <a:p>
            <a:endParaRPr lang="en-US" sz="1400" dirty="0">
              <a:solidFill>
                <a:schemeClr val="tx1"/>
              </a:solidFill>
            </a:endParaRPr>
          </a:p>
          <a:p>
            <a:r>
              <a:rPr lang="en-US" sz="1400" dirty="0">
                <a:solidFill>
                  <a:schemeClr val="tx1"/>
                </a:solidFill>
              </a:rPr>
              <a:t>Principles last, technologies change.</a:t>
            </a:r>
          </a:p>
        </p:txBody>
      </p:sp>
      <p:sp>
        <p:nvSpPr>
          <p:cNvPr id="12" name="Slide Number Placeholder 11">
            <a:extLst>
              <a:ext uri="{FF2B5EF4-FFF2-40B4-BE49-F238E27FC236}">
                <a16:creationId xmlns:a16="http://schemas.microsoft.com/office/drawing/2014/main" id="{361BE970-6F59-147B-0C5F-D156C00473E9}"/>
              </a:ext>
            </a:extLst>
          </p:cNvPr>
          <p:cNvSpPr>
            <a:spLocks noGrp="1"/>
          </p:cNvSpPr>
          <p:nvPr>
            <p:ph type="sldNum" sz="quarter" idx="12"/>
          </p:nvPr>
        </p:nvSpPr>
        <p:spPr/>
        <p:txBody>
          <a:bodyPr/>
          <a:lstStyle/>
          <a:p>
            <a:fld id="{C1FF6DA9-008F-8B48-92A6-B652298478BF}" type="slidenum">
              <a:rPr lang="en-US" smtClean="0"/>
              <a:t>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p:bldP spid="10" grpId="0" animBg="1"/>
      <p:bldP spid="1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070142-01C9-1D64-C77F-0248CFB1474B}"/>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E17AAB3-AB7C-7DCC-BF28-B0AA50830D1F}"/>
              </a:ext>
            </a:extLst>
          </p:cNvPr>
          <p:cNvSpPr txBox="1"/>
          <p:nvPr/>
        </p:nvSpPr>
        <p:spPr>
          <a:xfrm>
            <a:off x="457200" y="241679"/>
            <a:ext cx="8229600" cy="553998"/>
          </a:xfrm>
          <a:prstGeom prst="rect">
            <a:avLst/>
          </a:prstGeom>
          <a:noFill/>
        </p:spPr>
        <p:txBody>
          <a:bodyPr wrap="square">
            <a:spAutoFit/>
          </a:bodyPr>
          <a:lstStyle/>
          <a:p>
            <a:pPr algn="l"/>
            <a:r>
              <a:rPr lang="en-US" sz="3000" b="1" i="0" dirty="0">
                <a:solidFill>
                  <a:srgbClr val="0A1628"/>
                </a:solidFill>
                <a:latin typeface="Calibri"/>
              </a:rPr>
              <a:t>What do you hope to learn from this workshop?</a:t>
            </a:r>
            <a:endParaRPr sz="3000" b="1" i="0" dirty="0">
              <a:solidFill>
                <a:srgbClr val="0A1628"/>
              </a:solidFill>
              <a:latin typeface="Calibri"/>
            </a:endParaRPr>
          </a:p>
        </p:txBody>
      </p:sp>
      <p:sp>
        <p:nvSpPr>
          <p:cNvPr id="3" name="Rectangle 2">
            <a:extLst>
              <a:ext uri="{FF2B5EF4-FFF2-40B4-BE49-F238E27FC236}">
                <a16:creationId xmlns:a16="http://schemas.microsoft.com/office/drawing/2014/main" id="{77811C00-2211-F2DF-A9A3-469EF770E2A7}"/>
              </a:ext>
            </a:extLst>
          </p:cNvPr>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a:extLst>
              <a:ext uri="{FF2B5EF4-FFF2-40B4-BE49-F238E27FC236}">
                <a16:creationId xmlns:a16="http://schemas.microsoft.com/office/drawing/2014/main" id="{1BC349C2-FF6A-52FA-818B-DF8EB6F17BA6}"/>
              </a:ext>
            </a:extLst>
          </p:cNvPr>
          <p:cNvSpPr txBox="1"/>
          <p:nvPr/>
        </p:nvSpPr>
        <p:spPr>
          <a:xfrm>
            <a:off x="457200" y="1183362"/>
            <a:ext cx="8046720" cy="3323987"/>
          </a:xfrm>
          <a:prstGeom prst="rect">
            <a:avLst/>
          </a:prstGeom>
          <a:noFill/>
        </p:spPr>
        <p:txBody>
          <a:bodyPr wrap="square">
            <a:spAutoFit/>
          </a:bodyPr>
          <a:lstStyle/>
          <a:p>
            <a:pPr marL="342900" indent="-342900" algn="l">
              <a:lnSpc>
                <a:spcPct val="150000"/>
              </a:lnSpc>
              <a:buFont typeface="Arial" panose="020B0604020202020204" pitchFamily="34" charset="0"/>
              <a:buChar char="•"/>
            </a:pPr>
            <a:r>
              <a:rPr lang="en-US" sz="2000" b="0" i="1" dirty="0">
                <a:solidFill>
                  <a:srgbClr val="2D3748"/>
                </a:solidFill>
                <a:latin typeface="Calibri"/>
              </a:rPr>
              <a:t>Best industrial practices.</a:t>
            </a:r>
          </a:p>
          <a:p>
            <a:pPr marL="342900" indent="-342900">
              <a:buFont typeface="Arial" panose="020B0604020202020204" pitchFamily="34" charset="0"/>
              <a:buChar char="•"/>
            </a:pPr>
            <a:r>
              <a:rPr lang="en-US" sz="2000" i="1" dirty="0">
                <a:solidFill>
                  <a:srgbClr val="2D3748"/>
                </a:solidFill>
              </a:rPr>
              <a:t>I would like to learn how to coordinate between different part of repos and how to do proper docstring commenting</a:t>
            </a:r>
            <a:r>
              <a:rPr lang="en-US" sz="2000" i="1" dirty="0">
                <a:solidFill>
                  <a:srgbClr val="2D3748"/>
                </a:solidFill>
                <a:latin typeface="Calibri"/>
              </a:rPr>
              <a:t>.</a:t>
            </a:r>
          </a:p>
          <a:p>
            <a:pPr marL="342900" indent="-342900">
              <a:buFont typeface="Arial" panose="020B0604020202020204" pitchFamily="34" charset="0"/>
              <a:buChar char="•"/>
            </a:pPr>
            <a:r>
              <a:rPr lang="en-US" sz="2000" i="1" dirty="0">
                <a:solidFill>
                  <a:srgbClr val="2D3748"/>
                </a:solidFill>
              </a:rPr>
              <a:t>I would like to get some insight into how advanced techniques (e.g. large-scale optimization) get integrated into modern enterprises. </a:t>
            </a:r>
          </a:p>
          <a:p>
            <a:pPr marL="342900" indent="-342900">
              <a:buFont typeface="Arial" panose="020B0604020202020204" pitchFamily="34" charset="0"/>
              <a:buChar char="•"/>
            </a:pPr>
            <a:r>
              <a:rPr lang="en-US" sz="2000" i="1" dirty="0">
                <a:solidFill>
                  <a:srgbClr val="2D3748"/>
                </a:solidFill>
              </a:rPr>
              <a:t>SWE and Git best practices.</a:t>
            </a:r>
          </a:p>
          <a:p>
            <a:pPr marL="342900" indent="-342900">
              <a:buFont typeface="Arial" panose="020B0604020202020204" pitchFamily="34" charset="0"/>
              <a:buChar char="•"/>
            </a:pPr>
            <a:r>
              <a:rPr lang="en-US" sz="2000" i="1" dirty="0">
                <a:solidFill>
                  <a:srgbClr val="2D3748"/>
                </a:solidFill>
              </a:rPr>
              <a:t>I want to make my code easier to debug and easier for others to use. I also want to know how to properly fix/maintain code bases I've been assigned. </a:t>
            </a:r>
          </a:p>
          <a:p>
            <a:pPr marL="342900" indent="-342900">
              <a:buFont typeface="Arial" panose="020B0604020202020204" pitchFamily="34" charset="0"/>
              <a:buChar char="•"/>
            </a:pPr>
            <a:r>
              <a:rPr lang="en-US" sz="2000" b="0" i="1" dirty="0">
                <a:solidFill>
                  <a:srgbClr val="2D3748"/>
                </a:solidFill>
                <a:latin typeface="Calibri"/>
              </a:rPr>
              <a:t>I l</a:t>
            </a:r>
            <a:r>
              <a:rPr lang="en-US" sz="2000" i="1" dirty="0">
                <a:solidFill>
                  <a:srgbClr val="2D3748"/>
                </a:solidFill>
                <a:latin typeface="Calibri"/>
              </a:rPr>
              <a:t>ack formal software design training.</a:t>
            </a:r>
            <a:endParaRPr sz="2000" b="0" i="1" dirty="0">
              <a:solidFill>
                <a:srgbClr val="2D3748"/>
              </a:solidFill>
              <a:latin typeface="Calibri"/>
            </a:endParaRPr>
          </a:p>
        </p:txBody>
      </p:sp>
      <p:sp>
        <p:nvSpPr>
          <p:cNvPr id="18" name="Slide Number Placeholder 17">
            <a:extLst>
              <a:ext uri="{FF2B5EF4-FFF2-40B4-BE49-F238E27FC236}">
                <a16:creationId xmlns:a16="http://schemas.microsoft.com/office/drawing/2014/main" id="{BCF945CC-F63E-C7C7-040B-8288485D5D64}"/>
              </a:ext>
            </a:extLst>
          </p:cNvPr>
          <p:cNvSpPr>
            <a:spLocks noGrp="1"/>
          </p:cNvSpPr>
          <p:nvPr>
            <p:ph type="sldNum" sz="quarter" idx="12"/>
          </p:nvPr>
        </p:nvSpPr>
        <p:spPr/>
        <p:txBody>
          <a:bodyPr/>
          <a:lstStyle/>
          <a:p>
            <a:fld id="{C1FF6DA9-008F-8B48-92A6-B652298478BF}" type="slidenum">
              <a:rPr lang="en-US" smtClean="0"/>
              <a:t>9</a:t>
            </a:fld>
            <a:endParaRPr lang="en-US"/>
          </a:p>
        </p:txBody>
      </p:sp>
    </p:spTree>
    <p:extLst>
      <p:ext uri="{BB962C8B-B14F-4D97-AF65-F5344CB8AC3E}">
        <p14:creationId xmlns:p14="http://schemas.microsoft.com/office/powerpoint/2010/main" val="38358541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F6208D-5DEC-B6FB-833D-5F4B0D8B1FB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4084172-8AFF-ED3F-F0BF-4824FBC7F0CF}"/>
              </a:ext>
            </a:extLst>
          </p:cNvPr>
          <p:cNvSpPr txBox="1"/>
          <p:nvPr/>
        </p:nvSpPr>
        <p:spPr>
          <a:xfrm>
            <a:off x="396240" y="241679"/>
            <a:ext cx="8549640" cy="553998"/>
          </a:xfrm>
          <a:prstGeom prst="rect">
            <a:avLst/>
          </a:prstGeom>
          <a:noFill/>
        </p:spPr>
        <p:txBody>
          <a:bodyPr wrap="square">
            <a:spAutoFit/>
          </a:bodyPr>
          <a:lstStyle/>
          <a:p>
            <a:pPr algn="l"/>
            <a:r>
              <a:rPr lang="en-US" sz="3000" b="1" i="0" dirty="0" err="1">
                <a:solidFill>
                  <a:srgbClr val="0A1628"/>
                </a:solidFill>
                <a:latin typeface="Calibri"/>
              </a:rPr>
              <a:t>Sofware</a:t>
            </a:r>
            <a:r>
              <a:rPr lang="en-US" sz="3000" b="1" i="0" dirty="0">
                <a:solidFill>
                  <a:srgbClr val="0A1628"/>
                </a:solidFill>
                <a:latin typeface="Calibri"/>
              </a:rPr>
              <a:t> engineering: a different type of engineering</a:t>
            </a:r>
            <a:endParaRPr sz="3000" b="1" i="0" dirty="0">
              <a:solidFill>
                <a:srgbClr val="0A1628"/>
              </a:solidFill>
              <a:latin typeface="Calibri"/>
            </a:endParaRPr>
          </a:p>
        </p:txBody>
      </p:sp>
      <p:sp>
        <p:nvSpPr>
          <p:cNvPr id="3" name="Rectangle 2">
            <a:extLst>
              <a:ext uri="{FF2B5EF4-FFF2-40B4-BE49-F238E27FC236}">
                <a16:creationId xmlns:a16="http://schemas.microsoft.com/office/drawing/2014/main" id="{8399556C-CAF0-B957-5930-8C1771435885}"/>
              </a:ext>
            </a:extLst>
          </p:cNvPr>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What is Construction Engineering?">
            <a:extLst>
              <a:ext uri="{FF2B5EF4-FFF2-40B4-BE49-F238E27FC236}">
                <a16:creationId xmlns:a16="http://schemas.microsoft.com/office/drawing/2014/main" id="{15F43369-4F0D-2BE6-9CCF-7396CE710B38}"/>
              </a:ext>
            </a:extLst>
          </p:cNvPr>
          <p:cNvPicPr>
            <a:picLocks noChangeAspect="1"/>
          </p:cNvPicPr>
          <p:nvPr/>
        </p:nvPicPr>
        <p:blipFill>
          <a:blip r:embed="rId3"/>
          <a:stretch>
            <a:fillRect/>
          </a:stretch>
        </p:blipFill>
        <p:spPr>
          <a:xfrm>
            <a:off x="251460" y="1470608"/>
            <a:ext cx="4130040" cy="2757158"/>
          </a:xfrm>
          <a:prstGeom prst="rect">
            <a:avLst/>
          </a:prstGeom>
        </p:spPr>
      </p:pic>
      <p:pic>
        <p:nvPicPr>
          <p:cNvPr id="7" name="Picture 6" descr="What is software engineering?">
            <a:extLst>
              <a:ext uri="{FF2B5EF4-FFF2-40B4-BE49-F238E27FC236}">
                <a16:creationId xmlns:a16="http://schemas.microsoft.com/office/drawing/2014/main" id="{87D48534-D825-DC76-3AB2-A59CAF03DB07}"/>
              </a:ext>
            </a:extLst>
          </p:cNvPr>
          <p:cNvPicPr>
            <a:picLocks noChangeAspect="1"/>
          </p:cNvPicPr>
          <p:nvPr/>
        </p:nvPicPr>
        <p:blipFill>
          <a:blip r:embed="rId4"/>
          <a:stretch>
            <a:fillRect/>
          </a:stretch>
        </p:blipFill>
        <p:spPr>
          <a:xfrm>
            <a:off x="4572000" y="1470608"/>
            <a:ext cx="4901614" cy="2757158"/>
          </a:xfrm>
          <a:prstGeom prst="rect">
            <a:avLst/>
          </a:prstGeom>
        </p:spPr>
      </p:pic>
      <p:sp>
        <p:nvSpPr>
          <p:cNvPr id="8" name="TextBox 7">
            <a:extLst>
              <a:ext uri="{FF2B5EF4-FFF2-40B4-BE49-F238E27FC236}">
                <a16:creationId xmlns:a16="http://schemas.microsoft.com/office/drawing/2014/main" id="{4364D859-F5B0-D854-6157-C32F66F9C183}"/>
              </a:ext>
            </a:extLst>
          </p:cNvPr>
          <p:cNvSpPr txBox="1"/>
          <p:nvPr/>
        </p:nvSpPr>
        <p:spPr>
          <a:xfrm>
            <a:off x="1348740" y="1101276"/>
            <a:ext cx="1765227" cy="369332"/>
          </a:xfrm>
          <a:prstGeom prst="rect">
            <a:avLst/>
          </a:prstGeom>
          <a:noFill/>
        </p:spPr>
        <p:txBody>
          <a:bodyPr wrap="none" rtlCol="0">
            <a:spAutoFit/>
          </a:bodyPr>
          <a:lstStyle/>
          <a:p>
            <a:r>
              <a:rPr lang="en-US" b="1" dirty="0"/>
              <a:t>Civil engineering</a:t>
            </a:r>
          </a:p>
        </p:txBody>
      </p:sp>
      <p:sp>
        <p:nvSpPr>
          <p:cNvPr id="9" name="TextBox 8">
            <a:extLst>
              <a:ext uri="{FF2B5EF4-FFF2-40B4-BE49-F238E27FC236}">
                <a16:creationId xmlns:a16="http://schemas.microsoft.com/office/drawing/2014/main" id="{093410A4-29DC-6645-F9EC-6BD2480FBC06}"/>
              </a:ext>
            </a:extLst>
          </p:cNvPr>
          <p:cNvSpPr txBox="1"/>
          <p:nvPr/>
        </p:nvSpPr>
        <p:spPr>
          <a:xfrm>
            <a:off x="5816675" y="1101276"/>
            <a:ext cx="2229841" cy="369332"/>
          </a:xfrm>
          <a:prstGeom prst="rect">
            <a:avLst/>
          </a:prstGeom>
          <a:noFill/>
        </p:spPr>
        <p:txBody>
          <a:bodyPr wrap="none" rtlCol="0">
            <a:spAutoFit/>
          </a:bodyPr>
          <a:lstStyle/>
          <a:p>
            <a:r>
              <a:rPr lang="en-US" b="1" dirty="0"/>
              <a:t>Software engineering</a:t>
            </a:r>
          </a:p>
        </p:txBody>
      </p:sp>
      <p:sp>
        <p:nvSpPr>
          <p:cNvPr id="10" name="Rectangle 9">
            <a:extLst>
              <a:ext uri="{FF2B5EF4-FFF2-40B4-BE49-F238E27FC236}">
                <a16:creationId xmlns:a16="http://schemas.microsoft.com/office/drawing/2014/main" id="{42CDF5FF-49B4-92F1-A25B-5C05E565DA3D}"/>
              </a:ext>
            </a:extLst>
          </p:cNvPr>
          <p:cNvSpPr/>
          <p:nvPr/>
        </p:nvSpPr>
        <p:spPr>
          <a:xfrm>
            <a:off x="8945880" y="1101276"/>
            <a:ext cx="1112520" cy="380600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 name="Speech Bubble: Rectangle 10">
            <a:extLst>
              <a:ext uri="{FF2B5EF4-FFF2-40B4-BE49-F238E27FC236}">
                <a16:creationId xmlns:a16="http://schemas.microsoft.com/office/drawing/2014/main" id="{95C4E119-DCBD-3F37-550A-8C77E546079C}"/>
              </a:ext>
            </a:extLst>
          </p:cNvPr>
          <p:cNvSpPr/>
          <p:nvPr/>
        </p:nvSpPr>
        <p:spPr>
          <a:xfrm>
            <a:off x="396240" y="3375661"/>
            <a:ext cx="3901440" cy="1618074"/>
          </a:xfrm>
          <a:prstGeom prst="wedgeRectCallout">
            <a:avLst>
              <a:gd name="adj1" fmla="val -18157"/>
              <a:gd name="adj2" fmla="val -63430"/>
            </a:avLst>
          </a:prstGeom>
          <a:solidFill>
            <a:schemeClr val="accent6">
              <a:lumMod val="20000"/>
              <a:lumOff val="80000"/>
            </a:schemeClr>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342900" indent="-342900">
              <a:buFont typeface="+mj-lt"/>
              <a:buAutoNum type="arabicPeriod"/>
            </a:pPr>
            <a:r>
              <a:rPr lang="en-US" sz="1600" dirty="0">
                <a:solidFill>
                  <a:schemeClr val="tx1"/>
                </a:solidFill>
              </a:rPr>
              <a:t>Design and constructions are different phases.</a:t>
            </a:r>
          </a:p>
          <a:p>
            <a:pPr marL="342900" indent="-342900">
              <a:buFont typeface="+mj-lt"/>
              <a:buAutoNum type="arabicPeriod"/>
            </a:pPr>
            <a:endParaRPr lang="en-US" sz="1600" dirty="0">
              <a:solidFill>
                <a:schemeClr val="tx1"/>
              </a:solidFill>
            </a:endParaRPr>
          </a:p>
          <a:p>
            <a:pPr marL="342900" indent="-342900">
              <a:buFont typeface="+mj-lt"/>
              <a:buAutoNum type="arabicPeriod"/>
            </a:pPr>
            <a:r>
              <a:rPr lang="en-US" sz="1600" dirty="0">
                <a:solidFill>
                  <a:schemeClr val="tx1"/>
                </a:solidFill>
              </a:rPr>
              <a:t>When designing, the </a:t>
            </a:r>
            <a:r>
              <a:rPr lang="en-US" sz="1600" b="1" dirty="0">
                <a:solidFill>
                  <a:schemeClr val="tx1"/>
                </a:solidFill>
              </a:rPr>
              <a:t>requirements are known reasonably well</a:t>
            </a:r>
            <a:r>
              <a:rPr lang="en-US" sz="1600" dirty="0">
                <a:solidFill>
                  <a:schemeClr val="tx1"/>
                </a:solidFill>
              </a:rPr>
              <a:t>.</a:t>
            </a:r>
          </a:p>
        </p:txBody>
      </p:sp>
      <p:sp>
        <p:nvSpPr>
          <p:cNvPr id="12" name="Speech Bubble: Rectangle 11">
            <a:extLst>
              <a:ext uri="{FF2B5EF4-FFF2-40B4-BE49-F238E27FC236}">
                <a16:creationId xmlns:a16="http://schemas.microsoft.com/office/drawing/2014/main" id="{433DE633-2908-E635-18AB-FFE4F55FE994}"/>
              </a:ext>
            </a:extLst>
          </p:cNvPr>
          <p:cNvSpPr/>
          <p:nvPr/>
        </p:nvSpPr>
        <p:spPr>
          <a:xfrm>
            <a:off x="4785360" y="3375660"/>
            <a:ext cx="3901440" cy="1618073"/>
          </a:xfrm>
          <a:prstGeom prst="wedgeRectCallout">
            <a:avLst>
              <a:gd name="adj1" fmla="val -18743"/>
              <a:gd name="adj2" fmla="val -68610"/>
            </a:avLst>
          </a:prstGeom>
          <a:solidFill>
            <a:schemeClr val="accent5">
              <a:lumMod val="20000"/>
              <a:lumOff val="80000"/>
            </a:schemeClr>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342900" indent="-342900">
              <a:buFont typeface="+mj-lt"/>
              <a:buAutoNum type="arabicPeriod"/>
            </a:pPr>
            <a:r>
              <a:rPr lang="en-US" sz="1600" dirty="0">
                <a:solidFill>
                  <a:schemeClr val="tx1"/>
                </a:solidFill>
              </a:rPr>
              <a:t>Design and constructions are “the same phase”.</a:t>
            </a:r>
          </a:p>
          <a:p>
            <a:pPr marL="342900" indent="-342900">
              <a:buFont typeface="+mj-lt"/>
              <a:buAutoNum type="arabicPeriod"/>
            </a:pPr>
            <a:endParaRPr lang="en-US" sz="1600" dirty="0">
              <a:solidFill>
                <a:schemeClr val="tx1"/>
              </a:solidFill>
            </a:endParaRPr>
          </a:p>
          <a:p>
            <a:pPr marL="342900" indent="-342900">
              <a:buFont typeface="+mj-lt"/>
              <a:buAutoNum type="arabicPeriod"/>
            </a:pPr>
            <a:r>
              <a:rPr lang="en-US" sz="1600" dirty="0">
                <a:solidFill>
                  <a:schemeClr val="tx1"/>
                </a:solidFill>
              </a:rPr>
              <a:t>SE lives in a world of highly </a:t>
            </a:r>
            <a:r>
              <a:rPr lang="en-US" sz="1600" b="1" dirty="0">
                <a:solidFill>
                  <a:schemeClr val="tx1"/>
                </a:solidFill>
              </a:rPr>
              <a:t>imperfect information.</a:t>
            </a:r>
          </a:p>
        </p:txBody>
      </p:sp>
      <p:sp>
        <p:nvSpPr>
          <p:cNvPr id="13" name="Slide Number Placeholder 12">
            <a:extLst>
              <a:ext uri="{FF2B5EF4-FFF2-40B4-BE49-F238E27FC236}">
                <a16:creationId xmlns:a16="http://schemas.microsoft.com/office/drawing/2014/main" id="{B2C3925F-D2D0-6546-3443-DC91FDFA4375}"/>
              </a:ext>
            </a:extLst>
          </p:cNvPr>
          <p:cNvSpPr>
            <a:spLocks noGrp="1"/>
          </p:cNvSpPr>
          <p:nvPr>
            <p:ph type="sldNum" sz="quarter" idx="12"/>
          </p:nvPr>
        </p:nvSpPr>
        <p:spPr/>
        <p:txBody>
          <a:bodyPr/>
          <a:lstStyle/>
          <a:p>
            <a:fld id="{C1FF6DA9-008F-8B48-92A6-B652298478BF}" type="slidenum">
              <a:rPr lang="en-US" smtClean="0"/>
              <a:t>10</a:t>
            </a:fld>
            <a:endParaRPr lang="en-US"/>
          </a:p>
        </p:txBody>
      </p:sp>
    </p:spTree>
    <p:extLst>
      <p:ext uri="{BB962C8B-B14F-4D97-AF65-F5344CB8AC3E}">
        <p14:creationId xmlns:p14="http://schemas.microsoft.com/office/powerpoint/2010/main" val="2259608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691E18-304B-80F7-95C6-E17D3EFA6A4B}"/>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8023C65-852D-C795-0D3C-33B169C8027C}"/>
              </a:ext>
            </a:extLst>
          </p:cNvPr>
          <p:cNvSpPr txBox="1"/>
          <p:nvPr/>
        </p:nvSpPr>
        <p:spPr>
          <a:xfrm>
            <a:off x="396240" y="236220"/>
            <a:ext cx="8549640" cy="553998"/>
          </a:xfrm>
          <a:prstGeom prst="rect">
            <a:avLst/>
          </a:prstGeom>
          <a:noFill/>
        </p:spPr>
        <p:txBody>
          <a:bodyPr wrap="square">
            <a:spAutoFit/>
          </a:bodyPr>
          <a:lstStyle/>
          <a:p>
            <a:pPr algn="l"/>
            <a:r>
              <a:rPr lang="en-US" sz="3000" b="1" i="0" dirty="0" err="1">
                <a:solidFill>
                  <a:srgbClr val="0A1628"/>
                </a:solidFill>
                <a:latin typeface="Calibri"/>
              </a:rPr>
              <a:t>Sofware</a:t>
            </a:r>
            <a:r>
              <a:rPr lang="en-US" sz="3000" b="1" i="0" dirty="0">
                <a:solidFill>
                  <a:srgbClr val="0A1628"/>
                </a:solidFill>
                <a:latin typeface="Calibri"/>
              </a:rPr>
              <a:t> engineering is a discovery process</a:t>
            </a:r>
            <a:endParaRPr sz="3000" b="1" i="0" dirty="0">
              <a:solidFill>
                <a:srgbClr val="0A1628"/>
              </a:solidFill>
              <a:latin typeface="Calibri"/>
            </a:endParaRPr>
          </a:p>
        </p:txBody>
      </p:sp>
      <p:sp>
        <p:nvSpPr>
          <p:cNvPr id="3" name="Rectangle 2">
            <a:extLst>
              <a:ext uri="{FF2B5EF4-FFF2-40B4-BE49-F238E27FC236}">
                <a16:creationId xmlns:a16="http://schemas.microsoft.com/office/drawing/2014/main" id="{31163763-349E-A24E-5671-C955384BF633}"/>
              </a:ext>
            </a:extLst>
          </p:cNvPr>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Graphic 12" descr="Questions with solid fill">
            <a:extLst>
              <a:ext uri="{FF2B5EF4-FFF2-40B4-BE49-F238E27FC236}">
                <a16:creationId xmlns:a16="http://schemas.microsoft.com/office/drawing/2014/main" id="{B184CCEF-06E4-6E4A-E134-BAA2653666C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1980" y="1495044"/>
            <a:ext cx="1706880" cy="1706880"/>
          </a:xfrm>
          <a:prstGeom prst="rect">
            <a:avLst/>
          </a:prstGeom>
        </p:spPr>
      </p:pic>
      <p:pic>
        <p:nvPicPr>
          <p:cNvPr id="8" name="Graphic 7" descr="Users with solid fill">
            <a:extLst>
              <a:ext uri="{FF2B5EF4-FFF2-40B4-BE49-F238E27FC236}">
                <a16:creationId xmlns:a16="http://schemas.microsoft.com/office/drawing/2014/main" id="{29BA82CE-F4AD-FDE2-E9DA-43C15D44948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977640" y="2038350"/>
            <a:ext cx="1386840" cy="1386840"/>
          </a:xfrm>
          <a:prstGeom prst="rect">
            <a:avLst/>
          </a:prstGeom>
        </p:spPr>
      </p:pic>
      <p:pic>
        <p:nvPicPr>
          <p:cNvPr id="10" name="Graphic 9" descr="Transfer with solid fill">
            <a:extLst>
              <a:ext uri="{FF2B5EF4-FFF2-40B4-BE49-F238E27FC236}">
                <a16:creationId xmlns:a16="http://schemas.microsoft.com/office/drawing/2014/main" id="{4AB4D949-3CC3-C275-D413-0B096703AF6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328541" y="1529678"/>
            <a:ext cx="685038" cy="685038"/>
          </a:xfrm>
          <a:prstGeom prst="rect">
            <a:avLst/>
          </a:prstGeom>
        </p:spPr>
      </p:pic>
      <p:pic>
        <p:nvPicPr>
          <p:cNvPr id="12" name="Graphic 11" descr="Help with solid fill">
            <a:extLst>
              <a:ext uri="{FF2B5EF4-FFF2-40B4-BE49-F238E27FC236}">
                <a16:creationId xmlns:a16="http://schemas.microsoft.com/office/drawing/2014/main" id="{B1AC953B-529D-0F82-71BA-83ADD593049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19232" y="1708022"/>
            <a:ext cx="1328739" cy="1328739"/>
          </a:xfrm>
          <a:prstGeom prst="rect">
            <a:avLst/>
          </a:prstGeom>
        </p:spPr>
      </p:pic>
      <p:sp>
        <p:nvSpPr>
          <p:cNvPr id="14" name="TextBox 13">
            <a:extLst>
              <a:ext uri="{FF2B5EF4-FFF2-40B4-BE49-F238E27FC236}">
                <a16:creationId xmlns:a16="http://schemas.microsoft.com/office/drawing/2014/main" id="{66BC905E-7B6F-2243-326B-B839AC070C43}"/>
              </a:ext>
            </a:extLst>
          </p:cNvPr>
          <p:cNvSpPr txBox="1"/>
          <p:nvPr/>
        </p:nvSpPr>
        <p:spPr>
          <a:xfrm>
            <a:off x="548640" y="3340268"/>
            <a:ext cx="2164080" cy="1015663"/>
          </a:xfrm>
          <a:prstGeom prst="rect">
            <a:avLst/>
          </a:prstGeom>
          <a:noFill/>
        </p:spPr>
        <p:txBody>
          <a:bodyPr wrap="square">
            <a:spAutoFit/>
          </a:bodyPr>
          <a:lstStyle/>
          <a:p>
            <a:pPr algn="l"/>
            <a:r>
              <a:rPr lang="en-US" sz="2000" b="0" dirty="0">
                <a:solidFill>
                  <a:srgbClr val="2D3748"/>
                </a:solidFill>
                <a:latin typeface="Calibri"/>
              </a:rPr>
              <a:t>Users </a:t>
            </a:r>
            <a:r>
              <a:rPr lang="en-US" sz="2000" b="1" dirty="0">
                <a:solidFill>
                  <a:srgbClr val="2D3748"/>
                </a:solidFill>
                <a:latin typeface="Calibri"/>
              </a:rPr>
              <a:t>don’t fully know </a:t>
            </a:r>
            <a:r>
              <a:rPr lang="en-US" sz="2000" b="0" dirty="0">
                <a:solidFill>
                  <a:srgbClr val="2D3748"/>
                </a:solidFill>
                <a:latin typeface="Calibri"/>
              </a:rPr>
              <a:t>what they want.</a:t>
            </a:r>
          </a:p>
        </p:txBody>
      </p:sp>
      <p:sp>
        <p:nvSpPr>
          <p:cNvPr id="16" name="TextBox 15">
            <a:extLst>
              <a:ext uri="{FF2B5EF4-FFF2-40B4-BE49-F238E27FC236}">
                <a16:creationId xmlns:a16="http://schemas.microsoft.com/office/drawing/2014/main" id="{9D124BF9-3ADB-F937-1827-6336EA8C7535}"/>
              </a:ext>
            </a:extLst>
          </p:cNvPr>
          <p:cNvSpPr txBox="1"/>
          <p:nvPr/>
        </p:nvSpPr>
        <p:spPr>
          <a:xfrm>
            <a:off x="3611880" y="3404198"/>
            <a:ext cx="1943100" cy="646331"/>
          </a:xfrm>
          <a:prstGeom prst="rect">
            <a:avLst/>
          </a:prstGeom>
          <a:noFill/>
        </p:spPr>
        <p:txBody>
          <a:bodyPr wrap="square">
            <a:spAutoFit/>
          </a:bodyPr>
          <a:lstStyle/>
          <a:p>
            <a:pPr algn="ctr"/>
            <a:r>
              <a:rPr lang="en-US" sz="1800" dirty="0">
                <a:solidFill>
                  <a:srgbClr val="2D3748"/>
                </a:solidFill>
                <a:latin typeface="Calibri"/>
              </a:rPr>
              <a:t>Users </a:t>
            </a:r>
            <a:r>
              <a:rPr lang="en-US" sz="1800" b="1" dirty="0">
                <a:solidFill>
                  <a:srgbClr val="2D3748"/>
                </a:solidFill>
                <a:latin typeface="Calibri"/>
              </a:rPr>
              <a:t>will change </a:t>
            </a:r>
            <a:r>
              <a:rPr lang="en-US" sz="1800" dirty="0">
                <a:solidFill>
                  <a:srgbClr val="2D3748"/>
                </a:solidFill>
                <a:latin typeface="Calibri"/>
              </a:rPr>
              <a:t>their mind.</a:t>
            </a:r>
          </a:p>
        </p:txBody>
      </p:sp>
      <p:sp>
        <p:nvSpPr>
          <p:cNvPr id="18" name="TextBox 17">
            <a:extLst>
              <a:ext uri="{FF2B5EF4-FFF2-40B4-BE49-F238E27FC236}">
                <a16:creationId xmlns:a16="http://schemas.microsoft.com/office/drawing/2014/main" id="{89800889-59CE-E620-E515-652B9E9541A8}"/>
              </a:ext>
            </a:extLst>
          </p:cNvPr>
          <p:cNvSpPr txBox="1"/>
          <p:nvPr/>
        </p:nvSpPr>
        <p:spPr>
          <a:xfrm>
            <a:off x="6454140" y="3287180"/>
            <a:ext cx="2491740" cy="923330"/>
          </a:xfrm>
          <a:prstGeom prst="rect">
            <a:avLst/>
          </a:prstGeom>
          <a:noFill/>
        </p:spPr>
        <p:txBody>
          <a:bodyPr wrap="square">
            <a:spAutoFit/>
          </a:bodyPr>
          <a:lstStyle/>
          <a:p>
            <a:pPr algn="l"/>
            <a:r>
              <a:rPr lang="en-US" sz="1800" dirty="0">
                <a:solidFill>
                  <a:srgbClr val="2D3748"/>
                </a:solidFill>
                <a:latin typeface="Calibri"/>
              </a:rPr>
              <a:t>Building the software </a:t>
            </a:r>
            <a:r>
              <a:rPr lang="en-US" sz="1800" b="1" dirty="0">
                <a:solidFill>
                  <a:srgbClr val="2D3748"/>
                </a:solidFill>
                <a:latin typeface="Calibri"/>
              </a:rPr>
              <a:t>reveals unknown challenges </a:t>
            </a:r>
            <a:r>
              <a:rPr lang="en-US" sz="1800" dirty="0">
                <a:solidFill>
                  <a:srgbClr val="2D3748"/>
                </a:solidFill>
                <a:latin typeface="Calibri"/>
              </a:rPr>
              <a:t>over time.</a:t>
            </a:r>
            <a:endParaRPr lang="en-US" dirty="0"/>
          </a:p>
        </p:txBody>
      </p:sp>
      <p:sp>
        <p:nvSpPr>
          <p:cNvPr id="22" name="Slide Number Placeholder 21">
            <a:extLst>
              <a:ext uri="{FF2B5EF4-FFF2-40B4-BE49-F238E27FC236}">
                <a16:creationId xmlns:a16="http://schemas.microsoft.com/office/drawing/2014/main" id="{EF6F3A3A-51B5-521D-4887-5DE3C69A6A8A}"/>
              </a:ext>
            </a:extLst>
          </p:cNvPr>
          <p:cNvSpPr>
            <a:spLocks noGrp="1"/>
          </p:cNvSpPr>
          <p:nvPr>
            <p:ph type="sldNum" sz="quarter" idx="12"/>
          </p:nvPr>
        </p:nvSpPr>
        <p:spPr/>
        <p:txBody>
          <a:bodyPr/>
          <a:lstStyle/>
          <a:p>
            <a:fld id="{C1FF6DA9-008F-8B48-92A6-B652298478BF}" type="slidenum">
              <a:rPr lang="en-US" smtClean="0"/>
              <a:t>11</a:t>
            </a:fld>
            <a:endParaRPr lang="en-US"/>
          </a:p>
        </p:txBody>
      </p:sp>
    </p:spTree>
    <p:extLst>
      <p:ext uri="{BB962C8B-B14F-4D97-AF65-F5344CB8AC3E}">
        <p14:creationId xmlns:p14="http://schemas.microsoft.com/office/powerpoint/2010/main" val="33152123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7B37B-6C3F-5023-C2DF-78052C49B56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CC092E4-B870-488E-AE8B-F782C5E8A18B}"/>
              </a:ext>
            </a:extLst>
          </p:cNvPr>
          <p:cNvSpPr txBox="1"/>
          <p:nvPr/>
        </p:nvSpPr>
        <p:spPr>
          <a:xfrm>
            <a:off x="396240" y="236220"/>
            <a:ext cx="8549640" cy="553998"/>
          </a:xfrm>
          <a:prstGeom prst="rect">
            <a:avLst/>
          </a:prstGeom>
          <a:noFill/>
        </p:spPr>
        <p:txBody>
          <a:bodyPr wrap="square">
            <a:spAutoFit/>
          </a:bodyPr>
          <a:lstStyle/>
          <a:p>
            <a:pPr algn="l"/>
            <a:r>
              <a:rPr lang="en-US" sz="3000" b="1" i="0" dirty="0">
                <a:solidFill>
                  <a:srgbClr val="0A1628"/>
                </a:solidFill>
                <a:latin typeface="Calibri"/>
              </a:rPr>
              <a:t>The most important abilities in software</a:t>
            </a:r>
            <a:endParaRPr sz="3000" b="1" i="0" dirty="0">
              <a:solidFill>
                <a:srgbClr val="0A1628"/>
              </a:solidFill>
              <a:latin typeface="Calibri"/>
            </a:endParaRPr>
          </a:p>
        </p:txBody>
      </p:sp>
      <p:sp>
        <p:nvSpPr>
          <p:cNvPr id="3" name="Rectangle 2">
            <a:extLst>
              <a:ext uri="{FF2B5EF4-FFF2-40B4-BE49-F238E27FC236}">
                <a16:creationId xmlns:a16="http://schemas.microsoft.com/office/drawing/2014/main" id="{A9E8079C-55F3-8D7D-5E73-95742AF857BB}"/>
              </a:ext>
            </a:extLst>
          </p:cNvPr>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21" name="Diagram 20">
            <a:extLst>
              <a:ext uri="{FF2B5EF4-FFF2-40B4-BE49-F238E27FC236}">
                <a16:creationId xmlns:a16="http://schemas.microsoft.com/office/drawing/2014/main" id="{C89A246F-8D5A-5668-5C92-39A202B2D06B}"/>
              </a:ext>
            </a:extLst>
          </p:cNvPr>
          <p:cNvGraphicFramePr/>
          <p:nvPr>
            <p:extLst>
              <p:ext uri="{D42A27DB-BD31-4B8C-83A1-F6EECF244321}">
                <p14:modId xmlns:p14="http://schemas.microsoft.com/office/powerpoint/2010/main" val="1526555931"/>
              </p:ext>
            </p:extLst>
          </p:nvPr>
        </p:nvGraphicFramePr>
        <p:xfrm>
          <a:off x="720412" y="1079500"/>
          <a:ext cx="6096000" cy="4064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Speech Bubble: Rectangle 3">
            <a:extLst>
              <a:ext uri="{FF2B5EF4-FFF2-40B4-BE49-F238E27FC236}">
                <a16:creationId xmlns:a16="http://schemas.microsoft.com/office/drawing/2014/main" id="{5E67E8F9-8706-BD92-3F5B-AADC8F01BFE7}"/>
              </a:ext>
            </a:extLst>
          </p:cNvPr>
          <p:cNvSpPr/>
          <p:nvPr/>
        </p:nvSpPr>
        <p:spPr>
          <a:xfrm>
            <a:off x="7141097" y="2628135"/>
            <a:ext cx="1644763" cy="708069"/>
          </a:xfrm>
          <a:prstGeom prst="wedgeRectCallout">
            <a:avLst>
              <a:gd name="adj1" fmla="val -58659"/>
              <a:gd name="adj2" fmla="val 19505"/>
            </a:avLst>
          </a:prstGeom>
          <a:solidFill>
            <a:schemeClr val="accent6">
              <a:lumMod val="20000"/>
              <a:lumOff val="80000"/>
            </a:schemeClr>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rPr>
              <a:t>The faster you can do this, the better.</a:t>
            </a:r>
          </a:p>
        </p:txBody>
      </p:sp>
      <p:sp>
        <p:nvSpPr>
          <p:cNvPr id="7" name="Slide Number Placeholder 6">
            <a:extLst>
              <a:ext uri="{FF2B5EF4-FFF2-40B4-BE49-F238E27FC236}">
                <a16:creationId xmlns:a16="http://schemas.microsoft.com/office/drawing/2014/main" id="{FF908C4B-1B67-1ABD-B440-0E8D070AB9DE}"/>
              </a:ext>
            </a:extLst>
          </p:cNvPr>
          <p:cNvSpPr>
            <a:spLocks noGrp="1"/>
          </p:cNvSpPr>
          <p:nvPr>
            <p:ph type="sldNum" sz="quarter" idx="12"/>
          </p:nvPr>
        </p:nvSpPr>
        <p:spPr/>
        <p:txBody>
          <a:bodyPr/>
          <a:lstStyle/>
          <a:p>
            <a:fld id="{C1FF6DA9-008F-8B48-92A6-B652298478BF}" type="slidenum">
              <a:rPr lang="en-US" smtClean="0"/>
              <a:t>12</a:t>
            </a:fld>
            <a:endParaRPr lang="en-US"/>
          </a:p>
        </p:txBody>
      </p:sp>
    </p:spTree>
    <p:extLst>
      <p:ext uri="{BB962C8B-B14F-4D97-AF65-F5344CB8AC3E}">
        <p14:creationId xmlns:p14="http://schemas.microsoft.com/office/powerpoint/2010/main" val="41261050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3076D8-78FD-E008-25B3-569EC1AFDD6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5577B40-DB34-3A76-8BBF-0E0F9B7C760B}"/>
              </a:ext>
            </a:extLst>
          </p:cNvPr>
          <p:cNvSpPr txBox="1"/>
          <p:nvPr/>
        </p:nvSpPr>
        <p:spPr>
          <a:xfrm>
            <a:off x="396240" y="236220"/>
            <a:ext cx="8549640" cy="553998"/>
          </a:xfrm>
          <a:prstGeom prst="rect">
            <a:avLst/>
          </a:prstGeom>
          <a:noFill/>
        </p:spPr>
        <p:txBody>
          <a:bodyPr wrap="square">
            <a:spAutoFit/>
          </a:bodyPr>
          <a:lstStyle/>
          <a:p>
            <a:pPr algn="l"/>
            <a:r>
              <a:rPr lang="en-US" sz="3000" b="1" i="0" dirty="0">
                <a:solidFill>
                  <a:srgbClr val="0A1628"/>
                </a:solidFill>
                <a:latin typeface="Calibri"/>
              </a:rPr>
              <a:t>The 2 core challenges to review on this workshop</a:t>
            </a:r>
            <a:endParaRPr sz="3000" b="1" i="0" dirty="0">
              <a:solidFill>
                <a:srgbClr val="0A1628"/>
              </a:solidFill>
              <a:latin typeface="Calibri"/>
            </a:endParaRPr>
          </a:p>
        </p:txBody>
      </p:sp>
      <p:sp>
        <p:nvSpPr>
          <p:cNvPr id="3" name="Rectangle 2">
            <a:extLst>
              <a:ext uri="{FF2B5EF4-FFF2-40B4-BE49-F238E27FC236}">
                <a16:creationId xmlns:a16="http://schemas.microsoft.com/office/drawing/2014/main" id="{B86B5D92-20C2-FB97-3A85-93416EC3C3E9}"/>
              </a:ext>
            </a:extLst>
          </p:cNvPr>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35A24808-018E-C048-6613-71555C4F91A8}"/>
              </a:ext>
            </a:extLst>
          </p:cNvPr>
          <p:cNvSpPr txBox="1"/>
          <p:nvPr/>
        </p:nvSpPr>
        <p:spPr>
          <a:xfrm>
            <a:off x="1228126" y="1369762"/>
            <a:ext cx="1867819" cy="461665"/>
          </a:xfrm>
          <a:prstGeom prst="rect">
            <a:avLst/>
          </a:prstGeom>
          <a:noFill/>
        </p:spPr>
        <p:txBody>
          <a:bodyPr wrap="none" rtlCol="0">
            <a:spAutoFit/>
          </a:bodyPr>
          <a:lstStyle/>
          <a:p>
            <a:r>
              <a:rPr lang="en-US" sz="2400" b="1" dirty="0"/>
              <a:t>Learn quickly</a:t>
            </a:r>
          </a:p>
        </p:txBody>
      </p:sp>
      <p:sp>
        <p:nvSpPr>
          <p:cNvPr id="6" name="TextBox 5">
            <a:extLst>
              <a:ext uri="{FF2B5EF4-FFF2-40B4-BE49-F238E27FC236}">
                <a16:creationId xmlns:a16="http://schemas.microsoft.com/office/drawing/2014/main" id="{0ADE6D36-E770-4ADC-3F59-F5B7304581B9}"/>
              </a:ext>
            </a:extLst>
          </p:cNvPr>
          <p:cNvSpPr txBox="1"/>
          <p:nvPr/>
        </p:nvSpPr>
        <p:spPr>
          <a:xfrm>
            <a:off x="5572445" y="1365558"/>
            <a:ext cx="1999650" cy="461665"/>
          </a:xfrm>
          <a:prstGeom prst="rect">
            <a:avLst/>
          </a:prstGeom>
          <a:noFill/>
        </p:spPr>
        <p:txBody>
          <a:bodyPr wrap="none" rtlCol="0">
            <a:spAutoFit/>
          </a:bodyPr>
          <a:lstStyle/>
          <a:p>
            <a:r>
              <a:rPr lang="en-US" sz="2400" b="1" dirty="0"/>
              <a:t>Adapt quickly</a:t>
            </a:r>
          </a:p>
        </p:txBody>
      </p:sp>
      <p:pic>
        <p:nvPicPr>
          <p:cNvPr id="8" name="Graphic 7" descr="Lightbulb with solid fill">
            <a:extLst>
              <a:ext uri="{FF2B5EF4-FFF2-40B4-BE49-F238E27FC236}">
                <a16:creationId xmlns:a16="http://schemas.microsoft.com/office/drawing/2014/main" id="{1424E623-53FD-8BBD-2090-3ECF40246F8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88046" y="1305282"/>
            <a:ext cx="554954" cy="554954"/>
          </a:xfrm>
          <a:prstGeom prst="rect">
            <a:avLst/>
          </a:prstGeom>
        </p:spPr>
      </p:pic>
      <p:pic>
        <p:nvPicPr>
          <p:cNvPr id="9" name="Picture 8" descr="6,100+ Adapt Icon Stock Illustrations, Royalty-Free Vector ...">
            <a:extLst>
              <a:ext uri="{FF2B5EF4-FFF2-40B4-BE49-F238E27FC236}">
                <a16:creationId xmlns:a16="http://schemas.microsoft.com/office/drawing/2014/main" id="{DB867B54-9A25-9906-88FF-F942D3BC40A2}"/>
              </a:ext>
            </a:extLst>
          </p:cNvPr>
          <p:cNvPicPr>
            <a:picLocks noChangeAspect="1"/>
          </p:cNvPicPr>
          <p:nvPr/>
        </p:nvPicPr>
        <p:blipFill>
          <a:blip r:embed="rId4"/>
          <a:stretch>
            <a:fillRect/>
          </a:stretch>
        </p:blipFill>
        <p:spPr>
          <a:xfrm>
            <a:off x="4750839" y="1202436"/>
            <a:ext cx="821606" cy="821606"/>
          </a:xfrm>
          <a:prstGeom prst="rect">
            <a:avLst/>
          </a:prstGeom>
        </p:spPr>
      </p:pic>
      <p:sp>
        <p:nvSpPr>
          <p:cNvPr id="10" name="Rectangle 9">
            <a:extLst>
              <a:ext uri="{FF2B5EF4-FFF2-40B4-BE49-F238E27FC236}">
                <a16:creationId xmlns:a16="http://schemas.microsoft.com/office/drawing/2014/main" id="{4404AD3E-F63F-031B-7682-C1B9B1B1D6DA}"/>
              </a:ext>
            </a:extLst>
          </p:cNvPr>
          <p:cNvSpPr/>
          <p:nvPr/>
        </p:nvSpPr>
        <p:spPr>
          <a:xfrm>
            <a:off x="4335780" y="1860236"/>
            <a:ext cx="1112520" cy="455137"/>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A643B0F9-3FC3-E93B-E025-0EE08E86D77C}"/>
              </a:ext>
            </a:extLst>
          </p:cNvPr>
          <p:cNvSpPr txBox="1"/>
          <p:nvPr/>
        </p:nvSpPr>
        <p:spPr>
          <a:xfrm>
            <a:off x="727479" y="2444860"/>
            <a:ext cx="3608301" cy="1323439"/>
          </a:xfrm>
          <a:prstGeom prst="rect">
            <a:avLst/>
          </a:prstGeom>
          <a:noFill/>
        </p:spPr>
        <p:txBody>
          <a:bodyPr wrap="square">
            <a:spAutoFit/>
          </a:bodyPr>
          <a:lstStyle/>
          <a:p>
            <a:pPr marL="342900" indent="-342900" algn="l">
              <a:buFont typeface="Arial" panose="020B0604020202020204" pitchFamily="34" charset="0"/>
              <a:buChar char="•"/>
            </a:pPr>
            <a:r>
              <a:rPr lang="en-US" sz="1600" dirty="0">
                <a:solidFill>
                  <a:srgbClr val="2D3748"/>
                </a:solidFill>
                <a:latin typeface="Calibri"/>
              </a:rPr>
              <a:t>Agile to have quick feedback loops.</a:t>
            </a:r>
          </a:p>
          <a:p>
            <a:pPr marL="342900" indent="-342900" algn="l">
              <a:buFont typeface="Arial" panose="020B0604020202020204" pitchFamily="34" charset="0"/>
              <a:buChar char="•"/>
            </a:pPr>
            <a:endParaRPr lang="en-US" sz="1600" dirty="0">
              <a:solidFill>
                <a:srgbClr val="2D3748"/>
              </a:solidFill>
              <a:latin typeface="Calibri"/>
            </a:endParaRPr>
          </a:p>
          <a:p>
            <a:pPr marL="342900" indent="-342900" algn="l">
              <a:buFont typeface="Arial" panose="020B0604020202020204" pitchFamily="34" charset="0"/>
              <a:buChar char="•"/>
            </a:pPr>
            <a:endParaRPr lang="en-US" sz="1600" b="0" dirty="0">
              <a:solidFill>
                <a:srgbClr val="2D3748"/>
              </a:solidFill>
              <a:latin typeface="Calibri"/>
            </a:endParaRPr>
          </a:p>
          <a:p>
            <a:pPr marL="342900" indent="-342900" algn="l">
              <a:buFont typeface="Arial" panose="020B0604020202020204" pitchFamily="34" charset="0"/>
              <a:buChar char="•"/>
            </a:pPr>
            <a:r>
              <a:rPr lang="en-US" sz="1600" dirty="0">
                <a:solidFill>
                  <a:srgbClr val="2D3748"/>
                </a:solidFill>
                <a:latin typeface="Calibri"/>
              </a:rPr>
              <a:t>The scientific method to learn effectively on those loops.</a:t>
            </a:r>
            <a:endParaRPr sz="1600" b="0" dirty="0">
              <a:solidFill>
                <a:srgbClr val="2D3748"/>
              </a:solidFill>
              <a:latin typeface="Calibri"/>
            </a:endParaRPr>
          </a:p>
        </p:txBody>
      </p:sp>
      <p:sp>
        <p:nvSpPr>
          <p:cNvPr id="12" name="TextBox 11">
            <a:extLst>
              <a:ext uri="{FF2B5EF4-FFF2-40B4-BE49-F238E27FC236}">
                <a16:creationId xmlns:a16="http://schemas.microsoft.com/office/drawing/2014/main" id="{21103270-921F-9F78-012C-161CDEFFB467}"/>
              </a:ext>
            </a:extLst>
          </p:cNvPr>
          <p:cNvSpPr txBox="1"/>
          <p:nvPr/>
        </p:nvSpPr>
        <p:spPr>
          <a:xfrm>
            <a:off x="4750839" y="2433639"/>
            <a:ext cx="3608301" cy="1815882"/>
          </a:xfrm>
          <a:prstGeom prst="rect">
            <a:avLst/>
          </a:prstGeom>
          <a:noFill/>
        </p:spPr>
        <p:txBody>
          <a:bodyPr wrap="square">
            <a:spAutoFit/>
          </a:bodyPr>
          <a:lstStyle/>
          <a:p>
            <a:pPr marL="342900" indent="-342900" algn="l">
              <a:buFont typeface="Arial" panose="020B0604020202020204" pitchFamily="34" charset="0"/>
              <a:buChar char="•"/>
            </a:pPr>
            <a:r>
              <a:rPr lang="en-US" sz="1600" dirty="0">
                <a:solidFill>
                  <a:srgbClr val="2D3748"/>
                </a:solidFill>
                <a:latin typeface="Calibri"/>
              </a:rPr>
              <a:t>Keep code complexity low</a:t>
            </a:r>
          </a:p>
          <a:p>
            <a:pPr marL="342900" indent="-342900" algn="l">
              <a:buFont typeface="Arial" panose="020B0604020202020204" pitchFamily="34" charset="0"/>
              <a:buChar char="•"/>
            </a:pPr>
            <a:endParaRPr lang="en-US" sz="1600" dirty="0">
              <a:solidFill>
                <a:srgbClr val="2D3748"/>
              </a:solidFill>
              <a:latin typeface="Calibri"/>
            </a:endParaRPr>
          </a:p>
          <a:p>
            <a:pPr marL="342900" indent="-342900" algn="l">
              <a:buFont typeface="Arial" panose="020B0604020202020204" pitchFamily="34" charset="0"/>
              <a:buChar char="•"/>
            </a:pPr>
            <a:endParaRPr lang="en-US" sz="1600" dirty="0">
              <a:solidFill>
                <a:srgbClr val="2D3748"/>
              </a:solidFill>
              <a:latin typeface="Calibri"/>
            </a:endParaRPr>
          </a:p>
          <a:p>
            <a:pPr marL="342900" indent="-342900">
              <a:buFont typeface="Arial" panose="020B0604020202020204" pitchFamily="34" charset="0"/>
              <a:buChar char="•"/>
            </a:pPr>
            <a:r>
              <a:rPr lang="en-US" sz="1600" dirty="0">
                <a:solidFill>
                  <a:srgbClr val="2D3748"/>
                </a:solidFill>
              </a:rPr>
              <a:t>Modularity &amp; isolation of changes</a:t>
            </a:r>
            <a:endParaRPr lang="en-US" sz="1600" dirty="0">
              <a:solidFill>
                <a:srgbClr val="2D3748"/>
              </a:solidFill>
              <a:latin typeface="Calibri"/>
            </a:endParaRPr>
          </a:p>
          <a:p>
            <a:pPr marL="342900" indent="-342900" algn="l">
              <a:buFont typeface="Arial" panose="020B0604020202020204" pitchFamily="34" charset="0"/>
              <a:buChar char="•"/>
            </a:pPr>
            <a:endParaRPr lang="en-US" sz="1600" b="0" dirty="0">
              <a:solidFill>
                <a:srgbClr val="2D3748"/>
              </a:solidFill>
              <a:latin typeface="Calibri"/>
            </a:endParaRPr>
          </a:p>
          <a:p>
            <a:pPr marL="342900" indent="-342900" algn="l">
              <a:buFont typeface="Arial" panose="020B0604020202020204" pitchFamily="34" charset="0"/>
              <a:buChar char="•"/>
            </a:pPr>
            <a:endParaRPr lang="en-US" sz="1600" b="0" dirty="0">
              <a:solidFill>
                <a:srgbClr val="2D3748"/>
              </a:solidFill>
              <a:latin typeface="Calibri"/>
            </a:endParaRPr>
          </a:p>
          <a:p>
            <a:pPr marL="342900" indent="-342900" algn="l">
              <a:buFont typeface="Arial" panose="020B0604020202020204" pitchFamily="34" charset="0"/>
              <a:buChar char="•"/>
            </a:pPr>
            <a:r>
              <a:rPr lang="en-US" sz="1600" dirty="0">
                <a:solidFill>
                  <a:srgbClr val="2D3748"/>
                </a:solidFill>
                <a:latin typeface="Calibri"/>
              </a:rPr>
              <a:t>Safety mechanisms for changes</a:t>
            </a:r>
            <a:endParaRPr sz="1600" b="0" dirty="0">
              <a:solidFill>
                <a:srgbClr val="2D3748"/>
              </a:solidFill>
              <a:latin typeface="Calibri"/>
            </a:endParaRPr>
          </a:p>
        </p:txBody>
      </p:sp>
      <p:sp>
        <p:nvSpPr>
          <p:cNvPr id="13" name="Slide Number Placeholder 12">
            <a:extLst>
              <a:ext uri="{FF2B5EF4-FFF2-40B4-BE49-F238E27FC236}">
                <a16:creationId xmlns:a16="http://schemas.microsoft.com/office/drawing/2014/main" id="{92E68618-6D52-FA15-6FAC-8ACFBC7997B9}"/>
              </a:ext>
            </a:extLst>
          </p:cNvPr>
          <p:cNvSpPr>
            <a:spLocks noGrp="1"/>
          </p:cNvSpPr>
          <p:nvPr>
            <p:ph type="sldNum" sz="quarter" idx="12"/>
          </p:nvPr>
        </p:nvSpPr>
        <p:spPr/>
        <p:txBody>
          <a:bodyPr/>
          <a:lstStyle/>
          <a:p>
            <a:fld id="{C1FF6DA9-008F-8B48-92A6-B652298478BF}" type="slidenum">
              <a:rPr lang="en-US" smtClean="0"/>
              <a:t>13</a:t>
            </a:fld>
            <a:endParaRPr lang="en-US"/>
          </a:p>
        </p:txBody>
      </p:sp>
    </p:spTree>
    <p:extLst>
      <p:ext uri="{BB962C8B-B14F-4D97-AF65-F5344CB8AC3E}">
        <p14:creationId xmlns:p14="http://schemas.microsoft.com/office/powerpoint/2010/main" val="14992623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CAB9CC-3738-CA99-9F75-E034FC354B0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76520E-8B08-5B95-260B-C2E3B2AA4457}"/>
              </a:ext>
            </a:extLst>
          </p:cNvPr>
          <p:cNvSpPr txBox="1"/>
          <p:nvPr/>
        </p:nvSpPr>
        <p:spPr>
          <a:xfrm>
            <a:off x="396240" y="236220"/>
            <a:ext cx="8549640" cy="553998"/>
          </a:xfrm>
          <a:prstGeom prst="rect">
            <a:avLst/>
          </a:prstGeom>
          <a:noFill/>
        </p:spPr>
        <p:txBody>
          <a:bodyPr wrap="square">
            <a:spAutoFit/>
          </a:bodyPr>
          <a:lstStyle/>
          <a:p>
            <a:pPr algn="l"/>
            <a:r>
              <a:rPr lang="en-US" sz="3000" b="1" i="0" dirty="0">
                <a:solidFill>
                  <a:srgbClr val="0A1628"/>
                </a:solidFill>
                <a:latin typeface="Calibri"/>
              </a:rPr>
              <a:t>Wait… why not just use AI-coding assistants?</a:t>
            </a:r>
            <a:endParaRPr sz="3000" b="1" i="0" dirty="0">
              <a:solidFill>
                <a:srgbClr val="0A1628"/>
              </a:solidFill>
              <a:latin typeface="Calibri"/>
            </a:endParaRPr>
          </a:p>
        </p:txBody>
      </p:sp>
      <p:sp>
        <p:nvSpPr>
          <p:cNvPr id="3" name="Rectangle 2">
            <a:extLst>
              <a:ext uri="{FF2B5EF4-FFF2-40B4-BE49-F238E27FC236}">
                <a16:creationId xmlns:a16="http://schemas.microsoft.com/office/drawing/2014/main" id="{33F16C5E-57FA-02D6-11B7-589944057FBE}"/>
              </a:ext>
            </a:extLst>
          </p:cNvPr>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Slide Number Placeholder 12">
            <a:extLst>
              <a:ext uri="{FF2B5EF4-FFF2-40B4-BE49-F238E27FC236}">
                <a16:creationId xmlns:a16="http://schemas.microsoft.com/office/drawing/2014/main" id="{E097893E-9570-DA09-DA22-320D772857BE}"/>
              </a:ext>
            </a:extLst>
          </p:cNvPr>
          <p:cNvSpPr>
            <a:spLocks noGrp="1"/>
          </p:cNvSpPr>
          <p:nvPr>
            <p:ph type="sldNum" sz="quarter" idx="12"/>
          </p:nvPr>
        </p:nvSpPr>
        <p:spPr/>
        <p:txBody>
          <a:bodyPr/>
          <a:lstStyle/>
          <a:p>
            <a:fld id="{C1FF6DA9-008F-8B48-92A6-B652298478BF}" type="slidenum">
              <a:rPr lang="en-US" smtClean="0"/>
              <a:t>14</a:t>
            </a:fld>
            <a:endParaRPr lang="en-US"/>
          </a:p>
        </p:txBody>
      </p:sp>
      <p:pic>
        <p:nvPicPr>
          <p:cNvPr id="4" name="Picture 3" descr="Claude Connector | Low-Code Claude Integration | Cyclr">
            <a:extLst>
              <a:ext uri="{FF2B5EF4-FFF2-40B4-BE49-F238E27FC236}">
                <a16:creationId xmlns:a16="http://schemas.microsoft.com/office/drawing/2014/main" id="{0D5EFACB-EFBF-BAA0-AE82-A8CF6E59294E}"/>
              </a:ext>
            </a:extLst>
          </p:cNvPr>
          <p:cNvPicPr>
            <a:picLocks noChangeAspect="1"/>
          </p:cNvPicPr>
          <p:nvPr/>
        </p:nvPicPr>
        <p:blipFill>
          <a:blip r:embed="rId3"/>
          <a:stretch>
            <a:fillRect/>
          </a:stretch>
        </p:blipFill>
        <p:spPr>
          <a:xfrm>
            <a:off x="7676412" y="1211690"/>
            <a:ext cx="1162050" cy="1162050"/>
          </a:xfrm>
          <a:prstGeom prst="rect">
            <a:avLst/>
          </a:prstGeom>
        </p:spPr>
      </p:pic>
      <p:pic>
        <p:nvPicPr>
          <p:cNvPr id="7" name="Picture 6" descr="Copilot Line icon - Free Download PNG &amp; SVG | Streamline">
            <a:extLst>
              <a:ext uri="{FF2B5EF4-FFF2-40B4-BE49-F238E27FC236}">
                <a16:creationId xmlns:a16="http://schemas.microsoft.com/office/drawing/2014/main" id="{3DE77C30-F922-CB67-A09D-804E5C389A7E}"/>
              </a:ext>
            </a:extLst>
          </p:cNvPr>
          <p:cNvPicPr>
            <a:picLocks noChangeAspect="1"/>
          </p:cNvPicPr>
          <p:nvPr/>
        </p:nvPicPr>
        <p:blipFill>
          <a:blip r:embed="rId4"/>
          <a:stretch>
            <a:fillRect/>
          </a:stretch>
        </p:blipFill>
        <p:spPr>
          <a:xfrm>
            <a:off x="7676412" y="2441733"/>
            <a:ext cx="1313712" cy="1313712"/>
          </a:xfrm>
          <a:prstGeom prst="rect">
            <a:avLst/>
          </a:prstGeom>
        </p:spPr>
      </p:pic>
      <p:pic>
        <p:nvPicPr>
          <p:cNvPr id="14" name="Picture 13" descr="Gemini Code Assist">
            <a:extLst>
              <a:ext uri="{FF2B5EF4-FFF2-40B4-BE49-F238E27FC236}">
                <a16:creationId xmlns:a16="http://schemas.microsoft.com/office/drawing/2014/main" id="{BE0A6896-C334-B1DB-4950-F8EC3E1A09F7}"/>
              </a:ext>
            </a:extLst>
          </p:cNvPr>
          <p:cNvPicPr>
            <a:picLocks noChangeAspect="1"/>
          </p:cNvPicPr>
          <p:nvPr/>
        </p:nvPicPr>
        <p:blipFill>
          <a:blip r:embed="rId5"/>
          <a:stretch>
            <a:fillRect/>
          </a:stretch>
        </p:blipFill>
        <p:spPr>
          <a:xfrm>
            <a:off x="7770924" y="3823438"/>
            <a:ext cx="1219200" cy="1219200"/>
          </a:xfrm>
          <a:prstGeom prst="rect">
            <a:avLst/>
          </a:prstGeom>
        </p:spPr>
      </p:pic>
      <p:sp>
        <p:nvSpPr>
          <p:cNvPr id="15" name="TextBox 14">
            <a:extLst>
              <a:ext uri="{FF2B5EF4-FFF2-40B4-BE49-F238E27FC236}">
                <a16:creationId xmlns:a16="http://schemas.microsoft.com/office/drawing/2014/main" id="{5AE77333-68F9-5920-7AD6-FA57DE8BF42D}"/>
              </a:ext>
            </a:extLst>
          </p:cNvPr>
          <p:cNvSpPr txBox="1"/>
          <p:nvPr/>
        </p:nvSpPr>
        <p:spPr>
          <a:xfrm>
            <a:off x="396240" y="1471170"/>
            <a:ext cx="6987540" cy="2862322"/>
          </a:xfrm>
          <a:prstGeom prst="rect">
            <a:avLst/>
          </a:prstGeom>
          <a:noFill/>
        </p:spPr>
        <p:txBody>
          <a:bodyPr wrap="square">
            <a:spAutoFit/>
          </a:bodyPr>
          <a:lstStyle/>
          <a:p>
            <a:pPr marL="342900" indent="-342900" algn="l">
              <a:buFont typeface="Arial" panose="020B0604020202020204" pitchFamily="34" charset="0"/>
              <a:buChar char="•"/>
            </a:pPr>
            <a:r>
              <a:rPr lang="en-US" sz="2000" dirty="0">
                <a:solidFill>
                  <a:srgbClr val="2D3748"/>
                </a:solidFill>
                <a:latin typeface="Calibri"/>
              </a:rPr>
              <a:t>What are your thoughts?</a:t>
            </a:r>
          </a:p>
          <a:p>
            <a:pPr marL="342900" indent="-342900" algn="l">
              <a:buFont typeface="Arial" panose="020B0604020202020204" pitchFamily="34" charset="0"/>
              <a:buChar char="•"/>
            </a:pPr>
            <a:endParaRPr lang="en-US" sz="2000" dirty="0">
              <a:solidFill>
                <a:srgbClr val="2D3748"/>
              </a:solidFill>
              <a:latin typeface="Calibri"/>
            </a:endParaRPr>
          </a:p>
          <a:p>
            <a:pPr marL="342900" indent="-342900" algn="l">
              <a:buFont typeface="Arial" panose="020B0604020202020204" pitchFamily="34" charset="0"/>
              <a:buChar char="•"/>
            </a:pPr>
            <a:r>
              <a:rPr lang="en-US" sz="2000" dirty="0">
                <a:solidFill>
                  <a:srgbClr val="2D3748"/>
                </a:solidFill>
                <a:latin typeface="Calibri"/>
              </a:rPr>
              <a:t>Recent industry research shows that</a:t>
            </a:r>
            <a:r>
              <a:rPr lang="en-US" sz="2000" baseline="30000" dirty="0">
                <a:solidFill>
                  <a:srgbClr val="2D3748"/>
                </a:solidFill>
                <a:latin typeface="Calibri"/>
              </a:rPr>
              <a:t>1</a:t>
            </a:r>
            <a:r>
              <a:rPr lang="en-US" sz="2000" dirty="0">
                <a:solidFill>
                  <a:srgbClr val="2D3748"/>
                </a:solidFill>
                <a:latin typeface="Calibri"/>
              </a:rPr>
              <a:t>:</a:t>
            </a:r>
          </a:p>
          <a:p>
            <a:r>
              <a:rPr lang="en-US" sz="1600" b="1" i="1" dirty="0">
                <a:solidFill>
                  <a:srgbClr val="2D3748"/>
                </a:solidFill>
                <a:latin typeface="Calibri"/>
              </a:rPr>
              <a:t>AI’s primary role in software development is that of an amplifier</a:t>
            </a:r>
            <a:r>
              <a:rPr lang="en-US" sz="1600" b="0" i="1" dirty="0">
                <a:solidFill>
                  <a:srgbClr val="2D3748"/>
                </a:solidFill>
                <a:latin typeface="Calibri"/>
              </a:rPr>
              <a:t>, magnifying an organization’s existing strengths and weaknesses. The greatest returns on AI investment come not from the tools themselves, but from a strategic focus on the underlying organizational system.</a:t>
            </a:r>
          </a:p>
          <a:p>
            <a:pPr algn="ctr"/>
            <a:endParaRPr lang="en-US" sz="1600" i="1" dirty="0">
              <a:solidFill>
                <a:srgbClr val="2D3748"/>
              </a:solidFill>
              <a:latin typeface="Calibri"/>
            </a:endParaRPr>
          </a:p>
          <a:p>
            <a:pPr marL="285750" indent="-285750">
              <a:buFont typeface="Arial" panose="020B0604020202020204" pitchFamily="34" charset="0"/>
              <a:buChar char="•"/>
            </a:pPr>
            <a:r>
              <a:rPr lang="en-US" sz="2000" b="0" dirty="0">
                <a:solidFill>
                  <a:srgbClr val="2D3748"/>
                </a:solidFill>
                <a:latin typeface="Calibri"/>
              </a:rPr>
              <a:t>At the end of the day, </a:t>
            </a:r>
            <a:r>
              <a:rPr lang="en-US" sz="2000" b="1" dirty="0">
                <a:solidFill>
                  <a:srgbClr val="2D3748"/>
                </a:solidFill>
                <a:latin typeface="Calibri"/>
              </a:rPr>
              <a:t>you are responsible </a:t>
            </a:r>
            <a:r>
              <a:rPr lang="en-US" sz="2000" b="0" dirty="0">
                <a:solidFill>
                  <a:srgbClr val="2D3748"/>
                </a:solidFill>
                <a:latin typeface="Calibri"/>
              </a:rPr>
              <a:t>for the product, not who wrote it (ai-agent, student, teammate, </a:t>
            </a:r>
            <a:r>
              <a:rPr lang="en-US" sz="2000" b="0" dirty="0" err="1">
                <a:solidFill>
                  <a:srgbClr val="2D3748"/>
                </a:solidFill>
                <a:latin typeface="Calibri"/>
              </a:rPr>
              <a:t>etc</a:t>
            </a:r>
            <a:r>
              <a:rPr lang="en-US" sz="2000" b="0" dirty="0">
                <a:solidFill>
                  <a:srgbClr val="2D3748"/>
                </a:solidFill>
                <a:latin typeface="Calibri"/>
              </a:rPr>
              <a:t>).</a:t>
            </a:r>
            <a:endParaRPr sz="2000" b="0" dirty="0">
              <a:solidFill>
                <a:srgbClr val="2D3748"/>
              </a:solidFill>
              <a:latin typeface="Calibri"/>
            </a:endParaRPr>
          </a:p>
        </p:txBody>
      </p:sp>
      <p:sp>
        <p:nvSpPr>
          <p:cNvPr id="16" name="TextBox 15">
            <a:extLst>
              <a:ext uri="{FF2B5EF4-FFF2-40B4-BE49-F238E27FC236}">
                <a16:creationId xmlns:a16="http://schemas.microsoft.com/office/drawing/2014/main" id="{2F84C908-8E94-6BA1-7583-2E5BFE33747C}"/>
              </a:ext>
            </a:extLst>
          </p:cNvPr>
          <p:cNvSpPr txBox="1"/>
          <p:nvPr/>
        </p:nvSpPr>
        <p:spPr>
          <a:xfrm>
            <a:off x="255600" y="4796417"/>
            <a:ext cx="8046720" cy="246221"/>
          </a:xfrm>
          <a:prstGeom prst="rect">
            <a:avLst/>
          </a:prstGeom>
          <a:noFill/>
        </p:spPr>
        <p:txBody>
          <a:bodyPr wrap="square">
            <a:spAutoFit/>
          </a:bodyPr>
          <a:lstStyle/>
          <a:p>
            <a:pPr marL="228600" indent="-228600">
              <a:buAutoNum type="arabicParenR"/>
            </a:pPr>
            <a:r>
              <a:rPr lang="en-US" sz="1000" dirty="0">
                <a:solidFill>
                  <a:srgbClr val="2D3748"/>
                </a:solidFill>
              </a:rPr>
              <a:t>Source: Google DORA Report 2015: </a:t>
            </a:r>
            <a:r>
              <a:rPr lang="en-US" sz="1000" dirty="0">
                <a:solidFill>
                  <a:srgbClr val="2D3748"/>
                </a:solidFill>
                <a:hlinkClick r:id="rId6"/>
              </a:rPr>
              <a:t>https://dora.dev/research/2025/dora-report/</a:t>
            </a:r>
            <a:r>
              <a:rPr lang="en-US" sz="1000" dirty="0">
                <a:solidFill>
                  <a:srgbClr val="2D3748"/>
                </a:solidFill>
              </a:rPr>
              <a:t> </a:t>
            </a:r>
          </a:p>
        </p:txBody>
      </p:sp>
    </p:spTree>
    <p:extLst>
      <p:ext uri="{BB962C8B-B14F-4D97-AF65-F5344CB8AC3E}">
        <p14:creationId xmlns:p14="http://schemas.microsoft.com/office/powerpoint/2010/main" val="3182498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1645920"/>
            <a:ext cx="8229600" cy="457200"/>
          </a:xfrm>
          <a:prstGeom prst="rect">
            <a:avLst/>
          </a:prstGeom>
          <a:noFill/>
        </p:spPr>
        <p:txBody>
          <a:bodyPr wrap="square">
            <a:spAutoFit/>
          </a:bodyPr>
          <a:lstStyle/>
          <a:p>
            <a:pPr algn="l"/>
            <a:r>
              <a:rPr sz="1300" b="1" i="0">
                <a:solidFill>
                  <a:srgbClr val="0077A8"/>
                </a:solidFill>
                <a:latin typeface="Calibri"/>
              </a:rPr>
              <a:t>BLOCK 2</a:t>
            </a:r>
          </a:p>
        </p:txBody>
      </p:sp>
      <p:sp>
        <p:nvSpPr>
          <p:cNvPr id="3" name="TextBox 2"/>
          <p:cNvSpPr txBox="1"/>
          <p:nvPr/>
        </p:nvSpPr>
        <p:spPr>
          <a:xfrm>
            <a:off x="457200" y="2011680"/>
            <a:ext cx="8229600" cy="1371600"/>
          </a:xfrm>
          <a:prstGeom prst="rect">
            <a:avLst/>
          </a:prstGeom>
          <a:noFill/>
        </p:spPr>
        <p:txBody>
          <a:bodyPr wrap="square">
            <a:spAutoFit/>
          </a:bodyPr>
          <a:lstStyle/>
          <a:p>
            <a:pPr algn="l"/>
            <a:r>
              <a:rPr sz="4000" b="1" i="0">
                <a:solidFill>
                  <a:srgbClr val="0A1628"/>
                </a:solidFill>
                <a:latin typeface="Calibri"/>
              </a:rPr>
              <a:t>Optimize for Learning</a:t>
            </a:r>
          </a:p>
        </p:txBody>
      </p:sp>
      <p:sp>
        <p:nvSpPr>
          <p:cNvPr id="4" name="Rectangle 3"/>
          <p:cNvSpPr/>
          <p:nvPr/>
        </p:nvSpPr>
        <p:spPr>
          <a:xfrm>
            <a:off x="457200" y="1508760"/>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Slide Number Placeholder 4">
            <a:extLst>
              <a:ext uri="{FF2B5EF4-FFF2-40B4-BE49-F238E27FC236}">
                <a16:creationId xmlns:a16="http://schemas.microsoft.com/office/drawing/2014/main" id="{FAD14FB0-0754-F0DC-2337-DD6BC31BA3CB}"/>
              </a:ext>
            </a:extLst>
          </p:cNvPr>
          <p:cNvSpPr>
            <a:spLocks noGrp="1"/>
          </p:cNvSpPr>
          <p:nvPr>
            <p:ph type="sldNum" sz="quarter" idx="12"/>
          </p:nvPr>
        </p:nvSpPr>
        <p:spPr/>
        <p:txBody>
          <a:bodyPr/>
          <a:lstStyle/>
          <a:p>
            <a:fld id="{C1FF6DA9-008F-8B48-92A6-B652298478BF}" type="slidenum">
              <a:rPr lang="en-US" smtClean="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553998"/>
          </a:xfrm>
          <a:prstGeom prst="rect">
            <a:avLst/>
          </a:prstGeom>
          <a:noFill/>
        </p:spPr>
        <p:txBody>
          <a:bodyPr wrap="square">
            <a:spAutoFit/>
          </a:bodyPr>
          <a:lstStyle/>
          <a:p>
            <a:pPr algn="l"/>
            <a:r>
              <a:rPr lang="en-US" sz="3000" b="1" i="0" dirty="0">
                <a:solidFill>
                  <a:srgbClr val="0A1628"/>
                </a:solidFill>
                <a:latin typeface="Calibri"/>
              </a:rPr>
              <a:t>The old ways of software development</a:t>
            </a:r>
            <a:endParaRPr sz="3000" b="1" i="0" dirty="0">
              <a:solidFill>
                <a:srgbClr val="0A1628"/>
              </a:solidFill>
              <a:latin typeface="Calibri"/>
            </a:endParaRPr>
          </a:p>
        </p:txBody>
      </p:sp>
      <p:sp>
        <p:nvSpPr>
          <p:cNvPr id="3" name="Rectangle 2"/>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Slide Number Placeholder 4">
            <a:extLst>
              <a:ext uri="{FF2B5EF4-FFF2-40B4-BE49-F238E27FC236}">
                <a16:creationId xmlns:a16="http://schemas.microsoft.com/office/drawing/2014/main" id="{3DE9347E-1084-BA42-ACD9-E1EC16541D78}"/>
              </a:ext>
            </a:extLst>
          </p:cNvPr>
          <p:cNvSpPr>
            <a:spLocks noGrp="1"/>
          </p:cNvSpPr>
          <p:nvPr>
            <p:ph type="sldNum" sz="quarter" idx="12"/>
          </p:nvPr>
        </p:nvSpPr>
        <p:spPr/>
        <p:txBody>
          <a:bodyPr/>
          <a:lstStyle/>
          <a:p>
            <a:fld id="{C1FF6DA9-008F-8B48-92A6-B652298478BF}" type="slidenum">
              <a:rPr lang="en-US" smtClean="0"/>
              <a:t>16</a:t>
            </a:fld>
            <a:endParaRPr lang="en-US"/>
          </a:p>
        </p:txBody>
      </p:sp>
      <p:pic>
        <p:nvPicPr>
          <p:cNvPr id="8" name="Picture 7" descr="Visual representation of the 5 Stages of the Waterfall Model">
            <a:extLst>
              <a:ext uri="{FF2B5EF4-FFF2-40B4-BE49-F238E27FC236}">
                <a16:creationId xmlns:a16="http://schemas.microsoft.com/office/drawing/2014/main" id="{625774D4-F145-5873-DE35-D21E881942CD}"/>
              </a:ext>
            </a:extLst>
          </p:cNvPr>
          <p:cNvPicPr>
            <a:picLocks noChangeAspect="1"/>
          </p:cNvPicPr>
          <p:nvPr/>
        </p:nvPicPr>
        <p:blipFill>
          <a:blip r:embed="rId2"/>
          <a:stretch>
            <a:fillRect/>
          </a:stretch>
        </p:blipFill>
        <p:spPr>
          <a:xfrm>
            <a:off x="457200" y="1098817"/>
            <a:ext cx="5123704" cy="3697600"/>
          </a:xfrm>
          <a:prstGeom prst="rect">
            <a:avLst/>
          </a:prstGeom>
          <a:effectLst>
            <a:outerShdw blurRad="50800" dist="38100" dir="2700000" algn="tl" rotWithShape="0">
              <a:prstClr val="black">
                <a:alpha val="40000"/>
              </a:prstClr>
            </a:outerShdw>
          </a:effectLst>
        </p:spPr>
      </p:pic>
      <p:sp>
        <p:nvSpPr>
          <p:cNvPr id="9" name="TextBox 8">
            <a:extLst>
              <a:ext uri="{FF2B5EF4-FFF2-40B4-BE49-F238E27FC236}">
                <a16:creationId xmlns:a16="http://schemas.microsoft.com/office/drawing/2014/main" id="{402C6998-68EB-6FD1-C72D-C53C1375AA21}"/>
              </a:ext>
            </a:extLst>
          </p:cNvPr>
          <p:cNvSpPr txBox="1"/>
          <p:nvPr/>
        </p:nvSpPr>
        <p:spPr>
          <a:xfrm>
            <a:off x="400380" y="4802235"/>
            <a:ext cx="8046720" cy="246221"/>
          </a:xfrm>
          <a:prstGeom prst="rect">
            <a:avLst/>
          </a:prstGeom>
          <a:noFill/>
        </p:spPr>
        <p:txBody>
          <a:bodyPr wrap="square">
            <a:spAutoFit/>
          </a:bodyPr>
          <a:lstStyle/>
          <a:p>
            <a:pPr marL="228600" indent="-228600">
              <a:buAutoNum type="arabicParenR"/>
            </a:pPr>
            <a:r>
              <a:rPr lang="en-US" sz="1000" dirty="0">
                <a:solidFill>
                  <a:srgbClr val="2D3748"/>
                </a:solidFill>
              </a:rPr>
              <a:t>Source: </a:t>
            </a:r>
            <a:r>
              <a:rPr lang="en-US" sz="1000" dirty="0">
                <a:solidFill>
                  <a:srgbClr val="2D3748"/>
                </a:solidFill>
                <a:hlinkClick r:id="rId3"/>
              </a:rPr>
              <a:t>https://management.org/waterfall-methodology</a:t>
            </a:r>
            <a:r>
              <a:rPr lang="en-US" sz="1000" dirty="0">
                <a:solidFill>
                  <a:srgbClr val="2D3748"/>
                </a:solidFill>
              </a:rPr>
              <a:t> </a:t>
            </a:r>
          </a:p>
        </p:txBody>
      </p:sp>
      <p:sp>
        <p:nvSpPr>
          <p:cNvPr id="10" name="Speech Bubble: Rectangle 9">
            <a:extLst>
              <a:ext uri="{FF2B5EF4-FFF2-40B4-BE49-F238E27FC236}">
                <a16:creationId xmlns:a16="http://schemas.microsoft.com/office/drawing/2014/main" id="{9CAEEFF1-19BD-14F9-E4ED-373CD4E274A8}"/>
              </a:ext>
            </a:extLst>
          </p:cNvPr>
          <p:cNvSpPr/>
          <p:nvPr/>
        </p:nvSpPr>
        <p:spPr>
          <a:xfrm>
            <a:off x="6039220" y="1686361"/>
            <a:ext cx="2548520" cy="2420112"/>
          </a:xfrm>
          <a:prstGeom prst="wedgeRectCallout">
            <a:avLst>
              <a:gd name="adj1" fmla="val -56504"/>
              <a:gd name="adj2" fmla="val -25862"/>
            </a:avLst>
          </a:prstGeom>
          <a:solidFill>
            <a:schemeClr val="accent6">
              <a:lumMod val="20000"/>
              <a:lumOff val="80000"/>
            </a:schemeClr>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2000" dirty="0">
                <a:solidFill>
                  <a:schemeClr val="tx1"/>
                </a:solidFill>
              </a:rPr>
              <a:t>Big problems:</a:t>
            </a:r>
          </a:p>
          <a:p>
            <a:endParaRPr lang="en-US" sz="2000" dirty="0">
              <a:solidFill>
                <a:schemeClr val="tx1"/>
              </a:solidFill>
            </a:endParaRPr>
          </a:p>
          <a:p>
            <a:r>
              <a:rPr lang="en-US" b="1" dirty="0">
                <a:solidFill>
                  <a:schemeClr val="tx1"/>
                </a:solidFill>
              </a:rPr>
              <a:t>Slow learning: </a:t>
            </a:r>
            <a:r>
              <a:rPr lang="en-US" dirty="0">
                <a:solidFill>
                  <a:schemeClr val="tx1"/>
                </a:solidFill>
              </a:rPr>
              <a:t>you learn what’s wrong at the end</a:t>
            </a:r>
          </a:p>
          <a:p>
            <a:endParaRPr lang="en-US" dirty="0">
              <a:solidFill>
                <a:schemeClr val="tx1"/>
              </a:solidFill>
            </a:endParaRPr>
          </a:p>
          <a:p>
            <a:r>
              <a:rPr lang="en-US" b="1" dirty="0">
                <a:solidFill>
                  <a:schemeClr val="tx1"/>
                </a:solidFill>
              </a:rPr>
              <a:t>Slow adaptation</a:t>
            </a:r>
            <a:r>
              <a:rPr lang="en-US" dirty="0">
                <a:solidFill>
                  <a:schemeClr val="tx1"/>
                </a:solidFill>
              </a:rPr>
              <a:t>: system is thought as a rigid and linear process</a:t>
            </a:r>
          </a:p>
          <a:p>
            <a:pPr marL="285750" indent="-285750">
              <a:buFontTx/>
              <a:buChar char="-"/>
            </a:pPr>
            <a:endParaRPr lang="en-US" dirty="0">
              <a:solidFill>
                <a:schemeClr val="tx1"/>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CEDF6C-6221-613A-9CA2-F484BAF722E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B5A3CDE-C045-C64C-13DF-DD32ACAE5765}"/>
              </a:ext>
            </a:extLst>
          </p:cNvPr>
          <p:cNvSpPr txBox="1"/>
          <p:nvPr/>
        </p:nvSpPr>
        <p:spPr>
          <a:xfrm>
            <a:off x="457200" y="274320"/>
            <a:ext cx="8229600" cy="553998"/>
          </a:xfrm>
          <a:prstGeom prst="rect">
            <a:avLst/>
          </a:prstGeom>
          <a:noFill/>
        </p:spPr>
        <p:txBody>
          <a:bodyPr wrap="square">
            <a:spAutoFit/>
          </a:bodyPr>
          <a:lstStyle/>
          <a:p>
            <a:pPr algn="l"/>
            <a:r>
              <a:rPr lang="en-US" sz="3000" b="1" i="0" dirty="0">
                <a:solidFill>
                  <a:srgbClr val="0A1628"/>
                </a:solidFill>
                <a:latin typeface="Calibri"/>
              </a:rPr>
              <a:t>Agile allows learning through quick feedback loops</a:t>
            </a:r>
            <a:endParaRPr sz="3000" b="1" i="0" dirty="0">
              <a:solidFill>
                <a:srgbClr val="0A1628"/>
              </a:solidFill>
              <a:latin typeface="Calibri"/>
            </a:endParaRPr>
          </a:p>
        </p:txBody>
      </p:sp>
      <p:sp>
        <p:nvSpPr>
          <p:cNvPr id="3" name="Rectangle 2">
            <a:extLst>
              <a:ext uri="{FF2B5EF4-FFF2-40B4-BE49-F238E27FC236}">
                <a16:creationId xmlns:a16="http://schemas.microsoft.com/office/drawing/2014/main" id="{5B496000-97E5-1BB3-E51E-26934A15D8A9}"/>
              </a:ext>
            </a:extLst>
          </p:cNvPr>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Slide Number Placeholder 4">
            <a:extLst>
              <a:ext uri="{FF2B5EF4-FFF2-40B4-BE49-F238E27FC236}">
                <a16:creationId xmlns:a16="http://schemas.microsoft.com/office/drawing/2014/main" id="{202076AC-F0BF-C6D0-BB88-770CB7D917E5}"/>
              </a:ext>
            </a:extLst>
          </p:cNvPr>
          <p:cNvSpPr>
            <a:spLocks noGrp="1"/>
          </p:cNvSpPr>
          <p:nvPr>
            <p:ph type="sldNum" sz="quarter" idx="12"/>
          </p:nvPr>
        </p:nvSpPr>
        <p:spPr/>
        <p:txBody>
          <a:bodyPr/>
          <a:lstStyle/>
          <a:p>
            <a:fld id="{C1FF6DA9-008F-8B48-92A6-B652298478BF}" type="slidenum">
              <a:rPr lang="en-US" smtClean="0"/>
              <a:t>17</a:t>
            </a:fld>
            <a:endParaRPr lang="en-US"/>
          </a:p>
        </p:txBody>
      </p:sp>
      <p:pic>
        <p:nvPicPr>
          <p:cNvPr id="4" name="Picture 3">
            <a:extLst>
              <a:ext uri="{FF2B5EF4-FFF2-40B4-BE49-F238E27FC236}">
                <a16:creationId xmlns:a16="http://schemas.microsoft.com/office/drawing/2014/main" id="{3EDC07AE-C0CE-949C-682D-3851B390D6A2}"/>
              </a:ext>
            </a:extLst>
          </p:cNvPr>
          <p:cNvPicPr>
            <a:picLocks noChangeAspect="1"/>
          </p:cNvPicPr>
          <p:nvPr/>
        </p:nvPicPr>
        <p:blipFill>
          <a:blip r:embed="rId2"/>
          <a:stretch>
            <a:fillRect/>
          </a:stretch>
        </p:blipFill>
        <p:spPr>
          <a:xfrm>
            <a:off x="1234440" y="1109399"/>
            <a:ext cx="6675120" cy="3759781"/>
          </a:xfrm>
          <a:prstGeom prst="rect">
            <a:avLst/>
          </a:prstGeom>
        </p:spPr>
      </p:pic>
      <p:sp>
        <p:nvSpPr>
          <p:cNvPr id="11" name="Rectangle 10">
            <a:extLst>
              <a:ext uri="{FF2B5EF4-FFF2-40B4-BE49-F238E27FC236}">
                <a16:creationId xmlns:a16="http://schemas.microsoft.com/office/drawing/2014/main" id="{1396C878-53FD-333A-9AD1-CAC0DE8F723B}"/>
              </a:ext>
            </a:extLst>
          </p:cNvPr>
          <p:cNvSpPr/>
          <p:nvPr/>
        </p:nvSpPr>
        <p:spPr>
          <a:xfrm>
            <a:off x="3223260" y="4772219"/>
            <a:ext cx="3253740" cy="217945"/>
          </a:xfrm>
          <a:prstGeom prst="rect">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r>
              <a:rPr lang="en-US" sz="1000" dirty="0">
                <a:solidFill>
                  <a:schemeClr val="tx1"/>
                </a:solidFill>
              </a:rPr>
              <a:t>Read the agile manifesto: </a:t>
            </a:r>
            <a:r>
              <a:rPr lang="en-US" sz="1000" dirty="0">
                <a:solidFill>
                  <a:schemeClr val="tx1"/>
                </a:solidFill>
                <a:hlinkClick r:id="rId3"/>
              </a:rPr>
              <a:t>https://agilemanifesto.org/</a:t>
            </a:r>
            <a:r>
              <a:rPr lang="en-US" sz="1000" dirty="0">
                <a:solidFill>
                  <a:schemeClr val="tx1"/>
                </a:solidFill>
              </a:rPr>
              <a:t> </a:t>
            </a:r>
          </a:p>
        </p:txBody>
      </p:sp>
      <p:sp>
        <p:nvSpPr>
          <p:cNvPr id="12" name="Arrow: Chevron 11">
            <a:extLst>
              <a:ext uri="{FF2B5EF4-FFF2-40B4-BE49-F238E27FC236}">
                <a16:creationId xmlns:a16="http://schemas.microsoft.com/office/drawing/2014/main" id="{ECE03444-1F24-E6D0-C6B6-E1EE4E4092D6}"/>
              </a:ext>
            </a:extLst>
          </p:cNvPr>
          <p:cNvSpPr/>
          <p:nvPr/>
        </p:nvSpPr>
        <p:spPr>
          <a:xfrm>
            <a:off x="3931920" y="3714274"/>
            <a:ext cx="1005840" cy="578822"/>
          </a:xfrm>
          <a:prstGeom prst="chevron">
            <a:avLst>
              <a:gd name="adj" fmla="val 39401"/>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dirty="0">
                <a:solidFill>
                  <a:schemeClr val="bg1"/>
                </a:solidFill>
              </a:rPr>
              <a:t>Feedback</a:t>
            </a:r>
          </a:p>
        </p:txBody>
      </p:sp>
      <p:cxnSp>
        <p:nvCxnSpPr>
          <p:cNvPr id="14" name="Straight Arrow Connector 13">
            <a:extLst>
              <a:ext uri="{FF2B5EF4-FFF2-40B4-BE49-F238E27FC236}">
                <a16:creationId xmlns:a16="http://schemas.microsoft.com/office/drawing/2014/main" id="{155BDC88-3BC6-9E02-945F-E60215FF31E9}"/>
              </a:ext>
            </a:extLst>
          </p:cNvPr>
          <p:cNvCxnSpPr>
            <a:cxnSpLocks/>
          </p:cNvCxnSpPr>
          <p:nvPr/>
        </p:nvCxnSpPr>
        <p:spPr>
          <a:xfrm flipH="1" flipV="1">
            <a:off x="1508760" y="4511040"/>
            <a:ext cx="3674110" cy="717"/>
          </a:xfrm>
          <a:prstGeom prst="straightConnector1">
            <a:avLst/>
          </a:prstGeom>
          <a:ln>
            <a:headEnd type="none" w="med" len="med"/>
            <a:tailEnd type="none" w="med" len="med"/>
          </a:ln>
          <a:effectLst/>
        </p:spPr>
        <p:style>
          <a:lnRef idx="2">
            <a:schemeClr val="dk1"/>
          </a:lnRef>
          <a:fillRef idx="0">
            <a:schemeClr val="dk1"/>
          </a:fillRef>
          <a:effectRef idx="1">
            <a:schemeClr val="dk1"/>
          </a:effectRef>
          <a:fontRef idx="minor">
            <a:schemeClr val="tx1"/>
          </a:fontRef>
        </p:style>
      </p:cxnSp>
      <p:cxnSp>
        <p:nvCxnSpPr>
          <p:cNvPr id="16" name="Straight Connector 15">
            <a:extLst>
              <a:ext uri="{FF2B5EF4-FFF2-40B4-BE49-F238E27FC236}">
                <a16:creationId xmlns:a16="http://schemas.microsoft.com/office/drawing/2014/main" id="{E8B68ECF-5735-B9E4-75BF-2AA173072724}"/>
              </a:ext>
            </a:extLst>
          </p:cNvPr>
          <p:cNvCxnSpPr/>
          <p:nvPr/>
        </p:nvCxnSpPr>
        <p:spPr>
          <a:xfrm>
            <a:off x="4903470" y="4003685"/>
            <a:ext cx="279400" cy="0"/>
          </a:xfrm>
          <a:prstGeom prst="line">
            <a:avLst/>
          </a:prstGeom>
          <a:effectLst/>
        </p:spPr>
        <p:style>
          <a:lnRef idx="2">
            <a:schemeClr val="dk1"/>
          </a:lnRef>
          <a:fillRef idx="0">
            <a:schemeClr val="dk1"/>
          </a:fillRef>
          <a:effectRef idx="1">
            <a:schemeClr val="dk1"/>
          </a:effectRef>
          <a:fontRef idx="minor">
            <a:schemeClr val="tx1"/>
          </a:fontRef>
        </p:style>
      </p:cxnSp>
      <p:cxnSp>
        <p:nvCxnSpPr>
          <p:cNvPr id="17" name="Straight Connector 16">
            <a:extLst>
              <a:ext uri="{FF2B5EF4-FFF2-40B4-BE49-F238E27FC236}">
                <a16:creationId xmlns:a16="http://schemas.microsoft.com/office/drawing/2014/main" id="{30E140AD-91D7-A0E7-88E3-B514E78D66C4}"/>
              </a:ext>
            </a:extLst>
          </p:cNvPr>
          <p:cNvCxnSpPr>
            <a:cxnSpLocks/>
          </p:cNvCxnSpPr>
          <p:nvPr/>
        </p:nvCxnSpPr>
        <p:spPr>
          <a:xfrm>
            <a:off x="5182870" y="3991780"/>
            <a:ext cx="0" cy="522358"/>
          </a:xfrm>
          <a:prstGeom prst="line">
            <a:avLst/>
          </a:prstGeom>
          <a:effectLst/>
        </p:spPr>
        <p:style>
          <a:lnRef idx="2">
            <a:schemeClr val="dk1"/>
          </a:lnRef>
          <a:fillRef idx="0">
            <a:schemeClr val="dk1"/>
          </a:fillRef>
          <a:effectRef idx="1">
            <a:schemeClr val="dk1"/>
          </a:effectRef>
          <a:fontRef idx="minor">
            <a:schemeClr val="tx1"/>
          </a:fontRef>
        </p:style>
      </p:cxnSp>
      <p:cxnSp>
        <p:nvCxnSpPr>
          <p:cNvPr id="21" name="Straight Connector 20">
            <a:extLst>
              <a:ext uri="{FF2B5EF4-FFF2-40B4-BE49-F238E27FC236}">
                <a16:creationId xmlns:a16="http://schemas.microsoft.com/office/drawing/2014/main" id="{685C48AF-5CCD-FEF7-DC1A-4C88CE5F2070}"/>
              </a:ext>
            </a:extLst>
          </p:cNvPr>
          <p:cNvCxnSpPr>
            <a:cxnSpLocks/>
          </p:cNvCxnSpPr>
          <p:nvPr/>
        </p:nvCxnSpPr>
        <p:spPr>
          <a:xfrm>
            <a:off x="1508760" y="4250578"/>
            <a:ext cx="0" cy="269128"/>
          </a:xfrm>
          <a:prstGeom prst="line">
            <a:avLst/>
          </a:prstGeom>
          <a:ln>
            <a:headEnd type="triangle" w="med" len="med"/>
            <a:tailEnd type="none" w="med" len="med"/>
          </a:ln>
          <a:effectLst/>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130044402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1A6CE1-C6B1-D5B1-03D1-1DCE4A02CF2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A57203-72D1-F1BF-83A3-67A57866933F}"/>
              </a:ext>
            </a:extLst>
          </p:cNvPr>
          <p:cNvSpPr txBox="1"/>
          <p:nvPr/>
        </p:nvSpPr>
        <p:spPr>
          <a:xfrm>
            <a:off x="457200" y="274320"/>
            <a:ext cx="8557260" cy="553998"/>
          </a:xfrm>
          <a:prstGeom prst="rect">
            <a:avLst/>
          </a:prstGeom>
          <a:noFill/>
        </p:spPr>
        <p:txBody>
          <a:bodyPr wrap="square">
            <a:spAutoFit/>
          </a:bodyPr>
          <a:lstStyle/>
          <a:p>
            <a:pPr algn="l"/>
            <a:r>
              <a:rPr lang="en-US" sz="3000" b="1" dirty="0">
                <a:solidFill>
                  <a:srgbClr val="0A1628"/>
                </a:solidFill>
                <a:latin typeface="Calibri"/>
              </a:rPr>
              <a:t>Agile strategy: working iteratively and incrementally</a:t>
            </a:r>
            <a:endParaRPr sz="3000" b="1" i="0" dirty="0">
              <a:solidFill>
                <a:srgbClr val="0A1628"/>
              </a:solidFill>
              <a:latin typeface="Calibri"/>
            </a:endParaRPr>
          </a:p>
        </p:txBody>
      </p:sp>
      <p:sp>
        <p:nvSpPr>
          <p:cNvPr id="3" name="Rectangle 2">
            <a:extLst>
              <a:ext uri="{FF2B5EF4-FFF2-40B4-BE49-F238E27FC236}">
                <a16:creationId xmlns:a16="http://schemas.microsoft.com/office/drawing/2014/main" id="{4719496A-64C6-056C-5AD1-DB616E9A39B9}"/>
              </a:ext>
            </a:extLst>
          </p:cNvPr>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F6CBF985-7A61-5AB5-6E13-0CAA73C3817C}"/>
              </a:ext>
            </a:extLst>
          </p:cNvPr>
          <p:cNvSpPr txBox="1"/>
          <p:nvPr/>
        </p:nvSpPr>
        <p:spPr>
          <a:xfrm>
            <a:off x="4572000" y="1852930"/>
            <a:ext cx="4274820" cy="2062103"/>
          </a:xfrm>
          <a:prstGeom prst="rect">
            <a:avLst/>
          </a:prstGeom>
          <a:noFill/>
        </p:spPr>
        <p:txBody>
          <a:bodyPr wrap="square">
            <a:spAutoFit/>
          </a:bodyPr>
          <a:lstStyle/>
          <a:p>
            <a:r>
              <a:rPr sz="2400" b="1" i="0" dirty="0">
                <a:solidFill>
                  <a:srgbClr val="2D3748"/>
                </a:solidFill>
                <a:latin typeface="Calibri"/>
              </a:rPr>
              <a:t>Iterative</a:t>
            </a:r>
            <a:r>
              <a:rPr lang="en-US" sz="2400" b="0" i="0" dirty="0">
                <a:solidFill>
                  <a:srgbClr val="2D3748"/>
                </a:solidFill>
                <a:latin typeface="Calibri"/>
              </a:rPr>
              <a:t> </a:t>
            </a:r>
          </a:p>
          <a:p>
            <a:pPr algn="ctr"/>
            <a:r>
              <a:rPr lang="en-US" sz="2000" dirty="0">
                <a:solidFill>
                  <a:srgbClr val="2D3748"/>
                </a:solidFill>
                <a:latin typeface="Calibri"/>
              </a:rPr>
              <a:t>“D</a:t>
            </a:r>
            <a:r>
              <a:rPr sz="2000" b="0" i="0" dirty="0">
                <a:solidFill>
                  <a:srgbClr val="2D3748"/>
                </a:solidFill>
                <a:latin typeface="Calibri"/>
              </a:rPr>
              <a:t>on't try to get it all right from the beginning</a:t>
            </a:r>
            <a:r>
              <a:rPr lang="en-US" sz="2000" dirty="0">
                <a:solidFill>
                  <a:srgbClr val="2D3748"/>
                </a:solidFill>
                <a:latin typeface="Calibri"/>
              </a:rPr>
              <a:t>"</a:t>
            </a:r>
            <a:endParaRPr lang="en-US" sz="2000" b="0" i="0" dirty="0">
              <a:solidFill>
                <a:srgbClr val="2D3748"/>
              </a:solidFill>
              <a:latin typeface="Calibri"/>
            </a:endParaRPr>
          </a:p>
          <a:p>
            <a:r>
              <a:rPr sz="2000" b="0" i="0" dirty="0">
                <a:solidFill>
                  <a:srgbClr val="2D3748"/>
                </a:solidFill>
                <a:latin typeface="Calibri"/>
              </a:rPr>
              <a:t>
</a:t>
            </a:r>
            <a:r>
              <a:rPr sz="2400" b="1" i="0" dirty="0">
                <a:solidFill>
                  <a:srgbClr val="2D3748"/>
                </a:solidFill>
                <a:latin typeface="Calibri"/>
              </a:rPr>
              <a:t>Incremental</a:t>
            </a:r>
            <a:r>
              <a:rPr sz="2400" b="0" i="0" dirty="0">
                <a:solidFill>
                  <a:srgbClr val="2D3748"/>
                </a:solidFill>
                <a:latin typeface="Calibri"/>
              </a:rPr>
              <a:t>  </a:t>
            </a:r>
            <a:endParaRPr lang="en-US" sz="2000" b="0" i="0" dirty="0">
              <a:solidFill>
                <a:srgbClr val="2D3748"/>
              </a:solidFill>
              <a:latin typeface="Calibri"/>
            </a:endParaRPr>
          </a:p>
          <a:p>
            <a:pPr algn="ctr"/>
            <a:r>
              <a:rPr lang="en-US" sz="2000" dirty="0">
                <a:solidFill>
                  <a:srgbClr val="2D3748"/>
                </a:solidFill>
                <a:latin typeface="Calibri"/>
              </a:rPr>
              <a:t>“D</a:t>
            </a:r>
            <a:r>
              <a:rPr sz="2000" b="0" i="0" dirty="0">
                <a:solidFill>
                  <a:srgbClr val="2D3748"/>
                </a:solidFill>
                <a:latin typeface="Calibri"/>
              </a:rPr>
              <a:t>on't build it all at once</a:t>
            </a:r>
            <a:r>
              <a:rPr lang="en-US" sz="2000" dirty="0">
                <a:solidFill>
                  <a:srgbClr val="2D3748"/>
                </a:solidFill>
                <a:latin typeface="Calibri"/>
              </a:rPr>
              <a:t>"</a:t>
            </a:r>
            <a:endParaRPr sz="2000" b="0" i="0" dirty="0">
              <a:solidFill>
                <a:srgbClr val="2D3748"/>
              </a:solidFill>
              <a:latin typeface="Calibri"/>
            </a:endParaRPr>
          </a:p>
        </p:txBody>
      </p:sp>
      <p:sp>
        <p:nvSpPr>
          <p:cNvPr id="5" name="Slide Number Placeholder 4">
            <a:extLst>
              <a:ext uri="{FF2B5EF4-FFF2-40B4-BE49-F238E27FC236}">
                <a16:creationId xmlns:a16="http://schemas.microsoft.com/office/drawing/2014/main" id="{90E4FD01-764F-400C-0576-C7B2D04AC4F5}"/>
              </a:ext>
            </a:extLst>
          </p:cNvPr>
          <p:cNvSpPr>
            <a:spLocks noGrp="1"/>
          </p:cNvSpPr>
          <p:nvPr>
            <p:ph type="sldNum" sz="quarter" idx="12"/>
          </p:nvPr>
        </p:nvSpPr>
        <p:spPr/>
        <p:txBody>
          <a:bodyPr/>
          <a:lstStyle/>
          <a:p>
            <a:fld id="{C1FF6DA9-008F-8B48-92A6-B652298478BF}" type="slidenum">
              <a:rPr lang="en-US" smtClean="0"/>
              <a:t>18</a:t>
            </a:fld>
            <a:endParaRPr lang="en-US"/>
          </a:p>
        </p:txBody>
      </p:sp>
      <p:pic>
        <p:nvPicPr>
          <p:cNvPr id="6" name="Picture 5">
            <a:extLst>
              <a:ext uri="{FF2B5EF4-FFF2-40B4-BE49-F238E27FC236}">
                <a16:creationId xmlns:a16="http://schemas.microsoft.com/office/drawing/2014/main" id="{36CA0102-CDE4-9E12-172F-DCA16B369BD3}"/>
              </a:ext>
            </a:extLst>
          </p:cNvPr>
          <p:cNvPicPr>
            <a:picLocks noChangeAspect="1"/>
          </p:cNvPicPr>
          <p:nvPr/>
        </p:nvPicPr>
        <p:blipFill>
          <a:blip r:embed="rId3"/>
          <a:stretch>
            <a:fillRect/>
          </a:stretch>
        </p:blipFill>
        <p:spPr>
          <a:xfrm>
            <a:off x="457199" y="1024127"/>
            <a:ext cx="3817621" cy="4107783"/>
          </a:xfrm>
          <a:prstGeom prst="rect">
            <a:avLst/>
          </a:prstGeom>
        </p:spPr>
      </p:pic>
      <p:sp>
        <p:nvSpPr>
          <p:cNvPr id="8" name="TextBox 7">
            <a:extLst>
              <a:ext uri="{FF2B5EF4-FFF2-40B4-BE49-F238E27FC236}">
                <a16:creationId xmlns:a16="http://schemas.microsoft.com/office/drawing/2014/main" id="{F9BFFBAC-23FC-2AEE-B6E9-68825738B2A2}"/>
              </a:ext>
            </a:extLst>
          </p:cNvPr>
          <p:cNvSpPr txBox="1"/>
          <p:nvPr/>
        </p:nvSpPr>
        <p:spPr>
          <a:xfrm>
            <a:off x="4693920" y="4836765"/>
            <a:ext cx="1318260" cy="246221"/>
          </a:xfrm>
          <a:prstGeom prst="rect">
            <a:avLst/>
          </a:prstGeom>
          <a:noFill/>
        </p:spPr>
        <p:txBody>
          <a:bodyPr wrap="square">
            <a:spAutoFit/>
          </a:bodyPr>
          <a:lstStyle/>
          <a:p>
            <a:r>
              <a:rPr lang="en-US" sz="1000" dirty="0">
                <a:solidFill>
                  <a:srgbClr val="2D3748"/>
                </a:solidFill>
              </a:rPr>
              <a:t>Source: Jeff Paton</a:t>
            </a:r>
          </a:p>
        </p:txBody>
      </p:sp>
    </p:spTree>
    <p:extLst>
      <p:ext uri="{BB962C8B-B14F-4D97-AF65-F5344CB8AC3E}">
        <p14:creationId xmlns:p14="http://schemas.microsoft.com/office/powerpoint/2010/main" val="36254507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553998"/>
          </a:xfrm>
          <a:prstGeom prst="rect">
            <a:avLst/>
          </a:prstGeom>
          <a:noFill/>
        </p:spPr>
        <p:txBody>
          <a:bodyPr wrap="square">
            <a:spAutoFit/>
          </a:bodyPr>
          <a:lstStyle/>
          <a:p>
            <a:pPr algn="l"/>
            <a:r>
              <a:rPr lang="en-US" sz="3000" b="1" i="0" dirty="0">
                <a:solidFill>
                  <a:srgbClr val="0A1628"/>
                </a:solidFill>
                <a:latin typeface="Calibri"/>
              </a:rPr>
              <a:t>The S</a:t>
            </a:r>
            <a:r>
              <a:rPr sz="3000" b="1" i="0" dirty="0">
                <a:solidFill>
                  <a:srgbClr val="0A1628"/>
                </a:solidFill>
                <a:latin typeface="Calibri"/>
              </a:rPr>
              <a:t>cientific Method</a:t>
            </a:r>
            <a:r>
              <a:rPr lang="en-US" sz="3000" b="1" i="0" dirty="0">
                <a:solidFill>
                  <a:srgbClr val="0A1628"/>
                </a:solidFill>
                <a:latin typeface="Calibri"/>
              </a:rPr>
              <a:t> to learn effectively</a:t>
            </a:r>
            <a:endParaRPr sz="3000" b="1" i="0" dirty="0">
              <a:solidFill>
                <a:srgbClr val="0A1628"/>
              </a:solidFill>
              <a:latin typeface="Calibri"/>
            </a:endParaRPr>
          </a:p>
        </p:txBody>
      </p:sp>
      <p:sp>
        <p:nvSpPr>
          <p:cNvPr id="3" name="Rectangle 2"/>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Slide Number Placeholder 4">
            <a:extLst>
              <a:ext uri="{FF2B5EF4-FFF2-40B4-BE49-F238E27FC236}">
                <a16:creationId xmlns:a16="http://schemas.microsoft.com/office/drawing/2014/main" id="{4A16B93F-D600-78A5-9543-EF38EEA43BBA}"/>
              </a:ext>
            </a:extLst>
          </p:cNvPr>
          <p:cNvSpPr>
            <a:spLocks noGrp="1"/>
          </p:cNvSpPr>
          <p:nvPr>
            <p:ph type="sldNum" sz="quarter" idx="12"/>
          </p:nvPr>
        </p:nvSpPr>
        <p:spPr/>
        <p:txBody>
          <a:bodyPr/>
          <a:lstStyle/>
          <a:p>
            <a:fld id="{C1FF6DA9-008F-8B48-92A6-B652298478BF}" type="slidenum">
              <a:rPr lang="en-US" smtClean="0"/>
              <a:t>19</a:t>
            </a:fld>
            <a:endParaRPr lang="en-US"/>
          </a:p>
        </p:txBody>
      </p:sp>
      <p:pic>
        <p:nvPicPr>
          <p:cNvPr id="6" name="Picture 5" descr="The scientific method is a process for experimentation">
            <a:extLst>
              <a:ext uri="{FF2B5EF4-FFF2-40B4-BE49-F238E27FC236}">
                <a16:creationId xmlns:a16="http://schemas.microsoft.com/office/drawing/2014/main" id="{4DF21B99-8DAF-8B08-B585-74B19D8416BC}"/>
              </a:ext>
            </a:extLst>
          </p:cNvPr>
          <p:cNvPicPr>
            <a:picLocks noChangeAspect="1"/>
          </p:cNvPicPr>
          <p:nvPr/>
        </p:nvPicPr>
        <p:blipFill>
          <a:blip r:embed="rId2"/>
          <a:stretch>
            <a:fillRect/>
          </a:stretch>
        </p:blipFill>
        <p:spPr>
          <a:xfrm>
            <a:off x="457200" y="1097088"/>
            <a:ext cx="3665412" cy="3665412"/>
          </a:xfrm>
          <a:prstGeom prst="rect">
            <a:avLst/>
          </a:prstGeom>
          <a:effectLst>
            <a:outerShdw blurRad="50800" dist="38100" dir="2700000" algn="tl" rotWithShape="0">
              <a:prstClr val="black">
                <a:alpha val="40000"/>
              </a:prstClr>
            </a:outerShdw>
          </a:effectLst>
        </p:spPr>
      </p:pic>
      <p:sp>
        <p:nvSpPr>
          <p:cNvPr id="8" name="TextBox 7">
            <a:extLst>
              <a:ext uri="{FF2B5EF4-FFF2-40B4-BE49-F238E27FC236}">
                <a16:creationId xmlns:a16="http://schemas.microsoft.com/office/drawing/2014/main" id="{8CD6F575-565A-1A55-29CC-9AA9DF2591B6}"/>
              </a:ext>
            </a:extLst>
          </p:cNvPr>
          <p:cNvSpPr txBox="1"/>
          <p:nvPr/>
        </p:nvSpPr>
        <p:spPr>
          <a:xfrm>
            <a:off x="385002" y="4869180"/>
            <a:ext cx="7475220" cy="215444"/>
          </a:xfrm>
          <a:prstGeom prst="rect">
            <a:avLst/>
          </a:prstGeom>
          <a:noFill/>
        </p:spPr>
        <p:txBody>
          <a:bodyPr wrap="square">
            <a:spAutoFit/>
          </a:bodyPr>
          <a:lstStyle/>
          <a:p>
            <a:r>
              <a:rPr lang="en-US" sz="800" dirty="0"/>
              <a:t>Source: </a:t>
            </a:r>
            <a:r>
              <a:rPr lang="en-US" sz="800" dirty="0">
                <a:hlinkClick r:id="rId3"/>
              </a:rPr>
              <a:t>https://www.australianenvironmentaleducation.com.au/education-resources/what-is-the-scientific-method/</a:t>
            </a:r>
            <a:r>
              <a:rPr lang="en-US" sz="800" dirty="0"/>
              <a:t> </a:t>
            </a:r>
          </a:p>
        </p:txBody>
      </p:sp>
      <p:sp>
        <p:nvSpPr>
          <p:cNvPr id="9" name="TextBox 8">
            <a:extLst>
              <a:ext uri="{FF2B5EF4-FFF2-40B4-BE49-F238E27FC236}">
                <a16:creationId xmlns:a16="http://schemas.microsoft.com/office/drawing/2014/main" id="{80568C0C-EBF9-2526-7464-B7BD50041B9A}"/>
              </a:ext>
            </a:extLst>
          </p:cNvPr>
          <p:cNvSpPr txBox="1"/>
          <p:nvPr/>
        </p:nvSpPr>
        <p:spPr>
          <a:xfrm>
            <a:off x="4236720" y="1068992"/>
            <a:ext cx="4671060" cy="3693319"/>
          </a:xfrm>
          <a:prstGeom prst="rect">
            <a:avLst/>
          </a:prstGeom>
          <a:noFill/>
        </p:spPr>
        <p:txBody>
          <a:bodyPr wrap="square">
            <a:spAutoFit/>
          </a:bodyPr>
          <a:lstStyle/>
          <a:p>
            <a:r>
              <a:rPr lang="en-US" sz="2400" b="1" i="0" dirty="0">
                <a:solidFill>
                  <a:srgbClr val="2D3748"/>
                </a:solidFill>
                <a:latin typeface="Calibri"/>
              </a:rPr>
              <a:t>Principles</a:t>
            </a:r>
          </a:p>
          <a:p>
            <a:endParaRPr lang="en-US" sz="1100" dirty="0">
              <a:solidFill>
                <a:srgbClr val="2D3748"/>
              </a:solidFill>
              <a:latin typeface="Calibri"/>
            </a:endParaRPr>
          </a:p>
          <a:p>
            <a:r>
              <a:rPr lang="en-US" sz="1400" b="1" i="0" dirty="0">
                <a:solidFill>
                  <a:srgbClr val="2D3748"/>
                </a:solidFill>
                <a:latin typeface="Calibri"/>
              </a:rPr>
              <a:t>Skepticism</a:t>
            </a:r>
            <a:r>
              <a:rPr lang="en-US" sz="1400" b="0" i="0" dirty="0">
                <a:solidFill>
                  <a:srgbClr val="2D3748"/>
                </a:solidFill>
                <a:latin typeface="Calibri"/>
              </a:rPr>
              <a:t>: don’t trust, demand evidence.</a:t>
            </a:r>
          </a:p>
          <a:p>
            <a:endParaRPr lang="en-US" sz="1400" b="0" i="0" dirty="0">
              <a:solidFill>
                <a:srgbClr val="2D3748"/>
              </a:solidFill>
              <a:latin typeface="Calibri"/>
            </a:endParaRPr>
          </a:p>
          <a:p>
            <a:r>
              <a:rPr lang="en-US" sz="1400" b="1" i="0" dirty="0">
                <a:solidFill>
                  <a:srgbClr val="2D3748"/>
                </a:solidFill>
                <a:latin typeface="Calibri"/>
              </a:rPr>
              <a:t>Evidence over authority</a:t>
            </a:r>
            <a:r>
              <a:rPr lang="en-US" sz="1400" b="0" i="0" dirty="0">
                <a:solidFill>
                  <a:srgbClr val="2D3748"/>
                </a:solidFill>
                <a:latin typeface="Calibri"/>
              </a:rPr>
              <a:t>: does not matter who wrote the code, only what the evidence says.</a:t>
            </a:r>
          </a:p>
          <a:p>
            <a:endParaRPr lang="en-US" sz="1400" b="0" i="0" dirty="0">
              <a:solidFill>
                <a:srgbClr val="2D3748"/>
              </a:solidFill>
              <a:latin typeface="Calibri"/>
            </a:endParaRPr>
          </a:p>
          <a:p>
            <a:r>
              <a:rPr lang="en-US" sz="1400" b="1" dirty="0">
                <a:solidFill>
                  <a:srgbClr val="2D3748"/>
                </a:solidFill>
                <a:latin typeface="Calibri"/>
              </a:rPr>
              <a:t>Relevance</a:t>
            </a:r>
            <a:r>
              <a:rPr lang="en-US" sz="1400" dirty="0">
                <a:solidFill>
                  <a:srgbClr val="2D3748"/>
                </a:solidFill>
                <a:latin typeface="Calibri"/>
              </a:rPr>
              <a:t>: prove the experiment matters.</a:t>
            </a:r>
          </a:p>
          <a:p>
            <a:endParaRPr lang="en-US" sz="1400" dirty="0">
              <a:solidFill>
                <a:srgbClr val="2D3748"/>
              </a:solidFill>
              <a:latin typeface="Calibri"/>
            </a:endParaRPr>
          </a:p>
          <a:p>
            <a:r>
              <a:rPr lang="en-US" sz="1400" b="1" i="0" dirty="0">
                <a:solidFill>
                  <a:srgbClr val="2D3748"/>
                </a:solidFill>
                <a:latin typeface="Calibri"/>
              </a:rPr>
              <a:t>Testability</a:t>
            </a:r>
            <a:r>
              <a:rPr lang="en-US" sz="1400" b="0" i="0" dirty="0">
                <a:solidFill>
                  <a:srgbClr val="2D3748"/>
                </a:solidFill>
                <a:latin typeface="Calibri"/>
              </a:rPr>
              <a:t>: the hypothesis must be objective and measurable.</a:t>
            </a:r>
          </a:p>
          <a:p>
            <a:endParaRPr lang="en-US" sz="1400" b="0" i="0" dirty="0">
              <a:solidFill>
                <a:srgbClr val="2D3748"/>
              </a:solidFill>
              <a:latin typeface="Calibri"/>
            </a:endParaRPr>
          </a:p>
          <a:p>
            <a:r>
              <a:rPr lang="en-US" sz="1400" b="1" dirty="0">
                <a:solidFill>
                  <a:srgbClr val="2D3748"/>
                </a:solidFill>
                <a:latin typeface="Calibri"/>
              </a:rPr>
              <a:t>Reproducibility</a:t>
            </a:r>
            <a:r>
              <a:rPr lang="en-US" sz="1400" dirty="0">
                <a:solidFill>
                  <a:srgbClr val="2D3748"/>
                </a:solidFill>
                <a:latin typeface="Calibri"/>
              </a:rPr>
              <a:t>: anyone should be able to run the experiment again.</a:t>
            </a:r>
          </a:p>
          <a:p>
            <a:endParaRPr lang="en-US" sz="1400" dirty="0">
              <a:solidFill>
                <a:srgbClr val="2D3748"/>
              </a:solidFill>
              <a:latin typeface="Calibri"/>
            </a:endParaRPr>
          </a:p>
          <a:p>
            <a:r>
              <a:rPr lang="en-US" sz="1400" b="1" i="0" dirty="0">
                <a:solidFill>
                  <a:srgbClr val="2D3748"/>
                </a:solidFill>
                <a:latin typeface="Calibri"/>
              </a:rPr>
              <a:t>Causality</a:t>
            </a:r>
            <a:r>
              <a:rPr lang="en-US" sz="1400" b="0" i="0" dirty="0">
                <a:solidFill>
                  <a:srgbClr val="2D3748"/>
                </a:solidFill>
                <a:latin typeface="Calibri"/>
              </a:rPr>
              <a:t>: the experiment variables should be controlled to show causality.</a:t>
            </a:r>
            <a:endParaRPr lang="en-US" sz="1600" b="0" i="0" dirty="0">
              <a:solidFill>
                <a:srgbClr val="2D3748"/>
              </a:solidFill>
              <a:latin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39B52-FD94-4B01-19B0-251DE16B0AE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B9E891E-0D38-6D80-EC71-FC33EFA3D2FB}"/>
              </a:ext>
            </a:extLst>
          </p:cNvPr>
          <p:cNvSpPr txBox="1"/>
          <p:nvPr/>
        </p:nvSpPr>
        <p:spPr>
          <a:xfrm>
            <a:off x="457200" y="274320"/>
            <a:ext cx="8229600" cy="553998"/>
          </a:xfrm>
          <a:prstGeom prst="rect">
            <a:avLst/>
          </a:prstGeom>
          <a:noFill/>
        </p:spPr>
        <p:txBody>
          <a:bodyPr wrap="square">
            <a:spAutoFit/>
          </a:bodyPr>
          <a:lstStyle/>
          <a:p>
            <a:pPr algn="l"/>
            <a:r>
              <a:rPr lang="en-US" sz="3000" b="1" dirty="0">
                <a:solidFill>
                  <a:srgbClr val="0A1628"/>
                </a:solidFill>
                <a:latin typeface="Calibri"/>
              </a:rPr>
              <a:t>Examples of violations in the industry</a:t>
            </a:r>
            <a:endParaRPr sz="3000" b="1" i="0" dirty="0">
              <a:solidFill>
                <a:srgbClr val="0A1628"/>
              </a:solidFill>
              <a:latin typeface="Calibri"/>
            </a:endParaRPr>
          </a:p>
        </p:txBody>
      </p:sp>
      <p:sp>
        <p:nvSpPr>
          <p:cNvPr id="3" name="Rectangle 2">
            <a:extLst>
              <a:ext uri="{FF2B5EF4-FFF2-40B4-BE49-F238E27FC236}">
                <a16:creationId xmlns:a16="http://schemas.microsoft.com/office/drawing/2014/main" id="{40ABD90C-890A-AAEE-32E5-B33349CBD503}"/>
              </a:ext>
            </a:extLst>
          </p:cNvPr>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Slide Number Placeholder 4">
            <a:extLst>
              <a:ext uri="{FF2B5EF4-FFF2-40B4-BE49-F238E27FC236}">
                <a16:creationId xmlns:a16="http://schemas.microsoft.com/office/drawing/2014/main" id="{1E40BF51-B23B-48AC-B1F0-064CB8111ACF}"/>
              </a:ext>
            </a:extLst>
          </p:cNvPr>
          <p:cNvSpPr>
            <a:spLocks noGrp="1"/>
          </p:cNvSpPr>
          <p:nvPr>
            <p:ph type="sldNum" sz="quarter" idx="12"/>
          </p:nvPr>
        </p:nvSpPr>
        <p:spPr/>
        <p:txBody>
          <a:bodyPr/>
          <a:lstStyle/>
          <a:p>
            <a:fld id="{C1FF6DA9-008F-8B48-92A6-B652298478BF}" type="slidenum">
              <a:rPr lang="en-US" smtClean="0"/>
              <a:t>20</a:t>
            </a:fld>
            <a:endParaRPr lang="en-US"/>
          </a:p>
        </p:txBody>
      </p:sp>
      <p:sp>
        <p:nvSpPr>
          <p:cNvPr id="9" name="TextBox 8">
            <a:extLst>
              <a:ext uri="{FF2B5EF4-FFF2-40B4-BE49-F238E27FC236}">
                <a16:creationId xmlns:a16="http://schemas.microsoft.com/office/drawing/2014/main" id="{29FF638D-ECF4-C305-B7BF-736184D83702}"/>
              </a:ext>
            </a:extLst>
          </p:cNvPr>
          <p:cNvSpPr txBox="1"/>
          <p:nvPr/>
        </p:nvSpPr>
        <p:spPr>
          <a:xfrm>
            <a:off x="243840" y="1039451"/>
            <a:ext cx="3619500" cy="3862596"/>
          </a:xfrm>
          <a:prstGeom prst="rect">
            <a:avLst/>
          </a:prstGeom>
          <a:noFill/>
        </p:spPr>
        <p:txBody>
          <a:bodyPr wrap="square">
            <a:spAutoFit/>
          </a:bodyPr>
          <a:lstStyle/>
          <a:p>
            <a:r>
              <a:rPr lang="en-US" sz="2400" b="1" i="0" dirty="0">
                <a:solidFill>
                  <a:srgbClr val="2D3748"/>
                </a:solidFill>
                <a:latin typeface="Calibri"/>
              </a:rPr>
              <a:t>Principles</a:t>
            </a:r>
          </a:p>
          <a:p>
            <a:endParaRPr lang="en-US" sz="1100" dirty="0">
              <a:solidFill>
                <a:srgbClr val="2D3748"/>
              </a:solidFill>
              <a:latin typeface="Calibri"/>
            </a:endParaRPr>
          </a:p>
          <a:p>
            <a:r>
              <a:rPr lang="en-US" sz="1400" b="1" i="0" dirty="0">
                <a:solidFill>
                  <a:srgbClr val="2D3748"/>
                </a:solidFill>
                <a:latin typeface="Calibri"/>
              </a:rPr>
              <a:t>Skepticism</a:t>
            </a:r>
            <a:r>
              <a:rPr lang="en-US" sz="1400" b="0" i="0" dirty="0">
                <a:solidFill>
                  <a:srgbClr val="2D3748"/>
                </a:solidFill>
                <a:latin typeface="Calibri"/>
              </a:rPr>
              <a:t>: don’t trust, demand evidence.</a:t>
            </a:r>
          </a:p>
          <a:p>
            <a:endParaRPr lang="en-US" sz="1400" b="0" i="0" dirty="0">
              <a:solidFill>
                <a:srgbClr val="2D3748"/>
              </a:solidFill>
              <a:latin typeface="Calibri"/>
            </a:endParaRPr>
          </a:p>
          <a:p>
            <a:r>
              <a:rPr lang="en-US" sz="1400" b="1" i="0" dirty="0">
                <a:solidFill>
                  <a:srgbClr val="2D3748"/>
                </a:solidFill>
                <a:latin typeface="Calibri"/>
              </a:rPr>
              <a:t>Evidence over authority</a:t>
            </a:r>
            <a:r>
              <a:rPr lang="en-US" sz="1400" b="0" i="0" dirty="0">
                <a:solidFill>
                  <a:srgbClr val="2D3748"/>
                </a:solidFill>
                <a:latin typeface="Calibri"/>
              </a:rPr>
              <a:t>: does not matter who wrote the code, only what the evidence says.</a:t>
            </a:r>
          </a:p>
          <a:p>
            <a:endParaRPr lang="en-US" sz="1400" b="0" i="0" dirty="0">
              <a:solidFill>
                <a:srgbClr val="2D3748"/>
              </a:solidFill>
              <a:latin typeface="Calibri"/>
            </a:endParaRPr>
          </a:p>
          <a:p>
            <a:r>
              <a:rPr lang="en-US" sz="1400" b="1" dirty="0">
                <a:solidFill>
                  <a:srgbClr val="2D3748"/>
                </a:solidFill>
                <a:latin typeface="Calibri"/>
              </a:rPr>
              <a:t>Relevance</a:t>
            </a:r>
            <a:r>
              <a:rPr lang="en-US" sz="1400" dirty="0">
                <a:solidFill>
                  <a:srgbClr val="2D3748"/>
                </a:solidFill>
                <a:latin typeface="Calibri"/>
              </a:rPr>
              <a:t>: prove the experiment matters.</a:t>
            </a:r>
          </a:p>
          <a:p>
            <a:endParaRPr lang="en-US" sz="1400" dirty="0">
              <a:solidFill>
                <a:srgbClr val="2D3748"/>
              </a:solidFill>
              <a:latin typeface="Calibri"/>
            </a:endParaRPr>
          </a:p>
          <a:p>
            <a:r>
              <a:rPr lang="en-US" sz="1400" b="1" i="0" dirty="0">
                <a:solidFill>
                  <a:srgbClr val="2D3748"/>
                </a:solidFill>
                <a:latin typeface="Calibri"/>
              </a:rPr>
              <a:t>Testability</a:t>
            </a:r>
            <a:r>
              <a:rPr lang="en-US" sz="1400" b="0" i="0" dirty="0">
                <a:solidFill>
                  <a:srgbClr val="2D3748"/>
                </a:solidFill>
                <a:latin typeface="Calibri"/>
              </a:rPr>
              <a:t>: the hypothesis must be objective and measurable.</a:t>
            </a:r>
          </a:p>
          <a:p>
            <a:endParaRPr lang="en-US" sz="1400" b="0" i="0" dirty="0">
              <a:solidFill>
                <a:srgbClr val="2D3748"/>
              </a:solidFill>
              <a:latin typeface="Calibri"/>
            </a:endParaRPr>
          </a:p>
          <a:p>
            <a:r>
              <a:rPr lang="en-US" sz="1400" b="1" dirty="0">
                <a:solidFill>
                  <a:srgbClr val="2D3748"/>
                </a:solidFill>
                <a:latin typeface="Calibri"/>
              </a:rPr>
              <a:t>Reproducibility</a:t>
            </a:r>
            <a:r>
              <a:rPr lang="en-US" sz="1400" dirty="0">
                <a:solidFill>
                  <a:srgbClr val="2D3748"/>
                </a:solidFill>
                <a:latin typeface="Calibri"/>
              </a:rPr>
              <a:t>: anyone should be able to run the experiment again.</a:t>
            </a:r>
          </a:p>
          <a:p>
            <a:endParaRPr lang="en-US" sz="1400" dirty="0">
              <a:solidFill>
                <a:srgbClr val="2D3748"/>
              </a:solidFill>
              <a:latin typeface="Calibri"/>
            </a:endParaRPr>
          </a:p>
          <a:p>
            <a:r>
              <a:rPr lang="en-US" sz="1400" b="1" i="0" dirty="0">
                <a:solidFill>
                  <a:srgbClr val="2D3748"/>
                </a:solidFill>
                <a:latin typeface="Calibri"/>
              </a:rPr>
              <a:t>Causality</a:t>
            </a:r>
            <a:r>
              <a:rPr lang="en-US" sz="1400" b="0" i="0" dirty="0">
                <a:solidFill>
                  <a:srgbClr val="2D3748"/>
                </a:solidFill>
                <a:latin typeface="Calibri"/>
              </a:rPr>
              <a:t>: the experiment variables</a:t>
            </a:r>
            <a:endParaRPr lang="en-US" sz="1400" dirty="0">
              <a:solidFill>
                <a:srgbClr val="2D3748"/>
              </a:solidFill>
              <a:latin typeface="Calibri"/>
            </a:endParaRPr>
          </a:p>
          <a:p>
            <a:r>
              <a:rPr lang="en-US" sz="1400" b="0" i="0" dirty="0">
                <a:solidFill>
                  <a:srgbClr val="2D3748"/>
                </a:solidFill>
                <a:latin typeface="Calibri"/>
              </a:rPr>
              <a:t>Should be controlled to show causality.</a:t>
            </a:r>
            <a:endParaRPr lang="en-US" sz="1600" b="0" i="0" dirty="0">
              <a:solidFill>
                <a:srgbClr val="2D3748"/>
              </a:solidFill>
              <a:latin typeface="Calibri"/>
            </a:endParaRPr>
          </a:p>
        </p:txBody>
      </p:sp>
      <p:sp>
        <p:nvSpPr>
          <p:cNvPr id="4" name="Speech Bubble: Rectangle 3">
            <a:extLst>
              <a:ext uri="{FF2B5EF4-FFF2-40B4-BE49-F238E27FC236}">
                <a16:creationId xmlns:a16="http://schemas.microsoft.com/office/drawing/2014/main" id="{56630494-744F-D8AC-1104-4A399FCC53F1}"/>
              </a:ext>
            </a:extLst>
          </p:cNvPr>
          <p:cNvSpPr/>
          <p:nvPr/>
        </p:nvSpPr>
        <p:spPr>
          <a:xfrm>
            <a:off x="3943350" y="1114782"/>
            <a:ext cx="5173980" cy="706985"/>
          </a:xfrm>
          <a:prstGeom prst="wedgeRectCallout">
            <a:avLst>
              <a:gd name="adj1" fmla="val -52711"/>
              <a:gd name="adj2" fmla="val 26758"/>
            </a:avLst>
          </a:prstGeom>
          <a:solidFill>
            <a:schemeClr val="accent6">
              <a:lumMod val="20000"/>
              <a:lumOff val="80000"/>
            </a:schemeClr>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200" b="1" dirty="0">
                <a:solidFill>
                  <a:schemeClr val="tx1"/>
                </a:solidFill>
              </a:rPr>
              <a:t>Q: Why did you not provide automatic tests on the new constraint?</a:t>
            </a:r>
          </a:p>
          <a:p>
            <a:r>
              <a:rPr lang="en-US" sz="1200" dirty="0">
                <a:solidFill>
                  <a:schemeClr val="tx1"/>
                </a:solidFill>
              </a:rPr>
              <a:t>It’s not necessary, I know this works because it’s the same constraint that I have on another repository which has been working correctly for a long time.</a:t>
            </a:r>
            <a:endParaRPr lang="en-US" sz="1100" dirty="0">
              <a:solidFill>
                <a:schemeClr val="tx1"/>
              </a:solidFill>
            </a:endParaRPr>
          </a:p>
        </p:txBody>
      </p:sp>
      <p:sp>
        <p:nvSpPr>
          <p:cNvPr id="7" name="Speech Bubble: Rectangle 6">
            <a:extLst>
              <a:ext uri="{FF2B5EF4-FFF2-40B4-BE49-F238E27FC236}">
                <a16:creationId xmlns:a16="http://schemas.microsoft.com/office/drawing/2014/main" id="{BA704BF9-F465-FB3D-C489-99F3556B09E9}"/>
              </a:ext>
            </a:extLst>
          </p:cNvPr>
          <p:cNvSpPr/>
          <p:nvPr/>
        </p:nvSpPr>
        <p:spPr>
          <a:xfrm>
            <a:off x="3943350" y="1946794"/>
            <a:ext cx="4019550" cy="522169"/>
          </a:xfrm>
          <a:prstGeom prst="wedgeRectCallout">
            <a:avLst>
              <a:gd name="adj1" fmla="val -52711"/>
              <a:gd name="adj2" fmla="val 26758"/>
            </a:avLst>
          </a:prstGeom>
          <a:solidFill>
            <a:schemeClr val="accent6">
              <a:lumMod val="20000"/>
              <a:lumOff val="80000"/>
            </a:schemeClr>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200" b="1" dirty="0">
                <a:solidFill>
                  <a:schemeClr val="tx1"/>
                </a:solidFill>
              </a:rPr>
              <a:t>Q: Why this piece of code has no tests?</a:t>
            </a:r>
          </a:p>
          <a:p>
            <a:r>
              <a:rPr lang="en-US" sz="1200" dirty="0">
                <a:solidFill>
                  <a:schemeClr val="tx1"/>
                </a:solidFill>
              </a:rPr>
              <a:t>It was written by [the boss, a principal engineer, a smart guy]</a:t>
            </a:r>
            <a:endParaRPr lang="en-US" sz="1100" dirty="0">
              <a:solidFill>
                <a:schemeClr val="tx1"/>
              </a:solidFill>
            </a:endParaRPr>
          </a:p>
        </p:txBody>
      </p:sp>
      <p:sp>
        <p:nvSpPr>
          <p:cNvPr id="10" name="Speech Bubble: Rectangle 9">
            <a:extLst>
              <a:ext uri="{FF2B5EF4-FFF2-40B4-BE49-F238E27FC236}">
                <a16:creationId xmlns:a16="http://schemas.microsoft.com/office/drawing/2014/main" id="{DA317EBF-453C-9F35-BAFC-46D463213061}"/>
              </a:ext>
            </a:extLst>
          </p:cNvPr>
          <p:cNvSpPr/>
          <p:nvPr/>
        </p:nvSpPr>
        <p:spPr>
          <a:xfrm>
            <a:off x="3943350" y="2548357"/>
            <a:ext cx="5116830" cy="522169"/>
          </a:xfrm>
          <a:prstGeom prst="wedgeRectCallout">
            <a:avLst>
              <a:gd name="adj1" fmla="val -52332"/>
              <a:gd name="adj2" fmla="val 10706"/>
            </a:avLst>
          </a:prstGeom>
          <a:solidFill>
            <a:schemeClr val="accent6">
              <a:lumMod val="20000"/>
              <a:lumOff val="80000"/>
            </a:schemeClr>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200" b="1" dirty="0">
                <a:solidFill>
                  <a:schemeClr val="tx1"/>
                </a:solidFill>
              </a:rPr>
              <a:t>Q: Why are you modifying the optimization algorithm?</a:t>
            </a:r>
          </a:p>
          <a:p>
            <a:r>
              <a:rPr lang="en-US" sz="1200" dirty="0">
                <a:solidFill>
                  <a:schemeClr val="tx1"/>
                </a:solidFill>
              </a:rPr>
              <a:t>It will decrease the run time of our model from 10 seconds to 9.8 seconds.</a:t>
            </a:r>
            <a:endParaRPr lang="en-US" sz="1100" dirty="0">
              <a:solidFill>
                <a:schemeClr val="tx1"/>
              </a:solidFill>
            </a:endParaRPr>
          </a:p>
        </p:txBody>
      </p:sp>
      <p:sp>
        <p:nvSpPr>
          <p:cNvPr id="11" name="Speech Bubble: Rectangle 10">
            <a:extLst>
              <a:ext uri="{FF2B5EF4-FFF2-40B4-BE49-F238E27FC236}">
                <a16:creationId xmlns:a16="http://schemas.microsoft.com/office/drawing/2014/main" id="{46FDE51F-C57F-BDF7-E000-D76D38D10EF8}"/>
              </a:ext>
            </a:extLst>
          </p:cNvPr>
          <p:cNvSpPr/>
          <p:nvPr/>
        </p:nvSpPr>
        <p:spPr>
          <a:xfrm>
            <a:off x="3863340" y="3134481"/>
            <a:ext cx="5280660" cy="522169"/>
          </a:xfrm>
          <a:prstGeom prst="wedgeRectCallout">
            <a:avLst>
              <a:gd name="adj1" fmla="val -52332"/>
              <a:gd name="adj2" fmla="val 10706"/>
            </a:avLst>
          </a:prstGeom>
          <a:solidFill>
            <a:schemeClr val="accent6">
              <a:lumMod val="20000"/>
              <a:lumOff val="80000"/>
            </a:schemeClr>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200" b="1" dirty="0">
                <a:solidFill>
                  <a:schemeClr val="tx1"/>
                </a:solidFill>
              </a:rPr>
              <a:t>Q: How are you going to analyze if the new constraint is correctly implemented?</a:t>
            </a:r>
          </a:p>
          <a:p>
            <a:r>
              <a:rPr lang="en-US" sz="1200" dirty="0">
                <a:solidFill>
                  <a:schemeClr val="tx1"/>
                </a:solidFill>
              </a:rPr>
              <a:t>I will run 100 experiments and see if the results “look ok”</a:t>
            </a:r>
            <a:endParaRPr lang="en-US" sz="1100" dirty="0">
              <a:solidFill>
                <a:schemeClr val="tx1"/>
              </a:solidFill>
            </a:endParaRPr>
          </a:p>
        </p:txBody>
      </p:sp>
      <p:sp>
        <p:nvSpPr>
          <p:cNvPr id="12" name="Speech Bubble: Rectangle 11">
            <a:extLst>
              <a:ext uri="{FF2B5EF4-FFF2-40B4-BE49-F238E27FC236}">
                <a16:creationId xmlns:a16="http://schemas.microsoft.com/office/drawing/2014/main" id="{2C5F2B0D-DA75-FBAA-943B-357334808C44}"/>
              </a:ext>
            </a:extLst>
          </p:cNvPr>
          <p:cNvSpPr/>
          <p:nvPr/>
        </p:nvSpPr>
        <p:spPr>
          <a:xfrm>
            <a:off x="3890010" y="3713841"/>
            <a:ext cx="5170170" cy="608327"/>
          </a:xfrm>
          <a:prstGeom prst="wedgeRectCallout">
            <a:avLst>
              <a:gd name="adj1" fmla="val -52332"/>
              <a:gd name="adj2" fmla="val 10706"/>
            </a:avLst>
          </a:prstGeom>
          <a:solidFill>
            <a:schemeClr val="accent6">
              <a:lumMod val="20000"/>
              <a:lumOff val="80000"/>
            </a:schemeClr>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200" b="1" dirty="0">
                <a:solidFill>
                  <a:schemeClr val="tx1"/>
                </a:solidFill>
              </a:rPr>
              <a:t>Q: How do I run your repository?</a:t>
            </a:r>
          </a:p>
          <a:p>
            <a:r>
              <a:rPr lang="en-US" sz="1200" dirty="0">
                <a:solidFill>
                  <a:schemeClr val="tx1"/>
                </a:solidFill>
              </a:rPr>
              <a:t>Follow the readme instructions, but then don’t forget to call me back because there are unwritten steps that you need to do that are not documented.</a:t>
            </a:r>
          </a:p>
        </p:txBody>
      </p:sp>
      <p:sp>
        <p:nvSpPr>
          <p:cNvPr id="13" name="Speech Bubble: Rectangle 12">
            <a:extLst>
              <a:ext uri="{FF2B5EF4-FFF2-40B4-BE49-F238E27FC236}">
                <a16:creationId xmlns:a16="http://schemas.microsoft.com/office/drawing/2014/main" id="{8DEFB1F4-5A98-47F9-34C4-0F55049DDF08}"/>
              </a:ext>
            </a:extLst>
          </p:cNvPr>
          <p:cNvSpPr/>
          <p:nvPr/>
        </p:nvSpPr>
        <p:spPr>
          <a:xfrm>
            <a:off x="3463290" y="4383654"/>
            <a:ext cx="5680710" cy="637070"/>
          </a:xfrm>
          <a:prstGeom prst="wedgeRectCallout">
            <a:avLst>
              <a:gd name="adj1" fmla="val -52332"/>
              <a:gd name="adj2" fmla="val 10706"/>
            </a:avLst>
          </a:prstGeom>
          <a:solidFill>
            <a:schemeClr val="accent6">
              <a:lumMod val="20000"/>
              <a:lumOff val="80000"/>
            </a:schemeClr>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200" b="1" dirty="0">
                <a:solidFill>
                  <a:schemeClr val="tx1"/>
                </a:solidFill>
              </a:rPr>
              <a:t>Q: I deleted part of the code of your constraint implementation, and the tests still pass</a:t>
            </a:r>
          </a:p>
          <a:p>
            <a:r>
              <a:rPr lang="en-US" sz="1200" dirty="0">
                <a:solidFill>
                  <a:schemeClr val="tx1"/>
                </a:solidFill>
              </a:rPr>
              <a:t>Yeah… the tests will pass anyway because I was not asserting anything, just making sure the code compiled correctly.</a:t>
            </a:r>
          </a:p>
        </p:txBody>
      </p:sp>
    </p:spTree>
    <p:extLst>
      <p:ext uri="{BB962C8B-B14F-4D97-AF65-F5344CB8AC3E}">
        <p14:creationId xmlns:p14="http://schemas.microsoft.com/office/powerpoint/2010/main" val="7146165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10" grpId="0" animBg="1"/>
      <p:bldP spid="11" grpId="0" animBg="1"/>
      <p:bldP spid="12" grpId="0" animBg="1"/>
      <p:bldP spid="13"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553998"/>
          </a:xfrm>
          <a:prstGeom prst="rect">
            <a:avLst/>
          </a:prstGeom>
          <a:noFill/>
        </p:spPr>
        <p:txBody>
          <a:bodyPr wrap="square">
            <a:spAutoFit/>
          </a:bodyPr>
          <a:lstStyle/>
          <a:p>
            <a:pPr algn="l"/>
            <a:r>
              <a:rPr lang="en-US" sz="3000" b="1" i="0" dirty="0">
                <a:solidFill>
                  <a:srgbClr val="0A1628"/>
                </a:solidFill>
                <a:latin typeface="Calibri"/>
              </a:rPr>
              <a:t>Some t</a:t>
            </a:r>
            <a:r>
              <a:rPr sz="3000" b="1" i="0" dirty="0">
                <a:solidFill>
                  <a:srgbClr val="0A1628"/>
                </a:solidFill>
                <a:latin typeface="Calibri"/>
              </a:rPr>
              <a:t>echnologies that enable experimentation</a:t>
            </a:r>
          </a:p>
        </p:txBody>
      </p:sp>
      <p:sp>
        <p:nvSpPr>
          <p:cNvPr id="3" name="Rectangle 2"/>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40180"/>
            <a:ext cx="8046720" cy="3170099"/>
          </a:xfrm>
          <a:prstGeom prst="rect">
            <a:avLst/>
          </a:prstGeom>
          <a:noFill/>
        </p:spPr>
        <p:txBody>
          <a:bodyPr wrap="square">
            <a:spAutoFit/>
          </a:bodyPr>
          <a:lstStyle/>
          <a:p>
            <a:pPr algn="l"/>
            <a:r>
              <a:rPr sz="2000" b="1" i="0" dirty="0">
                <a:solidFill>
                  <a:srgbClr val="2D3748"/>
                </a:solidFill>
                <a:latin typeface="Calibri"/>
              </a:rPr>
              <a:t>Static </a:t>
            </a:r>
            <a:r>
              <a:rPr lang="en-US" sz="2000" b="1" i="0" dirty="0">
                <a:solidFill>
                  <a:srgbClr val="2D3748"/>
                </a:solidFill>
                <a:latin typeface="Calibri"/>
              </a:rPr>
              <a:t>code </a:t>
            </a:r>
            <a:r>
              <a:rPr sz="2000" b="1" i="0" dirty="0">
                <a:solidFill>
                  <a:srgbClr val="2D3748"/>
                </a:solidFill>
                <a:latin typeface="Calibri"/>
              </a:rPr>
              <a:t>analysis</a:t>
            </a:r>
            <a:r>
              <a:rPr lang="en-US" sz="2000" b="1" i="0" dirty="0">
                <a:solidFill>
                  <a:srgbClr val="2D3748"/>
                </a:solidFill>
                <a:latin typeface="Calibri"/>
              </a:rPr>
              <a:t> tools </a:t>
            </a:r>
            <a:r>
              <a:rPr sz="2000" b="0" i="0" dirty="0">
                <a:solidFill>
                  <a:srgbClr val="2D3748"/>
                </a:solidFill>
                <a:latin typeface="Calibri"/>
              </a:rPr>
              <a:t>→</a:t>
            </a:r>
            <a:r>
              <a:rPr lang="en-US" sz="2000" b="0" i="0" dirty="0">
                <a:solidFill>
                  <a:srgbClr val="2D3748"/>
                </a:solidFill>
                <a:latin typeface="Calibri"/>
              </a:rPr>
              <a:t> </a:t>
            </a:r>
            <a:r>
              <a:rPr sz="2000" b="0" i="0" dirty="0">
                <a:solidFill>
                  <a:srgbClr val="2D3748"/>
                </a:solidFill>
                <a:latin typeface="Calibri"/>
              </a:rPr>
              <a:t>catch errors before you run</a:t>
            </a:r>
            <a:r>
              <a:rPr lang="en-US" sz="2000" b="0" i="0" dirty="0">
                <a:solidFill>
                  <a:srgbClr val="2D3748"/>
                </a:solidFill>
                <a:latin typeface="Calibri"/>
              </a:rPr>
              <a:t> (Skepticism)</a:t>
            </a:r>
          </a:p>
          <a:p>
            <a:pPr algn="l"/>
            <a:r>
              <a:rPr sz="2000" b="0" i="0" dirty="0">
                <a:solidFill>
                  <a:srgbClr val="2D3748"/>
                </a:solidFill>
                <a:latin typeface="Calibri"/>
              </a:rPr>
              <a:t>
</a:t>
            </a:r>
            <a:r>
              <a:rPr sz="2000" b="1" i="0" dirty="0">
                <a:solidFill>
                  <a:srgbClr val="2D3748"/>
                </a:solidFill>
                <a:latin typeface="Calibri"/>
              </a:rPr>
              <a:t>Automated tests</a:t>
            </a:r>
            <a:r>
              <a:rPr lang="en-US" sz="2000" b="1" i="0" dirty="0">
                <a:solidFill>
                  <a:srgbClr val="2D3748"/>
                </a:solidFill>
                <a:latin typeface="Calibri"/>
              </a:rPr>
              <a:t> </a:t>
            </a:r>
            <a:r>
              <a:rPr sz="2000" b="0" i="0" dirty="0">
                <a:solidFill>
                  <a:srgbClr val="2D3748"/>
                </a:solidFill>
                <a:latin typeface="Calibri"/>
              </a:rPr>
              <a:t>→</a:t>
            </a:r>
            <a:r>
              <a:rPr lang="en-US" sz="2000" b="0" i="0" dirty="0">
                <a:solidFill>
                  <a:srgbClr val="2D3748"/>
                </a:solidFill>
                <a:latin typeface="Calibri"/>
              </a:rPr>
              <a:t> </a:t>
            </a:r>
            <a:r>
              <a:rPr sz="2000" b="0" i="0" dirty="0">
                <a:solidFill>
                  <a:srgbClr val="2D3748"/>
                </a:solidFill>
                <a:latin typeface="Calibri"/>
              </a:rPr>
              <a:t>verify </a:t>
            </a:r>
            <a:r>
              <a:rPr lang="en-US" sz="2000" b="0" i="0" dirty="0">
                <a:solidFill>
                  <a:srgbClr val="2D3748"/>
                </a:solidFill>
                <a:latin typeface="Calibri"/>
              </a:rPr>
              <a:t>the hypothesis of the program working correctly </a:t>
            </a:r>
            <a:r>
              <a:rPr sz="2000" b="0" i="0" dirty="0">
                <a:solidFill>
                  <a:srgbClr val="2D3748"/>
                </a:solidFill>
                <a:latin typeface="Calibri"/>
              </a:rPr>
              <a:t> automatically</a:t>
            </a:r>
            <a:r>
              <a:rPr lang="en-US" sz="2000" b="0" i="0" dirty="0">
                <a:solidFill>
                  <a:srgbClr val="2D3748"/>
                </a:solidFill>
                <a:latin typeface="Calibri"/>
              </a:rPr>
              <a:t> quickly (Reproducibility, Testability)</a:t>
            </a:r>
          </a:p>
          <a:p>
            <a:r>
              <a:rPr sz="2000" b="0" i="0" dirty="0">
                <a:solidFill>
                  <a:srgbClr val="2D3748"/>
                </a:solidFill>
                <a:latin typeface="Calibri"/>
              </a:rPr>
              <a:t>
</a:t>
            </a:r>
            <a:r>
              <a:rPr sz="2000" b="1" i="0" dirty="0">
                <a:solidFill>
                  <a:srgbClr val="2D3748"/>
                </a:solidFill>
                <a:latin typeface="Calibri"/>
              </a:rPr>
              <a:t>CI/CD</a:t>
            </a:r>
            <a:r>
              <a:rPr lang="en-US" sz="2000" b="1" i="0" dirty="0">
                <a:solidFill>
                  <a:srgbClr val="2D3748"/>
                </a:solidFill>
                <a:latin typeface="Calibri"/>
              </a:rPr>
              <a:t> </a:t>
            </a:r>
            <a:r>
              <a:rPr sz="2000" b="0" i="0" dirty="0">
                <a:solidFill>
                  <a:srgbClr val="2D3748"/>
                </a:solidFill>
                <a:latin typeface="Calibri"/>
              </a:rPr>
              <a:t>→  instant feedback on every change</a:t>
            </a:r>
            <a:r>
              <a:rPr lang="en-US" sz="2000" dirty="0">
                <a:solidFill>
                  <a:srgbClr val="2D3748"/>
                </a:solidFill>
              </a:rPr>
              <a:t> (Reproducibility, Testability)</a:t>
            </a:r>
            <a:endParaRPr lang="en-US" sz="2000" b="0" i="0" dirty="0">
              <a:solidFill>
                <a:srgbClr val="2D3748"/>
              </a:solidFill>
              <a:latin typeface="Calibri"/>
            </a:endParaRPr>
          </a:p>
          <a:p>
            <a:r>
              <a:rPr sz="2000" b="0" i="0" dirty="0">
                <a:solidFill>
                  <a:srgbClr val="2D3748"/>
                </a:solidFill>
                <a:latin typeface="Calibri"/>
              </a:rPr>
              <a:t>
</a:t>
            </a:r>
            <a:r>
              <a:rPr sz="2000" b="1" i="0" dirty="0">
                <a:solidFill>
                  <a:srgbClr val="2D3748"/>
                </a:solidFill>
                <a:latin typeface="Calibri"/>
              </a:rPr>
              <a:t>Virtual environments </a:t>
            </a:r>
            <a:r>
              <a:rPr sz="2000" b="0" i="0" dirty="0">
                <a:solidFill>
                  <a:srgbClr val="2D3748"/>
                </a:solidFill>
                <a:latin typeface="Calibri"/>
              </a:rPr>
              <a:t>→  </a:t>
            </a:r>
            <a:r>
              <a:rPr lang="en-US" sz="2000" b="0" i="0" dirty="0">
                <a:solidFill>
                  <a:srgbClr val="2D3748"/>
                </a:solidFill>
                <a:latin typeface="Calibri"/>
              </a:rPr>
              <a:t>R</a:t>
            </a:r>
            <a:r>
              <a:rPr sz="2000" b="0" i="0" dirty="0">
                <a:solidFill>
                  <a:srgbClr val="2D3748"/>
                </a:solidFill>
                <a:latin typeface="Calibri"/>
              </a:rPr>
              <a:t>eproducibility guaranteed</a:t>
            </a:r>
            <a:r>
              <a:rPr lang="en-US" sz="2000" b="0" i="0" dirty="0">
                <a:solidFill>
                  <a:srgbClr val="2D3748"/>
                </a:solidFill>
                <a:latin typeface="Calibri"/>
              </a:rPr>
              <a:t> (</a:t>
            </a:r>
            <a:r>
              <a:rPr lang="en-US" sz="2000" dirty="0">
                <a:solidFill>
                  <a:srgbClr val="2D3748"/>
                </a:solidFill>
              </a:rPr>
              <a:t>Reproducibility)</a:t>
            </a:r>
            <a:endParaRPr lang="en-US" sz="2000" b="0" i="0" dirty="0">
              <a:solidFill>
                <a:srgbClr val="2D3748"/>
              </a:solidFill>
              <a:latin typeface="Calibri"/>
            </a:endParaRPr>
          </a:p>
          <a:p>
            <a:r>
              <a:rPr sz="2000" b="0" i="0" dirty="0">
                <a:solidFill>
                  <a:srgbClr val="2D3748"/>
                </a:solidFill>
                <a:latin typeface="Calibri"/>
              </a:rPr>
              <a:t>
</a:t>
            </a:r>
            <a:r>
              <a:rPr sz="2000" b="1" i="0" dirty="0">
                <a:solidFill>
                  <a:srgbClr val="2D3748"/>
                </a:solidFill>
                <a:latin typeface="Calibri"/>
              </a:rPr>
              <a:t>Git branches</a:t>
            </a:r>
            <a:r>
              <a:rPr lang="en-US" sz="2000" b="1" i="0" dirty="0">
                <a:solidFill>
                  <a:srgbClr val="2D3748"/>
                </a:solidFill>
                <a:latin typeface="Calibri"/>
              </a:rPr>
              <a:t> </a:t>
            </a:r>
            <a:r>
              <a:rPr sz="2000" b="0" i="0" dirty="0">
                <a:solidFill>
                  <a:srgbClr val="2D3748"/>
                </a:solidFill>
                <a:latin typeface="Calibri"/>
              </a:rPr>
              <a:t>→ isolated laboratories</a:t>
            </a:r>
            <a:r>
              <a:rPr lang="en-US" sz="2000" dirty="0">
                <a:solidFill>
                  <a:srgbClr val="2D3748"/>
                </a:solidFill>
              </a:rPr>
              <a:t> (Reproducibility)</a:t>
            </a:r>
          </a:p>
        </p:txBody>
      </p:sp>
      <p:sp>
        <p:nvSpPr>
          <p:cNvPr id="5" name="Slide Number Placeholder 4">
            <a:extLst>
              <a:ext uri="{FF2B5EF4-FFF2-40B4-BE49-F238E27FC236}">
                <a16:creationId xmlns:a16="http://schemas.microsoft.com/office/drawing/2014/main" id="{B62A0853-122D-5729-90CA-A276FF52A15F}"/>
              </a:ext>
            </a:extLst>
          </p:cNvPr>
          <p:cNvSpPr>
            <a:spLocks noGrp="1"/>
          </p:cNvSpPr>
          <p:nvPr>
            <p:ph type="sldNum" sz="quarter" idx="12"/>
          </p:nvPr>
        </p:nvSpPr>
        <p:spPr/>
        <p:txBody>
          <a:bodyPr/>
          <a:lstStyle/>
          <a:p>
            <a:fld id="{C1FF6DA9-008F-8B48-92A6-B652298478BF}" type="slidenum">
              <a:rPr lang="en-US" smtClean="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1645920"/>
            <a:ext cx="8229600" cy="457200"/>
          </a:xfrm>
          <a:prstGeom prst="rect">
            <a:avLst/>
          </a:prstGeom>
          <a:noFill/>
        </p:spPr>
        <p:txBody>
          <a:bodyPr wrap="square">
            <a:spAutoFit/>
          </a:bodyPr>
          <a:lstStyle/>
          <a:p>
            <a:pPr algn="l"/>
            <a:r>
              <a:rPr sz="1300" b="1" i="0">
                <a:solidFill>
                  <a:srgbClr val="0077A8"/>
                </a:solidFill>
                <a:latin typeface="Calibri"/>
              </a:rPr>
              <a:t>BLOCK 3</a:t>
            </a:r>
          </a:p>
        </p:txBody>
      </p:sp>
      <p:sp>
        <p:nvSpPr>
          <p:cNvPr id="3" name="TextBox 2"/>
          <p:cNvSpPr txBox="1"/>
          <p:nvPr/>
        </p:nvSpPr>
        <p:spPr>
          <a:xfrm>
            <a:off x="457200" y="2011680"/>
            <a:ext cx="8229600" cy="1371600"/>
          </a:xfrm>
          <a:prstGeom prst="rect">
            <a:avLst/>
          </a:prstGeom>
          <a:noFill/>
        </p:spPr>
        <p:txBody>
          <a:bodyPr wrap="square">
            <a:spAutoFit/>
          </a:bodyPr>
          <a:lstStyle/>
          <a:p>
            <a:pPr algn="l"/>
            <a:r>
              <a:rPr sz="4000" b="1" i="0">
                <a:solidFill>
                  <a:srgbClr val="0A1628"/>
                </a:solidFill>
                <a:latin typeface="Calibri"/>
              </a:rPr>
              <a:t>Unit Testing in Practice</a:t>
            </a:r>
          </a:p>
        </p:txBody>
      </p:sp>
      <p:sp>
        <p:nvSpPr>
          <p:cNvPr id="4" name="Rectangle 3"/>
          <p:cNvSpPr/>
          <p:nvPr/>
        </p:nvSpPr>
        <p:spPr>
          <a:xfrm>
            <a:off x="457200" y="1508760"/>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Slide Number Placeholder 4">
            <a:extLst>
              <a:ext uri="{FF2B5EF4-FFF2-40B4-BE49-F238E27FC236}">
                <a16:creationId xmlns:a16="http://schemas.microsoft.com/office/drawing/2014/main" id="{F2FCA4FC-DC63-7855-CA53-2F978A8BB30E}"/>
              </a:ext>
            </a:extLst>
          </p:cNvPr>
          <p:cNvSpPr>
            <a:spLocks noGrp="1"/>
          </p:cNvSpPr>
          <p:nvPr>
            <p:ph type="sldNum" sz="quarter" idx="12"/>
          </p:nvPr>
        </p:nvSpPr>
        <p:spPr/>
        <p:txBody>
          <a:bodyPr/>
          <a:lstStyle/>
          <a:p>
            <a:fld id="{C1FF6DA9-008F-8B48-92A6-B652298478BF}" type="slidenum">
              <a:rPr lang="en-US" smtClean="0"/>
              <a:t>22</a:t>
            </a:fld>
            <a:endParaRPr lang="en-US"/>
          </a:p>
        </p:txBody>
      </p:sp>
      <p:sp>
        <p:nvSpPr>
          <p:cNvPr id="6" name="TextBox 5">
            <a:extLst>
              <a:ext uri="{FF2B5EF4-FFF2-40B4-BE49-F238E27FC236}">
                <a16:creationId xmlns:a16="http://schemas.microsoft.com/office/drawing/2014/main" id="{A54D62CD-759C-8FA8-2A58-9A2D0529E544}"/>
              </a:ext>
            </a:extLst>
          </p:cNvPr>
          <p:cNvSpPr txBox="1"/>
          <p:nvPr/>
        </p:nvSpPr>
        <p:spPr>
          <a:xfrm>
            <a:off x="457200" y="2941320"/>
            <a:ext cx="8046720" cy="369332"/>
          </a:xfrm>
          <a:prstGeom prst="rect">
            <a:avLst/>
          </a:prstGeom>
          <a:noFill/>
        </p:spPr>
        <p:txBody>
          <a:bodyPr wrap="square">
            <a:spAutoFit/>
          </a:bodyPr>
          <a:lstStyle/>
          <a:p>
            <a:pPr algn="l"/>
            <a:r>
              <a:rPr sz="1800" b="0" i="0" dirty="0">
                <a:solidFill>
                  <a:srgbClr val="2D3748"/>
                </a:solidFill>
                <a:latin typeface="Calibri"/>
              </a:rPr>
              <a:t>Hands-on exercise — follow </a:t>
            </a:r>
            <a:r>
              <a:rPr lang="en-US" sz="1800" b="0" i="0" dirty="0">
                <a:solidFill>
                  <a:srgbClr val="2D3748"/>
                </a:solidFill>
                <a:latin typeface="Calibri"/>
              </a:rPr>
              <a:t>on your laptop.</a:t>
            </a:r>
            <a:endParaRPr sz="1800" b="0" i="0" dirty="0">
              <a:solidFill>
                <a:srgbClr val="2D3748"/>
              </a:solidFill>
              <a:latin typeface="Calibri"/>
            </a:endParaRPr>
          </a:p>
        </p:txBody>
      </p:sp>
      <p:sp>
        <p:nvSpPr>
          <p:cNvPr id="7" name="TextBox 6">
            <a:extLst>
              <a:ext uri="{FF2B5EF4-FFF2-40B4-BE49-F238E27FC236}">
                <a16:creationId xmlns:a16="http://schemas.microsoft.com/office/drawing/2014/main" id="{2FD9F389-950C-233A-34D0-D90A6509D1D2}"/>
              </a:ext>
            </a:extLst>
          </p:cNvPr>
          <p:cNvSpPr txBox="1"/>
          <p:nvPr/>
        </p:nvSpPr>
        <p:spPr>
          <a:xfrm>
            <a:off x="1455420" y="3644890"/>
            <a:ext cx="6461760" cy="523220"/>
          </a:xfrm>
          <a:prstGeom prst="rect">
            <a:avLst/>
          </a:prstGeom>
          <a:noFill/>
        </p:spPr>
        <p:txBody>
          <a:bodyPr wrap="square">
            <a:spAutoFit/>
          </a:bodyPr>
          <a:lstStyle/>
          <a:p>
            <a:pPr algn="l"/>
            <a:r>
              <a:rPr sz="2800" b="1" i="0" dirty="0">
                <a:solidFill>
                  <a:srgbClr val="0077A8"/>
                </a:solidFill>
                <a:latin typeface="Calibri"/>
              </a:rPr>
              <a:t>github.com/</a:t>
            </a:r>
            <a:r>
              <a:rPr sz="2800" b="1" i="0" dirty="0" err="1">
                <a:solidFill>
                  <a:srgbClr val="0077A8"/>
                </a:solidFill>
                <a:latin typeface="Calibri"/>
              </a:rPr>
              <a:t>sefop</a:t>
            </a:r>
            <a:r>
              <a:rPr sz="2800" b="1" i="0" dirty="0">
                <a:solidFill>
                  <a:srgbClr val="0077A8"/>
                </a:solidFill>
                <a:latin typeface="Calibri"/>
              </a:rPr>
              <a:t>/training-testing-python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1645920"/>
            <a:ext cx="8229600" cy="457200"/>
          </a:xfrm>
          <a:prstGeom prst="rect">
            <a:avLst/>
          </a:prstGeom>
          <a:noFill/>
        </p:spPr>
        <p:txBody>
          <a:bodyPr wrap="square">
            <a:spAutoFit/>
          </a:bodyPr>
          <a:lstStyle/>
          <a:p>
            <a:pPr algn="l"/>
            <a:r>
              <a:rPr sz="1300" b="1" i="0">
                <a:solidFill>
                  <a:srgbClr val="0077A8"/>
                </a:solidFill>
                <a:latin typeface="Calibri"/>
              </a:rPr>
              <a:t>BLOCK 4</a:t>
            </a:r>
          </a:p>
        </p:txBody>
      </p:sp>
      <p:sp>
        <p:nvSpPr>
          <p:cNvPr id="3" name="TextBox 2"/>
          <p:cNvSpPr txBox="1"/>
          <p:nvPr/>
        </p:nvSpPr>
        <p:spPr>
          <a:xfrm>
            <a:off x="457200" y="2011680"/>
            <a:ext cx="8229600" cy="1371600"/>
          </a:xfrm>
          <a:prstGeom prst="rect">
            <a:avLst/>
          </a:prstGeom>
          <a:noFill/>
        </p:spPr>
        <p:txBody>
          <a:bodyPr wrap="square">
            <a:spAutoFit/>
          </a:bodyPr>
          <a:lstStyle/>
          <a:p>
            <a:pPr algn="l"/>
            <a:r>
              <a:rPr sz="4000" b="1" i="0">
                <a:solidFill>
                  <a:srgbClr val="0A1628"/>
                </a:solidFill>
                <a:latin typeface="Calibri"/>
              </a:rPr>
              <a:t>Optimize for Managing Complexity</a:t>
            </a:r>
          </a:p>
        </p:txBody>
      </p:sp>
      <p:sp>
        <p:nvSpPr>
          <p:cNvPr id="4" name="Rectangle 3"/>
          <p:cNvSpPr/>
          <p:nvPr/>
        </p:nvSpPr>
        <p:spPr>
          <a:xfrm>
            <a:off x="457200" y="1508760"/>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Slide Number Placeholder 4">
            <a:extLst>
              <a:ext uri="{FF2B5EF4-FFF2-40B4-BE49-F238E27FC236}">
                <a16:creationId xmlns:a16="http://schemas.microsoft.com/office/drawing/2014/main" id="{C67C40AA-8BC8-4B18-31D1-D244BEB0C93A}"/>
              </a:ext>
            </a:extLst>
          </p:cNvPr>
          <p:cNvSpPr>
            <a:spLocks noGrp="1"/>
          </p:cNvSpPr>
          <p:nvPr>
            <p:ph type="sldNum" sz="quarter" idx="12"/>
          </p:nvPr>
        </p:nvSpPr>
        <p:spPr/>
        <p:txBody>
          <a:bodyPr/>
          <a:lstStyle/>
          <a:p>
            <a:fld id="{C1FF6DA9-008F-8B48-92A6-B652298478BF}" type="slidenum">
              <a:rPr lang="en-US" smtClean="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640080"/>
          </a:xfrm>
          <a:prstGeom prst="rect">
            <a:avLst/>
          </a:prstGeom>
          <a:noFill/>
        </p:spPr>
        <p:txBody>
          <a:bodyPr wrap="square">
            <a:spAutoFit/>
          </a:bodyPr>
          <a:lstStyle/>
          <a:p>
            <a:pPr algn="l"/>
            <a:r>
              <a:rPr sz="3000" b="1" i="0">
                <a:solidFill>
                  <a:srgbClr val="0A1628"/>
                </a:solidFill>
                <a:latin typeface="Calibri"/>
              </a:rPr>
              <a:t>Cohesion + Coupling</a:t>
            </a:r>
          </a:p>
        </p:txBody>
      </p:sp>
      <p:sp>
        <p:nvSpPr>
          <p:cNvPr id="3" name="Rectangle 2"/>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188720"/>
            <a:ext cx="8046720" cy="3566160"/>
          </a:xfrm>
          <a:prstGeom prst="rect">
            <a:avLst/>
          </a:prstGeom>
          <a:noFill/>
        </p:spPr>
        <p:txBody>
          <a:bodyPr wrap="square">
            <a:spAutoFit/>
          </a:bodyPr>
          <a:lstStyle/>
          <a:p>
            <a:pPr algn="l"/>
            <a:r>
              <a:rPr sz="2000" b="0" i="0">
                <a:solidFill>
                  <a:srgbClr val="2D3748"/>
                </a:solidFill>
                <a:latin typeface="Calibri"/>
              </a:rPr>
              <a:t>Cohesion:   things that change together live together.
Coupling:   things that don't change together don't depend.
Goal:     High cohesion  +  low coupling
Reality:  most research code has the opposite.</a:t>
            </a:r>
          </a:p>
        </p:txBody>
      </p:sp>
      <p:sp>
        <p:nvSpPr>
          <p:cNvPr id="5" name="TextBox 4"/>
          <p:cNvSpPr txBox="1"/>
          <p:nvPr/>
        </p:nvSpPr>
        <p:spPr>
          <a:xfrm>
            <a:off x="548640" y="4389120"/>
            <a:ext cx="8046720" cy="640080"/>
          </a:xfrm>
          <a:prstGeom prst="rect">
            <a:avLst/>
          </a:prstGeom>
          <a:noFill/>
        </p:spPr>
        <p:txBody>
          <a:bodyPr wrap="square">
            <a:spAutoFit/>
          </a:bodyPr>
          <a:lstStyle/>
          <a:p>
            <a:pPr algn="l"/>
            <a:r>
              <a:rPr sz="1300" b="0" i="1">
                <a:solidFill>
                  <a:srgbClr val="718096"/>
                </a:solidFill>
                <a:latin typeface="Calibri"/>
              </a:rPr>
              <a:t>Question: if you change how data is loaded, how many other files do you have to touch?</a:t>
            </a:r>
          </a:p>
        </p:txBody>
      </p:sp>
      <p:sp>
        <p:nvSpPr>
          <p:cNvPr id="6" name="Slide Number Placeholder 5">
            <a:extLst>
              <a:ext uri="{FF2B5EF4-FFF2-40B4-BE49-F238E27FC236}">
                <a16:creationId xmlns:a16="http://schemas.microsoft.com/office/drawing/2014/main" id="{E49E8212-0FAC-502D-D63E-35F3AAFB0264}"/>
              </a:ext>
            </a:extLst>
          </p:cNvPr>
          <p:cNvSpPr>
            <a:spLocks noGrp="1"/>
          </p:cNvSpPr>
          <p:nvPr>
            <p:ph type="sldNum" sz="quarter" idx="12"/>
          </p:nvPr>
        </p:nvSpPr>
        <p:spPr/>
        <p:txBody>
          <a:bodyPr/>
          <a:lstStyle/>
          <a:p>
            <a:fld id="{C1FF6DA9-008F-8B48-92A6-B652298478BF}" type="slidenum">
              <a:rPr lang="en-US" smtClean="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640080"/>
          </a:xfrm>
          <a:prstGeom prst="rect">
            <a:avLst/>
          </a:prstGeom>
          <a:noFill/>
        </p:spPr>
        <p:txBody>
          <a:bodyPr wrap="square">
            <a:spAutoFit/>
          </a:bodyPr>
          <a:lstStyle/>
          <a:p>
            <a:pPr algn="l"/>
            <a:r>
              <a:rPr sz="3000" b="1" i="0">
                <a:solidFill>
                  <a:srgbClr val="0A1628"/>
                </a:solidFill>
                <a:latin typeface="Calibri"/>
              </a:rPr>
              <a:t>Modularity</a:t>
            </a:r>
          </a:p>
        </p:txBody>
      </p:sp>
      <p:sp>
        <p:nvSpPr>
          <p:cNvPr id="3" name="Rectangle 2"/>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188720"/>
            <a:ext cx="8046720" cy="3566160"/>
          </a:xfrm>
          <a:prstGeom prst="rect">
            <a:avLst/>
          </a:prstGeom>
          <a:noFill/>
        </p:spPr>
        <p:txBody>
          <a:bodyPr wrap="square">
            <a:spAutoFit/>
          </a:bodyPr>
          <a:lstStyle/>
          <a:p>
            <a:pPr algn="l"/>
            <a:r>
              <a:rPr sz="2000" b="0" i="0">
                <a:solidFill>
                  <a:srgbClr val="2D3748"/>
                </a:solidFill>
                <a:latin typeface="Calibri"/>
              </a:rPr>
              <a:t>A module can be understood, built, and tested independently.
Modularity is what makes a system changeable:
you can swap a module without touching the rest.
Test for modularity: can you change this piece
without reading all the other pieces first?</a:t>
            </a:r>
          </a:p>
        </p:txBody>
      </p:sp>
      <p:sp>
        <p:nvSpPr>
          <p:cNvPr id="5" name="Slide Number Placeholder 4">
            <a:extLst>
              <a:ext uri="{FF2B5EF4-FFF2-40B4-BE49-F238E27FC236}">
                <a16:creationId xmlns:a16="http://schemas.microsoft.com/office/drawing/2014/main" id="{C26BD9F5-8CE8-CA7D-2BB4-D4B4C534FAF2}"/>
              </a:ext>
            </a:extLst>
          </p:cNvPr>
          <p:cNvSpPr>
            <a:spLocks noGrp="1"/>
          </p:cNvSpPr>
          <p:nvPr>
            <p:ph type="sldNum" sz="quarter" idx="12"/>
          </p:nvPr>
        </p:nvSpPr>
        <p:spPr/>
        <p:txBody>
          <a:bodyPr/>
          <a:lstStyle/>
          <a:p>
            <a:fld id="{C1FF6DA9-008F-8B48-92A6-B652298478BF}" type="slidenum">
              <a:rPr lang="en-US" smtClean="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640080"/>
          </a:xfrm>
          <a:prstGeom prst="rect">
            <a:avLst/>
          </a:prstGeom>
          <a:noFill/>
        </p:spPr>
        <p:txBody>
          <a:bodyPr wrap="square">
            <a:spAutoFit/>
          </a:bodyPr>
          <a:lstStyle/>
          <a:p>
            <a:pPr algn="l"/>
            <a:r>
              <a:rPr sz="3000" b="1" i="0">
                <a:solidFill>
                  <a:srgbClr val="0A1628"/>
                </a:solidFill>
                <a:latin typeface="Calibri"/>
              </a:rPr>
              <a:t>Separation of Concerns</a:t>
            </a:r>
          </a:p>
        </p:txBody>
      </p:sp>
      <p:sp>
        <p:nvSpPr>
          <p:cNvPr id="3" name="Rectangle 2"/>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188720"/>
            <a:ext cx="8046720" cy="3566160"/>
          </a:xfrm>
          <a:prstGeom prst="rect">
            <a:avLst/>
          </a:prstGeom>
          <a:noFill/>
        </p:spPr>
        <p:txBody>
          <a:bodyPr wrap="square">
            <a:spAutoFit/>
          </a:bodyPr>
          <a:lstStyle/>
          <a:p>
            <a:pPr algn="l"/>
            <a:r>
              <a:rPr sz="1800" b="0" i="0">
                <a:solidFill>
                  <a:srgbClr val="2D3748"/>
                </a:solidFill>
                <a:latin typeface="Calibri"/>
              </a:rPr>
              <a:t>Data loading, model formulation, and output reporting
are three different concerns — three different reasons to change.
Dependency injection — pass dependencies from the outside:
    engine = Engine(solver=MIPSolver())
    engine = Engine(solver=GreedySolver())</a:t>
            </a:r>
          </a:p>
        </p:txBody>
      </p:sp>
      <p:sp>
        <p:nvSpPr>
          <p:cNvPr id="5" name="Slide Number Placeholder 4">
            <a:extLst>
              <a:ext uri="{FF2B5EF4-FFF2-40B4-BE49-F238E27FC236}">
                <a16:creationId xmlns:a16="http://schemas.microsoft.com/office/drawing/2014/main" id="{690E2341-B04B-BFB3-5CE6-402651874949}"/>
              </a:ext>
            </a:extLst>
          </p:cNvPr>
          <p:cNvSpPr>
            <a:spLocks noGrp="1"/>
          </p:cNvSpPr>
          <p:nvPr>
            <p:ph type="sldNum" sz="quarter" idx="12"/>
          </p:nvPr>
        </p:nvSpPr>
        <p:spPr/>
        <p:txBody>
          <a:bodyPr/>
          <a:lstStyle/>
          <a:p>
            <a:fld id="{C1FF6DA9-008F-8B48-92A6-B652298478BF}" type="slidenum">
              <a:rPr lang="en-US" smtClean="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640080"/>
          </a:xfrm>
          <a:prstGeom prst="rect">
            <a:avLst/>
          </a:prstGeom>
          <a:noFill/>
        </p:spPr>
        <p:txBody>
          <a:bodyPr wrap="square">
            <a:spAutoFit/>
          </a:bodyPr>
          <a:lstStyle/>
          <a:p>
            <a:pPr algn="l"/>
            <a:r>
              <a:rPr sz="3000" b="1" i="0">
                <a:solidFill>
                  <a:srgbClr val="0A1628"/>
                </a:solidFill>
                <a:latin typeface="Calibri"/>
              </a:rPr>
              <a:t>Information Hiding</a:t>
            </a:r>
          </a:p>
        </p:txBody>
      </p:sp>
      <p:sp>
        <p:nvSpPr>
          <p:cNvPr id="3" name="Rectangle 2"/>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188720"/>
            <a:ext cx="8046720" cy="3566160"/>
          </a:xfrm>
          <a:prstGeom prst="rect">
            <a:avLst/>
          </a:prstGeom>
          <a:noFill/>
        </p:spPr>
        <p:txBody>
          <a:bodyPr wrap="square">
            <a:spAutoFit/>
          </a:bodyPr>
          <a:lstStyle/>
          <a:p>
            <a:pPr algn="l"/>
            <a:r>
              <a:rPr sz="1800" b="0" i="0">
                <a:solidFill>
                  <a:srgbClr val="2D3748"/>
                </a:solidFill>
                <a:latin typeface="Calibri"/>
              </a:rPr>
              <a:t>Hide implementation details behind a simple interface.
Callers need to know what a module does, not how.
    solve(instance)
Whether it uses Gurobi, HiGHS, or a heuristic
is invisible to the caller.
Benefit: change internals without breaking callers.</a:t>
            </a:r>
          </a:p>
        </p:txBody>
      </p:sp>
      <p:sp>
        <p:nvSpPr>
          <p:cNvPr id="5" name="Slide Number Placeholder 4">
            <a:extLst>
              <a:ext uri="{FF2B5EF4-FFF2-40B4-BE49-F238E27FC236}">
                <a16:creationId xmlns:a16="http://schemas.microsoft.com/office/drawing/2014/main" id="{D16267F1-C01B-82DF-A13C-DAB1992B12A6}"/>
              </a:ext>
            </a:extLst>
          </p:cNvPr>
          <p:cNvSpPr>
            <a:spLocks noGrp="1"/>
          </p:cNvSpPr>
          <p:nvPr>
            <p:ph type="sldNum" sz="quarter" idx="12"/>
          </p:nvPr>
        </p:nvSpPr>
        <p:spPr/>
        <p:txBody>
          <a:bodyPr/>
          <a:lstStyle/>
          <a:p>
            <a:fld id="{C1FF6DA9-008F-8B48-92A6-B652298478BF}" type="slidenum">
              <a:rPr lang="en-US" smtClean="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640080"/>
          </a:xfrm>
          <a:prstGeom prst="rect">
            <a:avLst/>
          </a:prstGeom>
          <a:noFill/>
        </p:spPr>
        <p:txBody>
          <a:bodyPr wrap="square">
            <a:spAutoFit/>
          </a:bodyPr>
          <a:lstStyle/>
          <a:p>
            <a:pPr algn="l"/>
            <a:r>
              <a:rPr sz="3000" b="1" i="0">
                <a:solidFill>
                  <a:srgbClr val="0A1628"/>
                </a:solidFill>
                <a:latin typeface="Calibri"/>
              </a:rPr>
              <a:t>YAGNI — You Aren't Gonna Need It</a:t>
            </a:r>
          </a:p>
        </p:txBody>
      </p:sp>
      <p:sp>
        <p:nvSpPr>
          <p:cNvPr id="3" name="Rectangle 2"/>
          <p:cNvSpPr/>
          <p:nvPr/>
        </p:nvSpPr>
        <p:spPr>
          <a:xfrm>
            <a:off x="457200" y="987552"/>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188720"/>
            <a:ext cx="8046720" cy="3566160"/>
          </a:xfrm>
          <a:prstGeom prst="rect">
            <a:avLst/>
          </a:prstGeom>
          <a:noFill/>
        </p:spPr>
        <p:txBody>
          <a:bodyPr wrap="square">
            <a:spAutoFit/>
          </a:bodyPr>
          <a:lstStyle/>
          <a:p>
            <a:pPr algn="l"/>
            <a:r>
              <a:rPr sz="2000" b="0" i="0">
                <a:solidFill>
                  <a:srgbClr val="2D3748"/>
                </a:solidFill>
                <a:latin typeface="Calibri"/>
              </a:rPr>
              <a:t>Don't build for hypothetical future requirements.
Build for what you need today.
Every unnecessary abstraction adds complexity
that someone has to understand and maintain.
Add structure when the pain is real,
not when you imagine you might need it.</a:t>
            </a:r>
          </a:p>
        </p:txBody>
      </p:sp>
      <p:sp>
        <p:nvSpPr>
          <p:cNvPr id="5" name="TextBox 4"/>
          <p:cNvSpPr txBox="1"/>
          <p:nvPr/>
        </p:nvSpPr>
        <p:spPr>
          <a:xfrm>
            <a:off x="548640" y="4389120"/>
            <a:ext cx="8046720" cy="640080"/>
          </a:xfrm>
          <a:prstGeom prst="rect">
            <a:avLst/>
          </a:prstGeom>
          <a:noFill/>
        </p:spPr>
        <p:txBody>
          <a:bodyPr wrap="square">
            <a:spAutoFit/>
          </a:bodyPr>
          <a:lstStyle/>
          <a:p>
            <a:pPr algn="l"/>
            <a:r>
              <a:rPr sz="1300" b="0" i="1">
                <a:solidFill>
                  <a:srgbClr val="718096"/>
                </a:solidFill>
                <a:latin typeface="Calibri"/>
              </a:rPr>
              <a:t>Question: have you ever built something 'just in case' that you never used?</a:t>
            </a:r>
          </a:p>
        </p:txBody>
      </p:sp>
      <p:sp>
        <p:nvSpPr>
          <p:cNvPr id="6" name="Slide Number Placeholder 5">
            <a:extLst>
              <a:ext uri="{FF2B5EF4-FFF2-40B4-BE49-F238E27FC236}">
                <a16:creationId xmlns:a16="http://schemas.microsoft.com/office/drawing/2014/main" id="{8D9A6DB9-2FBD-0ECE-7764-792123BFD8C8}"/>
              </a:ext>
            </a:extLst>
          </p:cNvPr>
          <p:cNvSpPr>
            <a:spLocks noGrp="1"/>
          </p:cNvSpPr>
          <p:nvPr>
            <p:ph type="sldNum" sz="quarter" idx="12"/>
          </p:nvPr>
        </p:nvSpPr>
        <p:spPr/>
        <p:txBody>
          <a:bodyPr/>
          <a:lstStyle/>
          <a:p>
            <a:fld id="{C1FF6DA9-008F-8B48-92A6-B652298478BF}" type="slidenum">
              <a:rPr lang="en-US" smtClean="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1645920"/>
            <a:ext cx="8229600" cy="457200"/>
          </a:xfrm>
          <a:prstGeom prst="rect">
            <a:avLst/>
          </a:prstGeom>
          <a:noFill/>
        </p:spPr>
        <p:txBody>
          <a:bodyPr wrap="square">
            <a:spAutoFit/>
          </a:bodyPr>
          <a:lstStyle/>
          <a:p>
            <a:pPr algn="l"/>
            <a:r>
              <a:rPr sz="1300" b="1" i="0">
                <a:solidFill>
                  <a:srgbClr val="0077A8"/>
                </a:solidFill>
                <a:latin typeface="Calibri"/>
              </a:rPr>
              <a:t>AFTERNOON</a:t>
            </a:r>
          </a:p>
        </p:txBody>
      </p:sp>
      <p:sp>
        <p:nvSpPr>
          <p:cNvPr id="3" name="TextBox 2"/>
          <p:cNvSpPr txBox="1"/>
          <p:nvPr/>
        </p:nvSpPr>
        <p:spPr>
          <a:xfrm>
            <a:off x="457200" y="2011680"/>
            <a:ext cx="8229600" cy="1371600"/>
          </a:xfrm>
          <a:prstGeom prst="rect">
            <a:avLst/>
          </a:prstGeom>
          <a:noFill/>
        </p:spPr>
        <p:txBody>
          <a:bodyPr wrap="square">
            <a:spAutoFit/>
          </a:bodyPr>
          <a:lstStyle/>
          <a:p>
            <a:pPr algn="l"/>
            <a:r>
              <a:rPr sz="4000" b="1" i="0">
                <a:solidFill>
                  <a:srgbClr val="0A1628"/>
                </a:solidFill>
                <a:latin typeface="Calibri"/>
              </a:rPr>
              <a:t>Putting it all together: SEFOP</a:t>
            </a:r>
          </a:p>
        </p:txBody>
      </p:sp>
      <p:sp>
        <p:nvSpPr>
          <p:cNvPr id="4" name="Rectangle 3"/>
          <p:cNvSpPr/>
          <p:nvPr/>
        </p:nvSpPr>
        <p:spPr>
          <a:xfrm>
            <a:off x="457200" y="1508760"/>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Slide Number Placeholder 4">
            <a:extLst>
              <a:ext uri="{FF2B5EF4-FFF2-40B4-BE49-F238E27FC236}">
                <a16:creationId xmlns:a16="http://schemas.microsoft.com/office/drawing/2014/main" id="{F33A0754-6D28-C33A-55B4-F0FB626078A0}"/>
              </a:ext>
            </a:extLst>
          </p:cNvPr>
          <p:cNvSpPr>
            <a:spLocks noGrp="1"/>
          </p:cNvSpPr>
          <p:nvPr>
            <p:ph type="sldNum" sz="quarter" idx="12"/>
          </p:nvPr>
        </p:nvSpPr>
        <p:spPr/>
        <p:txBody>
          <a:bodyPr/>
          <a:lstStyle/>
          <a:p>
            <a:fld id="{C1FF6DA9-008F-8B48-92A6-B652298478BF}" type="slidenum">
              <a:rPr lang="en-US" smtClean="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TextBox 1"/>
          <p:cNvSpPr txBox="1"/>
          <p:nvPr/>
        </p:nvSpPr>
        <p:spPr>
          <a:xfrm>
            <a:off x="457200" y="1645920"/>
            <a:ext cx="8229600" cy="1097280"/>
          </a:xfrm>
          <a:prstGeom prst="rect">
            <a:avLst/>
          </a:prstGeom>
          <a:noFill/>
        </p:spPr>
        <p:txBody>
          <a:bodyPr wrap="square">
            <a:spAutoFit/>
          </a:bodyPr>
          <a:lstStyle/>
          <a:p>
            <a:pPr algn="l"/>
            <a:r>
              <a:rPr sz="6000" b="1" i="0">
                <a:solidFill>
                  <a:srgbClr val="0A1628"/>
                </a:solidFill>
                <a:latin typeface="Calibri"/>
              </a:rPr>
              <a:t>Thank you</a:t>
            </a:r>
          </a:p>
        </p:txBody>
      </p:sp>
      <p:sp>
        <p:nvSpPr>
          <p:cNvPr id="3" name="Rectangle 2"/>
          <p:cNvSpPr/>
          <p:nvPr/>
        </p:nvSpPr>
        <p:spPr>
          <a:xfrm>
            <a:off x="457200" y="2834640"/>
            <a:ext cx="8229600" cy="36576"/>
          </a:xfrm>
          <a:prstGeom prst="rect">
            <a:avLst/>
          </a:prstGeom>
          <a:solidFill>
            <a:srgbClr val="0077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108960"/>
            <a:ext cx="8229600" cy="457200"/>
          </a:xfrm>
          <a:prstGeom prst="rect">
            <a:avLst/>
          </a:prstGeom>
          <a:noFill/>
        </p:spPr>
        <p:txBody>
          <a:bodyPr wrap="square">
            <a:spAutoFit/>
          </a:bodyPr>
          <a:lstStyle/>
          <a:p>
            <a:pPr algn="l"/>
            <a:r>
              <a:rPr sz="2400" b="0" i="0">
                <a:solidFill>
                  <a:srgbClr val="0077A8"/>
                </a:solidFill>
                <a:latin typeface="Calibri"/>
              </a:rPr>
              <a:t>github.com/sefop</a:t>
            </a:r>
          </a:p>
        </p:txBody>
      </p:sp>
      <p:sp>
        <p:nvSpPr>
          <p:cNvPr id="5" name="Slide Number Placeholder 4">
            <a:extLst>
              <a:ext uri="{FF2B5EF4-FFF2-40B4-BE49-F238E27FC236}">
                <a16:creationId xmlns:a16="http://schemas.microsoft.com/office/drawing/2014/main" id="{36465BAB-B7AA-9168-ED59-AC2585533C72}"/>
              </a:ext>
            </a:extLst>
          </p:cNvPr>
          <p:cNvSpPr>
            <a:spLocks noGrp="1"/>
          </p:cNvSpPr>
          <p:nvPr>
            <p:ph type="sldNum" sz="quarter" idx="12"/>
          </p:nvPr>
        </p:nvSpPr>
        <p:spPr/>
        <p:txBody>
          <a:bodyPr/>
          <a:lstStyle/>
          <a:p>
            <a:fld id="{C1FF6DA9-008F-8B48-92A6-B652298478BF}" type="slidenum">
              <a:rPr lang="en-US" smtClean="0"/>
              <a:t>30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242</TotalTime>
  <Words>1733</Words>
  <Application>Microsoft Office PowerPoint</Application>
  <PresentationFormat>On-screen Show (16:9)</PresentationFormat>
  <Paragraphs>221</Paragraphs>
  <Slides>30</Slides>
  <Notes>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30</vt:i4>
      </vt:variant>
    </vt:vector>
  </HeadingPairs>
  <TitlesOfParts>
    <vt:vector size="36" baseType="lpstr">
      <vt:lpstr>Microsoft GothicNeo Light</vt:lpstr>
      <vt:lpstr>Aptos</vt:lpstr>
      <vt:lpstr>Arial</vt:lpstr>
      <vt:lpstr>Calibri</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Francisco Zenteno Smith</cp:lastModifiedBy>
  <cp:revision>69</cp:revision>
  <dcterms:created xsi:type="dcterms:W3CDTF">2013-01-27T09:14:16Z</dcterms:created>
  <dcterms:modified xsi:type="dcterms:W3CDTF">2026-06-28T00:09:17Z</dcterms:modified>
  <cp:category/>
</cp:coreProperties>
</file>