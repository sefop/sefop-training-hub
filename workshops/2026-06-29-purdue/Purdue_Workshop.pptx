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7"/>
    <p:sldId id="265" r:id="rId8"/>
    <p:sldId id="266" r:id="rId9"/>
    <p:sldId id="267" r:id="rId10"/>
    <p:sldId id="268" r:id="rId11"/>
    <p:sldId id="269" r:id="rId12"/>
    <p:sldId id="270" r:id="rId13"/>
    <p:sldId id="271" r:id="rId14"/>
    <p:sldId id="272" r:id="rId15"/>
    <p:sldId id="273" r:id="rId16"/>
    <p:sldId id="274" r:id="rId17"/>
    <p:sldId id="275" r:id="rId18"/>
    <p:sldId id="276" r:id="rId19"/>
    <p:sldId id="277" r:id="rId20"/>
    <p:sldId id="278" r:id="rId21"/>
    <p:sldId id="279" r:id="rId2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162" autoAdjust="0"/>
  </p:normalViewPr>
  <p:slideViewPr>
    <p:cSldViewPr snapToGrid="0" snapToObjects="1">
      <p:cViewPr varScale="1">
        <p:scale>
          <a:sx n="128" d="100"/>
          <a:sy n="128" d="100"/>
        </p:scale>
        <p:origin x="1056" y="1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en.wikipedia.org/wiki/Ariane_flight_V88" TargetMode="External"/><Relationship Id="rId2" Type="http://schemas.openxmlformats.org/officeDocument/2006/relationships/hyperlink" Target="https://en.wikipedia.org/wiki/Geoffrey_Chang" TargetMode="Externa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788819"/>
            <a:ext cx="8229600" cy="1446550"/>
          </a:xfrm>
          <a:prstGeom prst="rect">
            <a:avLst/>
          </a:prstGeom>
          <a:noFill/>
        </p:spPr>
        <p:txBody>
          <a:bodyPr wrap="square">
            <a:spAutoFit/>
          </a:bodyPr>
          <a:lstStyle/>
          <a:p>
            <a:pPr algn="ctr"/>
            <a:r>
              <a:rPr sz="4400" b="1" i="0" dirty="0">
                <a:solidFill>
                  <a:srgbClr val="0A1628"/>
                </a:solidFill>
                <a:ea typeface="Microsoft GothicNeo Light" panose="020B0503020000020004" pitchFamily="34" charset="-127"/>
                <a:cs typeface="Microsoft GothicNeo Light" panose="020B0503020000020004" pitchFamily="34" charset="-127"/>
              </a:rPr>
              <a:t>Operations Research
meets Software Engineering</a:t>
            </a:r>
          </a:p>
        </p:txBody>
      </p:sp>
      <p:sp>
        <p:nvSpPr>
          <p:cNvPr id="3" name="TextBox 2"/>
          <p:cNvSpPr txBox="1"/>
          <p:nvPr/>
        </p:nvSpPr>
        <p:spPr>
          <a:xfrm>
            <a:off x="457200" y="2560320"/>
            <a:ext cx="8229600" cy="369332"/>
          </a:xfrm>
          <a:prstGeom prst="rect">
            <a:avLst/>
          </a:prstGeom>
          <a:noFill/>
        </p:spPr>
        <p:txBody>
          <a:bodyPr wrap="square">
            <a:spAutoFit/>
          </a:bodyPr>
          <a:lstStyle/>
          <a:p>
            <a:pPr algn="ctr"/>
            <a:r>
              <a:rPr sz="1800" b="0" i="0" dirty="0" err="1">
                <a:solidFill>
                  <a:srgbClr val="0077A8"/>
                </a:solidFill>
                <a:ea typeface="Microsoft GothicNeo Light" panose="020B0503020000020004" pitchFamily="34" charset="-127"/>
                <a:cs typeface="Microsoft GothicNeo Light" panose="020B0503020000020004" pitchFamily="34" charset="-127"/>
              </a:rPr>
              <a:t>Secquoia</a:t>
            </a:r>
            <a:r>
              <a:rPr sz="1800" b="0" i="0" dirty="0">
                <a:solidFill>
                  <a:srgbClr val="0077A8"/>
                </a:solidFill>
                <a:ea typeface="Microsoft GothicNeo Light" panose="020B0503020000020004" pitchFamily="34" charset="-127"/>
                <a:cs typeface="Microsoft GothicNeo Light" panose="020B0503020000020004" pitchFamily="34" charset="-127"/>
              </a:rPr>
              <a:t> Lab — Purdue University  |  June 29, 2026</a:t>
            </a:r>
          </a:p>
        </p:txBody>
      </p:sp>
      <p:sp>
        <p:nvSpPr>
          <p:cNvPr id="5" name="TextBox 4"/>
          <p:cNvSpPr txBox="1"/>
          <p:nvPr/>
        </p:nvSpPr>
        <p:spPr>
          <a:xfrm>
            <a:off x="457200" y="3569940"/>
            <a:ext cx="8229600" cy="307777"/>
          </a:xfrm>
          <a:prstGeom prst="rect">
            <a:avLst/>
          </a:prstGeom>
          <a:noFill/>
        </p:spPr>
        <p:txBody>
          <a:bodyPr wrap="square">
            <a:spAutoFit/>
          </a:bodyPr>
          <a:lstStyle/>
          <a:p>
            <a:pPr algn="ctr"/>
            <a:r>
              <a:rPr sz="1400" b="1" i="0" dirty="0">
                <a:solidFill>
                  <a:srgbClr val="2D3748"/>
                </a:solidFill>
                <a:ea typeface="Microsoft GothicNeo Light" panose="020B0503020000020004" pitchFamily="34" charset="-127"/>
                <a:cs typeface="Microsoft GothicNeo Light" panose="020B0503020000020004" pitchFamily="34" charset="-127"/>
              </a:rPr>
              <a:t>Francisco Zenteno Smith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dirty="0">
                <a:solidFill>
                  <a:srgbClr val="0A1628"/>
                </a:solidFill>
                <a:latin typeface="Calibri"/>
              </a:rPr>
              <a:t>About me</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2800767"/>
          </a:xfrm>
          <a:prstGeom prst="rect">
            <a:avLst/>
          </a:prstGeom>
          <a:noFill/>
        </p:spPr>
        <p:txBody>
          <a:bodyPr wrap="square">
            <a:spAutoFit/>
          </a:bodyPr>
          <a:lstStyle/>
          <a:p>
            <a:pPr algn="l"/>
            <a:r>
              <a:rPr sz="2200" b="0" i="0" dirty="0">
                <a:solidFill>
                  <a:srgbClr val="2D3748"/>
                </a:solidFill>
                <a:latin typeface="Calibri"/>
              </a:rPr>
              <a:t>Senior Operations Research Scientist</a:t>
            </a:r>
            <a:r>
              <a:rPr lang="en-US" sz="2200" b="0" i="0" dirty="0">
                <a:solidFill>
                  <a:srgbClr val="2D3748"/>
                </a:solidFill>
                <a:latin typeface="Calibri"/>
              </a:rPr>
              <a:t> at American Airlines</a:t>
            </a:r>
            <a:r>
              <a:rPr sz="2200" b="0" i="0" dirty="0">
                <a:solidFill>
                  <a:srgbClr val="2D3748"/>
                </a:solidFill>
                <a:latin typeface="Calibri"/>
              </a:rPr>
              <a:t>
</a:t>
            </a:r>
            <a:r>
              <a:rPr lang="en-US" sz="2200" b="0" i="0" dirty="0">
                <a:solidFill>
                  <a:srgbClr val="2D3748"/>
                </a:solidFill>
                <a:latin typeface="Calibri"/>
              </a:rPr>
              <a:t>- </a:t>
            </a:r>
            <a:r>
              <a:rPr sz="2200" b="0" i="0" dirty="0">
                <a:solidFill>
                  <a:srgbClr val="2D3748"/>
                </a:solidFill>
                <a:latin typeface="Calibri"/>
              </a:rPr>
              <a:t>10 years in applied Operations Research.</a:t>
            </a:r>
            <a:endParaRPr lang="en-US" sz="2200" b="0" i="0" dirty="0">
              <a:solidFill>
                <a:srgbClr val="2D3748"/>
              </a:solidFill>
              <a:latin typeface="Calibri"/>
            </a:endParaRPr>
          </a:p>
          <a:p>
            <a:pPr algn="l"/>
            <a:endParaRPr lang="en-US" sz="2200" dirty="0">
              <a:solidFill>
                <a:srgbClr val="2D3748"/>
              </a:solidFill>
              <a:latin typeface="Calibri"/>
            </a:endParaRPr>
          </a:p>
          <a:p>
            <a:pPr algn="l"/>
            <a:r>
              <a:rPr lang="en-US" sz="2200" dirty="0">
                <a:solidFill>
                  <a:srgbClr val="2D3748"/>
                </a:solidFill>
                <a:latin typeface="Calibri"/>
              </a:rPr>
              <a:t>Education</a:t>
            </a:r>
          </a:p>
          <a:p>
            <a:pPr marL="342900" indent="-342900" algn="l">
              <a:buFontTx/>
              <a:buChar char="-"/>
            </a:pPr>
            <a:r>
              <a:rPr lang="en-US" sz="2200" b="0" i="0" dirty="0">
                <a:solidFill>
                  <a:srgbClr val="2D3748"/>
                </a:solidFill>
                <a:latin typeface="Calibri"/>
              </a:rPr>
              <a:t>Bache</a:t>
            </a:r>
            <a:r>
              <a:rPr lang="en-US" sz="2200" dirty="0">
                <a:solidFill>
                  <a:srgbClr val="2D3748"/>
                </a:solidFill>
                <a:latin typeface="Calibri"/>
              </a:rPr>
              <a:t>lors in Industrial Engineering PUC</a:t>
            </a:r>
          </a:p>
          <a:p>
            <a:pPr marL="342900" indent="-342900" algn="l">
              <a:buFontTx/>
              <a:buChar char="-"/>
            </a:pPr>
            <a:r>
              <a:rPr lang="en-US" sz="2200" b="0" i="0" dirty="0">
                <a:solidFill>
                  <a:srgbClr val="2D3748"/>
                </a:solidFill>
                <a:latin typeface="Calibri"/>
              </a:rPr>
              <a:t>Masters in Operations Research PUC</a:t>
            </a:r>
            <a:r>
              <a:rPr sz="2200" b="0" i="0" dirty="0">
                <a:solidFill>
                  <a:srgbClr val="2D3748"/>
                </a:solidFill>
                <a:latin typeface="Calibri"/>
              </a:rPr>
              <a:t>
</a:t>
            </a:r>
            <a:r>
              <a:rPr lang="en-US" sz="2200" b="0" i="0" dirty="0">
                <a:solidFill>
                  <a:srgbClr val="2D3748"/>
                </a:solidFill>
                <a:latin typeface="Calibri"/>
              </a:rPr>
              <a:t>Masters in Computer Science UCSD</a:t>
            </a:r>
          </a:p>
          <a:p>
            <a:pPr marL="342900" indent="-342900" algn="l">
              <a:buFontTx/>
              <a:buChar char="-"/>
            </a:pPr>
            <a:endParaRPr lang="en-US" sz="2200" dirty="0">
              <a:solidFill>
                <a:srgbClr val="2D3748"/>
              </a:solidFill>
              <a:latin typeface="Calibri"/>
            </a:endParaRPr>
          </a:p>
        </p:txBody>
      </p:sp>
      <p:pic>
        <p:nvPicPr>
          <p:cNvPr id="5" name="Picture 4">
            <a:extLst>
              <a:ext uri="{FF2B5EF4-FFF2-40B4-BE49-F238E27FC236}">
                <a16:creationId xmlns:a16="http://schemas.microsoft.com/office/drawing/2014/main" id="{4025C809-3C63-52B7-B8D3-193C3CB45238}"/>
              </a:ext>
            </a:extLst>
          </p:cNvPr>
          <p:cNvPicPr>
            <a:picLocks noChangeAspect="1"/>
          </p:cNvPicPr>
          <p:nvPr/>
        </p:nvPicPr>
        <p:blipFill>
          <a:blip r:embed="rId2"/>
          <a:stretch>
            <a:fillRect/>
          </a:stretch>
        </p:blipFill>
        <p:spPr>
          <a:xfrm>
            <a:off x="5786475" y="1960579"/>
            <a:ext cx="1144290" cy="1537926"/>
          </a:xfrm>
          <a:prstGeom prst="rect">
            <a:avLst/>
          </a:prstGeom>
        </p:spPr>
      </p:pic>
      <p:pic>
        <p:nvPicPr>
          <p:cNvPr id="6" name="Picture 5" descr="UCSD Logo, symbol, meaning, history, PNG, brand">
            <a:extLst>
              <a:ext uri="{FF2B5EF4-FFF2-40B4-BE49-F238E27FC236}">
                <a16:creationId xmlns:a16="http://schemas.microsoft.com/office/drawing/2014/main" id="{84A64771-4CEE-D593-7499-EB893C5F11CE}"/>
              </a:ext>
            </a:extLst>
          </p:cNvPr>
          <p:cNvPicPr>
            <a:picLocks noChangeAspect="1"/>
          </p:cNvPicPr>
          <p:nvPr/>
        </p:nvPicPr>
        <p:blipFill>
          <a:blip r:embed="rId3"/>
          <a:stretch>
            <a:fillRect/>
          </a:stretch>
        </p:blipFill>
        <p:spPr>
          <a:xfrm>
            <a:off x="5157020" y="3589311"/>
            <a:ext cx="2403200" cy="1351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dirty="0">
                <a:solidFill>
                  <a:srgbClr val="0A1628"/>
                </a:solidFill>
                <a:latin typeface="Calibri"/>
              </a:rPr>
              <a:t>Schedule</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91360" y="1412954"/>
            <a:ext cx="7361280" cy="3170099"/>
          </a:xfrm>
          <a:prstGeom prst="rect">
            <a:avLst/>
          </a:prstGeom>
          <a:noFill/>
        </p:spPr>
        <p:txBody>
          <a:bodyPr wrap="square">
            <a:spAutoFit/>
          </a:bodyPr>
          <a:lstStyle/>
          <a:p>
            <a:pPr algn="l"/>
            <a:r>
              <a:rPr sz="2000" dirty="0">
                <a:solidFill>
                  <a:srgbClr val="2D3748"/>
                </a:solidFill>
                <a:latin typeface="+mj-lt"/>
              </a:rPr>
              <a:t>09:00–09:50    Block 1: Why learn Software Engineering?
09:50–10:00    Break
10:00–10:50    Block 2: Optimize for Learning
10:50–11:00    Break
11:00–11:50    Block 3: </a:t>
            </a:r>
            <a:r>
              <a:rPr lang="en-US" sz="2000" dirty="0">
                <a:solidFill>
                  <a:srgbClr val="2D3748"/>
                </a:solidFill>
                <a:latin typeface="+mj-lt"/>
              </a:rPr>
              <a:t>Hands-on </a:t>
            </a:r>
            <a:r>
              <a:rPr sz="2000" dirty="0">
                <a:solidFill>
                  <a:srgbClr val="2D3748"/>
                </a:solidFill>
                <a:latin typeface="+mj-lt"/>
              </a:rPr>
              <a:t>Unit Testing in Practice
11:50–12:00    Break
12:00–13:00    Lunch
13:00–13:50    Block 4: Optimize for Managing Complexity
13:50–14:00    Break
14:00–17:00    Putting it all together: SEFOP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1</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Why learn Software Engineering?</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8465"/>
            <a:ext cx="8229600" cy="1015663"/>
          </a:xfrm>
          <a:prstGeom prst="rect">
            <a:avLst/>
          </a:prstGeom>
          <a:noFill/>
        </p:spPr>
        <p:txBody>
          <a:bodyPr wrap="square">
            <a:spAutoFit/>
          </a:bodyPr>
          <a:lstStyle/>
          <a:p>
            <a:pPr algn="l"/>
            <a:r>
              <a:rPr lang="en-US" sz="3000" b="1" i="0" dirty="0" err="1">
                <a:solidFill>
                  <a:srgbClr val="0A1628"/>
                </a:solidFill>
                <a:latin typeface="Calibri"/>
              </a:rPr>
              <a:t>Sofware</a:t>
            </a:r>
            <a:r>
              <a:rPr lang="en-US" sz="3000" b="1" i="0" dirty="0">
                <a:solidFill>
                  <a:srgbClr val="0A1628"/>
                </a:solidFill>
                <a:latin typeface="Calibri"/>
              </a:rPr>
              <a:t> engineering principles apply… whether you know them or not</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188720"/>
            <a:ext cx="8046720" cy="3416320"/>
          </a:xfrm>
          <a:prstGeom prst="rect">
            <a:avLst/>
          </a:prstGeom>
          <a:noFill/>
        </p:spPr>
        <p:txBody>
          <a:bodyPr wrap="square">
            <a:spAutoFit/>
          </a:bodyPr>
          <a:lstStyle/>
          <a:p>
            <a:pPr algn="l"/>
            <a:r>
              <a:rPr lang="en-US" sz="2400" b="1" i="0" dirty="0">
                <a:solidFill>
                  <a:srgbClr val="2D3748"/>
                </a:solidFill>
                <a:latin typeface="Calibri"/>
              </a:rPr>
              <a:t>Tragedy in the academy</a:t>
            </a:r>
            <a:r>
              <a:rPr lang="en-US" sz="2400" b="1" i="0" baseline="30000" dirty="0">
                <a:solidFill>
                  <a:srgbClr val="2D3748"/>
                </a:solidFill>
                <a:latin typeface="Calibri"/>
              </a:rPr>
              <a:t>1</a:t>
            </a:r>
            <a:r>
              <a:rPr lang="en-US" sz="2400" b="0" i="0" dirty="0">
                <a:solidFill>
                  <a:srgbClr val="2D3748"/>
                </a:solidFill>
                <a:latin typeface="Calibri"/>
              </a:rPr>
              <a:t>:</a:t>
            </a:r>
          </a:p>
          <a:p>
            <a:pPr marL="342900" indent="-342900" algn="l">
              <a:buFont typeface="Arial" panose="020B0604020202020204" pitchFamily="34" charset="0"/>
              <a:buChar char="•"/>
            </a:pPr>
            <a:r>
              <a:rPr sz="1600" b="0" i="0" dirty="0">
                <a:solidFill>
                  <a:srgbClr val="2D3748"/>
                </a:solidFill>
                <a:latin typeface="Calibri"/>
              </a:rPr>
              <a:t>Geoffrey Chang, Scripps Institute  (2006)
A sign error in a data-processing script corrupted all results.
5 high-impact papers on membrane protein structures retracted.</a:t>
            </a:r>
            <a:endParaRPr lang="en-US" sz="1600" b="0" i="0" dirty="0">
              <a:solidFill>
                <a:srgbClr val="2D3748"/>
              </a:solidFill>
              <a:latin typeface="Calibri"/>
            </a:endParaRPr>
          </a:p>
          <a:p>
            <a:pPr marL="342900" indent="-342900" algn="l">
              <a:buFont typeface="Arial" panose="020B0604020202020204" pitchFamily="34" charset="0"/>
              <a:buChar char="•"/>
            </a:pPr>
            <a:endParaRPr lang="en-US" sz="2000" dirty="0">
              <a:solidFill>
                <a:srgbClr val="2D3748"/>
              </a:solidFill>
              <a:latin typeface="Calibri"/>
            </a:endParaRPr>
          </a:p>
          <a:p>
            <a:r>
              <a:rPr lang="en-US" sz="2400" b="1" i="0" dirty="0">
                <a:solidFill>
                  <a:srgbClr val="2D3748"/>
                </a:solidFill>
                <a:latin typeface="Calibri"/>
              </a:rPr>
              <a:t>Tragedy in the industry</a:t>
            </a:r>
            <a:r>
              <a:rPr lang="en-US" sz="2400" b="1" i="0" baseline="30000" dirty="0">
                <a:solidFill>
                  <a:srgbClr val="2D3748"/>
                </a:solidFill>
                <a:latin typeface="Calibri"/>
              </a:rPr>
              <a:t>2</a:t>
            </a:r>
            <a:r>
              <a:rPr lang="en-US" sz="2400" dirty="0">
                <a:solidFill>
                  <a:srgbClr val="2D3748"/>
                </a:solidFill>
              </a:rPr>
              <a:t>:</a:t>
            </a:r>
            <a:endParaRPr lang="en-US" sz="2400" b="1" i="0" baseline="30000" dirty="0">
              <a:solidFill>
                <a:srgbClr val="2D3748"/>
              </a:solidFill>
              <a:latin typeface="Calibri"/>
            </a:endParaRPr>
          </a:p>
          <a:p>
            <a:pPr marL="285750" indent="-285750">
              <a:buFont typeface="Arial" panose="020B0604020202020204" pitchFamily="34" charset="0"/>
              <a:buChar char="•"/>
            </a:pPr>
            <a:r>
              <a:rPr lang="en-US" sz="1600" dirty="0">
                <a:solidFill>
                  <a:srgbClr val="2D3748"/>
                </a:solidFill>
              </a:rPr>
              <a:t>Ariane 5 Rocket Explosion (1996)
A reused software component caused an unhandled </a:t>
            </a:r>
          </a:p>
          <a:p>
            <a:r>
              <a:rPr lang="en-US" sz="1600" dirty="0">
                <a:solidFill>
                  <a:srgbClr val="2D3748"/>
                </a:solidFill>
              </a:rPr>
              <a:t>overflow exception.</a:t>
            </a:r>
          </a:p>
          <a:p>
            <a:pPr marL="285750" indent="-285750">
              <a:buFont typeface="Arial" panose="020B0604020202020204" pitchFamily="34" charset="0"/>
              <a:buChar char="•"/>
            </a:pPr>
            <a:r>
              <a:rPr lang="en-US" sz="1600" dirty="0">
                <a:solidFill>
                  <a:srgbClr val="2D3748"/>
                </a:solidFill>
              </a:rPr>
              <a:t>The rocket self-destructed 37 seconds after launch.
$370 million USD payload destroyed.</a:t>
            </a:r>
          </a:p>
          <a:p>
            <a:pPr algn="l"/>
            <a:endParaRPr sz="2000" b="0" i="0" dirty="0">
              <a:solidFill>
                <a:srgbClr val="2D3748"/>
              </a:solidFill>
              <a:latin typeface="Calibri"/>
            </a:endParaRPr>
          </a:p>
        </p:txBody>
      </p:sp>
      <p:sp>
        <p:nvSpPr>
          <p:cNvPr id="5" name="TextBox 4">
            <a:extLst>
              <a:ext uri="{FF2B5EF4-FFF2-40B4-BE49-F238E27FC236}">
                <a16:creationId xmlns:a16="http://schemas.microsoft.com/office/drawing/2014/main" id="{6E76441B-92D8-4B83-AD8C-1DC9BCD38357}"/>
              </a:ext>
            </a:extLst>
          </p:cNvPr>
          <p:cNvSpPr txBox="1"/>
          <p:nvPr/>
        </p:nvSpPr>
        <p:spPr>
          <a:xfrm>
            <a:off x="255600" y="4667520"/>
            <a:ext cx="8046720" cy="400110"/>
          </a:xfrm>
          <a:prstGeom prst="rect">
            <a:avLst/>
          </a:prstGeom>
          <a:noFill/>
        </p:spPr>
        <p:txBody>
          <a:bodyPr wrap="square">
            <a:spAutoFit/>
          </a:bodyPr>
          <a:lstStyle/>
          <a:p>
            <a:pPr marL="228600" indent="-228600">
              <a:buAutoNum type="arabicParenR"/>
            </a:pPr>
            <a:r>
              <a:rPr lang="en-US" sz="1000" dirty="0">
                <a:solidFill>
                  <a:srgbClr val="2D3748"/>
                </a:solidFill>
              </a:rPr>
              <a:t>Source: </a:t>
            </a:r>
            <a:r>
              <a:rPr lang="en-US" sz="1000" dirty="0">
                <a:solidFill>
                  <a:srgbClr val="2D3748"/>
                </a:solidFill>
                <a:hlinkClick r:id="rId2"/>
              </a:rPr>
              <a:t>https://en.wikipedia.org/wiki/Geoffrey_Chang</a:t>
            </a:r>
            <a:r>
              <a:rPr lang="en-US" sz="1000" dirty="0">
                <a:solidFill>
                  <a:srgbClr val="2D3748"/>
                </a:solidFill>
              </a:rPr>
              <a:t> </a:t>
            </a:r>
          </a:p>
          <a:p>
            <a:pPr marL="228600" indent="-228600">
              <a:buAutoNum type="arabicParenR"/>
            </a:pPr>
            <a:r>
              <a:rPr lang="en-US" sz="1000" i="0" dirty="0">
                <a:solidFill>
                  <a:srgbClr val="2D3748"/>
                </a:solidFill>
                <a:latin typeface="Calibri"/>
              </a:rPr>
              <a:t>Source: </a:t>
            </a:r>
            <a:r>
              <a:rPr lang="en-US" sz="1000" dirty="0">
                <a:solidFill>
                  <a:srgbClr val="2D3748"/>
                </a:solidFill>
                <a:hlinkClick r:id="rId3"/>
              </a:rPr>
              <a:t>https://en.wikipedia.org/wiki/Ariane_flight_V88</a:t>
            </a:r>
            <a:r>
              <a:rPr lang="en-US" sz="1000" dirty="0">
                <a:solidFill>
                  <a:srgbClr val="2D3748"/>
                </a:solidFill>
              </a:rPr>
              <a:t> </a:t>
            </a:r>
            <a:endParaRPr sz="1000" i="0" dirty="0">
              <a:solidFill>
                <a:srgbClr val="2D3748"/>
              </a:solidFill>
              <a:latin typeface="Calibri"/>
            </a:endParaRPr>
          </a:p>
        </p:txBody>
      </p:sp>
      <p:pic>
        <p:nvPicPr>
          <p:cNvPr id="6" name="Picture 5">
            <a:extLst>
              <a:ext uri="{FF2B5EF4-FFF2-40B4-BE49-F238E27FC236}">
                <a16:creationId xmlns:a16="http://schemas.microsoft.com/office/drawing/2014/main" id="{254EA24E-351F-DC4F-FB1E-5BED0B02E582}"/>
              </a:ext>
            </a:extLst>
          </p:cNvPr>
          <p:cNvPicPr>
            <a:picLocks noChangeAspect="1"/>
          </p:cNvPicPr>
          <p:nvPr/>
        </p:nvPicPr>
        <p:blipFill>
          <a:blip r:embed="rId4"/>
          <a:stretch>
            <a:fillRect/>
          </a:stretch>
        </p:blipFill>
        <p:spPr>
          <a:xfrm>
            <a:off x="5363997" y="2481808"/>
            <a:ext cx="3497137" cy="218571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Symptoms of being in a bad spot </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183362"/>
            <a:ext cx="8046720" cy="3276282"/>
          </a:xfrm>
          <a:prstGeom prst="rect">
            <a:avLst/>
          </a:prstGeom>
          <a:noFill/>
        </p:spPr>
        <p:txBody>
          <a:bodyPr wrap="square">
            <a:spAutoFit/>
          </a:bodyPr>
          <a:lstStyle/>
          <a:p>
            <a:pPr marL="342900" indent="-342900" algn="l">
              <a:lnSpc>
                <a:spcPct val="150000"/>
              </a:lnSpc>
              <a:buFont typeface="Arial" panose="020B0604020202020204" pitchFamily="34" charset="0"/>
              <a:buChar char="•"/>
            </a:pPr>
            <a:r>
              <a:rPr sz="2000" b="0" i="0" dirty="0">
                <a:solidFill>
                  <a:srgbClr val="2D3748"/>
                </a:solidFill>
                <a:latin typeface="Calibri"/>
              </a:rPr>
              <a:t>Can't </a:t>
            </a:r>
            <a:r>
              <a:rPr sz="2000" b="1" i="0" dirty="0">
                <a:solidFill>
                  <a:srgbClr val="2D3748"/>
                </a:solidFill>
                <a:latin typeface="Calibri"/>
              </a:rPr>
              <a:t>reproduce</a:t>
            </a:r>
            <a:r>
              <a:rPr sz="2000" b="0" i="0" dirty="0">
                <a:solidFill>
                  <a:srgbClr val="2D3748"/>
                </a:solidFill>
                <a:latin typeface="Calibri"/>
              </a:rPr>
              <a:t> your own results </a:t>
            </a:r>
            <a:r>
              <a:rPr lang="en-US" sz="2000" b="0" i="0" dirty="0">
                <a:solidFill>
                  <a:srgbClr val="2D3748"/>
                </a:solidFill>
                <a:latin typeface="Calibri"/>
              </a:rPr>
              <a:t>quickly.</a:t>
            </a:r>
          </a:p>
          <a:p>
            <a:pPr marL="342900" indent="-342900" algn="l">
              <a:lnSpc>
                <a:spcPct val="150000"/>
              </a:lnSpc>
              <a:buFont typeface="Arial" panose="020B0604020202020204" pitchFamily="34" charset="0"/>
              <a:buChar char="•"/>
            </a:pPr>
            <a:r>
              <a:rPr lang="en-US" sz="2000" b="0" i="0" dirty="0">
                <a:solidFill>
                  <a:srgbClr val="2D3748"/>
                </a:solidFill>
                <a:latin typeface="Calibri"/>
              </a:rPr>
              <a:t>Code runs on </a:t>
            </a:r>
            <a:r>
              <a:rPr lang="en-US" sz="2000" b="1" i="0" dirty="0">
                <a:solidFill>
                  <a:srgbClr val="2D3748"/>
                </a:solidFill>
                <a:latin typeface="Calibri"/>
              </a:rPr>
              <a:t>your machine</a:t>
            </a:r>
            <a:r>
              <a:rPr lang="en-US" sz="2000" b="0" i="0" dirty="0">
                <a:solidFill>
                  <a:srgbClr val="2D3748"/>
                </a:solidFill>
                <a:latin typeface="Calibri"/>
              </a:rPr>
              <a:t>, but not in your teammate’s.</a:t>
            </a:r>
          </a:p>
          <a:p>
            <a:pPr marL="342900" indent="-342900" algn="l">
              <a:lnSpc>
                <a:spcPct val="150000"/>
              </a:lnSpc>
              <a:buFont typeface="Arial" panose="020B0604020202020204" pitchFamily="34" charset="0"/>
              <a:buChar char="•"/>
            </a:pPr>
            <a:r>
              <a:rPr lang="en-US" sz="2000" dirty="0">
                <a:solidFill>
                  <a:srgbClr val="2D3748"/>
                </a:solidFill>
                <a:latin typeface="Calibri"/>
              </a:rPr>
              <a:t>You are </a:t>
            </a:r>
            <a:r>
              <a:rPr lang="en-US" sz="2000" b="1" dirty="0">
                <a:solidFill>
                  <a:srgbClr val="2D3748"/>
                </a:solidFill>
                <a:latin typeface="Calibri"/>
              </a:rPr>
              <a:t>afraid</a:t>
            </a:r>
            <a:r>
              <a:rPr lang="en-US" sz="2000" dirty="0">
                <a:solidFill>
                  <a:srgbClr val="2D3748"/>
                </a:solidFill>
                <a:latin typeface="Calibri"/>
              </a:rPr>
              <a:t> of making changes.</a:t>
            </a:r>
          </a:p>
          <a:p>
            <a:pPr marL="342900" indent="-342900" algn="l">
              <a:lnSpc>
                <a:spcPct val="150000"/>
              </a:lnSpc>
              <a:buFont typeface="Arial" panose="020B0604020202020204" pitchFamily="34" charset="0"/>
              <a:buChar char="•"/>
            </a:pPr>
            <a:r>
              <a:rPr lang="en-US" sz="2000" dirty="0">
                <a:solidFill>
                  <a:srgbClr val="2D3748"/>
                </a:solidFill>
                <a:latin typeface="Calibri"/>
              </a:rPr>
              <a:t>Adding new things to the codebase is difficult.</a:t>
            </a:r>
          </a:p>
          <a:p>
            <a:pPr marL="342900" indent="-342900" algn="l">
              <a:lnSpc>
                <a:spcPct val="150000"/>
              </a:lnSpc>
              <a:buFont typeface="Arial" panose="020B0604020202020204" pitchFamily="34" charset="0"/>
              <a:buChar char="•"/>
            </a:pPr>
            <a:r>
              <a:rPr lang="en-US" sz="2000" dirty="0">
                <a:solidFill>
                  <a:srgbClr val="2D3748"/>
                </a:solidFill>
                <a:latin typeface="Calibri"/>
              </a:rPr>
              <a:t>There are </a:t>
            </a:r>
            <a:r>
              <a:rPr lang="en-US" sz="2000" b="1" dirty="0">
                <a:solidFill>
                  <a:srgbClr val="2D3748"/>
                </a:solidFill>
                <a:latin typeface="Calibri"/>
              </a:rPr>
              <a:t>no tests </a:t>
            </a:r>
            <a:r>
              <a:rPr lang="en-US" sz="2000" dirty="0">
                <a:solidFill>
                  <a:srgbClr val="2D3748"/>
                </a:solidFill>
                <a:latin typeface="Calibri"/>
              </a:rPr>
              <a:t>to check the codebase works as expected.</a:t>
            </a:r>
          </a:p>
          <a:p>
            <a:pPr marL="342900" indent="-342900" algn="l">
              <a:lnSpc>
                <a:spcPct val="150000"/>
              </a:lnSpc>
              <a:buFont typeface="Arial" panose="020B0604020202020204" pitchFamily="34" charset="0"/>
              <a:buChar char="•"/>
            </a:pPr>
            <a:r>
              <a:rPr lang="en-US" sz="2000" dirty="0">
                <a:solidFill>
                  <a:srgbClr val="2D3748"/>
                </a:solidFill>
                <a:latin typeface="Calibri"/>
              </a:rPr>
              <a:t>Low </a:t>
            </a:r>
            <a:r>
              <a:rPr lang="en-US" sz="2000" b="1" dirty="0">
                <a:solidFill>
                  <a:srgbClr val="2D3748"/>
                </a:solidFill>
                <a:latin typeface="Calibri"/>
              </a:rPr>
              <a:t>morale</a:t>
            </a:r>
            <a:r>
              <a:rPr lang="en-US" sz="2000" dirty="0">
                <a:solidFill>
                  <a:srgbClr val="2D3748"/>
                </a:solidFill>
                <a:latin typeface="Calibri"/>
              </a:rPr>
              <a:t> of the team working on the codebase.</a:t>
            </a:r>
            <a:r>
              <a:rPr sz="2000" b="0" i="0" dirty="0">
                <a:solidFill>
                  <a:srgbClr val="2D3748"/>
                </a:solidFill>
                <a:latin typeface="Calibri"/>
              </a:rPr>
              <a:t>
</a:t>
            </a:r>
            <a:r>
              <a:rPr lang="en-US" sz="2000" b="1" i="0" dirty="0">
                <a:solidFill>
                  <a:srgbClr val="2D3748"/>
                </a:solidFill>
                <a:latin typeface="Calibri"/>
              </a:rPr>
              <a:t>Unknown crashes </a:t>
            </a:r>
            <a:r>
              <a:rPr lang="en-US" sz="2000" b="0" i="0" dirty="0">
                <a:solidFill>
                  <a:srgbClr val="2D3748"/>
                </a:solidFill>
                <a:latin typeface="Calibri"/>
              </a:rPr>
              <a:t>of the codebase.</a:t>
            </a:r>
            <a:endParaRPr sz="2000" b="0" i="0" dirty="0">
              <a:solidFill>
                <a:srgbClr val="2D3748"/>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Software Engineering takes time to learn</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200" b="0" i="0">
                <a:solidFill>
                  <a:srgbClr val="2D3748"/>
                </a:solidFill>
                <a:latin typeface="Calibri"/>
              </a:rPr>
              <a:t>I can give you the bicycle — but I can't ride it for you.
This workshop covers the principles.
The repository guides your pace afterward:
github.com/sefop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2</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Optimize for Learning</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Iterative + Incremental</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Iterative:    Don't try to get it all right from the beginning.
Incremental:  Don't build it all at once.
Each unit of work follows this cycle:
Design  →  Develop  →  Test  →  Release  →  Learn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Apply the Scientific Method</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1800" b="0" i="0">
                <a:solidFill>
                  <a:srgbClr val="2D3748"/>
                </a:solidFill>
                <a:latin typeface="Calibri"/>
              </a:rPr>
              <a:t>Observation → Question → Hypothesis → Experiment → Conclusion
Skepticism:           don't trust — demand evidence.
Evidence over authority:  tests decide, not opinion.
Reproducibility:      same inputs → same outputs.
Causality:            control variables to isolate cause.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Technologies that enable experimentation</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Static analysis    →  catch errors before you run
Automated tests    →  verify assumptions automatically
CI/CD              →  instant feedback on every change
Virtual environments →  reproducibility guaranteed
Git branches       →  isolated laboratories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3</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Unit Testing in Practice</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Unit Testing in Practice</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371600"/>
            <a:ext cx="8046720" cy="457200"/>
          </a:xfrm>
          <a:prstGeom prst="rect">
            <a:avLst/>
          </a:prstGeom>
          <a:noFill/>
        </p:spPr>
        <p:txBody>
          <a:bodyPr wrap="square">
            <a:spAutoFit/>
          </a:bodyPr>
          <a:lstStyle/>
          <a:p>
            <a:pPr algn="l"/>
            <a:r>
              <a:rPr sz="1800" b="0" i="0">
                <a:solidFill>
                  <a:srgbClr val="2D3748"/>
                </a:solidFill>
                <a:latin typeface="Calibri"/>
              </a:rPr>
              <a:t>Hands-on exercise — follow along on your laptop.</a:t>
            </a:r>
          </a:p>
        </p:txBody>
      </p:sp>
      <p:sp>
        <p:nvSpPr>
          <p:cNvPr id="5" name="TextBox 4"/>
          <p:cNvSpPr txBox="1"/>
          <p:nvPr/>
        </p:nvSpPr>
        <p:spPr>
          <a:xfrm>
            <a:off x="548640" y="2103120"/>
            <a:ext cx="8046720" cy="640080"/>
          </a:xfrm>
          <a:prstGeom prst="rect">
            <a:avLst/>
          </a:prstGeom>
          <a:noFill/>
        </p:spPr>
        <p:txBody>
          <a:bodyPr wrap="square">
            <a:spAutoFit/>
          </a:bodyPr>
          <a:lstStyle/>
          <a:p>
            <a:pPr algn="l"/>
            <a:r>
              <a:rPr sz="2800" b="1" i="0">
                <a:solidFill>
                  <a:srgbClr val="0077A8"/>
                </a:solidFill>
                <a:latin typeface="Calibri"/>
              </a:rPr>
              <a:t>github.com/sefop/training-testing-python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4</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Optimize for Managing Complexity</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Cohesion + Coupling</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Cohesion:   things that change together live together.
Coupling:   things that don't change together don't depend.
Goal:     High cohesion  +  low coupling
Reality:  most research code has the opposite.</a:t>
            </a:r>
          </a:p>
        </p:txBody>
      </p:sp>
      <p:sp>
        <p:nvSpPr>
          <p:cNvPr id="5" name="TextBox 4"/>
          <p:cNvSpPr txBox="1"/>
          <p:nvPr/>
        </p:nvSpPr>
        <p:spPr>
          <a:xfrm>
            <a:off x="548640" y="4389120"/>
            <a:ext cx="8046720" cy="640080"/>
          </a:xfrm>
          <a:prstGeom prst="rect">
            <a:avLst/>
          </a:prstGeom>
          <a:noFill/>
        </p:spPr>
        <p:txBody>
          <a:bodyPr wrap="square">
            <a:spAutoFit/>
          </a:bodyPr>
          <a:lstStyle/>
          <a:p>
            <a:pPr algn="l"/>
            <a:r>
              <a:rPr sz="1300" b="0" i="1">
                <a:solidFill>
                  <a:srgbClr val="718096"/>
                </a:solidFill>
                <a:latin typeface="Calibri"/>
              </a:rPr>
              <a:t>Question: if you change how data is loaded, how many other files do you have to touch?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Modularity</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A module can be understood, built, and tested independently.
Modularity is what makes a system changeable:
you can swap a module without touching the rest.
Test for modularity: can you change this piece
without reading all the other pieces first?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Separation of Concerns</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1800" b="0" i="0">
                <a:solidFill>
                  <a:srgbClr val="2D3748"/>
                </a:solidFill>
                <a:latin typeface="Calibri"/>
              </a:rPr>
              <a:t>Data loading, model formulation, and output reporting
are three different concerns — three different reasons to change.
Dependency injection — pass dependencies from the outside:
    engine = Engine(solver=MIPSolver())
    engine = Engine(solver=GreedySolver())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Information Hiding</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1800" b="0" i="0">
                <a:solidFill>
                  <a:srgbClr val="2D3748"/>
                </a:solidFill>
                <a:latin typeface="Calibri"/>
              </a:rPr>
              <a:t>Hide implementation details behind a simple interface.
Callers need to know what a module does, not how.
    solve(instance)
Whether it uses Gurobi, HiGHS, or a heuristic
is invisible to the caller.
Benefit: change internals without breaking callers.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YAGNI — You Aren't Gonna Need It</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Don't build for hypothetical future requirements.
Build for what you need today.
Every unnecessary abstraction adds complexity
that someone has to understand and maintain.
Add structure when the pain is real,
not when you imagine you might need it.</a:t>
            </a:r>
          </a:p>
        </p:txBody>
      </p:sp>
      <p:sp>
        <p:nvSpPr>
          <p:cNvPr id="5" name="TextBox 4"/>
          <p:cNvSpPr txBox="1"/>
          <p:nvPr/>
        </p:nvSpPr>
        <p:spPr>
          <a:xfrm>
            <a:off x="548640" y="4389120"/>
            <a:ext cx="8046720" cy="640080"/>
          </a:xfrm>
          <a:prstGeom prst="rect">
            <a:avLst/>
          </a:prstGeom>
          <a:noFill/>
        </p:spPr>
        <p:txBody>
          <a:bodyPr wrap="square">
            <a:spAutoFit/>
          </a:bodyPr>
          <a:lstStyle/>
          <a:p>
            <a:pPr algn="l"/>
            <a:r>
              <a:rPr sz="1300" b="0" i="1">
                <a:solidFill>
                  <a:srgbClr val="718096"/>
                </a:solidFill>
                <a:latin typeface="Calibri"/>
              </a:rPr>
              <a:t>Question: have you ever built something 'just in case' that you never used?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AFTERNOON</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Putting it all together: SEFOP</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1097280"/>
          </a:xfrm>
          <a:prstGeom prst="rect">
            <a:avLst/>
          </a:prstGeom>
          <a:noFill/>
        </p:spPr>
        <p:txBody>
          <a:bodyPr wrap="square">
            <a:spAutoFit/>
          </a:bodyPr>
          <a:lstStyle/>
          <a:p>
            <a:pPr algn="l"/>
            <a:r>
              <a:rPr sz="6000" b="1" i="0">
                <a:solidFill>
                  <a:srgbClr val="0A1628"/>
                </a:solidFill>
                <a:latin typeface="Calibri"/>
              </a:rPr>
              <a:t>Thank you</a:t>
            </a:r>
          </a:p>
        </p:txBody>
      </p:sp>
      <p:sp>
        <p:nvSpPr>
          <p:cNvPr id="3" name="Rectangle 2"/>
          <p:cNvSpPr/>
          <p:nvPr/>
        </p:nvSpPr>
        <p:spPr>
          <a:xfrm>
            <a:off x="457200" y="283464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108960"/>
            <a:ext cx="8229600" cy="457200"/>
          </a:xfrm>
          <a:prstGeom prst="rect">
            <a:avLst/>
          </a:prstGeom>
          <a:noFill/>
        </p:spPr>
        <p:txBody>
          <a:bodyPr wrap="square">
            <a:spAutoFit/>
          </a:bodyPr>
          <a:lstStyle/>
          <a:p>
            <a:pPr algn="l"/>
            <a:r>
              <a:rPr sz="2400" b="0" i="0">
                <a:solidFill>
                  <a:srgbClr val="0077A8"/>
                </a:solidFill>
                <a:latin typeface="Calibri"/>
              </a:rPr>
              <a:t>github.com/sefop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77</TotalTime>
  <Words>848</Words>
  <Application>Microsoft Office PowerPoint</Application>
  <PresentationFormat>On-screen Show (16:9)</PresentationFormat>
  <Paragraphs>63</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Microsoft GothicNeo Light</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Francisco Zenteno Smith</cp:lastModifiedBy>
  <cp:revision>12</cp:revision>
  <dcterms:created xsi:type="dcterms:W3CDTF">2013-01-27T09:14:16Z</dcterms:created>
  <dcterms:modified xsi:type="dcterms:W3CDTF">2026-06-27T21:24:27Z</dcterms:modified>
  <cp:category/>
</cp:coreProperties>
</file>