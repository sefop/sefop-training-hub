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90" r:id="rId5"/>
    <p:sldId id="259" r:id="rId6"/>
    <p:sldId id="260" r:id="rId7"/>
    <p:sldId id="262" r:id="rId8"/>
    <p:sldId id="265" r:id="rId9"/>
    <p:sldId id="280" r:id="rId10"/>
    <p:sldId id="281" r:id="rId11"/>
    <p:sldId id="283" r:id="rId12"/>
    <p:sldId id="284" r:id="rId13"/>
    <p:sldId id="285" r:id="rId14"/>
    <p:sldId id="286" r:id="rId15"/>
    <p:sldId id="266" r:id="rId16"/>
    <p:sldId id="267" r:id="rId17"/>
    <p:sldId id="289" r:id="rId18"/>
    <p:sldId id="287" r:id="rId19"/>
    <p:sldId id="268" r:id="rId20"/>
    <p:sldId id="291" r:id="rId21"/>
    <p:sldId id="269" r:id="rId22"/>
    <p:sldId id="270" r:id="rId23"/>
    <p:sldId id="272" r:id="rId24"/>
    <p:sldId id="273" r:id="rId25"/>
    <p:sldId id="293" r:id="rId26"/>
    <p:sldId id="295" r:id="rId27"/>
    <p:sldId id="296" r:id="rId28"/>
    <p:sldId id="297" r:id="rId29"/>
    <p:sldId id="274" r:id="rId30"/>
    <p:sldId id="298" r:id="rId31"/>
    <p:sldId id="275" r:id="rId32"/>
    <p:sldId id="301" r:id="rId33"/>
    <p:sldId id="299" r:id="rId34"/>
    <p:sldId id="276" r:id="rId35"/>
    <p:sldId id="300" r:id="rId36"/>
    <p:sldId id="278" r:id="rId37"/>
    <p:sldId id="303" r:id="rId38"/>
    <p:sldId id="308" r:id="rId39"/>
    <p:sldId id="304" r:id="rId40"/>
    <p:sldId id="307" r:id="rId41"/>
    <p:sldId id="305" r:id="rId42"/>
    <p:sldId id="306" r:id="rId43"/>
    <p:sldId id="309" r:id="rId44"/>
    <p:sldId id="312" r:id="rId45"/>
    <p:sldId id="310" r:id="rId46"/>
    <p:sldId id="311" r:id="rId47"/>
    <p:sldId id="279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B7D80-9A1B-459B-ADCD-49EFEE497B7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6DFAB4-4C9C-4453-833B-22B2A19EB338}">
      <dgm:prSet phldrT="[Text]" phldr="0" custT="1"/>
      <dgm:spPr/>
      <dgm:t>
        <a:bodyPr/>
        <a:lstStyle/>
        <a:p>
          <a:r>
            <a:rPr lang="en-US" sz="4000" b="1" dirty="0"/>
            <a:t>Adapt</a:t>
          </a:r>
        </a:p>
      </dgm:t>
    </dgm:pt>
    <dgm:pt modelId="{C0A306D7-42E9-45E8-BD4B-7B95BF673B5F}" type="parTrans" cxnId="{54C35C5D-9990-48AC-B043-F9EE02B63494}">
      <dgm:prSet/>
      <dgm:spPr/>
      <dgm:t>
        <a:bodyPr/>
        <a:lstStyle/>
        <a:p>
          <a:endParaRPr lang="en-US"/>
        </a:p>
      </dgm:t>
    </dgm:pt>
    <dgm:pt modelId="{9BF2DF7C-CCEB-4445-A14A-425E2A57FC2D}" type="sibTrans" cxnId="{54C35C5D-9990-48AC-B043-F9EE02B63494}">
      <dgm:prSet/>
      <dgm:spPr/>
      <dgm:t>
        <a:bodyPr/>
        <a:lstStyle/>
        <a:p>
          <a:endParaRPr lang="en-US"/>
        </a:p>
      </dgm:t>
    </dgm:pt>
    <dgm:pt modelId="{27DD6F7D-55BA-4AC1-975C-DF728B056618}">
      <dgm:prSet phldrT="[Text]" phldr="0" custT="1"/>
      <dgm:spPr/>
      <dgm:t>
        <a:bodyPr/>
        <a:lstStyle/>
        <a:p>
          <a:r>
            <a:rPr lang="en-US" sz="4000" b="1" dirty="0"/>
            <a:t>Learn</a:t>
          </a:r>
          <a:endParaRPr lang="en-US" sz="4400" b="1" dirty="0"/>
        </a:p>
      </dgm:t>
    </dgm:pt>
    <dgm:pt modelId="{C3C755E6-8ADA-4941-8AF7-201321C974DD}" type="parTrans" cxnId="{73E8E2D4-62B0-4FA4-BE4F-936E724A546B}">
      <dgm:prSet/>
      <dgm:spPr/>
      <dgm:t>
        <a:bodyPr/>
        <a:lstStyle/>
        <a:p>
          <a:endParaRPr lang="en-US"/>
        </a:p>
      </dgm:t>
    </dgm:pt>
    <dgm:pt modelId="{792B36C3-79A5-414B-AE18-146518492D70}" type="sibTrans" cxnId="{73E8E2D4-62B0-4FA4-BE4F-936E724A546B}">
      <dgm:prSet/>
      <dgm:spPr/>
      <dgm:t>
        <a:bodyPr/>
        <a:lstStyle/>
        <a:p>
          <a:endParaRPr lang="en-US"/>
        </a:p>
      </dgm:t>
    </dgm:pt>
    <dgm:pt modelId="{12019EC4-D26C-4A7E-837D-21CC1D6BF0E0}" type="pres">
      <dgm:prSet presAssocID="{FE9B7D80-9A1B-459B-ADCD-49EFEE497B73}" presName="cycle" presStyleCnt="0">
        <dgm:presLayoutVars>
          <dgm:dir/>
          <dgm:resizeHandles val="exact"/>
        </dgm:presLayoutVars>
      </dgm:prSet>
      <dgm:spPr/>
    </dgm:pt>
    <dgm:pt modelId="{73274EA0-3F4F-4B55-B2C8-DAE374E822EE}" type="pres">
      <dgm:prSet presAssocID="{376DFAB4-4C9C-4453-833B-22B2A19EB338}" presName="dummy" presStyleCnt="0"/>
      <dgm:spPr/>
    </dgm:pt>
    <dgm:pt modelId="{3567B15F-E0FD-44E4-B1E4-4EF47527B01D}" type="pres">
      <dgm:prSet presAssocID="{376DFAB4-4C9C-4453-833B-22B2A19EB338}" presName="node" presStyleLbl="revTx" presStyleIdx="0" presStyleCnt="2">
        <dgm:presLayoutVars>
          <dgm:bulletEnabled val="1"/>
        </dgm:presLayoutVars>
      </dgm:prSet>
      <dgm:spPr/>
    </dgm:pt>
    <dgm:pt modelId="{F47B4486-4893-449B-B6E8-F6B0C3165D0F}" type="pres">
      <dgm:prSet presAssocID="{9BF2DF7C-CCEB-4445-A14A-425E2A57FC2D}" presName="sibTrans" presStyleLbl="node1" presStyleIdx="0" presStyleCnt="2"/>
      <dgm:spPr/>
    </dgm:pt>
    <dgm:pt modelId="{C0C878E9-41AB-4F4A-A446-4831F54643E6}" type="pres">
      <dgm:prSet presAssocID="{27DD6F7D-55BA-4AC1-975C-DF728B056618}" presName="dummy" presStyleCnt="0"/>
      <dgm:spPr/>
    </dgm:pt>
    <dgm:pt modelId="{0CE4C7AF-0BB3-433F-89C4-1122CC6994E8}" type="pres">
      <dgm:prSet presAssocID="{27DD6F7D-55BA-4AC1-975C-DF728B056618}" presName="node" presStyleLbl="revTx" presStyleIdx="1" presStyleCnt="2">
        <dgm:presLayoutVars>
          <dgm:bulletEnabled val="1"/>
        </dgm:presLayoutVars>
      </dgm:prSet>
      <dgm:spPr/>
    </dgm:pt>
    <dgm:pt modelId="{5B45765C-EBFD-45CB-BA8F-20EB05C97DC9}" type="pres">
      <dgm:prSet presAssocID="{792B36C3-79A5-414B-AE18-146518492D70}" presName="sibTrans" presStyleLbl="node1" presStyleIdx="1" presStyleCnt="2"/>
      <dgm:spPr/>
    </dgm:pt>
  </dgm:ptLst>
  <dgm:cxnLst>
    <dgm:cxn modelId="{436C6310-6524-48B6-8107-22B21DE4C087}" type="presOf" srcId="{9BF2DF7C-CCEB-4445-A14A-425E2A57FC2D}" destId="{F47B4486-4893-449B-B6E8-F6B0C3165D0F}" srcOrd="0" destOrd="0" presId="urn:microsoft.com/office/officeart/2005/8/layout/cycle1"/>
    <dgm:cxn modelId="{B83C3720-5B49-4D24-A1A2-F67659859FE0}" type="presOf" srcId="{27DD6F7D-55BA-4AC1-975C-DF728B056618}" destId="{0CE4C7AF-0BB3-433F-89C4-1122CC6994E8}" srcOrd="0" destOrd="0" presId="urn:microsoft.com/office/officeart/2005/8/layout/cycle1"/>
    <dgm:cxn modelId="{569C0E29-F536-41EC-A051-996E6B801A82}" type="presOf" srcId="{FE9B7D80-9A1B-459B-ADCD-49EFEE497B73}" destId="{12019EC4-D26C-4A7E-837D-21CC1D6BF0E0}" srcOrd="0" destOrd="0" presId="urn:microsoft.com/office/officeart/2005/8/layout/cycle1"/>
    <dgm:cxn modelId="{54C35C5D-9990-48AC-B043-F9EE02B63494}" srcId="{FE9B7D80-9A1B-459B-ADCD-49EFEE497B73}" destId="{376DFAB4-4C9C-4453-833B-22B2A19EB338}" srcOrd="0" destOrd="0" parTransId="{C0A306D7-42E9-45E8-BD4B-7B95BF673B5F}" sibTransId="{9BF2DF7C-CCEB-4445-A14A-425E2A57FC2D}"/>
    <dgm:cxn modelId="{B21EA689-655F-4B46-9293-AD6BCF144C22}" type="presOf" srcId="{376DFAB4-4C9C-4453-833B-22B2A19EB338}" destId="{3567B15F-E0FD-44E4-B1E4-4EF47527B01D}" srcOrd="0" destOrd="0" presId="urn:microsoft.com/office/officeart/2005/8/layout/cycle1"/>
    <dgm:cxn modelId="{F4B451AA-5BAE-4837-A6F2-22450AFEDFA4}" type="presOf" srcId="{792B36C3-79A5-414B-AE18-146518492D70}" destId="{5B45765C-EBFD-45CB-BA8F-20EB05C97DC9}" srcOrd="0" destOrd="0" presId="urn:microsoft.com/office/officeart/2005/8/layout/cycle1"/>
    <dgm:cxn modelId="{73E8E2D4-62B0-4FA4-BE4F-936E724A546B}" srcId="{FE9B7D80-9A1B-459B-ADCD-49EFEE497B73}" destId="{27DD6F7D-55BA-4AC1-975C-DF728B056618}" srcOrd="1" destOrd="0" parTransId="{C3C755E6-8ADA-4941-8AF7-201321C974DD}" sibTransId="{792B36C3-79A5-414B-AE18-146518492D70}"/>
    <dgm:cxn modelId="{0AA1C26E-E2DF-455F-93D0-C64BF938F1D9}" type="presParOf" srcId="{12019EC4-D26C-4A7E-837D-21CC1D6BF0E0}" destId="{73274EA0-3F4F-4B55-B2C8-DAE374E822EE}" srcOrd="0" destOrd="0" presId="urn:microsoft.com/office/officeart/2005/8/layout/cycle1"/>
    <dgm:cxn modelId="{555FAC33-9673-4E2C-9167-8340B6DF37DD}" type="presParOf" srcId="{12019EC4-D26C-4A7E-837D-21CC1D6BF0E0}" destId="{3567B15F-E0FD-44E4-B1E4-4EF47527B01D}" srcOrd="1" destOrd="0" presId="urn:microsoft.com/office/officeart/2005/8/layout/cycle1"/>
    <dgm:cxn modelId="{4C44EB1E-2F26-4A3C-9A7F-030F93A257C8}" type="presParOf" srcId="{12019EC4-D26C-4A7E-837D-21CC1D6BF0E0}" destId="{F47B4486-4893-449B-B6E8-F6B0C3165D0F}" srcOrd="2" destOrd="0" presId="urn:microsoft.com/office/officeart/2005/8/layout/cycle1"/>
    <dgm:cxn modelId="{0D90AA66-96F0-4567-8E23-85250544AD33}" type="presParOf" srcId="{12019EC4-D26C-4A7E-837D-21CC1D6BF0E0}" destId="{C0C878E9-41AB-4F4A-A446-4831F54643E6}" srcOrd="3" destOrd="0" presId="urn:microsoft.com/office/officeart/2005/8/layout/cycle1"/>
    <dgm:cxn modelId="{7FE542CA-3047-4210-8869-9BBEAC66C7F5}" type="presParOf" srcId="{12019EC4-D26C-4A7E-837D-21CC1D6BF0E0}" destId="{0CE4C7AF-0BB3-433F-89C4-1122CC6994E8}" srcOrd="4" destOrd="0" presId="urn:microsoft.com/office/officeart/2005/8/layout/cycle1"/>
    <dgm:cxn modelId="{119B4E87-74FF-4313-B04B-5929E95A46C3}" type="presParOf" srcId="{12019EC4-D26C-4A7E-837D-21CC1D6BF0E0}" destId="{5B45765C-EBFD-45CB-BA8F-20EB05C97DC9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7B15F-E0FD-44E4-B1E4-4EF47527B01D}">
      <dsp:nvSpPr>
        <dsp:cNvPr id="0" name=""/>
        <dsp:cNvSpPr/>
      </dsp:nvSpPr>
      <dsp:spPr>
        <a:xfrm>
          <a:off x="3675830" y="1043781"/>
          <a:ext cx="1976437" cy="19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Adapt</a:t>
          </a:r>
        </a:p>
      </dsp:txBody>
      <dsp:txXfrm>
        <a:off x="3675830" y="1043781"/>
        <a:ext cx="1976437" cy="1976437"/>
      </dsp:txXfrm>
    </dsp:sp>
    <dsp:sp modelId="{F47B4486-4893-449B-B6E8-F6B0C3165D0F}">
      <dsp:nvSpPr>
        <dsp:cNvPr id="0" name=""/>
        <dsp:cNvSpPr/>
      </dsp:nvSpPr>
      <dsp:spPr>
        <a:xfrm>
          <a:off x="1014428" y="-1571"/>
          <a:ext cx="4067142" cy="4067142"/>
        </a:xfrm>
        <a:prstGeom prst="circularArrow">
          <a:avLst>
            <a:gd name="adj1" fmla="val 9476"/>
            <a:gd name="adj2" fmla="val 684342"/>
            <a:gd name="adj3" fmla="val 7853762"/>
            <a:gd name="adj4" fmla="val 2261896"/>
            <a:gd name="adj5" fmla="val 11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4C7AF-0BB3-433F-89C4-1122CC6994E8}">
      <dsp:nvSpPr>
        <dsp:cNvPr id="0" name=""/>
        <dsp:cNvSpPr/>
      </dsp:nvSpPr>
      <dsp:spPr>
        <a:xfrm>
          <a:off x="443732" y="1043781"/>
          <a:ext cx="1976437" cy="197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Learn</a:t>
          </a:r>
          <a:endParaRPr lang="en-US" sz="4400" b="1" kern="1200" dirty="0"/>
        </a:p>
      </dsp:txBody>
      <dsp:txXfrm>
        <a:off x="443732" y="1043781"/>
        <a:ext cx="1976437" cy="1976437"/>
      </dsp:txXfrm>
    </dsp:sp>
    <dsp:sp modelId="{5B45765C-EBFD-45CB-BA8F-20EB05C97DC9}">
      <dsp:nvSpPr>
        <dsp:cNvPr id="0" name=""/>
        <dsp:cNvSpPr/>
      </dsp:nvSpPr>
      <dsp:spPr>
        <a:xfrm>
          <a:off x="1014428" y="-1571"/>
          <a:ext cx="4067142" cy="4067142"/>
        </a:xfrm>
        <a:prstGeom prst="circularArrow">
          <a:avLst>
            <a:gd name="adj1" fmla="val 9476"/>
            <a:gd name="adj2" fmla="val 684342"/>
            <a:gd name="adj3" fmla="val 18653762"/>
            <a:gd name="adj4" fmla="val 13061896"/>
            <a:gd name="adj5" fmla="val 11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956B9-647A-4037-9FC9-E7553A40054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BE8A4-D8EF-4587-8089-654936417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82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02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show the direction, convince you why you should move into that direction, and how to reach that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26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7876-884F-C956-AECE-62FB0FED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C9025-639F-093E-94E0-C0F99E1F4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249C6-6964-2DAD-7CBC-3FC731066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 that all the software principles apply for all these situations, the technology might be different on each situation.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1BD1F-E878-99F2-F2CB-4F2FDE8D5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73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A4BF-DCAC-8324-5B09-6DE16995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6F91E-C260-F62C-5743-A56DC2B0C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50360-E578-F63F-D8AA-1E6B0D24F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DCCF5-AA61-3DD2-1D0E-FDE9543E1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53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97A9-4026-9B3E-8EE3-3522C477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11566-85BF-AF73-7C88-DA413143E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AE137-223F-6407-1891-E1251B67C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audience: how would you go to some vacations with these characteristics?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50539-F2F6-9B0D-4480-A39790776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8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470E-387E-ECBA-5B3B-BCBD4B62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D13D1-F412-37E6-5A59-4A882B131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746D9-6621-635E-3F27-0FFCAFE6B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B991E-BA18-71B4-094E-639EC8C9C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56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6A72F-8CDB-AFAC-CF9E-F292FBAD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4E9CA-1AF9-B146-BF97-BE1BEF6C7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7FEF9-587E-10A0-FFF5-378AFE350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442E-CB06-3866-0A8E-0180BF7CA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44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88C5-D5E0-EEDB-677D-126DC1B9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CC1AD-8C0A-CB60-1A2C-995D582B0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2A892-3AFD-AB44-28F0-126608EC1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E21C6-2FBB-9484-8645-5ADE5CB4A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3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74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2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responsibilities of each class, also list what is the coupling between Train and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4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BE8A4-D8EF-4587-8089-654936417D0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2D1CD-6AB1-4632-BD93-8036A9CEFF23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A7E-9CA4-48E5-AE0F-8EB3D9C4CEF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4363-77CA-4138-8286-11DFC9A682A9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B3468-378A-4E8F-A396-A32E33B2EC7F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099B-0CB6-4B47-A9FE-5D03141F6A59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B215-2DC8-464E-9BB9-CCDF4BAF4AAD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4634-A279-4D99-8043-05016171F086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EF5-1E0F-4E32-85A6-DE84C2FE1F72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AC6DC-4DE5-4950-9546-1509DD61DC9D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D227-684F-4C4A-9180-D6AC381CF6A0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DED5-2788-4AF6-8CD2-D9EF3324F112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40504-DADD-4441-A07E-1EAA97398A0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training-testing-python" TargetMode="External"/><Relationship Id="rId2" Type="http://schemas.openxmlformats.org/officeDocument/2006/relationships/hyperlink" Target="https://github.com/sefop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efop/sefop-training-hub/tree/main/guide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iane_flight_V88" TargetMode="External"/><Relationship Id="rId2" Type="http://schemas.openxmlformats.org/officeDocument/2006/relationships/hyperlink" Target="https://en.wikipedia.org/wiki/Geoffrey_Chan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ra.dev/research/2025/dora-report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agement.org/waterfall-methodology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festo.org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stralianenvironmentaleducation.com.au/education-resources/what-is-the-scientific-method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sefop-training-hub/blob/main/workshops/2026-06-29-purdue/code_smell.py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efactoring.guru/smells/long-method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refactoring.guru/refactoring/smells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ystem-design/single-responsibility-in-solid-design-principle/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fop/sefop-python-starter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fop/sefop-python-starter/tree/main/src/domai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forms.gle/Ajp2wa3kgcDhyGDW7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88819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0A1628"/>
                </a:solidFill>
                <a:ea typeface="Microsoft GothicNeo Light" panose="020B0503020000020004" pitchFamily="34" charset="-127"/>
                <a:cs typeface="Microsoft GothicNeo Light" panose="020B0503020000020004" pitchFamily="34" charset="-127"/>
              </a:rPr>
              <a:t>Operations Research
meets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0077A8"/>
                </a:solidFill>
                <a:ea typeface="Microsoft GothicNeo Light" panose="020B0503020000020004" pitchFamily="34" charset="-127"/>
                <a:cs typeface="Microsoft GothicNeo Light" panose="020B0503020000020004" pitchFamily="34" charset="-127"/>
              </a:rPr>
              <a:t>Secquoia</a:t>
            </a:r>
            <a:r>
              <a:rPr sz="1800" b="0" i="0" dirty="0">
                <a:solidFill>
                  <a:srgbClr val="0077A8"/>
                </a:solidFill>
                <a:ea typeface="Microsoft GothicNeo Light" panose="020B0503020000020004" pitchFamily="34" charset="-127"/>
                <a:cs typeface="Microsoft GothicNeo Light" panose="020B0503020000020004" pitchFamily="34" charset="-127"/>
              </a:rPr>
              <a:t> Lab — Purdue University  |  June 29,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994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D3748"/>
                </a:solidFill>
                <a:ea typeface="Microsoft GothicNeo Light" panose="020B0503020000020004" pitchFamily="34" charset="-127"/>
                <a:cs typeface="Microsoft GothicNeo Light" panose="020B0503020000020004" pitchFamily="34" charset="-127"/>
              </a:rPr>
              <a:t>Francisco Zenteno Smith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60CB-83D4-5B71-69C9-6C551951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A1628"/>
                </a:solidFill>
                <a:latin typeface="Calibri"/>
              </a:rP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2D3748"/>
                </a:solidFill>
                <a:latin typeface="Calibri"/>
              </a:rPr>
              <a:t>Senior Operations Research Scientist</a:t>
            </a:r>
            <a:r>
              <a:rPr lang="en-US" sz="2200" b="0" i="0" dirty="0">
                <a:solidFill>
                  <a:srgbClr val="2D3748"/>
                </a:solidFill>
                <a:latin typeface="Calibri"/>
              </a:rPr>
              <a:t> at American Airlines</a:t>
            </a:r>
            <a:r>
              <a:rPr sz="22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lang="en-US" sz="2200" b="0" i="0" dirty="0">
                <a:solidFill>
                  <a:srgbClr val="2D3748"/>
                </a:solidFill>
                <a:latin typeface="Calibri"/>
              </a:rPr>
              <a:t>- </a:t>
            </a:r>
            <a:r>
              <a:rPr sz="2200" b="0" i="0" dirty="0">
                <a:solidFill>
                  <a:srgbClr val="2D3748"/>
                </a:solidFill>
                <a:latin typeface="Calibri"/>
              </a:rPr>
              <a:t>10 years in applied Operations Research.</a:t>
            </a:r>
            <a:endParaRPr lang="en-US" sz="2200" b="0" i="0" dirty="0">
              <a:solidFill>
                <a:srgbClr val="2D3748"/>
              </a:solidFill>
              <a:latin typeface="Calibri"/>
            </a:endParaRPr>
          </a:p>
          <a:p>
            <a:pPr algn="l"/>
            <a:endParaRPr lang="en-US" sz="2200" dirty="0">
              <a:solidFill>
                <a:srgbClr val="2D3748"/>
              </a:solidFill>
              <a:latin typeface="Calibri"/>
            </a:endParaRPr>
          </a:p>
          <a:p>
            <a:pPr algn="l"/>
            <a:r>
              <a:rPr lang="en-US" sz="2200" dirty="0">
                <a:solidFill>
                  <a:srgbClr val="2D3748"/>
                </a:solidFill>
                <a:latin typeface="Calibri"/>
              </a:rPr>
              <a:t>Education</a:t>
            </a:r>
          </a:p>
          <a:p>
            <a:pPr marL="342900" indent="-342900" algn="l">
              <a:buFontTx/>
              <a:buChar char="-"/>
            </a:pPr>
            <a:r>
              <a:rPr lang="en-US" sz="2200" b="0" i="0" dirty="0">
                <a:solidFill>
                  <a:srgbClr val="2D3748"/>
                </a:solidFill>
                <a:latin typeface="Calibri"/>
              </a:rPr>
              <a:t>Bache</a:t>
            </a:r>
            <a:r>
              <a:rPr lang="en-US" sz="2200" dirty="0">
                <a:solidFill>
                  <a:srgbClr val="2D3748"/>
                </a:solidFill>
                <a:latin typeface="Calibri"/>
              </a:rPr>
              <a:t>lors in Industrial Engineering PUC</a:t>
            </a:r>
          </a:p>
          <a:p>
            <a:pPr marL="342900" indent="-342900" algn="l">
              <a:buFontTx/>
              <a:buChar char="-"/>
            </a:pPr>
            <a:r>
              <a:rPr lang="en-US" sz="2200" b="0" i="0" dirty="0">
                <a:solidFill>
                  <a:srgbClr val="2D3748"/>
                </a:solidFill>
                <a:latin typeface="Calibri"/>
              </a:rPr>
              <a:t>Masters in Operations Research PUC</a:t>
            </a:r>
            <a:r>
              <a:rPr sz="22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lang="en-US" sz="2200" b="0" i="0" dirty="0">
                <a:solidFill>
                  <a:srgbClr val="2D3748"/>
                </a:solidFill>
                <a:latin typeface="Calibri"/>
              </a:rPr>
              <a:t>Masters in Computer Science UCSD</a:t>
            </a:r>
          </a:p>
          <a:p>
            <a:pPr marL="342900" indent="-342900" algn="l">
              <a:buFontTx/>
              <a:buChar char="-"/>
            </a:pPr>
            <a:endParaRPr lang="en-US" sz="2200" dirty="0">
              <a:solidFill>
                <a:srgbClr val="2D3748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5C809-3C63-52B7-B8D3-193C3CB45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75" y="1960579"/>
            <a:ext cx="1144290" cy="1537926"/>
          </a:xfrm>
          <a:prstGeom prst="rect">
            <a:avLst/>
          </a:prstGeom>
        </p:spPr>
      </p:pic>
      <p:pic>
        <p:nvPicPr>
          <p:cNvPr id="6" name="Picture 5" descr="UCSD Logo, symbol, meaning, history, PNG, brand">
            <a:extLst>
              <a:ext uri="{FF2B5EF4-FFF2-40B4-BE49-F238E27FC236}">
                <a16:creationId xmlns:a16="http://schemas.microsoft.com/office/drawing/2014/main" id="{84A64771-4CEE-D593-7499-EB893C5F1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20" y="3589311"/>
            <a:ext cx="2403200" cy="13518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058B-5DF7-D80C-DE7B-4B05647A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A1628"/>
                </a:solidFill>
                <a:latin typeface="Calibri"/>
              </a:rPr>
              <a:t>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1360" y="1412954"/>
            <a:ext cx="73612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>
                <a:solidFill>
                  <a:srgbClr val="2D3748"/>
                </a:solidFill>
                <a:latin typeface="+mj-lt"/>
              </a:rPr>
              <a:t>09:00–09:50    Block 1: Why learn Software Engineering?
09:50–10:00    Break
10:00–10:50    Block 2: Optimize for Learning
10:50–11:00    Break
11:00–11:50    Block 3: </a:t>
            </a:r>
            <a:r>
              <a:rPr lang="en-US" sz="2000" dirty="0">
                <a:solidFill>
                  <a:srgbClr val="2D3748"/>
                </a:solidFill>
                <a:latin typeface="+mj-lt"/>
              </a:rPr>
              <a:t>Hands-on </a:t>
            </a:r>
            <a:r>
              <a:rPr sz="2000" dirty="0">
                <a:solidFill>
                  <a:srgbClr val="2D3748"/>
                </a:solidFill>
                <a:latin typeface="+mj-lt"/>
              </a:rPr>
              <a:t>Unit Testing in Practice
11:50–12:00    Break
12:00–13:00    Lunch
13:00–13:50    Block 4: Optimize for Managing Complexity
13:50–14:00    Break
14:00–17:00    Putting it all together: SEFOP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7FD55-2857-88B4-12F0-7472B781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F31A-F887-AA40-6297-E3932420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5F4C9-8917-E78D-A4DA-F3EA1DCDCA73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Public materials and resources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490831-EC19-E3A8-200D-6E7824C94AB8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2A2A8-2CDB-8048-A19B-1B549C2B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324D5-EC19-FC47-AA14-1322FAFA96EA}"/>
              </a:ext>
            </a:extLst>
          </p:cNvPr>
          <p:cNvSpPr txBox="1"/>
          <p:nvPr/>
        </p:nvSpPr>
        <p:spPr>
          <a:xfrm>
            <a:off x="457200" y="130496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https://github.com/sefop</a:t>
            </a:r>
            <a:r>
              <a:rPr lang="en-US" sz="20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5BF4B-E63C-4049-7E3E-B3F439D0C266}"/>
              </a:ext>
            </a:extLst>
          </p:cNvPr>
          <p:cNvSpPr txBox="1"/>
          <p:nvPr/>
        </p:nvSpPr>
        <p:spPr>
          <a:xfrm>
            <a:off x="480060" y="2355378"/>
            <a:ext cx="7589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https://github.com/sefop/training-testing-python</a:t>
            </a:r>
            <a:r>
              <a:rPr lang="en-US" sz="2000" dirty="0"/>
              <a:t>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1E943FB-BD3A-0E56-95BB-E42B45F2D127}"/>
              </a:ext>
            </a:extLst>
          </p:cNvPr>
          <p:cNvSpPr/>
          <p:nvPr/>
        </p:nvSpPr>
        <p:spPr>
          <a:xfrm>
            <a:off x="5548532" y="1418019"/>
            <a:ext cx="2978248" cy="473186"/>
          </a:xfrm>
          <a:prstGeom prst="wedgeRectCallout">
            <a:avLst>
              <a:gd name="adj1" fmla="val -55375"/>
              <a:gd name="adj2" fmla="val 4389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Leave a star if you like it 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C7AA5-1295-E966-9BD0-BCD95A757463}"/>
              </a:ext>
            </a:extLst>
          </p:cNvPr>
          <p:cNvSpPr txBox="1"/>
          <p:nvPr/>
        </p:nvSpPr>
        <p:spPr>
          <a:xfrm>
            <a:off x="480060" y="3322893"/>
            <a:ext cx="7429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4"/>
              </a:rPr>
              <a:t>https://github.com/sefop/sefop-training-hub/tree/main/guides</a:t>
            </a:r>
            <a:r>
              <a:rPr lang="en-US" sz="20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2687-3F25-480A-5C28-0A1B33CD3B89}"/>
              </a:ext>
            </a:extLst>
          </p:cNvPr>
          <p:cNvSpPr txBox="1"/>
          <p:nvPr/>
        </p:nvSpPr>
        <p:spPr>
          <a:xfrm>
            <a:off x="480060" y="1735986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Entry to the organization</a:t>
            </a:r>
            <a:endParaRPr sz="2000" b="0" i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C9A28-C086-CA37-ECC3-41F455A7AB94}"/>
              </a:ext>
            </a:extLst>
          </p:cNvPr>
          <p:cNvSpPr txBox="1"/>
          <p:nvPr/>
        </p:nvSpPr>
        <p:spPr>
          <a:xfrm>
            <a:off x="480060" y="2755488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Training materials in python</a:t>
            </a:r>
            <a:endParaRPr sz="2000" b="0" i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56BD23-D55D-8208-51A2-A04EC5C6A702}"/>
              </a:ext>
            </a:extLst>
          </p:cNvPr>
          <p:cNvSpPr txBox="1"/>
          <p:nvPr/>
        </p:nvSpPr>
        <p:spPr>
          <a:xfrm>
            <a:off x="502920" y="3661448"/>
            <a:ext cx="8046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Language agnostic guides: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S</a:t>
            </a:r>
            <a:r>
              <a:rPr lang="en-US" b="0" i="0" dirty="0">
                <a:solidFill>
                  <a:srgbClr val="2D3748"/>
                </a:solidFill>
                <a:latin typeface="Calibri"/>
              </a:rPr>
              <a:t>oftware engineering learning roadmap for you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How to work with an inherited codebase</a:t>
            </a:r>
            <a:endParaRPr b="0" i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915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8"/>
                </a:solidFill>
                <a:latin typeface="Calibri"/>
              </a:rPr>
              <a:t>BLOCK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Calibri"/>
              </a:rPr>
              <a:t>Why learn Software Engineering?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2EFBE-7D7D-3DC0-2F9E-BF7022DB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465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0A1628"/>
                </a:solidFill>
                <a:latin typeface="Calibri"/>
              </a:rPr>
              <a:t>Sofware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engineering principles always apply… whether you know them or not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046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D3748"/>
                </a:solidFill>
                <a:latin typeface="Calibri"/>
              </a:rPr>
              <a:t>Tragedy in the academy</a:t>
            </a:r>
            <a:r>
              <a:rPr lang="en-US" sz="2400" b="1" i="0" baseline="30000" dirty="0">
                <a:solidFill>
                  <a:srgbClr val="2D3748"/>
                </a:solidFill>
                <a:latin typeface="Calibri"/>
              </a:rPr>
              <a:t>1</a:t>
            </a:r>
            <a:r>
              <a:rPr lang="en-US" sz="2400" b="0" i="0" dirty="0">
                <a:solidFill>
                  <a:srgbClr val="2D3748"/>
                </a:solidFill>
                <a:latin typeface="Calibri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D3748"/>
                </a:solidFill>
                <a:latin typeface="Calibri"/>
              </a:rPr>
              <a:t>Geoffrey Chang, Scripps Institute  (2006)
A sign error in a data-processing script corrupted all results.
5 high-impact papers on membrane protein structures retracted.</a:t>
            </a:r>
            <a:endParaRPr lang="en-US" sz="1600" b="0" i="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r>
              <a:rPr lang="en-US" sz="2400" b="1" i="0" dirty="0">
                <a:solidFill>
                  <a:srgbClr val="2D3748"/>
                </a:solidFill>
                <a:latin typeface="Calibri"/>
              </a:rPr>
              <a:t>Tragedy in the industry</a:t>
            </a:r>
            <a:r>
              <a:rPr lang="en-US" sz="2400" b="1" i="0" baseline="30000" dirty="0">
                <a:solidFill>
                  <a:srgbClr val="2D3748"/>
                </a:solidFill>
                <a:latin typeface="Calibri"/>
              </a:rPr>
              <a:t>2</a:t>
            </a:r>
            <a:r>
              <a:rPr lang="en-US" sz="2400" dirty="0">
                <a:solidFill>
                  <a:srgbClr val="2D3748"/>
                </a:solidFill>
              </a:rPr>
              <a:t>:</a:t>
            </a:r>
            <a:endParaRPr lang="en-US" sz="2400" b="1" i="0" baseline="30000" dirty="0">
              <a:solidFill>
                <a:srgbClr val="2D3748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Ariane 5 Rocket Explosion (1996)
A reused software component caused an unhandled </a:t>
            </a:r>
          </a:p>
          <a:p>
            <a:r>
              <a:rPr lang="en-US" sz="1600" dirty="0">
                <a:solidFill>
                  <a:srgbClr val="2D3748"/>
                </a:solidFill>
              </a:rPr>
              <a:t>overflow exception.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The rocket self-destructed 37 seconds after launch.
$370 million USD payload destroyed.</a:t>
            </a:r>
          </a:p>
          <a:p>
            <a:pPr algn="l"/>
            <a:endParaRPr sz="2000" b="0" i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6441B-92D8-4B83-AD8C-1DC9BCD38357}"/>
              </a:ext>
            </a:extLst>
          </p:cNvPr>
          <p:cNvSpPr txBox="1"/>
          <p:nvPr/>
        </p:nvSpPr>
        <p:spPr>
          <a:xfrm>
            <a:off x="255600" y="466752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1000" dirty="0">
                <a:solidFill>
                  <a:srgbClr val="2D3748"/>
                </a:solidFill>
              </a:rPr>
              <a:t>Source: </a:t>
            </a:r>
            <a:r>
              <a:rPr lang="en-US" sz="1000" dirty="0">
                <a:solidFill>
                  <a:srgbClr val="2D3748"/>
                </a:solidFill>
                <a:hlinkClick r:id="rId2"/>
              </a:rPr>
              <a:t>https://en.wikipedia.org/wiki/Geoffrey_Chang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</a:p>
          <a:p>
            <a:pPr marL="228600" indent="-228600">
              <a:buAutoNum type="arabicParenR"/>
            </a:pPr>
            <a:r>
              <a:rPr lang="en-US" sz="1000" i="0" dirty="0">
                <a:solidFill>
                  <a:srgbClr val="2D3748"/>
                </a:solidFill>
                <a:latin typeface="Calibri"/>
              </a:rPr>
              <a:t>Source: </a:t>
            </a:r>
            <a:r>
              <a:rPr lang="en-US" sz="1000" dirty="0">
                <a:solidFill>
                  <a:srgbClr val="2D3748"/>
                </a:solidFill>
                <a:hlinkClick r:id="rId3"/>
              </a:rPr>
              <a:t>https://en.wikipedia.org/wiki/Ariane_flight_V88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  <a:endParaRPr sz="1000" i="0" dirty="0">
              <a:solidFill>
                <a:srgbClr val="2D3748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EA24E-351F-DC4F-FB1E-5BED0B02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997" y="2481808"/>
            <a:ext cx="3497137" cy="218571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6D91B-E583-3F91-1C89-368DDBC4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76FC2-45D6-8261-DBEF-AADA89902F58}"/>
              </a:ext>
            </a:extLst>
          </p:cNvPr>
          <p:cNvSpPr txBox="1"/>
          <p:nvPr/>
        </p:nvSpPr>
        <p:spPr>
          <a:xfrm>
            <a:off x="5875020" y="4667519"/>
            <a:ext cx="2872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000000"/>
                </a:solidFill>
                <a:effectLst/>
              </a:rPr>
              <a:t>Ariane flight V88 exploding during launch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Symptoms of being in a bad spot 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31234"/>
            <a:ext cx="804672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2D3748"/>
                </a:solidFill>
                <a:latin typeface="Calibri"/>
              </a:rPr>
              <a:t>Can't 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reproduce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 your own results 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quickly.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Code runs on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your machine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, but not in your teammate’s.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You are </a:t>
            </a:r>
            <a:r>
              <a:rPr lang="en-US" sz="2000" b="1" dirty="0">
                <a:solidFill>
                  <a:srgbClr val="2D3748"/>
                </a:solidFill>
                <a:latin typeface="Calibri"/>
              </a:rPr>
              <a:t>afraid</a:t>
            </a:r>
            <a:r>
              <a:rPr lang="en-US" sz="2000" dirty="0">
                <a:solidFill>
                  <a:srgbClr val="2D3748"/>
                </a:solidFill>
                <a:latin typeface="Calibri"/>
              </a:rPr>
              <a:t> of making changes.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Adding new things to the codebase is difficult.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There are </a:t>
            </a:r>
            <a:r>
              <a:rPr lang="en-US" sz="2000" b="1" dirty="0">
                <a:solidFill>
                  <a:srgbClr val="2D3748"/>
                </a:solidFill>
                <a:latin typeface="Calibri"/>
              </a:rPr>
              <a:t>not enough tests </a:t>
            </a:r>
            <a:r>
              <a:rPr lang="en-US" sz="2000" dirty="0">
                <a:solidFill>
                  <a:srgbClr val="2D3748"/>
                </a:solidFill>
                <a:latin typeface="Calibri"/>
              </a:rPr>
              <a:t>to check the codebase works as expected.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Low </a:t>
            </a:r>
            <a:r>
              <a:rPr lang="en-US" sz="2000" b="1" dirty="0">
                <a:solidFill>
                  <a:srgbClr val="2D3748"/>
                </a:solidFill>
                <a:latin typeface="Calibri"/>
              </a:rPr>
              <a:t>morale</a:t>
            </a:r>
            <a:r>
              <a:rPr lang="en-US" sz="2000" dirty="0">
                <a:solidFill>
                  <a:srgbClr val="2D3748"/>
                </a:solidFill>
                <a:latin typeface="Calibri"/>
              </a:rPr>
              <a:t> of the team working on the codebase.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Unknown crashes 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of the codebase.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Other examples? –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mention Russel Beckett example</a:t>
            </a:r>
            <a:endParaRPr sz="2000" b="0" i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728EB-9E71-985F-40CC-24426399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465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Disclaimer: acquiring software engineering skills takes practice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6" descr="simple bicycle icon 17744685 PNG">
            <a:extLst>
              <a:ext uri="{FF2B5EF4-FFF2-40B4-BE49-F238E27FC236}">
                <a16:creationId xmlns:a16="http://schemas.microsoft.com/office/drawing/2014/main" id="{793D8ED5-6529-5735-29D3-EB9EBF73C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0773">
            <a:off x="1063553" y="2048221"/>
            <a:ext cx="1644894" cy="164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645D4A6-2AD6-6067-20A4-F2B17FB7E44B}"/>
              </a:ext>
            </a:extLst>
          </p:cNvPr>
          <p:cNvSpPr/>
          <p:nvPr/>
        </p:nvSpPr>
        <p:spPr>
          <a:xfrm>
            <a:off x="843699" y="3544588"/>
            <a:ext cx="443060" cy="4430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1CFD22-B832-3E5B-F8D6-D6D9C8DB3CD3}"/>
              </a:ext>
            </a:extLst>
          </p:cNvPr>
          <p:cNvSpPr/>
          <p:nvPr/>
        </p:nvSpPr>
        <p:spPr>
          <a:xfrm>
            <a:off x="7777352" y="1314383"/>
            <a:ext cx="443060" cy="4430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D5D1A-0488-4974-6AFA-EDFE19AEFF29}"/>
              </a:ext>
            </a:extLst>
          </p:cNvPr>
          <p:cNvSpPr txBox="1"/>
          <p:nvPr/>
        </p:nvSpPr>
        <p:spPr>
          <a:xfrm>
            <a:off x="512706" y="4129049"/>
            <a:ext cx="1105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today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F6A30D-5D0C-CF16-8338-6E7CF672493C}"/>
              </a:ext>
            </a:extLst>
          </p:cNvPr>
          <p:cNvSpPr txBox="1"/>
          <p:nvPr/>
        </p:nvSpPr>
        <p:spPr>
          <a:xfrm>
            <a:off x="7389650" y="1852074"/>
            <a:ext cx="1297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Software</a:t>
            </a:r>
          </a:p>
          <a:p>
            <a:pPr algn="ctr"/>
            <a:r>
              <a:rPr lang="en-US" dirty="0"/>
              <a:t>Engineering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70B1B6-DE04-54EC-E196-53F11163B4B0}"/>
              </a:ext>
            </a:extLst>
          </p:cNvPr>
          <p:cNvSpPr/>
          <p:nvPr/>
        </p:nvSpPr>
        <p:spPr>
          <a:xfrm rot="20598476">
            <a:off x="1456035" y="3334774"/>
            <a:ext cx="1232648" cy="348178"/>
          </a:xfrm>
          <a:prstGeom prst="rightArrow">
            <a:avLst>
              <a:gd name="adj1" fmla="val 50000"/>
              <a:gd name="adj2" fmla="val 89862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2FFFBC4-E18E-FFB4-19F4-DA4228665BF8}"/>
              </a:ext>
            </a:extLst>
          </p:cNvPr>
          <p:cNvSpPr/>
          <p:nvPr/>
        </p:nvSpPr>
        <p:spPr>
          <a:xfrm>
            <a:off x="5972908" y="2927160"/>
            <a:ext cx="2833483" cy="1850963"/>
          </a:xfrm>
          <a:prstGeom prst="wedgeRectCallout">
            <a:avLst>
              <a:gd name="adj1" fmla="val -61695"/>
              <a:gd name="adj2" fmla="val -30981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 can provide you the bicycle, but I can’t ride it for you.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I will emphasize </a:t>
            </a:r>
            <a:r>
              <a:rPr lang="en-US" sz="1400" u="sng" dirty="0">
                <a:solidFill>
                  <a:schemeClr val="tx1"/>
                </a:solidFill>
              </a:rPr>
              <a:t>principles</a:t>
            </a:r>
            <a:r>
              <a:rPr lang="en-US" sz="1400" dirty="0">
                <a:solidFill>
                  <a:schemeClr val="tx1"/>
                </a:solidFill>
              </a:rPr>
              <a:t> over technologies.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Principles last, technologies change.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61BE970-6F59-147B-0C5F-D156C00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0142-01C9-1D64-C77F-0248CFB1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17AAB3-AB7C-7DCC-BF28-B0AA50830D1F}"/>
              </a:ext>
            </a:extLst>
          </p:cNvPr>
          <p:cNvSpPr txBox="1"/>
          <p:nvPr/>
        </p:nvSpPr>
        <p:spPr>
          <a:xfrm>
            <a:off x="457200" y="241679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What do you hope to learn from this workshop?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811C00-2211-F2DF-A9A3-469EF770E2A7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C349C2-FF6A-52FA-818B-DF8EB6F17BA6}"/>
              </a:ext>
            </a:extLst>
          </p:cNvPr>
          <p:cNvSpPr txBox="1"/>
          <p:nvPr/>
        </p:nvSpPr>
        <p:spPr>
          <a:xfrm>
            <a:off x="457199" y="1091922"/>
            <a:ext cx="847066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D3748"/>
                </a:solidFill>
                <a:latin typeface="Calibri"/>
              </a:rPr>
              <a:t>Best industrial practices.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2D3748"/>
                </a:solidFill>
              </a:rPr>
              <a:t>I would like to learn how to coordinate between different part of repos and how to do proper docstring commenting</a:t>
            </a:r>
            <a:r>
              <a:rPr lang="en-US" i="1" dirty="0">
                <a:solidFill>
                  <a:srgbClr val="2D3748"/>
                </a:solidFill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2D3748"/>
                </a:solidFill>
              </a:rPr>
              <a:t>I would like to get some insight into how advanced techniques (e.g. large-scale optimization) get integrated into modern enterprises.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2D3748"/>
                </a:solidFill>
              </a:rPr>
              <a:t>SWE and Git best practices.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2D3748"/>
                </a:solidFill>
              </a:rPr>
              <a:t>I want to make my code easier to debug and easier for others to use. I also want to know how to properly fix/maintain code bases I've been assigned.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D3748"/>
                </a:solidFill>
                <a:latin typeface="Calibri"/>
              </a:rPr>
              <a:t>Learn </a:t>
            </a:r>
            <a:r>
              <a:rPr lang="en-US" i="1" dirty="0">
                <a:solidFill>
                  <a:srgbClr val="2D3748"/>
                </a:solidFill>
                <a:latin typeface="Calibri"/>
              </a:rPr>
              <a:t>formal software design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2D3748"/>
                </a:solidFill>
              </a:rPr>
              <a:t>To properly use Git for version control, efficiently manage issues and pull requests, and to use automation and AI agents to quickly handle mundane non-developmental tasks like testing and </a:t>
            </a:r>
            <a:r>
              <a:rPr lang="en-US" i="1" dirty="0" err="1">
                <a:solidFill>
                  <a:srgbClr val="2D3748"/>
                </a:solidFill>
              </a:rPr>
              <a:t>precommits</a:t>
            </a:r>
            <a:r>
              <a:rPr lang="en-US" i="1" dirty="0">
                <a:solidFill>
                  <a:srgbClr val="2D3748"/>
                </a:solidFill>
              </a:rPr>
              <a:t>.</a:t>
            </a:r>
            <a:endParaRPr b="0" i="1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CF945CC-F63E-C7C7-040B-8288485D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208D-5DEC-B6FB-833D-5F4B0D8B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84172-8AFF-ED3F-F0BF-4824FBC7F0CF}"/>
              </a:ext>
            </a:extLst>
          </p:cNvPr>
          <p:cNvSpPr txBox="1"/>
          <p:nvPr/>
        </p:nvSpPr>
        <p:spPr>
          <a:xfrm>
            <a:off x="396240" y="241679"/>
            <a:ext cx="8549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0A1628"/>
                </a:solidFill>
                <a:latin typeface="Calibri"/>
              </a:rPr>
              <a:t>Sofware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engineering: a different type of engineering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9556C-CAF0-B957-5930-8C1771435885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 is Construction Engineering?">
            <a:extLst>
              <a:ext uri="{FF2B5EF4-FFF2-40B4-BE49-F238E27FC236}">
                <a16:creationId xmlns:a16="http://schemas.microsoft.com/office/drawing/2014/main" id="{15F43369-4F0D-2BE6-9CCF-7396CE710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1470608"/>
            <a:ext cx="4130040" cy="2757158"/>
          </a:xfrm>
          <a:prstGeom prst="rect">
            <a:avLst/>
          </a:prstGeom>
        </p:spPr>
      </p:pic>
      <p:pic>
        <p:nvPicPr>
          <p:cNvPr id="7" name="Picture 6" descr="What is software engineering?">
            <a:extLst>
              <a:ext uri="{FF2B5EF4-FFF2-40B4-BE49-F238E27FC236}">
                <a16:creationId xmlns:a16="http://schemas.microsoft.com/office/drawing/2014/main" id="{87D48534-D825-DC76-3AB2-A59CAF03D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70608"/>
            <a:ext cx="4901614" cy="2757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64D859-F5B0-D854-6157-C32F66F9C183}"/>
              </a:ext>
            </a:extLst>
          </p:cNvPr>
          <p:cNvSpPr txBox="1"/>
          <p:nvPr/>
        </p:nvSpPr>
        <p:spPr>
          <a:xfrm>
            <a:off x="1348740" y="1101276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Civil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410A4-29DC-6645-F9EC-6BD2480FBC06}"/>
              </a:ext>
            </a:extLst>
          </p:cNvPr>
          <p:cNvSpPr txBox="1"/>
          <p:nvPr/>
        </p:nvSpPr>
        <p:spPr>
          <a:xfrm>
            <a:off x="5816675" y="1101276"/>
            <a:ext cx="2229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Software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CDF5FF-49B4-92F1-A25B-5C05E565DA3D}"/>
              </a:ext>
            </a:extLst>
          </p:cNvPr>
          <p:cNvSpPr/>
          <p:nvPr/>
        </p:nvSpPr>
        <p:spPr>
          <a:xfrm>
            <a:off x="8945880" y="1101276"/>
            <a:ext cx="1112520" cy="3806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5C4E119-DCBD-3F37-550A-8C77E546079C}"/>
              </a:ext>
            </a:extLst>
          </p:cNvPr>
          <p:cNvSpPr/>
          <p:nvPr/>
        </p:nvSpPr>
        <p:spPr>
          <a:xfrm>
            <a:off x="396240" y="3375661"/>
            <a:ext cx="3901440" cy="1618074"/>
          </a:xfrm>
          <a:prstGeom prst="wedgeRectCallout">
            <a:avLst>
              <a:gd name="adj1" fmla="val -18157"/>
              <a:gd name="adj2" fmla="val -6343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Constructions are </a:t>
            </a:r>
            <a:r>
              <a:rPr lang="en-US" sz="1600" b="1" dirty="0">
                <a:solidFill>
                  <a:schemeClr val="tx1"/>
                </a:solidFill>
              </a:rPr>
              <a:t>robust to tiny errors.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When designing, the </a:t>
            </a:r>
            <a:r>
              <a:rPr lang="en-US" sz="1600" b="1" dirty="0">
                <a:solidFill>
                  <a:schemeClr val="tx1"/>
                </a:solidFill>
              </a:rPr>
              <a:t>requirements are known reasonably well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433DE633-2908-E635-18AB-FFE4F55FE994}"/>
              </a:ext>
            </a:extLst>
          </p:cNvPr>
          <p:cNvSpPr/>
          <p:nvPr/>
        </p:nvSpPr>
        <p:spPr>
          <a:xfrm>
            <a:off x="4785360" y="3375660"/>
            <a:ext cx="3901440" cy="1618073"/>
          </a:xfrm>
          <a:prstGeom prst="wedgeRectCallout">
            <a:avLst>
              <a:gd name="adj1" fmla="val -18743"/>
              <a:gd name="adj2" fmla="val -6861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Software is </a:t>
            </a:r>
            <a:r>
              <a:rPr lang="en-US" sz="1600" b="1" dirty="0">
                <a:solidFill>
                  <a:schemeClr val="tx1"/>
                </a:solidFill>
              </a:rPr>
              <a:t>incredible flexible and fragile </a:t>
            </a:r>
            <a:r>
              <a:rPr lang="en-US" sz="1600" dirty="0">
                <a:solidFill>
                  <a:schemeClr val="tx1"/>
                </a:solidFill>
              </a:rPr>
              <a:t>at the same time.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SE lives in a world of highly </a:t>
            </a:r>
            <a:r>
              <a:rPr lang="en-US" sz="1600" b="1" dirty="0">
                <a:solidFill>
                  <a:schemeClr val="tx1"/>
                </a:solidFill>
              </a:rPr>
              <a:t>imperfect information.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2C3925F-D2D0-6546-3443-DC91FDFA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0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1E18-304B-80F7-95C6-E17D3EFA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023C65-852D-C795-0D3C-33B169C8027C}"/>
              </a:ext>
            </a:extLst>
          </p:cNvPr>
          <p:cNvSpPr txBox="1"/>
          <p:nvPr/>
        </p:nvSpPr>
        <p:spPr>
          <a:xfrm>
            <a:off x="396240" y="236220"/>
            <a:ext cx="8549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 err="1">
                <a:solidFill>
                  <a:srgbClr val="0A1628"/>
                </a:solidFill>
                <a:latin typeface="Calibri"/>
              </a:rPr>
              <a:t>Sofware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engineering is a discovery process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63763-349E-A24E-5671-C955384BF633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Graphic 12" descr="Questions with solid fill">
            <a:extLst>
              <a:ext uri="{FF2B5EF4-FFF2-40B4-BE49-F238E27FC236}">
                <a16:creationId xmlns:a16="http://schemas.microsoft.com/office/drawing/2014/main" id="{B184CCEF-06E4-6E4A-E134-BAA265366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80" y="1495044"/>
            <a:ext cx="1706880" cy="1706880"/>
          </a:xfrm>
          <a:prstGeom prst="rect">
            <a:avLst/>
          </a:prstGeom>
        </p:spPr>
      </p:pic>
      <p:pic>
        <p:nvPicPr>
          <p:cNvPr id="8" name="Graphic 7" descr="Users with solid fill">
            <a:extLst>
              <a:ext uri="{FF2B5EF4-FFF2-40B4-BE49-F238E27FC236}">
                <a16:creationId xmlns:a16="http://schemas.microsoft.com/office/drawing/2014/main" id="{29BA82CE-F4AD-FDE2-E9DA-43C15D44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640" y="2038350"/>
            <a:ext cx="1386840" cy="1386840"/>
          </a:xfrm>
          <a:prstGeom prst="rect">
            <a:avLst/>
          </a:prstGeom>
        </p:spPr>
      </p:pic>
      <p:pic>
        <p:nvPicPr>
          <p:cNvPr id="10" name="Graphic 9" descr="Transfer with solid fill">
            <a:extLst>
              <a:ext uri="{FF2B5EF4-FFF2-40B4-BE49-F238E27FC236}">
                <a16:creationId xmlns:a16="http://schemas.microsoft.com/office/drawing/2014/main" id="{4AB4D949-3CC3-C275-D413-0B096703A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541" y="1529678"/>
            <a:ext cx="685038" cy="685038"/>
          </a:xfrm>
          <a:prstGeom prst="rect">
            <a:avLst/>
          </a:prstGeom>
        </p:spPr>
      </p:pic>
      <p:pic>
        <p:nvPicPr>
          <p:cNvPr id="12" name="Graphic 11" descr="Help with solid fill">
            <a:extLst>
              <a:ext uri="{FF2B5EF4-FFF2-40B4-BE49-F238E27FC236}">
                <a16:creationId xmlns:a16="http://schemas.microsoft.com/office/drawing/2014/main" id="{B1AC953B-529D-0F82-71BA-83ADD59304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9232" y="1708022"/>
            <a:ext cx="1328739" cy="1328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BC905E-7B6F-2243-326B-B839AC070C43}"/>
              </a:ext>
            </a:extLst>
          </p:cNvPr>
          <p:cNvSpPr txBox="1"/>
          <p:nvPr/>
        </p:nvSpPr>
        <p:spPr>
          <a:xfrm>
            <a:off x="548640" y="3340268"/>
            <a:ext cx="2164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2D3748"/>
                </a:solidFill>
                <a:latin typeface="Calibri"/>
              </a:rPr>
              <a:t>Users </a:t>
            </a:r>
            <a:r>
              <a:rPr lang="en-US" sz="2000" b="1" dirty="0">
                <a:solidFill>
                  <a:srgbClr val="2D3748"/>
                </a:solidFill>
                <a:latin typeface="Calibri"/>
              </a:rPr>
              <a:t>don’t fully know </a:t>
            </a:r>
            <a:r>
              <a:rPr lang="en-US" sz="2000" b="0" dirty="0">
                <a:solidFill>
                  <a:srgbClr val="2D3748"/>
                </a:solidFill>
                <a:latin typeface="Calibri"/>
              </a:rPr>
              <a:t>what they want.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24BF9-3ADB-F937-1827-6336EA8C7535}"/>
              </a:ext>
            </a:extLst>
          </p:cNvPr>
          <p:cNvSpPr txBox="1"/>
          <p:nvPr/>
        </p:nvSpPr>
        <p:spPr>
          <a:xfrm>
            <a:off x="3611880" y="3404198"/>
            <a:ext cx="1943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D3748"/>
                </a:solidFill>
                <a:latin typeface="Calibri"/>
              </a:rPr>
              <a:t>Users </a:t>
            </a:r>
            <a:r>
              <a:rPr lang="en-US" sz="1800" b="1" dirty="0">
                <a:solidFill>
                  <a:srgbClr val="2D3748"/>
                </a:solidFill>
                <a:latin typeface="Calibri"/>
              </a:rPr>
              <a:t>will change </a:t>
            </a:r>
            <a:r>
              <a:rPr lang="en-US" sz="1800" dirty="0">
                <a:solidFill>
                  <a:srgbClr val="2D3748"/>
                </a:solidFill>
                <a:latin typeface="Calibri"/>
              </a:rPr>
              <a:t>their mind.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00889-59CE-E620-E515-652B9E9541A8}"/>
              </a:ext>
            </a:extLst>
          </p:cNvPr>
          <p:cNvSpPr txBox="1"/>
          <p:nvPr/>
        </p:nvSpPr>
        <p:spPr>
          <a:xfrm>
            <a:off x="6454140" y="3287180"/>
            <a:ext cx="2491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2D3748"/>
                </a:solidFill>
                <a:latin typeface="Calibri"/>
              </a:rPr>
              <a:t>Building the software </a:t>
            </a:r>
            <a:r>
              <a:rPr lang="en-US" sz="1800" b="1" dirty="0">
                <a:solidFill>
                  <a:srgbClr val="2D3748"/>
                </a:solidFill>
                <a:latin typeface="Calibri"/>
              </a:rPr>
              <a:t>reveals unknown challenges </a:t>
            </a:r>
            <a:r>
              <a:rPr lang="en-US" sz="1800" dirty="0">
                <a:solidFill>
                  <a:srgbClr val="2D3748"/>
                </a:solidFill>
                <a:latin typeface="Calibri"/>
              </a:rPr>
              <a:t>over time.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F6F3A3A-51B5-521D-4887-5DE3C69A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1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B37B-6C3F-5023-C2DF-78052C49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092E4-B870-488E-AE8B-F782C5E8A18B}"/>
              </a:ext>
            </a:extLst>
          </p:cNvPr>
          <p:cNvSpPr txBox="1"/>
          <p:nvPr/>
        </p:nvSpPr>
        <p:spPr>
          <a:xfrm>
            <a:off x="396240" y="236220"/>
            <a:ext cx="8549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The most important abilities in software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8079C-55F3-8D7D-5E73-95742AF857BB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89A246F-8D5A-5668-5C92-39A202B2D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555931"/>
              </p:ext>
            </p:extLst>
          </p:nvPr>
        </p:nvGraphicFramePr>
        <p:xfrm>
          <a:off x="720412" y="1079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E67E8F9-8706-BD92-3F5B-AADC8F01BFE7}"/>
              </a:ext>
            </a:extLst>
          </p:cNvPr>
          <p:cNvSpPr/>
          <p:nvPr/>
        </p:nvSpPr>
        <p:spPr>
          <a:xfrm>
            <a:off x="7141097" y="2628135"/>
            <a:ext cx="1644763" cy="708069"/>
          </a:xfrm>
          <a:prstGeom prst="wedgeRectCallout">
            <a:avLst>
              <a:gd name="adj1" fmla="val -58659"/>
              <a:gd name="adj2" fmla="val 1950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faster you can do this, the better.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08C4B-1B67-1ABD-B440-0E8D070A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05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76D8-78FD-E008-25B3-569EC1AF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577B40-DB34-3A76-8BBF-0E0F9B7C760B}"/>
              </a:ext>
            </a:extLst>
          </p:cNvPr>
          <p:cNvSpPr txBox="1"/>
          <p:nvPr/>
        </p:nvSpPr>
        <p:spPr>
          <a:xfrm>
            <a:off x="396240" y="236220"/>
            <a:ext cx="8549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The 2 core challenges to review on this workshop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6B5D92-20C2-FB97-3A85-93416EC3C3E9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24808-018E-C048-6613-71555C4F91A8}"/>
              </a:ext>
            </a:extLst>
          </p:cNvPr>
          <p:cNvSpPr txBox="1"/>
          <p:nvPr/>
        </p:nvSpPr>
        <p:spPr>
          <a:xfrm>
            <a:off x="1228126" y="1369762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Learn quickly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E6D36-E770-4ADC-3F59-F5B7304581B9}"/>
              </a:ext>
            </a:extLst>
          </p:cNvPr>
          <p:cNvSpPr txBox="1"/>
          <p:nvPr/>
        </p:nvSpPr>
        <p:spPr>
          <a:xfrm>
            <a:off x="5572445" y="1365558"/>
            <a:ext cx="199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Adapt quickly</a:t>
            </a:r>
          </a:p>
        </p:txBody>
      </p:sp>
      <p:pic>
        <p:nvPicPr>
          <p:cNvPr id="8" name="Graphic 7" descr="Lightbulb with solid fill">
            <a:extLst>
              <a:ext uri="{FF2B5EF4-FFF2-40B4-BE49-F238E27FC236}">
                <a16:creationId xmlns:a16="http://schemas.microsoft.com/office/drawing/2014/main" id="{1424E623-53FD-8BBD-2090-3ECF40246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046" y="1305282"/>
            <a:ext cx="554954" cy="554954"/>
          </a:xfrm>
          <a:prstGeom prst="rect">
            <a:avLst/>
          </a:prstGeom>
        </p:spPr>
      </p:pic>
      <p:pic>
        <p:nvPicPr>
          <p:cNvPr id="9" name="Picture 8" descr="6,100+ Adapt Icon Stock Illustrations, Royalty-Free Vector ...">
            <a:extLst>
              <a:ext uri="{FF2B5EF4-FFF2-40B4-BE49-F238E27FC236}">
                <a16:creationId xmlns:a16="http://schemas.microsoft.com/office/drawing/2014/main" id="{DB867B54-9A25-9906-88FF-F942D3BC4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839" y="1202436"/>
            <a:ext cx="821606" cy="8216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404AD3E-F63F-031B-7682-C1B9B1B1D6DA}"/>
              </a:ext>
            </a:extLst>
          </p:cNvPr>
          <p:cNvSpPr/>
          <p:nvPr/>
        </p:nvSpPr>
        <p:spPr>
          <a:xfrm>
            <a:off x="4335780" y="1860236"/>
            <a:ext cx="1112520" cy="455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3B0F9-3FC3-E93B-E025-0EE08E86D77C}"/>
              </a:ext>
            </a:extLst>
          </p:cNvPr>
          <p:cNvSpPr txBox="1"/>
          <p:nvPr/>
        </p:nvSpPr>
        <p:spPr>
          <a:xfrm>
            <a:off x="727479" y="2444860"/>
            <a:ext cx="36083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/>
              </a:rPr>
              <a:t>Agile to have quick feedback loops.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b="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/>
              </a:rPr>
              <a:t>The scientific method to learn effectively on those loops.</a:t>
            </a:r>
            <a:endParaRPr sz="1600"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03270-921F-9F78-012C-161CDEFFB467}"/>
              </a:ext>
            </a:extLst>
          </p:cNvPr>
          <p:cNvSpPr txBox="1"/>
          <p:nvPr/>
        </p:nvSpPr>
        <p:spPr>
          <a:xfrm>
            <a:off x="4750839" y="2433639"/>
            <a:ext cx="36083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/>
              </a:rPr>
              <a:t>Keep code complexity 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D3748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Modularity &amp; isolation of changes</a:t>
            </a:r>
            <a:endParaRPr lang="en-US" sz="160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b="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b="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/>
              </a:rPr>
              <a:t>Safety mechanisms for changes</a:t>
            </a:r>
            <a:endParaRPr sz="1600"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E68618-6D52-FA15-6FAC-8ACFBC79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62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B9CC-3738-CA99-9F75-E034FC35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6520E-8B08-5B95-260B-C2E3B2AA4457}"/>
              </a:ext>
            </a:extLst>
          </p:cNvPr>
          <p:cNvSpPr txBox="1"/>
          <p:nvPr/>
        </p:nvSpPr>
        <p:spPr>
          <a:xfrm>
            <a:off x="396240" y="236220"/>
            <a:ext cx="8549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Wait… why not just use AI-coding assistants?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16C5E-57FA-02D6-11B7-589944057FBE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097893E-9570-DA09-DA22-320D7728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Claude Connector | Low-Code Claude Integration | Cyclr">
            <a:extLst>
              <a:ext uri="{FF2B5EF4-FFF2-40B4-BE49-F238E27FC236}">
                <a16:creationId xmlns:a16="http://schemas.microsoft.com/office/drawing/2014/main" id="{0D5EFACB-EFBF-BAA0-AE82-A8CF6E592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12" y="1211690"/>
            <a:ext cx="1162050" cy="1162050"/>
          </a:xfrm>
          <a:prstGeom prst="rect">
            <a:avLst/>
          </a:prstGeom>
        </p:spPr>
      </p:pic>
      <p:pic>
        <p:nvPicPr>
          <p:cNvPr id="7" name="Picture 6" descr="Copilot Line icon - Free Download PNG &amp; SVG | Streamline">
            <a:extLst>
              <a:ext uri="{FF2B5EF4-FFF2-40B4-BE49-F238E27FC236}">
                <a16:creationId xmlns:a16="http://schemas.microsoft.com/office/drawing/2014/main" id="{3DE77C30-F922-CB67-A09D-804E5C389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412" y="2441733"/>
            <a:ext cx="1313712" cy="1313712"/>
          </a:xfrm>
          <a:prstGeom prst="rect">
            <a:avLst/>
          </a:prstGeom>
        </p:spPr>
      </p:pic>
      <p:pic>
        <p:nvPicPr>
          <p:cNvPr id="14" name="Picture 13" descr="Gemini Code Assist">
            <a:extLst>
              <a:ext uri="{FF2B5EF4-FFF2-40B4-BE49-F238E27FC236}">
                <a16:creationId xmlns:a16="http://schemas.microsoft.com/office/drawing/2014/main" id="{BE0A6896-C334-B1DB-4950-F8EC3E1A0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924" y="3823438"/>
            <a:ext cx="1219200" cy="1219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E77333-68F9-5920-7AD6-FA57DE8BF42D}"/>
              </a:ext>
            </a:extLst>
          </p:cNvPr>
          <p:cNvSpPr txBox="1"/>
          <p:nvPr/>
        </p:nvSpPr>
        <p:spPr>
          <a:xfrm>
            <a:off x="396240" y="1471170"/>
            <a:ext cx="69875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What are your thoughts?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Recent industry research shows that</a:t>
            </a:r>
            <a:r>
              <a:rPr lang="en-US" sz="2000" baseline="30000" dirty="0">
                <a:solidFill>
                  <a:srgbClr val="2D3748"/>
                </a:solidFill>
                <a:latin typeface="Calibri"/>
              </a:rPr>
              <a:t>1</a:t>
            </a:r>
            <a:r>
              <a:rPr lang="en-US" sz="2000" dirty="0">
                <a:solidFill>
                  <a:srgbClr val="2D3748"/>
                </a:solidFill>
                <a:latin typeface="Calibri"/>
              </a:rPr>
              <a:t>:</a:t>
            </a:r>
          </a:p>
          <a:p>
            <a:r>
              <a:rPr lang="en-US" sz="1600" b="1" i="1" dirty="0">
                <a:solidFill>
                  <a:srgbClr val="2D3748"/>
                </a:solidFill>
                <a:latin typeface="Calibri"/>
              </a:rPr>
              <a:t>AI’s primary role in software development is that of an amplifier</a:t>
            </a:r>
            <a:r>
              <a:rPr lang="en-US" sz="1600" b="0" i="1" dirty="0">
                <a:solidFill>
                  <a:srgbClr val="2D3748"/>
                </a:solidFill>
                <a:latin typeface="Calibri"/>
              </a:rPr>
              <a:t>, magnifying an organization’s existing strengths and weaknesses. The greatest returns on AI investment come not from the tools themselves, but from a strategic focus on the underlying organizational system.</a:t>
            </a:r>
          </a:p>
          <a:p>
            <a:pPr algn="ctr"/>
            <a:endParaRPr lang="en-US" sz="1600" i="1" dirty="0">
              <a:solidFill>
                <a:srgbClr val="2D3748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2D3748"/>
                </a:solidFill>
                <a:latin typeface="Calibri"/>
              </a:rPr>
              <a:t>At the end of the day, </a:t>
            </a:r>
            <a:r>
              <a:rPr lang="en-US" sz="2000" b="1" dirty="0">
                <a:solidFill>
                  <a:srgbClr val="2D3748"/>
                </a:solidFill>
                <a:latin typeface="Calibri"/>
              </a:rPr>
              <a:t>you are responsible </a:t>
            </a:r>
            <a:r>
              <a:rPr lang="en-US" sz="2000" b="0" dirty="0">
                <a:solidFill>
                  <a:srgbClr val="2D3748"/>
                </a:solidFill>
                <a:latin typeface="Calibri"/>
              </a:rPr>
              <a:t>for the product, not who wrote it (ai-agent, student, teammate, </a:t>
            </a:r>
            <a:r>
              <a:rPr lang="en-US" sz="2000" b="0" dirty="0" err="1">
                <a:solidFill>
                  <a:srgbClr val="2D3748"/>
                </a:solidFill>
                <a:latin typeface="Calibri"/>
              </a:rPr>
              <a:t>etc</a:t>
            </a:r>
            <a:r>
              <a:rPr lang="en-US" sz="2000" b="0" dirty="0">
                <a:solidFill>
                  <a:srgbClr val="2D3748"/>
                </a:solidFill>
                <a:latin typeface="Calibri"/>
              </a:rPr>
              <a:t>).</a:t>
            </a:r>
            <a:endParaRPr sz="2000"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4C908-8E94-6BA1-7583-2E5BFE33747C}"/>
              </a:ext>
            </a:extLst>
          </p:cNvPr>
          <p:cNvSpPr txBox="1"/>
          <p:nvPr/>
        </p:nvSpPr>
        <p:spPr>
          <a:xfrm>
            <a:off x="255600" y="4796417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1000" dirty="0">
                <a:solidFill>
                  <a:srgbClr val="2D3748"/>
                </a:solidFill>
              </a:rPr>
              <a:t>Source: Google DORA Report 2015: </a:t>
            </a:r>
            <a:r>
              <a:rPr lang="en-US" sz="1000" dirty="0">
                <a:solidFill>
                  <a:srgbClr val="2D3748"/>
                </a:solidFill>
                <a:hlinkClick r:id="rId6"/>
              </a:rPr>
              <a:t>https://dora.dev/research/2025/dora-report/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249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8"/>
                </a:solidFill>
                <a:latin typeface="Calibri"/>
              </a:rPr>
              <a:t>BLOCK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Calibri"/>
              </a:rPr>
              <a:t>Optimize for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14FB0-0754-F0DC-2337-DD6BC31B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The old ways of software development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9347E-1084-BA42-ACD9-E1EC1654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Visual representation of the 5 Stages of the Waterfall Model">
            <a:extLst>
              <a:ext uri="{FF2B5EF4-FFF2-40B4-BE49-F238E27FC236}">
                <a16:creationId xmlns:a16="http://schemas.microsoft.com/office/drawing/2014/main" id="{625774D4-F145-5873-DE35-D21E88194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8817"/>
            <a:ext cx="5123704" cy="369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2C6998-68EB-6FD1-C72D-C53C1375AA21}"/>
              </a:ext>
            </a:extLst>
          </p:cNvPr>
          <p:cNvSpPr txBox="1"/>
          <p:nvPr/>
        </p:nvSpPr>
        <p:spPr>
          <a:xfrm>
            <a:off x="400380" y="4802235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1000" dirty="0">
                <a:solidFill>
                  <a:srgbClr val="2D3748"/>
                </a:solidFill>
              </a:rPr>
              <a:t>Source: </a:t>
            </a:r>
            <a:r>
              <a:rPr lang="en-US" sz="1000" dirty="0">
                <a:solidFill>
                  <a:srgbClr val="2D3748"/>
                </a:solidFill>
                <a:hlinkClick r:id="rId3"/>
              </a:rPr>
              <a:t>https://management.org/waterfall-methodology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CAEEFF1-19BD-14F9-E4ED-373CD4E274A8}"/>
              </a:ext>
            </a:extLst>
          </p:cNvPr>
          <p:cNvSpPr/>
          <p:nvPr/>
        </p:nvSpPr>
        <p:spPr>
          <a:xfrm>
            <a:off x="6039220" y="1686361"/>
            <a:ext cx="2548520" cy="2420112"/>
          </a:xfrm>
          <a:prstGeom prst="wedgeRectCallout">
            <a:avLst>
              <a:gd name="adj1" fmla="val -56504"/>
              <a:gd name="adj2" fmla="val -2586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/>
                </a:solidFill>
              </a:rPr>
              <a:t>Big problems: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Slow learning: </a:t>
            </a:r>
            <a:r>
              <a:rPr lang="en-US" dirty="0">
                <a:solidFill>
                  <a:schemeClr val="tx1"/>
                </a:solidFill>
              </a:rPr>
              <a:t>you learn what’s wrong at the end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Slow adaptation</a:t>
            </a:r>
            <a:r>
              <a:rPr lang="en-US" dirty="0">
                <a:solidFill>
                  <a:schemeClr val="tx1"/>
                </a:solidFill>
              </a:rPr>
              <a:t>: system is thought as a rigid and linear process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DF6C-6221-613A-9CA2-F484BAF7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A3CDE-C045-C64C-13DF-DD32ACAE5765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Agile allows learning through quick feedback loops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96000-97E5-1BB3-E51E-26934A15D8A9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076AC-F0BF-C6D0-BB88-770CB7D9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C07AE-C0CE-949C-682D-3851B390D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09399"/>
            <a:ext cx="6675120" cy="37597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96C878-53FD-333A-9AD1-CAC0DE8F723B}"/>
              </a:ext>
            </a:extLst>
          </p:cNvPr>
          <p:cNvSpPr/>
          <p:nvPr/>
        </p:nvSpPr>
        <p:spPr>
          <a:xfrm>
            <a:off x="3223260" y="4772219"/>
            <a:ext cx="3253740" cy="21794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Read the agile manifesto: </a:t>
            </a:r>
            <a:r>
              <a:rPr lang="en-US" sz="1000" dirty="0">
                <a:solidFill>
                  <a:schemeClr val="tx1"/>
                </a:solidFill>
                <a:hlinkClick r:id="rId3"/>
              </a:rPr>
              <a:t>https://agilemanifesto.org/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CE03444-1F24-E6D0-C6B6-E1EE4E4092D6}"/>
              </a:ext>
            </a:extLst>
          </p:cNvPr>
          <p:cNvSpPr/>
          <p:nvPr/>
        </p:nvSpPr>
        <p:spPr>
          <a:xfrm>
            <a:off x="3931920" y="3714274"/>
            <a:ext cx="1005840" cy="578822"/>
          </a:xfrm>
          <a:prstGeom prst="chevron">
            <a:avLst>
              <a:gd name="adj" fmla="val 39401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Feedback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5BDC88-3BC6-9E02-945F-E60215FF31E9}"/>
              </a:ext>
            </a:extLst>
          </p:cNvPr>
          <p:cNvCxnSpPr>
            <a:cxnSpLocks/>
          </p:cNvCxnSpPr>
          <p:nvPr/>
        </p:nvCxnSpPr>
        <p:spPr>
          <a:xfrm flipH="1" flipV="1">
            <a:off x="1508760" y="4511040"/>
            <a:ext cx="3674110" cy="717"/>
          </a:xfrm>
          <a:prstGeom prst="straightConnector1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B68ECF-5735-B9E4-75BF-2AA173072724}"/>
              </a:ext>
            </a:extLst>
          </p:cNvPr>
          <p:cNvCxnSpPr/>
          <p:nvPr/>
        </p:nvCxnSpPr>
        <p:spPr>
          <a:xfrm>
            <a:off x="4903470" y="4003685"/>
            <a:ext cx="2794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E140AD-91D7-A0E7-88E3-B514E78D66C4}"/>
              </a:ext>
            </a:extLst>
          </p:cNvPr>
          <p:cNvCxnSpPr>
            <a:cxnSpLocks/>
          </p:cNvCxnSpPr>
          <p:nvPr/>
        </p:nvCxnSpPr>
        <p:spPr>
          <a:xfrm>
            <a:off x="5182870" y="3991780"/>
            <a:ext cx="0" cy="52235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5C48AF-5CCD-FEF7-DC1A-4C88CE5F2070}"/>
              </a:ext>
            </a:extLst>
          </p:cNvPr>
          <p:cNvCxnSpPr>
            <a:cxnSpLocks/>
          </p:cNvCxnSpPr>
          <p:nvPr/>
        </p:nvCxnSpPr>
        <p:spPr>
          <a:xfrm>
            <a:off x="1508760" y="4250578"/>
            <a:ext cx="0" cy="269128"/>
          </a:xfrm>
          <a:prstGeom prst="line">
            <a:avLst/>
          </a:prstGeom>
          <a:ln>
            <a:headEnd type="triangl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44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6CE1-C6B1-D5B1-03D1-1DCE4A02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A57203-72D1-F1BF-83A3-67A57866933F}"/>
              </a:ext>
            </a:extLst>
          </p:cNvPr>
          <p:cNvSpPr txBox="1"/>
          <p:nvPr/>
        </p:nvSpPr>
        <p:spPr>
          <a:xfrm>
            <a:off x="457200" y="274320"/>
            <a:ext cx="85572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A1628"/>
                </a:solidFill>
                <a:latin typeface="Calibri"/>
              </a:rPr>
              <a:t>Agile strategy: working iteratively and incrementally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9496A-64C6-056C-5AD1-DB616E9A39B9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BF985-7A61-5AB5-6E13-0CAA73C3817C}"/>
              </a:ext>
            </a:extLst>
          </p:cNvPr>
          <p:cNvSpPr txBox="1"/>
          <p:nvPr/>
        </p:nvSpPr>
        <p:spPr>
          <a:xfrm>
            <a:off x="4572000" y="1509182"/>
            <a:ext cx="42748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D3748"/>
                </a:solidFill>
              </a:rPr>
              <a:t>Incremental</a:t>
            </a:r>
            <a:r>
              <a:rPr lang="en-US" sz="2800" dirty="0">
                <a:solidFill>
                  <a:srgbClr val="2D3748"/>
                </a:solidFill>
              </a:rPr>
              <a:t>  </a:t>
            </a:r>
            <a:endParaRPr lang="en-US" sz="2400" dirty="0">
              <a:solidFill>
                <a:srgbClr val="2D3748"/>
              </a:solidFill>
            </a:endParaRPr>
          </a:p>
          <a:p>
            <a:pPr algn="ctr"/>
            <a:r>
              <a:rPr lang="en-US" sz="2400" dirty="0">
                <a:solidFill>
                  <a:srgbClr val="2D3748"/>
                </a:solidFill>
              </a:rPr>
              <a:t>“Don't build it all at once"</a:t>
            </a:r>
          </a:p>
          <a:p>
            <a:endParaRPr lang="en-US" sz="2400" b="1" i="0" dirty="0">
              <a:solidFill>
                <a:srgbClr val="2D3748"/>
              </a:solidFill>
              <a:latin typeface="Calibri"/>
            </a:endParaRPr>
          </a:p>
          <a:p>
            <a:endParaRPr lang="en-US" sz="2400" b="1" dirty="0">
              <a:solidFill>
                <a:srgbClr val="2D3748"/>
              </a:solidFill>
              <a:latin typeface="Calibri"/>
            </a:endParaRPr>
          </a:p>
          <a:p>
            <a:r>
              <a:rPr sz="2400" b="1" i="0" dirty="0">
                <a:solidFill>
                  <a:srgbClr val="2D3748"/>
                </a:solidFill>
                <a:latin typeface="Calibri"/>
              </a:rPr>
              <a:t>Iterative</a:t>
            </a:r>
            <a:r>
              <a:rPr lang="en-US" sz="2400" b="0" i="0" dirty="0">
                <a:solidFill>
                  <a:srgbClr val="2D3748"/>
                </a:solidFill>
                <a:latin typeface="Calibri"/>
              </a:rPr>
              <a:t> </a:t>
            </a:r>
          </a:p>
          <a:p>
            <a:pPr algn="ctr"/>
            <a:r>
              <a:rPr lang="en-US" sz="2000" dirty="0">
                <a:solidFill>
                  <a:srgbClr val="2D3748"/>
                </a:solidFill>
                <a:latin typeface="Calibri"/>
              </a:rPr>
              <a:t>“D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on't try to get it all right from the beginning</a:t>
            </a:r>
            <a:r>
              <a:rPr lang="en-US" sz="2000" dirty="0">
                <a:solidFill>
                  <a:srgbClr val="2D3748"/>
                </a:solidFill>
                <a:latin typeface="Calibri"/>
              </a:rPr>
              <a:t>"</a:t>
            </a:r>
            <a:endParaRPr lang="en-US" sz="2000" b="0" i="0" dirty="0">
              <a:solidFill>
                <a:srgbClr val="2D3748"/>
              </a:solidFill>
              <a:latin typeface="Calibri"/>
            </a:endParaRPr>
          </a:p>
          <a:p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4FD01-764F-400C-0576-C7B2D04A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A0102-CDE4-9E12-172F-DCA16B369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24127"/>
            <a:ext cx="3817621" cy="41077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BFFBAC-23FC-2AEE-B6E9-68825738B2A2}"/>
              </a:ext>
            </a:extLst>
          </p:cNvPr>
          <p:cNvSpPr txBox="1"/>
          <p:nvPr/>
        </p:nvSpPr>
        <p:spPr>
          <a:xfrm>
            <a:off x="4693920" y="4836765"/>
            <a:ext cx="1318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D3748"/>
                </a:solidFill>
              </a:rPr>
              <a:t>Source: Jeff Paton</a:t>
            </a:r>
          </a:p>
        </p:txBody>
      </p:sp>
    </p:spTree>
    <p:extLst>
      <p:ext uri="{BB962C8B-B14F-4D97-AF65-F5344CB8AC3E}">
        <p14:creationId xmlns:p14="http://schemas.microsoft.com/office/powerpoint/2010/main" val="362545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The S</a:t>
            </a:r>
            <a:r>
              <a:rPr sz="3000" b="1" i="0" dirty="0">
                <a:solidFill>
                  <a:srgbClr val="0A1628"/>
                </a:solidFill>
                <a:latin typeface="Calibri"/>
              </a:rPr>
              <a:t>cientific Method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to learn effectively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6B93F-D600-78A5-9543-EF38EEA4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The scientific method is a process for experimentation">
            <a:extLst>
              <a:ext uri="{FF2B5EF4-FFF2-40B4-BE49-F238E27FC236}">
                <a16:creationId xmlns:a16="http://schemas.microsoft.com/office/drawing/2014/main" id="{4DF21B99-8DAF-8B08-B585-74B19D84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088"/>
            <a:ext cx="3665412" cy="36654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D6F575-565A-1A55-29CC-9AA9DF2591B6}"/>
              </a:ext>
            </a:extLst>
          </p:cNvPr>
          <p:cNvSpPr txBox="1"/>
          <p:nvPr/>
        </p:nvSpPr>
        <p:spPr>
          <a:xfrm>
            <a:off x="385002" y="4869180"/>
            <a:ext cx="74752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https://www.australianenvironmentaleducation.com.au/education-resources/what-is-the-scientific-method/</a:t>
            </a:r>
            <a:r>
              <a:rPr lang="en-US" sz="8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68C0C-EBF9-2526-7464-B7BD50041B9A}"/>
              </a:ext>
            </a:extLst>
          </p:cNvPr>
          <p:cNvSpPr txBox="1"/>
          <p:nvPr/>
        </p:nvSpPr>
        <p:spPr>
          <a:xfrm>
            <a:off x="4236720" y="1068992"/>
            <a:ext cx="46710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D3748"/>
                </a:solidFill>
                <a:latin typeface="Calibri"/>
              </a:rPr>
              <a:t>Principles</a:t>
            </a:r>
          </a:p>
          <a:p>
            <a:endParaRPr lang="en-US" sz="11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Skepticism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don’t trust, demand evidence.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Evidence over authority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does not matter who wrote the code, only what the evidence says.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dirty="0">
                <a:solidFill>
                  <a:srgbClr val="2D3748"/>
                </a:solidFill>
                <a:latin typeface="Calibri"/>
              </a:rPr>
              <a:t>Relevance</a:t>
            </a:r>
            <a:r>
              <a:rPr lang="en-US" sz="1400" dirty="0">
                <a:solidFill>
                  <a:srgbClr val="2D3748"/>
                </a:solidFill>
                <a:latin typeface="Calibri"/>
              </a:rPr>
              <a:t>: prove the experiment matters.</a:t>
            </a:r>
          </a:p>
          <a:p>
            <a:endParaRPr lang="en-US" sz="14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Testability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the hypothesis must be objective and measurable.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dirty="0">
                <a:solidFill>
                  <a:srgbClr val="2D3748"/>
                </a:solidFill>
                <a:latin typeface="Calibri"/>
              </a:rPr>
              <a:t>Reproducibility</a:t>
            </a:r>
            <a:r>
              <a:rPr lang="en-US" sz="1400" dirty="0">
                <a:solidFill>
                  <a:srgbClr val="2D3748"/>
                </a:solidFill>
                <a:latin typeface="Calibri"/>
              </a:rPr>
              <a:t>: anyone should be able to run the experiment again.</a:t>
            </a:r>
          </a:p>
          <a:p>
            <a:endParaRPr lang="en-US" sz="14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Causality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the experiment variables should be controlled to show causality.</a:t>
            </a:r>
            <a:endParaRPr lang="en-US" sz="1600" b="0" i="0" dirty="0">
              <a:solidFill>
                <a:srgbClr val="2D37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9B52-FD94-4B01-19B0-251DE16B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E891E-0D38-6D80-EC71-FC33EFA3D2FB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A1628"/>
                </a:solidFill>
                <a:latin typeface="Calibri"/>
              </a:rPr>
              <a:t>Examples of violations heard in the industry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BD90C-890A-AAEE-32E5-B33349CBD503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0BF51-B23B-48AC-B1F0-064CB811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F638D-ECF4-C305-B7BF-736184D83702}"/>
              </a:ext>
            </a:extLst>
          </p:cNvPr>
          <p:cNvSpPr txBox="1"/>
          <p:nvPr/>
        </p:nvSpPr>
        <p:spPr>
          <a:xfrm>
            <a:off x="243840" y="1039451"/>
            <a:ext cx="36195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D3748"/>
                </a:solidFill>
                <a:latin typeface="Calibri"/>
              </a:rPr>
              <a:t>Principles</a:t>
            </a:r>
          </a:p>
          <a:p>
            <a:endParaRPr lang="en-US" sz="11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Skepticism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don’t trust, demand evidence.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Evidence over authority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does not matter who wrote the code, only what the evidence says.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dirty="0">
                <a:solidFill>
                  <a:srgbClr val="2D3748"/>
                </a:solidFill>
                <a:latin typeface="Calibri"/>
              </a:rPr>
              <a:t>Relevance</a:t>
            </a:r>
            <a:r>
              <a:rPr lang="en-US" sz="1400" dirty="0">
                <a:solidFill>
                  <a:srgbClr val="2D3748"/>
                </a:solidFill>
                <a:latin typeface="Calibri"/>
              </a:rPr>
              <a:t>: prove the experiment matters.</a:t>
            </a:r>
          </a:p>
          <a:p>
            <a:endParaRPr lang="en-US" sz="14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Testability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the hypothesis must be objective and measurable.</a:t>
            </a:r>
          </a:p>
          <a:p>
            <a:endParaRPr lang="en-US" sz="1400" b="0" i="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dirty="0">
                <a:solidFill>
                  <a:srgbClr val="2D3748"/>
                </a:solidFill>
                <a:latin typeface="Calibri"/>
              </a:rPr>
              <a:t>Reproducibility</a:t>
            </a:r>
            <a:r>
              <a:rPr lang="en-US" sz="1400" dirty="0">
                <a:solidFill>
                  <a:srgbClr val="2D3748"/>
                </a:solidFill>
                <a:latin typeface="Calibri"/>
              </a:rPr>
              <a:t>: anyone should be able to run the experiment again.</a:t>
            </a:r>
          </a:p>
          <a:p>
            <a:endParaRPr lang="en-US" sz="14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2D3748"/>
                </a:solidFill>
                <a:latin typeface="Calibri"/>
              </a:rPr>
              <a:t>Causality</a:t>
            </a:r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: the experiment variables</a:t>
            </a:r>
            <a:endParaRPr lang="en-US" sz="1400" dirty="0">
              <a:solidFill>
                <a:srgbClr val="2D3748"/>
              </a:solidFill>
              <a:latin typeface="Calibri"/>
            </a:endParaRPr>
          </a:p>
          <a:p>
            <a:r>
              <a:rPr lang="en-US" sz="1400" b="0" i="0" dirty="0">
                <a:solidFill>
                  <a:srgbClr val="2D3748"/>
                </a:solidFill>
                <a:latin typeface="Calibri"/>
              </a:rPr>
              <a:t>Should be controlled to show causality.</a:t>
            </a:r>
            <a:endParaRPr lang="en-US" sz="1600" b="0" i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6630494-744F-D8AC-1104-4A399FCC53F1}"/>
              </a:ext>
            </a:extLst>
          </p:cNvPr>
          <p:cNvSpPr/>
          <p:nvPr/>
        </p:nvSpPr>
        <p:spPr>
          <a:xfrm>
            <a:off x="3943350" y="1114782"/>
            <a:ext cx="5173980" cy="706985"/>
          </a:xfrm>
          <a:prstGeom prst="wedgeRectCallout">
            <a:avLst>
              <a:gd name="adj1" fmla="val -52711"/>
              <a:gd name="adj2" fmla="val 26758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Why did you not provide automatic tests on the new constraint?</a:t>
            </a:r>
          </a:p>
          <a:p>
            <a:r>
              <a:rPr lang="en-US" sz="1200" dirty="0">
                <a:solidFill>
                  <a:schemeClr val="tx1"/>
                </a:solidFill>
              </a:rPr>
              <a:t>It’s not necessary, I know this works because it’s the same constraint that I have on another repository which has been working correctly for a long time.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A704BF9-F465-FB3D-C489-99F3556B09E9}"/>
              </a:ext>
            </a:extLst>
          </p:cNvPr>
          <p:cNvSpPr/>
          <p:nvPr/>
        </p:nvSpPr>
        <p:spPr>
          <a:xfrm>
            <a:off x="3943350" y="1946794"/>
            <a:ext cx="4019550" cy="522169"/>
          </a:xfrm>
          <a:prstGeom prst="wedgeRectCallout">
            <a:avLst>
              <a:gd name="adj1" fmla="val -52711"/>
              <a:gd name="adj2" fmla="val 26758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Why this piece of code has no tests?</a:t>
            </a:r>
          </a:p>
          <a:p>
            <a:r>
              <a:rPr lang="en-US" sz="1200" dirty="0">
                <a:solidFill>
                  <a:schemeClr val="tx1"/>
                </a:solidFill>
              </a:rPr>
              <a:t>It was written by [the boss, a principal engineer, a smart guy]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A317EBF-453C-9F35-BAFC-46D463213061}"/>
              </a:ext>
            </a:extLst>
          </p:cNvPr>
          <p:cNvSpPr/>
          <p:nvPr/>
        </p:nvSpPr>
        <p:spPr>
          <a:xfrm>
            <a:off x="3943350" y="2548357"/>
            <a:ext cx="5116830" cy="522169"/>
          </a:xfrm>
          <a:prstGeom prst="wedgeRectCallout">
            <a:avLst>
              <a:gd name="adj1" fmla="val -52332"/>
              <a:gd name="adj2" fmla="val 1070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Why are you modifying the optimization algorithm?</a:t>
            </a:r>
          </a:p>
          <a:p>
            <a:r>
              <a:rPr lang="en-US" sz="1200" dirty="0">
                <a:solidFill>
                  <a:schemeClr val="tx1"/>
                </a:solidFill>
              </a:rPr>
              <a:t>It will decrease the run time of our model from 10 seconds to 9.8 seconds.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6FDE51F-C57F-BDF7-E000-D76D38D10EF8}"/>
              </a:ext>
            </a:extLst>
          </p:cNvPr>
          <p:cNvSpPr/>
          <p:nvPr/>
        </p:nvSpPr>
        <p:spPr>
          <a:xfrm>
            <a:off x="3863340" y="3134481"/>
            <a:ext cx="5280660" cy="522169"/>
          </a:xfrm>
          <a:prstGeom prst="wedgeRectCallout">
            <a:avLst>
              <a:gd name="adj1" fmla="val -52332"/>
              <a:gd name="adj2" fmla="val 1070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How are you going to analyze if the new constraint is correctly implemented?</a:t>
            </a:r>
          </a:p>
          <a:p>
            <a:r>
              <a:rPr lang="en-US" sz="1200" dirty="0">
                <a:solidFill>
                  <a:schemeClr val="tx1"/>
                </a:solidFill>
              </a:rPr>
              <a:t>I will run 100 experiments and see if the results “look ok”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2C5F2B0D-DA75-FBAA-943B-357334808C44}"/>
              </a:ext>
            </a:extLst>
          </p:cNvPr>
          <p:cNvSpPr/>
          <p:nvPr/>
        </p:nvSpPr>
        <p:spPr>
          <a:xfrm>
            <a:off x="3890010" y="3713841"/>
            <a:ext cx="5170170" cy="608327"/>
          </a:xfrm>
          <a:prstGeom prst="wedgeRectCallout">
            <a:avLst>
              <a:gd name="adj1" fmla="val -52332"/>
              <a:gd name="adj2" fmla="val 1070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How do I run your repository?</a:t>
            </a:r>
          </a:p>
          <a:p>
            <a:r>
              <a:rPr lang="en-US" sz="1200" dirty="0">
                <a:solidFill>
                  <a:schemeClr val="tx1"/>
                </a:solidFill>
              </a:rPr>
              <a:t>Follow the readme instructions, but then don’t forget to call me back because there are unwritten steps that you need to do that are not documented.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8DEFB1F4-5A98-47F9-34C4-0F55049DDF08}"/>
              </a:ext>
            </a:extLst>
          </p:cNvPr>
          <p:cNvSpPr/>
          <p:nvPr/>
        </p:nvSpPr>
        <p:spPr>
          <a:xfrm>
            <a:off x="3463290" y="4383654"/>
            <a:ext cx="5680710" cy="637070"/>
          </a:xfrm>
          <a:prstGeom prst="wedgeRectCallout">
            <a:avLst>
              <a:gd name="adj1" fmla="val -52332"/>
              <a:gd name="adj2" fmla="val 1070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Q: I deleted part of the code of your constraint implementation, and the tests still pass</a:t>
            </a:r>
          </a:p>
          <a:p>
            <a:r>
              <a:rPr lang="en-US" sz="1200" dirty="0">
                <a:solidFill>
                  <a:schemeClr val="tx1"/>
                </a:solidFill>
              </a:rPr>
              <a:t>Yeah… the tests will pass anyway because I was not asserting anything, just making sure the code compiled correctly.</a:t>
            </a:r>
          </a:p>
        </p:txBody>
      </p:sp>
    </p:spTree>
    <p:extLst>
      <p:ext uri="{BB962C8B-B14F-4D97-AF65-F5344CB8AC3E}">
        <p14:creationId xmlns:p14="http://schemas.microsoft.com/office/powerpoint/2010/main" val="71461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Some t</a:t>
            </a:r>
            <a:r>
              <a:rPr sz="3000" b="1" i="0" dirty="0">
                <a:solidFill>
                  <a:srgbClr val="0A1628"/>
                </a:solidFill>
                <a:latin typeface="Calibri"/>
              </a:rPr>
              <a:t>echnologies that enable experimentation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40180"/>
            <a:ext cx="8046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D3748"/>
                </a:solidFill>
                <a:latin typeface="Calibri"/>
              </a:rPr>
              <a:t>Static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code 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analysis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 tools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→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catch errors before you run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 (Skepticism)</a:t>
            </a:r>
          </a:p>
          <a:p>
            <a:pPr algn="l"/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Automated tests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→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verify 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the hypothesis of the program working correctly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 automatically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 quickly (Reproducibility, Testability)</a:t>
            </a:r>
          </a:p>
          <a:p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CI/CD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→  instant feedback on every change</a:t>
            </a:r>
            <a:r>
              <a:rPr lang="en-US" sz="2000" dirty="0">
                <a:solidFill>
                  <a:srgbClr val="2D3748"/>
                </a:solidFill>
              </a:rPr>
              <a:t> (Reproducibility, Testability)</a:t>
            </a:r>
            <a:endParaRPr lang="en-US" sz="2000" b="0" i="0" dirty="0">
              <a:solidFill>
                <a:srgbClr val="2D3748"/>
              </a:solidFill>
              <a:latin typeface="Calibri"/>
            </a:endParaRPr>
          </a:p>
          <a:p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Virtual environments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→  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R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eproducibility guaranteed</a:t>
            </a:r>
            <a:r>
              <a:rPr lang="en-US" sz="2000" b="0" i="0" dirty="0">
                <a:solidFill>
                  <a:srgbClr val="2D3748"/>
                </a:solidFill>
                <a:latin typeface="Calibri"/>
              </a:rPr>
              <a:t> (</a:t>
            </a:r>
            <a:r>
              <a:rPr lang="en-US" sz="2000" dirty="0">
                <a:solidFill>
                  <a:srgbClr val="2D3748"/>
                </a:solidFill>
              </a:rPr>
              <a:t>Reproducibility)</a:t>
            </a:r>
            <a:endParaRPr lang="en-US" sz="2000" b="0" i="0" dirty="0">
              <a:solidFill>
                <a:srgbClr val="2D3748"/>
              </a:solidFill>
              <a:latin typeface="Calibri"/>
            </a:endParaRPr>
          </a:p>
          <a:p>
            <a:r>
              <a:rPr sz="2000" b="0" i="0" dirty="0">
                <a:solidFill>
                  <a:srgbClr val="2D3748"/>
                </a:solidFill>
                <a:latin typeface="Calibri"/>
              </a:rPr>
              <a:t>
</a:t>
            </a:r>
            <a:r>
              <a:rPr sz="2000" b="1" i="0" dirty="0">
                <a:solidFill>
                  <a:srgbClr val="2D3748"/>
                </a:solidFill>
                <a:latin typeface="Calibri"/>
              </a:rPr>
              <a:t>Git branches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 &amp; Pull Requests </a:t>
            </a:r>
            <a:r>
              <a:rPr sz="2000" b="0" i="0" dirty="0">
                <a:solidFill>
                  <a:srgbClr val="2D3748"/>
                </a:solidFill>
                <a:latin typeface="Calibri"/>
              </a:rPr>
              <a:t>→ isolated laboratories</a:t>
            </a:r>
            <a:r>
              <a:rPr lang="en-US" sz="2000" dirty="0">
                <a:solidFill>
                  <a:srgbClr val="2D3748"/>
                </a:solidFill>
              </a:rPr>
              <a:t> (Reproducibility)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A0853-122D-5729-90CA-A276FF52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8"/>
                </a:solidFill>
                <a:latin typeface="Calibri"/>
              </a:rPr>
              <a:t>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Calibri"/>
              </a:rPr>
              <a:t>Unit Testing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CA4FC-DC63-7855-CA53-2F978A8B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4D62CD-759C-8FA8-2A58-9A2D0529E544}"/>
              </a:ext>
            </a:extLst>
          </p:cNvPr>
          <p:cNvSpPr txBox="1"/>
          <p:nvPr/>
        </p:nvSpPr>
        <p:spPr>
          <a:xfrm>
            <a:off x="457200" y="2941320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2D3748"/>
                </a:solidFill>
                <a:latin typeface="Calibri"/>
              </a:rPr>
              <a:t>Hands-on exercise — follow </a:t>
            </a:r>
            <a:r>
              <a:rPr lang="en-US" sz="1800" b="0" i="0" dirty="0">
                <a:solidFill>
                  <a:srgbClr val="2D3748"/>
                </a:solidFill>
                <a:latin typeface="Calibri"/>
              </a:rPr>
              <a:t>on your laptop.</a:t>
            </a:r>
            <a:endParaRPr sz="1800" b="0" i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9F389-950C-233A-34D0-D90A6509D1D2}"/>
              </a:ext>
            </a:extLst>
          </p:cNvPr>
          <p:cNvSpPr txBox="1"/>
          <p:nvPr/>
        </p:nvSpPr>
        <p:spPr>
          <a:xfrm>
            <a:off x="1455420" y="3644890"/>
            <a:ext cx="646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77A8"/>
                </a:solidFill>
                <a:latin typeface="Calibri"/>
              </a:rPr>
              <a:t>github.com/</a:t>
            </a:r>
            <a:r>
              <a:rPr sz="2800" b="1" i="0" dirty="0" err="1">
                <a:solidFill>
                  <a:srgbClr val="0077A8"/>
                </a:solidFill>
                <a:latin typeface="Calibri"/>
              </a:rPr>
              <a:t>sefop</a:t>
            </a:r>
            <a:r>
              <a:rPr sz="2800" b="1" i="0" dirty="0">
                <a:solidFill>
                  <a:srgbClr val="0077A8"/>
                </a:solidFill>
                <a:latin typeface="Calibri"/>
              </a:rPr>
              <a:t>/training-testing-python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8"/>
                </a:solidFill>
                <a:latin typeface="Calibri"/>
              </a:rPr>
              <a:t>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0A1628"/>
                </a:solidFill>
                <a:latin typeface="Calibri"/>
              </a:rPr>
              <a:t>Optimize for </a:t>
            </a:r>
            <a:r>
              <a:rPr lang="en-US" sz="4000" b="1" dirty="0">
                <a:solidFill>
                  <a:srgbClr val="0A1628"/>
                </a:solidFill>
                <a:latin typeface="Calibri"/>
              </a:rPr>
              <a:t>Adapting</a:t>
            </a:r>
            <a:endParaRPr sz="4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C40AA-8BC8-4B18-31D1-D244BEB0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64D1E-1F27-84F5-E1AB-2C6AF45FA996}"/>
              </a:ext>
            </a:extLst>
          </p:cNvPr>
          <p:cNvSpPr txBox="1"/>
          <p:nvPr/>
        </p:nvSpPr>
        <p:spPr>
          <a:xfrm>
            <a:off x="2987362" y="2994396"/>
            <a:ext cx="4891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bg1">
                    <a:lumMod val="50000"/>
                  </a:schemeClr>
                </a:solidFill>
                <a:effectLst/>
              </a:rPr>
              <a:t>Adapting = “changing the code”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To adapt quickly we need modularity and testing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8212-0FAC-502D-D63E-35F3AAFB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378ED-F6CB-CD3C-897B-10D436668F41}"/>
              </a:ext>
            </a:extLst>
          </p:cNvPr>
          <p:cNvSpPr txBox="1"/>
          <p:nvPr/>
        </p:nvSpPr>
        <p:spPr>
          <a:xfrm>
            <a:off x="457201" y="2378166"/>
            <a:ext cx="3139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Code change isolation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2D3748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Small code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2D3748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Easier testing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0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E64C7-63ED-96CC-9E0E-A07BAAF035A6}"/>
              </a:ext>
            </a:extLst>
          </p:cNvPr>
          <p:cNvSpPr/>
          <p:nvPr/>
        </p:nvSpPr>
        <p:spPr>
          <a:xfrm>
            <a:off x="457200" y="1494815"/>
            <a:ext cx="3642360" cy="5467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Modularity provides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8CA348-5A1E-85EA-A5FC-7C02BD0651AE}"/>
              </a:ext>
            </a:extLst>
          </p:cNvPr>
          <p:cNvSpPr/>
          <p:nvPr/>
        </p:nvSpPr>
        <p:spPr>
          <a:xfrm>
            <a:off x="4732020" y="1488968"/>
            <a:ext cx="3642360" cy="54673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Testing provides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927CA-29A5-4BBD-E25F-6CC40E1E9B24}"/>
              </a:ext>
            </a:extLst>
          </p:cNvPr>
          <p:cNvSpPr txBox="1"/>
          <p:nvPr/>
        </p:nvSpPr>
        <p:spPr>
          <a:xfrm>
            <a:off x="4663440" y="2315880"/>
            <a:ext cx="3825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Safety mechanisms for changes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2D374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Scalable, objective and reproducible experiments to check for expected behaviors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D569307D-4D6C-2636-D9A8-FFFEFE63273C}"/>
              </a:ext>
            </a:extLst>
          </p:cNvPr>
          <p:cNvSpPr/>
          <p:nvPr/>
        </p:nvSpPr>
        <p:spPr>
          <a:xfrm>
            <a:off x="2526031" y="4023141"/>
            <a:ext cx="1718310" cy="459689"/>
          </a:xfrm>
          <a:prstGeom prst="wedgeRectCallout">
            <a:avLst>
              <a:gd name="adj1" fmla="val -22962"/>
              <a:gd name="adj2" fmla="val -8158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Focus of this block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E39E-40DB-9435-EF08-3F272236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416E3-53B4-2AF7-264A-1203E91735D4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Software design </a:t>
            </a:r>
            <a:r>
              <a:rPr lang="en-US" sz="3000" b="1" dirty="0">
                <a:solidFill>
                  <a:srgbClr val="0A1628"/>
                </a:solidFill>
                <a:latin typeface="Calibri"/>
              </a:rPr>
              <a:t>is applied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at different levels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D9D62-4398-779B-5F0F-31961F7C564F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02365-65C9-255E-2FDC-294E4E5F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61E7E-7D5A-606A-33B7-8E204EFCD14E}"/>
              </a:ext>
            </a:extLst>
          </p:cNvPr>
          <p:cNvSpPr txBox="1"/>
          <p:nvPr/>
        </p:nvSpPr>
        <p:spPr>
          <a:xfrm>
            <a:off x="457200" y="1656678"/>
            <a:ext cx="3360420" cy="249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D3748"/>
                </a:solidFill>
                <a:latin typeface="Calibri"/>
              </a:rPr>
              <a:t>Level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Function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D3748"/>
                </a:solidFill>
                <a:latin typeface="Calibri"/>
              </a:rPr>
              <a:t>Class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Package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D3748"/>
                </a:solidFill>
                <a:latin typeface="Calibri"/>
              </a:rPr>
              <a:t>Program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3748"/>
                </a:solidFill>
                <a:latin typeface="Calibri"/>
              </a:rPr>
              <a:t>Enterprise</a:t>
            </a:r>
            <a:endParaRPr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0708C26-897C-E9BE-CC9D-98F2660163E0}"/>
              </a:ext>
            </a:extLst>
          </p:cNvPr>
          <p:cNvSpPr/>
          <p:nvPr/>
        </p:nvSpPr>
        <p:spPr>
          <a:xfrm rot="10800000">
            <a:off x="2137410" y="2149724"/>
            <a:ext cx="487680" cy="1548387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D0CF4-ED63-4642-0985-8478BE86AADB}"/>
              </a:ext>
            </a:extLst>
          </p:cNvPr>
          <p:cNvSpPr/>
          <p:nvPr/>
        </p:nvSpPr>
        <p:spPr>
          <a:xfrm>
            <a:off x="2971800" y="2631407"/>
            <a:ext cx="3657600" cy="5467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Usually the scientist scope lives here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727C67-0881-D9B5-27DD-4917D49D86CA}"/>
              </a:ext>
            </a:extLst>
          </p:cNvPr>
          <p:cNvCxnSpPr/>
          <p:nvPr/>
        </p:nvCxnSpPr>
        <p:spPr>
          <a:xfrm>
            <a:off x="2137409" y="3941952"/>
            <a:ext cx="567691" cy="0"/>
          </a:xfrm>
          <a:prstGeom prst="straightConnector1">
            <a:avLst/>
          </a:prstGeom>
          <a:ln w="28575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D586C76-FFED-386D-6C29-F0B2A2B699FB}"/>
              </a:ext>
            </a:extLst>
          </p:cNvPr>
          <p:cNvSpPr/>
          <p:nvPr/>
        </p:nvSpPr>
        <p:spPr>
          <a:xfrm>
            <a:off x="2971800" y="3596963"/>
            <a:ext cx="5417820" cy="6955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Usually design at this level is called “software architecture”. This is out of the scope for this workshop.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2171B68-760B-5359-FF08-1BB4999AB0A6}"/>
              </a:ext>
            </a:extLst>
          </p:cNvPr>
          <p:cNvSpPr/>
          <p:nvPr/>
        </p:nvSpPr>
        <p:spPr>
          <a:xfrm>
            <a:off x="5680710" y="1461896"/>
            <a:ext cx="2586991" cy="973701"/>
          </a:xfrm>
          <a:prstGeom prst="wedgeRectCallout">
            <a:avLst>
              <a:gd name="adj1" fmla="val -54773"/>
              <a:gd name="adj2" fmla="val 2284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The principles we will review apply all they way from a function to a program. 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12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5" grpId="0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FAC4-F07C-44E4-44DE-4D7A0D1C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AEE6B-3EFE-EDC0-B4C4-690C876AB870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Fundamental forces: coupling &amp; cohesion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44EBD-E7B0-7544-FB8E-D1840F3487F5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B523-1027-5213-97EB-0BC585A2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17" name="Picture 2" descr="Why Product Development and Design needs Cohesion-Coupling?">
            <a:extLst>
              <a:ext uri="{FF2B5EF4-FFF2-40B4-BE49-F238E27FC236}">
                <a16:creationId xmlns:a16="http://schemas.microsoft.com/office/drawing/2014/main" id="{6473A521-2C3B-64BB-BFD0-B8F70076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1132444"/>
            <a:ext cx="4726287" cy="265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32E943-D59E-DDF6-14AA-59AD8EF8BF12}"/>
              </a:ext>
            </a:extLst>
          </p:cNvPr>
          <p:cNvSpPr txBox="1"/>
          <p:nvPr/>
        </p:nvSpPr>
        <p:spPr>
          <a:xfrm>
            <a:off x="223119" y="4114800"/>
            <a:ext cx="26089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effectLst/>
              </a:rPr>
              <a:t>Cohesion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is a measure of the degree to which the elements of a module are functionally related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A447E-DFD1-0CE5-CC8A-B959991DB352}"/>
              </a:ext>
            </a:extLst>
          </p:cNvPr>
          <p:cNvSpPr txBox="1"/>
          <p:nvPr/>
        </p:nvSpPr>
        <p:spPr>
          <a:xfrm>
            <a:off x="2826791" y="4105775"/>
            <a:ext cx="2529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effectLst/>
              </a:rPr>
              <a:t>Coupling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is the measure of the degree of interdependence between modules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68F37-2F91-E960-04C1-4A4C36F39D06}"/>
              </a:ext>
            </a:extLst>
          </p:cNvPr>
          <p:cNvSpPr txBox="1"/>
          <p:nvPr/>
        </p:nvSpPr>
        <p:spPr>
          <a:xfrm>
            <a:off x="3426694" y="3790979"/>
            <a:ext cx="838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Desired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26BE35-06D3-F315-42D2-735B8576BE04}"/>
              </a:ext>
            </a:extLst>
          </p:cNvPr>
          <p:cNvSpPr txBox="1"/>
          <p:nvPr/>
        </p:nvSpPr>
        <p:spPr>
          <a:xfrm>
            <a:off x="944574" y="3790981"/>
            <a:ext cx="11660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Not desired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8F6430-71C4-4C2B-5571-192D0C178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89" y="1132444"/>
            <a:ext cx="2495679" cy="373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832D263E-42DB-508A-ABB8-B6BA3367283F}"/>
              </a:ext>
            </a:extLst>
          </p:cNvPr>
          <p:cNvSpPr/>
          <p:nvPr/>
        </p:nvSpPr>
        <p:spPr>
          <a:xfrm>
            <a:off x="7071360" y="1258681"/>
            <a:ext cx="1836420" cy="702088"/>
          </a:xfrm>
          <a:prstGeom prst="wedgeRectCallout">
            <a:avLst>
              <a:gd name="adj1" fmla="val -54773"/>
              <a:gd name="adj2" fmla="val 2284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hat is not coupled to the head. </a:t>
            </a:r>
            <a:r>
              <a:rPr lang="en-US" sz="1400" b="1" dirty="0">
                <a:solidFill>
                  <a:schemeClr val="tx1"/>
                </a:solidFill>
              </a:rPr>
              <a:t>He can wear any hat easily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5E7E5548-E93B-0118-8F11-F995330951F1}"/>
              </a:ext>
            </a:extLst>
          </p:cNvPr>
          <p:cNvSpPr/>
          <p:nvPr/>
        </p:nvSpPr>
        <p:spPr>
          <a:xfrm>
            <a:off x="7378666" y="2348626"/>
            <a:ext cx="1529113" cy="834105"/>
          </a:xfrm>
          <a:prstGeom prst="wedgeRectCallout">
            <a:avLst>
              <a:gd name="adj1" fmla="val -54773"/>
              <a:gd name="adj2" fmla="val 2284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eyes are coupled to the head.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72FDB25A-AAAE-F2FA-9D16-61A332D853D4}"/>
              </a:ext>
            </a:extLst>
          </p:cNvPr>
          <p:cNvSpPr/>
          <p:nvPr/>
        </p:nvSpPr>
        <p:spPr>
          <a:xfrm>
            <a:off x="7378666" y="3467766"/>
            <a:ext cx="1529113" cy="1081374"/>
          </a:xfrm>
          <a:prstGeom prst="wedgeRectCallout">
            <a:avLst>
              <a:gd name="adj1" fmla="val -54773"/>
              <a:gd name="adj2" fmla="val 2284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head is a cohesive module. Its modules can’t be changed easily.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19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811B-E4DB-1ACA-A9C1-9559D07A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5D20CC-2DB7-1399-129E-DB21CCDE6AF9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Principle: aim for low coupling and high cohesion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DAFE2-ECC8-E9AB-8BED-9988455F2565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1001-7F66-85FA-D1D5-2775B851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2" descr="Why Product Development and Design needs Cohesion-Coupling?">
            <a:extLst>
              <a:ext uri="{FF2B5EF4-FFF2-40B4-BE49-F238E27FC236}">
                <a16:creationId xmlns:a16="http://schemas.microsoft.com/office/drawing/2014/main" id="{D50226FC-C78C-554F-B232-4EE89F79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1966"/>
            <a:ext cx="5222095" cy="2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8EB600A-39ED-7FDF-2E38-B66F8B7F463F}"/>
              </a:ext>
            </a:extLst>
          </p:cNvPr>
          <p:cNvSpPr/>
          <p:nvPr/>
        </p:nvSpPr>
        <p:spPr>
          <a:xfrm>
            <a:off x="5321154" y="1381966"/>
            <a:ext cx="3670445" cy="3058970"/>
          </a:xfrm>
          <a:prstGeom prst="wedgeRectCallout">
            <a:avLst>
              <a:gd name="adj1" fmla="val -55417"/>
              <a:gd name="adj2" fmla="val -2057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>
                <a:solidFill>
                  <a:schemeClr val="tx1"/>
                </a:solidFill>
              </a:rPr>
              <a:t>highly cohesive </a:t>
            </a:r>
            <a:r>
              <a:rPr lang="en-US" sz="1600" dirty="0">
                <a:solidFill>
                  <a:schemeClr val="tx1"/>
                </a:solidFill>
              </a:rPr>
              <a:t>module means it does a few related things well.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Loosely coupled </a:t>
            </a:r>
            <a:r>
              <a:rPr lang="en-US" sz="1600" dirty="0">
                <a:solidFill>
                  <a:schemeClr val="tx1"/>
                </a:solidFill>
              </a:rPr>
              <a:t>module means it has low connections with other modules.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u="sng" dirty="0">
                <a:solidFill>
                  <a:schemeClr val="tx1"/>
                </a:solidFill>
              </a:rPr>
              <a:t>Benefits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Module easier to understand.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Module easier to test.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Easier to maintain.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Promotes reuse.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Changes remain local.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78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D3EAC-04A8-D538-253A-A386CC62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278087-F0E3-3AA9-F82B-35B03CAB107F}"/>
              </a:ext>
            </a:extLst>
          </p:cNvPr>
          <p:cNvSpPr txBox="1"/>
          <p:nvPr/>
        </p:nvSpPr>
        <p:spPr>
          <a:xfrm>
            <a:off x="99060" y="274320"/>
            <a:ext cx="9212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Example of highly cohesive and loosely coupled classes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D48726-B7B6-BB0C-07D4-8E719D3941F0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84A14-BB73-2E7B-3E79-5464E318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0AE0E-E0C2-3E73-7701-80BECD73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0020" y="1381966"/>
            <a:ext cx="6103620" cy="3336646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E956768-D517-9167-9B96-7269CDAFC256}"/>
              </a:ext>
            </a:extLst>
          </p:cNvPr>
          <p:cNvSpPr/>
          <p:nvPr/>
        </p:nvSpPr>
        <p:spPr>
          <a:xfrm>
            <a:off x="5844540" y="1293879"/>
            <a:ext cx="3147059" cy="3512820"/>
          </a:xfrm>
          <a:prstGeom prst="wedgeRectCallout">
            <a:avLst>
              <a:gd name="adj1" fmla="val -55417"/>
              <a:gd name="adj2" fmla="val -2057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Train</a:t>
            </a:r>
            <a:r>
              <a:rPr lang="en-US" sz="1600" dirty="0">
                <a:solidFill>
                  <a:schemeClr val="tx1"/>
                </a:solidFill>
              </a:rPr>
              <a:t> class has a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List&lt;</a:t>
            </a:r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r>
              <a:rPr lang="en-US" sz="1600" dirty="0">
                <a:solidFill>
                  <a:schemeClr val="tx1"/>
                </a:solidFill>
                <a:latin typeface="+mj-lt"/>
              </a:rPr>
              <a:t>There are multiple subclasses of Car. The Train requires each Car to have some dimensions and some wheels. The train knows how to transport the cars to a destination.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The Train is </a:t>
            </a:r>
            <a:r>
              <a:rPr lang="en-US" sz="1600" b="1" dirty="0">
                <a:solidFill>
                  <a:schemeClr val="tx1"/>
                </a:solidFill>
              </a:rPr>
              <a:t>loosely coupled </a:t>
            </a:r>
            <a:r>
              <a:rPr lang="en-US" sz="1600" dirty="0">
                <a:solidFill>
                  <a:schemeClr val="tx1"/>
                </a:solidFill>
              </a:rPr>
              <a:t>to the Car class.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Each car is </a:t>
            </a:r>
            <a:r>
              <a:rPr lang="en-US" sz="1600" b="1" dirty="0">
                <a:solidFill>
                  <a:schemeClr val="tx1"/>
                </a:solidFill>
              </a:rPr>
              <a:t>cohesive</a:t>
            </a:r>
            <a:r>
              <a:rPr lang="en-US" sz="1600" dirty="0">
                <a:solidFill>
                  <a:schemeClr val="tx1"/>
                </a:solidFill>
              </a:rPr>
              <a:t>: it is specifically designed to carry a specific type of cargo. The car does not know how it is carried to the destination.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799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A1628"/>
                </a:solidFill>
                <a:latin typeface="Calibri"/>
              </a:rPr>
              <a:t>A “code smell” reveals a design anti-pattern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BD9F5-8CE8-CA7D-2BB4-D4B4C534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A751A-1250-A0FC-BCAE-D487135D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63" y="1264920"/>
            <a:ext cx="4107576" cy="35006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6CD0DD-A111-931F-B5AC-DDACF2636BDA}"/>
              </a:ext>
            </a:extLst>
          </p:cNvPr>
          <p:cNvSpPr txBox="1"/>
          <p:nvPr/>
        </p:nvSpPr>
        <p:spPr>
          <a:xfrm>
            <a:off x="4815840" y="1473592"/>
            <a:ext cx="40309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out this script: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https://github.com/sefop/sefop-training-hub/blob/main/workshops/2026-06-29-purdue/code_smell.py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What are the </a:t>
            </a:r>
            <a:r>
              <a:rPr lang="en-US" b="1" dirty="0"/>
              <a:t>problems</a:t>
            </a:r>
            <a:r>
              <a:rPr lang="en-US" dirty="0"/>
              <a:t> and </a:t>
            </a:r>
            <a:r>
              <a:rPr lang="en-US" b="1" dirty="0"/>
              <a:t>how can we solve them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B997C-0352-1542-B422-0C146D40F99B}"/>
              </a:ext>
            </a:extLst>
          </p:cNvPr>
          <p:cNvSpPr txBox="1"/>
          <p:nvPr/>
        </p:nvSpPr>
        <p:spPr>
          <a:xfrm>
            <a:off x="448963" y="4852138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D3748"/>
                </a:solidFill>
              </a:rPr>
              <a:t>Source: </a:t>
            </a:r>
            <a:r>
              <a:rPr lang="en-US" sz="1000" dirty="0">
                <a:solidFill>
                  <a:srgbClr val="2D3748"/>
                </a:solidFill>
                <a:hlinkClick r:id="rId4"/>
              </a:rPr>
              <a:t>https://refactoring.guru/smells/long-method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1727-1EEB-E822-BB63-61D6B185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5F5BA5-5391-43F2-487A-19F641802E2E}"/>
              </a:ext>
            </a:extLst>
          </p:cNvPr>
          <p:cNvSpPr txBox="1"/>
          <p:nvPr/>
        </p:nvSpPr>
        <p:spPr>
          <a:xfrm>
            <a:off x="441739" y="45141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A1628"/>
                </a:solidFill>
                <a:latin typeface="Calibri"/>
              </a:rPr>
              <a:t>Great website with other code smells and what to do about them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C2775-C882-D5E1-2979-50D18E8814E4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A68D5-A49E-9D35-CF51-20C9F38C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5740A-B7ED-33FA-6263-799080AED020}"/>
              </a:ext>
            </a:extLst>
          </p:cNvPr>
          <p:cNvSpPr txBox="1"/>
          <p:nvPr/>
        </p:nvSpPr>
        <p:spPr>
          <a:xfrm>
            <a:off x="448963" y="4852138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D3748"/>
                </a:solidFill>
              </a:rPr>
              <a:t>Source: </a:t>
            </a:r>
            <a:r>
              <a:rPr lang="en-US" sz="1000" dirty="0">
                <a:solidFill>
                  <a:srgbClr val="2D3748"/>
                </a:solidFill>
                <a:hlinkClick r:id="rId2"/>
              </a:rPr>
              <a:t>https://refactoring.guru/refactoring/smells</a:t>
            </a:r>
            <a:r>
              <a:rPr lang="en-US" sz="1000" dirty="0">
                <a:solidFill>
                  <a:srgbClr val="2D3748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1AC0E-F267-3594-69CC-890FA80C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8" y="1413423"/>
            <a:ext cx="7911802" cy="29528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9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523" y="33209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Single Responsibility Principle</a:t>
            </a:r>
            <a:r>
              <a:rPr lang="en-US" sz="3000" b="1" i="0" baseline="30000" dirty="0">
                <a:solidFill>
                  <a:srgbClr val="0A1628"/>
                </a:solidFill>
                <a:latin typeface="Calibri"/>
              </a:rPr>
              <a:t>1  </a:t>
            </a:r>
            <a:r>
              <a:rPr lang="en-US" sz="3000" b="1" dirty="0">
                <a:solidFill>
                  <a:srgbClr val="0A1628"/>
                </a:solidFill>
              </a:rPr>
              <a:t>(SRP) and Don’t Repeat Yourself (DRY).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E2341-B04B-BFB3-5CE6-40265187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C2DB4-9FE6-E7F4-6514-13FB88A32381}"/>
              </a:ext>
            </a:extLst>
          </p:cNvPr>
          <p:cNvSpPr txBox="1"/>
          <p:nvPr/>
        </p:nvSpPr>
        <p:spPr>
          <a:xfrm>
            <a:off x="448963" y="4852138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D3748"/>
                </a:solidFill>
              </a:rPr>
              <a:t>1) Also known as “Separation of Concerns”. Invented by Rober C. Martin.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1A3B192-27C2-2D6F-1830-B29FA78F88A0}"/>
              </a:ext>
            </a:extLst>
          </p:cNvPr>
          <p:cNvSpPr txBox="1">
            <a:spLocks/>
          </p:cNvSpPr>
          <p:nvPr/>
        </p:nvSpPr>
        <p:spPr>
          <a:xfrm>
            <a:off x="457200" y="1478338"/>
            <a:ext cx="8686800" cy="1123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cs typeface="Arial" panose="020B0604020202020204" pitchFamily="34" charset="0"/>
              </a:rPr>
              <a:t>SRP</a:t>
            </a:r>
            <a:r>
              <a:rPr lang="en-US" sz="2000" i="1" dirty="0">
                <a:cs typeface="Arial" panose="020B0604020202020204" pitchFamily="34" charset="0"/>
              </a:rPr>
              <a:t>:         A module/class should have only one reason to change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cs typeface="Arial" panose="020B0604020202020204" pitchFamily="34" charset="0"/>
              </a:rPr>
              <a:t>DRY</a:t>
            </a:r>
            <a:r>
              <a:rPr lang="en-US" sz="2000" i="1" dirty="0">
                <a:cs typeface="Arial" panose="020B0604020202020204" pitchFamily="34" charset="0"/>
              </a:rPr>
              <a:t>: 	Have your reasons-to-change stored in single places</a:t>
            </a:r>
            <a:endParaRPr lang="en-US" sz="2000" i="1" dirty="0"/>
          </a:p>
        </p:txBody>
      </p:sp>
      <p:pic>
        <p:nvPicPr>
          <p:cNvPr id="11" name="Graphic 10" descr="Information with solid fill">
            <a:extLst>
              <a:ext uri="{FF2B5EF4-FFF2-40B4-BE49-F238E27FC236}">
                <a16:creationId xmlns:a16="http://schemas.microsoft.com/office/drawing/2014/main" id="{1D2073BD-D5E4-8E7D-7816-1737F3853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7" y="2792813"/>
            <a:ext cx="1363135" cy="1363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27834A-57EB-8A26-3A88-B179B1EF27CE}"/>
              </a:ext>
            </a:extLst>
          </p:cNvPr>
          <p:cNvSpPr txBox="1"/>
          <p:nvPr/>
        </p:nvSpPr>
        <p:spPr>
          <a:xfrm>
            <a:off x="1502708" y="2626762"/>
            <a:ext cx="754315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</a:t>
            </a:r>
            <a:r>
              <a:rPr lang="en-US" sz="1600" b="1" dirty="0"/>
              <a:t>Responsibility</a:t>
            </a:r>
            <a:r>
              <a:rPr lang="en-US" sz="1600" dirty="0"/>
              <a:t>” is not related to what the module does, it does not mean “function”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means “</a:t>
            </a:r>
            <a:r>
              <a:rPr lang="en-US" sz="1600" b="1" dirty="0"/>
              <a:t>reason for change</a:t>
            </a:r>
            <a:r>
              <a:rPr lang="en-US" sz="1600" dirty="0"/>
              <a:t>” or “</a:t>
            </a:r>
            <a:r>
              <a:rPr lang="en-US" sz="1600" b="1" dirty="0"/>
              <a:t>axis of change</a:t>
            </a:r>
            <a:r>
              <a:rPr lang="en-US" sz="16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SRP and DRY are two sides of the same coin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summary: </a:t>
            </a:r>
            <a:r>
              <a:rPr lang="en-US" sz="1600" b="1" dirty="0"/>
              <a:t>encapsulate</a:t>
            </a:r>
            <a:r>
              <a:rPr lang="en-US" sz="1600" dirty="0"/>
              <a:t> each axis-of-change in single places (classes/packages)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C434-88AE-E250-EAD3-69A6D20C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F539AF-1C49-18B8-07B9-0C9255D725CD}"/>
              </a:ext>
            </a:extLst>
          </p:cNvPr>
          <p:cNvSpPr txBox="1"/>
          <p:nvPr/>
        </p:nvSpPr>
        <p:spPr>
          <a:xfrm>
            <a:off x="357523" y="281583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What ar</a:t>
            </a:r>
            <a:r>
              <a:rPr lang="en-US" sz="3000" b="1" dirty="0">
                <a:solidFill>
                  <a:srgbClr val="0A1628"/>
                </a:solidFill>
                <a:latin typeface="Calibri"/>
              </a:rPr>
              <a:t>e ‘responsibilities’?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6A24A-8EAA-9848-0968-3801CD89A198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14CCB-4CC2-EF30-0B54-7B1EF112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136A3-9A21-5D75-4C37-B37FE17537E3}"/>
              </a:ext>
            </a:extLst>
          </p:cNvPr>
          <p:cNvSpPr/>
          <p:nvPr/>
        </p:nvSpPr>
        <p:spPr>
          <a:xfrm>
            <a:off x="457200" y="2125980"/>
            <a:ext cx="4046220" cy="16642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About its own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About data it can produce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About related objects available to 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31F4-49A9-16E4-9C18-D72C437DD55A}"/>
              </a:ext>
            </a:extLst>
          </p:cNvPr>
          <p:cNvSpPr txBox="1"/>
          <p:nvPr/>
        </p:nvSpPr>
        <p:spPr>
          <a:xfrm>
            <a:off x="1832889" y="1540162"/>
            <a:ext cx="1294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Knowing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EA070-03E3-4952-BDCE-83C1A7DFC037}"/>
              </a:ext>
            </a:extLst>
          </p:cNvPr>
          <p:cNvSpPr/>
          <p:nvPr/>
        </p:nvSpPr>
        <p:spPr>
          <a:xfrm>
            <a:off x="4701540" y="2125980"/>
            <a:ext cx="4107180" cy="16642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Creates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Does a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Initiates actions in other objects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C9574-AE08-68E1-D8F0-747FE36056BE}"/>
              </a:ext>
            </a:extLst>
          </p:cNvPr>
          <p:cNvSpPr txBox="1"/>
          <p:nvPr/>
        </p:nvSpPr>
        <p:spPr>
          <a:xfrm>
            <a:off x="6260521" y="1537007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Doing</a:t>
            </a:r>
          </a:p>
        </p:txBody>
      </p:sp>
    </p:spTree>
    <p:extLst>
      <p:ext uri="{BB962C8B-B14F-4D97-AF65-F5344CB8AC3E}">
        <p14:creationId xmlns:p14="http://schemas.microsoft.com/office/powerpoint/2010/main" val="3531988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09E8-FE6B-99CC-9E91-C12A2B9A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39E26-2849-6D11-D556-D885897D93AA}"/>
              </a:ext>
            </a:extLst>
          </p:cNvPr>
          <p:cNvSpPr txBox="1"/>
          <p:nvPr/>
        </p:nvSpPr>
        <p:spPr>
          <a:xfrm>
            <a:off x="357523" y="24300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SRP &amp; DRY example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071B89-4529-5F58-E2BE-8AEC76C549C5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0933B-EF28-1C8C-4F9D-EE1B5E66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1FFDB-235D-07EA-963A-3190D4880C6C}"/>
              </a:ext>
            </a:extLst>
          </p:cNvPr>
          <p:cNvSpPr txBox="1"/>
          <p:nvPr/>
        </p:nvSpPr>
        <p:spPr>
          <a:xfrm>
            <a:off x="114298" y="1086499"/>
            <a:ext cx="4324352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Violation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E1B24-E22A-08E9-D111-A049A8B3B01F}"/>
              </a:ext>
            </a:extLst>
          </p:cNvPr>
          <p:cNvSpPr txBox="1"/>
          <p:nvPr/>
        </p:nvSpPr>
        <p:spPr>
          <a:xfrm>
            <a:off x="4522163" y="1086499"/>
            <a:ext cx="4507539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Compliance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F736906-84DC-7715-1AFD-C87890A04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561838"/>
              </p:ext>
            </p:extLst>
          </p:nvPr>
        </p:nvGraphicFramePr>
        <p:xfrm>
          <a:off x="487980" y="1564356"/>
          <a:ext cx="1452212" cy="1479339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452212">
                  <a:extLst>
                    <a:ext uri="{9D8B030D-6E8A-4147-A177-3AD203B41FA5}">
                      <a16:colId xmlns:a16="http://schemas.microsoft.com/office/drawing/2014/main" val="732015260"/>
                    </a:ext>
                  </a:extLst>
                </a:gridCol>
              </a:tblGrid>
              <a:tr h="416957">
                <a:tc>
                  <a:txBody>
                    <a:bodyPr/>
                    <a:lstStyle/>
                    <a:p>
                      <a:r>
                        <a:rPr lang="en-US" sz="1400" dirty="0" err="1"/>
                        <a:t>InvoiceManager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5788956"/>
                  </a:ext>
                </a:extLst>
              </a:tr>
              <a:tr h="1062382">
                <a:tc>
                  <a:txBody>
                    <a:bodyPr/>
                    <a:lstStyle/>
                    <a:p>
                      <a:r>
                        <a:rPr lang="en-US" sz="1400" dirty="0" err="1"/>
                        <a:t>addInvoice</a:t>
                      </a:r>
                      <a:r>
                        <a:rPr lang="en-US" sz="1400" dirty="0"/>
                        <a:t>()</a:t>
                      </a:r>
                    </a:p>
                    <a:p>
                      <a:r>
                        <a:rPr lang="en-US" sz="1400" dirty="0" err="1"/>
                        <a:t>deleteInvoice</a:t>
                      </a:r>
                      <a:r>
                        <a:rPr lang="en-US" sz="1400" dirty="0"/>
                        <a:t>()</a:t>
                      </a:r>
                    </a:p>
                    <a:p>
                      <a:r>
                        <a:rPr lang="en-US" sz="1400" dirty="0" err="1"/>
                        <a:t>printReport</a:t>
                      </a:r>
                      <a:r>
                        <a:rPr lang="en-US" sz="1400" dirty="0"/>
                        <a:t>()</a:t>
                      </a:r>
                    </a:p>
                    <a:p>
                      <a:r>
                        <a:rPr lang="en-US" sz="1400" dirty="0" err="1"/>
                        <a:t>emailReport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67016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2D9BEF6-AC20-B773-C4B0-8A34D66B61B0}"/>
              </a:ext>
            </a:extLst>
          </p:cNvPr>
          <p:cNvSpPr txBox="1"/>
          <p:nvPr/>
        </p:nvSpPr>
        <p:spPr>
          <a:xfrm>
            <a:off x="114297" y="3317754"/>
            <a:ext cx="53678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 </a:t>
            </a:r>
            <a:r>
              <a:rPr lang="en-US" sz="1400" dirty="0" err="1"/>
              <a:t>InvoiceManager</a:t>
            </a:r>
            <a:r>
              <a:rPr lang="en-US" sz="1400" dirty="0"/>
              <a:t> class has many reasons for change: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Adding/Deleting invoices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Print the report in different 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Sending the report not only by email, also by 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Sending the report at different frequencies in time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C4BB5A70-56B7-31A4-9566-DBC6C8ECEE51}"/>
              </a:ext>
            </a:extLst>
          </p:cNvPr>
          <p:cNvSpPr/>
          <p:nvPr/>
        </p:nvSpPr>
        <p:spPr>
          <a:xfrm>
            <a:off x="2247899" y="1898480"/>
            <a:ext cx="2133600" cy="835153"/>
          </a:xfrm>
          <a:prstGeom prst="wedgeRectCallout">
            <a:avLst>
              <a:gd name="adj1" fmla="val -55417"/>
              <a:gd name="adj2" fmla="val -2057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Problem</a:t>
            </a:r>
            <a:r>
              <a:rPr lang="en-US" sz="1600" dirty="0">
                <a:solidFill>
                  <a:schemeClr val="tx1"/>
                </a:solidFill>
              </a:rPr>
              <a:t>: changing the report might break how it is sent!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8D6C5D-72E0-9164-9CF4-5AEB11E272EB}"/>
              </a:ext>
            </a:extLst>
          </p:cNvPr>
          <p:cNvSpPr txBox="1"/>
          <p:nvPr/>
        </p:nvSpPr>
        <p:spPr>
          <a:xfrm>
            <a:off x="192437" y="4797367"/>
            <a:ext cx="4465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2"/>
              </a:rPr>
              <a:t>Single Responsibility in SOLID Design Principle - </a:t>
            </a:r>
            <a:r>
              <a:rPr lang="en-US" sz="1000" dirty="0" err="1">
                <a:hlinkClick r:id="rId2"/>
              </a:rPr>
              <a:t>GeeksforGeeks</a:t>
            </a:r>
            <a:endParaRPr lang="en-US" sz="100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F583A4B-6197-2CED-7D8A-EDF16C26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403238"/>
              </p:ext>
            </p:extLst>
          </p:nvPr>
        </p:nvGraphicFramePr>
        <p:xfrm>
          <a:off x="7509544" y="1733279"/>
          <a:ext cx="1224084" cy="108987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224084">
                  <a:extLst>
                    <a:ext uri="{9D8B030D-6E8A-4147-A177-3AD203B41FA5}">
                      <a16:colId xmlns:a16="http://schemas.microsoft.com/office/drawing/2014/main" val="732015260"/>
                    </a:ext>
                  </a:extLst>
                </a:gridCol>
              </a:tblGrid>
              <a:tr h="307185">
                <a:tc>
                  <a:txBody>
                    <a:bodyPr/>
                    <a:lstStyle/>
                    <a:p>
                      <a:r>
                        <a:rPr lang="en-US" sz="1200" dirty="0" err="1"/>
                        <a:t>InvoiceManager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5788956"/>
                  </a:ext>
                </a:extLst>
              </a:tr>
              <a:tr h="782688">
                <a:tc>
                  <a:txBody>
                    <a:bodyPr/>
                    <a:lstStyle/>
                    <a:p>
                      <a:r>
                        <a:rPr lang="en-US" sz="1200" dirty="0" err="1"/>
                        <a:t>addInvoice</a:t>
                      </a:r>
                      <a:r>
                        <a:rPr lang="en-US" sz="1200" dirty="0"/>
                        <a:t>()</a:t>
                      </a:r>
                    </a:p>
                    <a:p>
                      <a:r>
                        <a:rPr lang="en-US" sz="1200" dirty="0" err="1"/>
                        <a:t>deleteInvoice</a:t>
                      </a:r>
                      <a:r>
                        <a:rPr lang="en-US" sz="1200" dirty="0"/>
                        <a:t>()</a:t>
                      </a:r>
                    </a:p>
                    <a:p>
                      <a:r>
                        <a:rPr lang="en-US" sz="1200" dirty="0" err="1"/>
                        <a:t>getInvoices</a:t>
                      </a:r>
                      <a:r>
                        <a:rPr lang="en-US" sz="12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670165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8FBD5FF-684E-15C0-FD1F-D68B47DFA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343953"/>
              </p:ext>
            </p:extLst>
          </p:nvPr>
        </p:nvGraphicFramePr>
        <p:xfrm>
          <a:off x="6063258" y="1877992"/>
          <a:ext cx="1071210" cy="800449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071210">
                  <a:extLst>
                    <a:ext uri="{9D8B030D-6E8A-4147-A177-3AD203B41FA5}">
                      <a16:colId xmlns:a16="http://schemas.microsoft.com/office/drawing/2014/main" val="732015260"/>
                    </a:ext>
                  </a:extLst>
                </a:gridCol>
              </a:tblGrid>
              <a:tr h="304372">
                <a:tc>
                  <a:txBody>
                    <a:bodyPr/>
                    <a:lstStyle/>
                    <a:p>
                      <a:r>
                        <a:rPr lang="en-US" sz="1200" dirty="0" err="1"/>
                        <a:t>InvoiceReport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5788956"/>
                  </a:ext>
                </a:extLst>
              </a:tr>
              <a:tr h="496077">
                <a:tc>
                  <a:txBody>
                    <a:bodyPr/>
                    <a:lstStyle/>
                    <a:p>
                      <a:r>
                        <a:rPr lang="en-US" sz="1200" dirty="0" err="1"/>
                        <a:t>printReport</a:t>
                      </a:r>
                      <a:r>
                        <a:rPr lang="en-US" sz="12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67016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B118BE6-9A7A-C0AD-AF6F-79BDBD763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602394"/>
              </p:ext>
            </p:extLst>
          </p:nvPr>
        </p:nvGraphicFramePr>
        <p:xfrm>
          <a:off x="4743937" y="1912457"/>
          <a:ext cx="1071210" cy="73152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071210">
                  <a:extLst>
                    <a:ext uri="{9D8B030D-6E8A-4147-A177-3AD203B41FA5}">
                      <a16:colId xmlns:a16="http://schemas.microsoft.com/office/drawing/2014/main" val="732015260"/>
                    </a:ext>
                  </a:extLst>
                </a:gridCol>
              </a:tblGrid>
              <a:tr h="289856">
                <a:tc>
                  <a:txBody>
                    <a:bodyPr/>
                    <a:lstStyle/>
                    <a:p>
                      <a:r>
                        <a:rPr lang="en-US" sz="1200" dirty="0" err="1"/>
                        <a:t>ReportSender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5788956"/>
                  </a:ext>
                </a:extLst>
              </a:tr>
              <a:tr h="4416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sendReport</a:t>
                      </a:r>
                      <a:r>
                        <a:rPr lang="en-US" sz="12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670165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56064B-9345-18B8-0BB0-FAB6522B8EC5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7134468" y="2278215"/>
            <a:ext cx="37507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040985-2736-D867-7045-5DF3EDA31AB1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5815147" y="2278216"/>
            <a:ext cx="2481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FD9A09-4E4A-B717-66F6-75CCEB140365}"/>
              </a:ext>
            </a:extLst>
          </p:cNvPr>
          <p:cNvSpPr txBox="1"/>
          <p:nvPr/>
        </p:nvSpPr>
        <p:spPr>
          <a:xfrm>
            <a:off x="4803466" y="3245313"/>
            <a:ext cx="3783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Now the reasons for change are separated (</a:t>
            </a:r>
            <a:r>
              <a:rPr lang="en-US" sz="1600" b="1" dirty="0"/>
              <a:t>encapsulated</a:t>
            </a:r>
            <a:r>
              <a:rPr lang="en-US" sz="1600" dirty="0"/>
              <a:t>)!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If we want to change the report format that change does not impact the </a:t>
            </a:r>
            <a:r>
              <a:rPr lang="en-US" sz="1600" dirty="0" err="1"/>
              <a:t>InvoiceManager</a:t>
            </a:r>
            <a:r>
              <a:rPr lang="en-US" sz="1600" dirty="0"/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47138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allAtOnce"/>
      <p:bldP spid="26" grpId="0" animBg="1"/>
      <p:bldP spid="27" grpId="0"/>
      <p:bldP spid="5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A1628"/>
                </a:solidFill>
                <a:latin typeface="Calibri"/>
              </a:rPr>
              <a:t>Information Hiding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Principle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8681" y="1213628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2D3748"/>
                </a:solidFill>
                <a:latin typeface="Calibri"/>
              </a:rPr>
              <a:t>Hide implementation details behind </a:t>
            </a:r>
            <a:r>
              <a:rPr lang="en-US" sz="1800" b="0" i="0" dirty="0">
                <a:solidFill>
                  <a:srgbClr val="2D3748"/>
                </a:solidFill>
                <a:latin typeface="Calibri"/>
              </a:rPr>
              <a:t>an </a:t>
            </a:r>
            <a:r>
              <a:rPr lang="en-US" sz="1800" b="1" i="0" dirty="0">
                <a:solidFill>
                  <a:srgbClr val="2D3748"/>
                </a:solidFill>
                <a:latin typeface="Calibri"/>
              </a:rPr>
              <a:t>abstraction</a:t>
            </a:r>
            <a:r>
              <a:rPr lang="en-US" sz="1800" b="0" i="0" dirty="0">
                <a:solidFill>
                  <a:srgbClr val="2D3748"/>
                </a:solidFill>
                <a:latin typeface="Calibri"/>
              </a:rPr>
              <a:t>/</a:t>
            </a:r>
            <a:r>
              <a:rPr lang="en-US" sz="1800" b="1" i="0" dirty="0">
                <a:solidFill>
                  <a:srgbClr val="2D3748"/>
                </a:solidFill>
                <a:latin typeface="Calibri"/>
              </a:rPr>
              <a:t>interface</a:t>
            </a:r>
            <a:r>
              <a:rPr sz="1800" b="0" i="0" dirty="0">
                <a:solidFill>
                  <a:srgbClr val="2D3748"/>
                </a:solidFill>
                <a:latin typeface="Calibri"/>
              </a:rPr>
              <a:t>.
Callers</a:t>
            </a:r>
            <a:r>
              <a:rPr lang="en-US" sz="1800" b="0" i="0" dirty="0">
                <a:solidFill>
                  <a:srgbClr val="2D3748"/>
                </a:solidFill>
                <a:latin typeface="Calibri"/>
              </a:rPr>
              <a:t>/clients</a:t>
            </a:r>
            <a:r>
              <a:rPr sz="1800" b="0" i="0" dirty="0">
                <a:solidFill>
                  <a:srgbClr val="2D3748"/>
                </a:solidFill>
                <a:latin typeface="Calibri"/>
              </a:rPr>
              <a:t> need to know what a module does, not how.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267F1-C01B-82DF-A13C-DAB1992B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pic>
        <p:nvPicPr>
          <p:cNvPr id="8" name="Picture 7" descr="How Much Draw from a Single Outlet? | Promise Electric - Sarasota, FL">
            <a:extLst>
              <a:ext uri="{FF2B5EF4-FFF2-40B4-BE49-F238E27FC236}">
                <a16:creationId xmlns:a16="http://schemas.microsoft.com/office/drawing/2014/main" id="{5985F87A-1CE4-3F09-ED63-E3B3D3C1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999" y="2410266"/>
            <a:ext cx="3821182" cy="2552430"/>
          </a:xfrm>
          <a:prstGeom prst="rect">
            <a:avLst/>
          </a:prstGeom>
        </p:spPr>
      </p:pic>
      <p:pic>
        <p:nvPicPr>
          <p:cNvPr id="9" name="Picture 8" descr="How Receptacles work (US/CAN) - The Engineering Mindset">
            <a:extLst>
              <a:ext uri="{FF2B5EF4-FFF2-40B4-BE49-F238E27FC236}">
                <a16:creationId xmlns:a16="http://schemas.microsoft.com/office/drawing/2014/main" id="{9A7A9E30-44C0-E395-5478-171649A1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0266"/>
            <a:ext cx="4463548" cy="25665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72E5C0-ED8F-D31B-8C61-3B5E596CB87B}"/>
              </a:ext>
            </a:extLst>
          </p:cNvPr>
          <p:cNvSpPr txBox="1"/>
          <p:nvPr/>
        </p:nvSpPr>
        <p:spPr>
          <a:xfrm>
            <a:off x="457201" y="2012052"/>
            <a:ext cx="4463548" cy="369332"/>
          </a:xfrm>
          <a:prstGeom prst="rect">
            <a:avLst/>
          </a:prstGeom>
          <a:solidFill>
            <a:srgbClr val="5959E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2B75-625C-F7D9-ADC9-A9E1218C9EAF}"/>
              </a:ext>
            </a:extLst>
          </p:cNvPr>
          <p:cNvSpPr txBox="1"/>
          <p:nvPr/>
        </p:nvSpPr>
        <p:spPr>
          <a:xfrm>
            <a:off x="4975998" y="2012052"/>
            <a:ext cx="192595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DBAF7-DF31-7B70-CAC0-2C8B689DB75A}"/>
              </a:ext>
            </a:extLst>
          </p:cNvPr>
          <p:cNvSpPr txBox="1"/>
          <p:nvPr/>
        </p:nvSpPr>
        <p:spPr>
          <a:xfrm>
            <a:off x="6968922" y="2012052"/>
            <a:ext cx="1828259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Clients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4D7C-A654-94DF-B7FD-46E5C8E8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AB562-0FAB-C8CD-331E-46576CE6317F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A1628"/>
                </a:solidFill>
                <a:latin typeface="Calibri"/>
              </a:rPr>
              <a:t>Information Hiding</a:t>
            </a:r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 Principle in Optimization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EAAB2-B944-A850-6746-ACCF1FA9F270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CFC44-436E-DEAA-7DD0-080F25AF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59D90-6EAA-F4F1-B39B-AEC447CEDB81}"/>
              </a:ext>
            </a:extLst>
          </p:cNvPr>
          <p:cNvSpPr/>
          <p:nvPr/>
        </p:nvSpPr>
        <p:spPr>
          <a:xfrm>
            <a:off x="4614987" y="1703754"/>
            <a:ext cx="2110154" cy="1016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Knapsack Algorithm Solver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D212F6-E2AE-34CC-38DB-207FAAA30BCF}"/>
              </a:ext>
            </a:extLst>
          </p:cNvPr>
          <p:cNvSpPr/>
          <p:nvPr/>
        </p:nvSpPr>
        <p:spPr>
          <a:xfrm>
            <a:off x="308707" y="1703754"/>
            <a:ext cx="2110154" cy="1016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Knapsack 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492463-6A85-F6CE-9A89-1985694D71A9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2418861" y="2211754"/>
            <a:ext cx="2196126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62B4AF-A4F3-3FAA-386C-4BFD567B0A5C}"/>
              </a:ext>
            </a:extLst>
          </p:cNvPr>
          <p:cNvSpPr txBox="1"/>
          <p:nvPr/>
        </p:nvSpPr>
        <p:spPr>
          <a:xfrm>
            <a:off x="2329964" y="1612292"/>
            <a:ext cx="2285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Solve me this knapsack problem please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22570C-200A-F4C5-CAD2-C117C8824820}"/>
              </a:ext>
            </a:extLst>
          </p:cNvPr>
          <p:cNvSpPr txBox="1"/>
          <p:nvPr/>
        </p:nvSpPr>
        <p:spPr>
          <a:xfrm>
            <a:off x="308707" y="1237465"/>
            <a:ext cx="2110154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Clients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604C3-6090-4FF5-0CE7-B6D10C0F1360}"/>
              </a:ext>
            </a:extLst>
          </p:cNvPr>
          <p:cNvSpPr txBox="1"/>
          <p:nvPr/>
        </p:nvSpPr>
        <p:spPr>
          <a:xfrm>
            <a:off x="4614987" y="1248610"/>
            <a:ext cx="211015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F3BD4A70-DEB5-A555-5FF3-321A3F166110}"/>
              </a:ext>
            </a:extLst>
          </p:cNvPr>
          <p:cNvSpPr/>
          <p:nvPr/>
        </p:nvSpPr>
        <p:spPr>
          <a:xfrm>
            <a:off x="6811113" y="1272312"/>
            <a:ext cx="1812925" cy="691259"/>
          </a:xfrm>
          <a:prstGeom prst="wedgeRoundRectCallout">
            <a:avLst>
              <a:gd name="adj1" fmla="val -61928"/>
              <a:gd name="adj2" fmla="val -23738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solve knapsack problems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251E7-77F3-BF1D-4C23-D29A0285F6A6}"/>
              </a:ext>
            </a:extLst>
          </p:cNvPr>
          <p:cNvSpPr txBox="1"/>
          <p:nvPr/>
        </p:nvSpPr>
        <p:spPr>
          <a:xfrm>
            <a:off x="4614987" y="2867676"/>
            <a:ext cx="3747475" cy="1384995"/>
          </a:xfrm>
          <a:prstGeom prst="rect">
            <a:avLst/>
          </a:prstGeom>
          <a:solidFill>
            <a:srgbClr val="5959E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Implementation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Depending on the instance I may use different approaches: MIP, Dynamic Programming, Metaheuristics, etc. 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A9F2FB3F-77B1-C399-E29C-E7489208F1EF}"/>
              </a:ext>
            </a:extLst>
          </p:cNvPr>
          <p:cNvSpPr/>
          <p:nvPr/>
        </p:nvSpPr>
        <p:spPr>
          <a:xfrm>
            <a:off x="457200" y="3320794"/>
            <a:ext cx="3185160" cy="1182625"/>
          </a:xfrm>
          <a:prstGeom prst="wedgeRectCallout">
            <a:avLst>
              <a:gd name="adj1" fmla="val -26488"/>
              <a:gd name="adj2" fmla="val -7714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The Knapsack service is coupled to the Knapsack Algorithm through its interface. It is not coupled to the different algorithms used!.</a:t>
            </a:r>
          </a:p>
        </p:txBody>
      </p:sp>
    </p:spTree>
    <p:extLst>
      <p:ext uri="{BB962C8B-B14F-4D97-AF65-F5344CB8AC3E}">
        <p14:creationId xmlns:p14="http://schemas.microsoft.com/office/powerpoint/2010/main" val="33848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8"/>
                </a:solidFill>
                <a:latin typeface="Calibri"/>
              </a:rPr>
              <a:t>AFTERNOON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Calibri"/>
              </a:rPr>
              <a:t>Putting it all together: SEFOP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A0754-6D28-C33A-55B4-F0FB6260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26A8F-7EDC-E6EE-938C-C6486DE16BAD}"/>
              </a:ext>
            </a:extLst>
          </p:cNvPr>
          <p:cNvSpPr txBox="1"/>
          <p:nvPr/>
        </p:nvSpPr>
        <p:spPr>
          <a:xfrm>
            <a:off x="510540" y="319365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fork of this repo in your machine</a:t>
            </a:r>
          </a:p>
          <a:p>
            <a:r>
              <a:rPr lang="en-US" dirty="0">
                <a:hlinkClick r:id="rId2"/>
              </a:rPr>
              <a:t>https://github.com/sefop/sefop-python-starter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C5B6-68D0-4F84-6D71-7D29692A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3A15F-C5EA-6B68-C963-B0E794C24BEA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What is SEFOP?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5BD19-3904-B12A-74D3-88B7D646AF8D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D6E44-D905-9AE6-4AAD-C52F23A7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E8B3D-ED6A-72EC-4901-CEAA081B32F6}"/>
              </a:ext>
            </a:extLst>
          </p:cNvPr>
          <p:cNvSpPr txBox="1"/>
          <p:nvPr/>
        </p:nvSpPr>
        <p:spPr>
          <a:xfrm>
            <a:off x="457200" y="1193753"/>
            <a:ext cx="80467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S</a:t>
            </a:r>
            <a:r>
              <a:rPr lang="en-US" sz="2000" i="0" dirty="0">
                <a:solidFill>
                  <a:srgbClr val="2D3748"/>
                </a:solidFill>
                <a:latin typeface="Calibri"/>
              </a:rPr>
              <a:t>oftware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E</a:t>
            </a:r>
            <a:r>
              <a:rPr lang="en-US" sz="2000" i="0" dirty="0">
                <a:solidFill>
                  <a:srgbClr val="2D3748"/>
                </a:solidFill>
                <a:latin typeface="Calibri"/>
              </a:rPr>
              <a:t>ngineering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F</a:t>
            </a:r>
            <a:r>
              <a:rPr lang="en-US" sz="2000" i="0" dirty="0">
                <a:solidFill>
                  <a:srgbClr val="2D3748"/>
                </a:solidFill>
                <a:latin typeface="Calibri"/>
              </a:rPr>
              <a:t>ramework for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O</a:t>
            </a:r>
            <a:r>
              <a:rPr lang="en-US" sz="2000" i="0" dirty="0">
                <a:solidFill>
                  <a:srgbClr val="2D3748"/>
                </a:solidFill>
                <a:latin typeface="Calibri"/>
              </a:rPr>
              <a:t>ptimization </a:t>
            </a:r>
            <a:r>
              <a:rPr lang="en-US" sz="2000" b="1" i="0" dirty="0">
                <a:solidFill>
                  <a:srgbClr val="2D3748"/>
                </a:solidFill>
                <a:latin typeface="Calibri"/>
              </a:rPr>
              <a:t>P</a:t>
            </a:r>
            <a:r>
              <a:rPr lang="en-US" sz="2000" i="0" dirty="0">
                <a:solidFill>
                  <a:srgbClr val="2D3748"/>
                </a:solidFill>
                <a:latin typeface="Calibri"/>
              </a:rPr>
              <a:t>rograms</a:t>
            </a:r>
          </a:p>
          <a:p>
            <a:pPr algn="l"/>
            <a:endParaRPr lang="en-US" sz="2000" dirty="0">
              <a:solidFill>
                <a:srgbClr val="2D3748"/>
              </a:solidFill>
            </a:endParaRPr>
          </a:p>
          <a:p>
            <a:pPr algn="l"/>
            <a:r>
              <a:rPr lang="en-US" sz="2000" u="sng" dirty="0">
                <a:solidFill>
                  <a:srgbClr val="2D3748"/>
                </a:solidFill>
              </a:rPr>
              <a:t>It comes in 2 versions</a:t>
            </a:r>
            <a:r>
              <a:rPr lang="en-US" sz="2000" dirty="0">
                <a:solidFill>
                  <a:srgbClr val="2D3748"/>
                </a:solidFill>
              </a:rPr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solidFill>
                  <a:srgbClr val="2D3748"/>
                </a:solidFill>
              </a:rPr>
              <a:t>“Starter”: simplified design for non-web applications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solidFill>
                  <a:srgbClr val="2D3748"/>
                </a:solidFill>
              </a:rPr>
              <a:t>“Advanced”: design thought for a web-application in the industry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2D3748"/>
              </a:solidFill>
            </a:endParaRPr>
          </a:p>
          <a:p>
            <a:pPr algn="l"/>
            <a:r>
              <a:rPr lang="en-US" sz="2000" u="sng" dirty="0">
                <a:solidFill>
                  <a:srgbClr val="2D3748"/>
                </a:solidFill>
              </a:rPr>
              <a:t>Benefits</a:t>
            </a:r>
            <a:r>
              <a:rPr lang="en-US" sz="2000" dirty="0">
                <a:solidFill>
                  <a:srgbClr val="2D3748"/>
                </a:solidFill>
              </a:rPr>
              <a:t>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2D3748"/>
                </a:solidFill>
              </a:rPr>
              <a:t>Modularization of main phases of an optimization run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2D3748"/>
                </a:solidFill>
              </a:rPr>
              <a:t>Automatic testing framework included for optimization problems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2D3748"/>
                </a:solidFill>
              </a:rPr>
              <a:t>Solver decoupling from the logic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2D3748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4F0B4A7-98F2-4F16-DD8F-B525DBFC1E77}"/>
              </a:ext>
            </a:extLst>
          </p:cNvPr>
          <p:cNvSpPr/>
          <p:nvPr/>
        </p:nvSpPr>
        <p:spPr>
          <a:xfrm>
            <a:off x="6724997" y="2078926"/>
            <a:ext cx="1255221" cy="328549"/>
          </a:xfrm>
          <a:prstGeom prst="wedgeRectCallout">
            <a:avLst>
              <a:gd name="adj1" fmla="val -63825"/>
              <a:gd name="adj2" fmla="val 2405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Focus today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9010350-1607-0D43-FBA4-81AE455CB7AD}"/>
              </a:ext>
            </a:extLst>
          </p:cNvPr>
          <p:cNvSpPr/>
          <p:nvPr/>
        </p:nvSpPr>
        <p:spPr>
          <a:xfrm>
            <a:off x="6350925" y="3062409"/>
            <a:ext cx="2588028" cy="1609219"/>
          </a:xfrm>
          <a:prstGeom prst="wedgeRectCallout">
            <a:avLst>
              <a:gd name="adj1" fmla="val -37992"/>
              <a:gd name="adj2" fmla="val -6268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Do not take this framework as the </a:t>
            </a:r>
            <a:r>
              <a:rPr lang="en-US" sz="1600" b="1" dirty="0">
                <a:solidFill>
                  <a:schemeClr val="tx1"/>
                </a:solidFill>
              </a:rPr>
              <a:t>only way of achieving modularity and testing</a:t>
            </a:r>
            <a:r>
              <a:rPr lang="en-US" sz="1600" dirty="0">
                <a:solidFill>
                  <a:schemeClr val="tx1"/>
                </a:solidFill>
              </a:rPr>
              <a:t>. Instead, focus on the most important ideas that could benefit your case.</a:t>
            </a:r>
          </a:p>
        </p:txBody>
      </p:sp>
    </p:spTree>
    <p:extLst>
      <p:ext uri="{BB962C8B-B14F-4D97-AF65-F5344CB8AC3E}">
        <p14:creationId xmlns:p14="http://schemas.microsoft.com/office/powerpoint/2010/main" val="231060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46B7-FAC1-94FA-1780-52B2CDDF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ABCCC-1348-69FF-8D4C-BC402B0B8D3B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The Kna</a:t>
            </a:r>
            <a:r>
              <a:rPr lang="en-US" sz="3000" b="1" dirty="0">
                <a:solidFill>
                  <a:srgbClr val="0A1628"/>
                </a:solidFill>
                <a:latin typeface="Calibri"/>
              </a:rPr>
              <a:t>psack problem as an example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432526-A8D0-CE17-C6FA-C4CCCF850887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65F20-AD20-3C1A-C745-3E607143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90B906-57D4-7453-0270-A1A47D29B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916" y="2988351"/>
            <a:ext cx="673574" cy="7086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121B5DA-09DA-0DD4-CF21-D41A1500E960}"/>
              </a:ext>
            </a:extLst>
          </p:cNvPr>
          <p:cNvGrpSpPr/>
          <p:nvPr/>
        </p:nvGrpSpPr>
        <p:grpSpPr>
          <a:xfrm>
            <a:off x="4034395" y="2353886"/>
            <a:ext cx="913674" cy="958274"/>
            <a:chOff x="1332098" y="3250799"/>
            <a:chExt cx="913674" cy="958274"/>
          </a:xfrm>
        </p:grpSpPr>
        <p:pic>
          <p:nvPicPr>
            <p:cNvPr id="12" name="Graphic 11" descr="Taco with solid fill">
              <a:extLst>
                <a:ext uri="{FF2B5EF4-FFF2-40B4-BE49-F238E27FC236}">
                  <a16:creationId xmlns:a16="http://schemas.microsoft.com/office/drawing/2014/main" id="{905224E4-4445-01C7-5230-AE1345C744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9561" y="3250799"/>
              <a:ext cx="457200" cy="457200"/>
            </a:xfrm>
            <a:prstGeom prst="rect">
              <a:avLst/>
            </a:prstGeom>
          </p:spPr>
        </p:pic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7B6BA0C0-23D6-0A85-0A04-8FA4D74E599C}"/>
                </a:ext>
              </a:extLst>
            </p:cNvPr>
            <p:cNvSpPr/>
            <p:nvPr/>
          </p:nvSpPr>
          <p:spPr>
            <a:xfrm>
              <a:off x="1332098" y="3630373"/>
              <a:ext cx="913674" cy="5787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Weight: 1 kg</a:t>
              </a:r>
            </a:p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Calories: 500 Price: 1 </a:t>
              </a:r>
              <a:r>
                <a:rPr lang="en-US" sz="10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usd</a:t>
              </a:r>
              <a:endPara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buSzPct val="100000"/>
              </a:pPr>
              <a:endParaRPr lang="en-US" sz="1000" baseline="30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B8F4B9-7BD7-AA08-0B54-D8CE244045AD}"/>
              </a:ext>
            </a:extLst>
          </p:cNvPr>
          <p:cNvGrpSpPr/>
          <p:nvPr/>
        </p:nvGrpSpPr>
        <p:grpSpPr>
          <a:xfrm>
            <a:off x="5143691" y="2351338"/>
            <a:ext cx="956347" cy="929685"/>
            <a:chOff x="2445230" y="3250799"/>
            <a:chExt cx="956347" cy="929685"/>
          </a:xfrm>
        </p:grpSpPr>
        <p:pic>
          <p:nvPicPr>
            <p:cNvPr id="15" name="Graphic 14" descr="Apple with solid fill">
              <a:extLst>
                <a:ext uri="{FF2B5EF4-FFF2-40B4-BE49-F238E27FC236}">
                  <a16:creationId xmlns:a16="http://schemas.microsoft.com/office/drawing/2014/main" id="{385EC4E8-4BAD-C9E0-CA67-6EC8D266E4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73468" y="3250799"/>
              <a:ext cx="457200" cy="457200"/>
            </a:xfrm>
            <a:prstGeom prst="rect">
              <a:avLst/>
            </a:prstGeom>
          </p:spPr>
        </p:pic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3FA76D60-D5AA-BAAC-AE94-B96306DDB831}"/>
                </a:ext>
              </a:extLst>
            </p:cNvPr>
            <p:cNvSpPr/>
            <p:nvPr/>
          </p:nvSpPr>
          <p:spPr>
            <a:xfrm>
              <a:off x="2445230" y="3635469"/>
              <a:ext cx="956347" cy="5450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Weight: 0.4 kg</a:t>
              </a:r>
            </a:p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Calories: 100 Price: 0.5 </a:t>
              </a:r>
              <a:r>
                <a:rPr lang="en-US" sz="10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usd</a:t>
              </a:r>
              <a:endPara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CA0F9-1648-3C1E-01A1-2E82D141B2F6}"/>
              </a:ext>
            </a:extLst>
          </p:cNvPr>
          <p:cNvGrpSpPr/>
          <p:nvPr/>
        </p:nvGrpSpPr>
        <p:grpSpPr>
          <a:xfrm>
            <a:off x="4013059" y="3570133"/>
            <a:ext cx="956346" cy="1022187"/>
            <a:chOff x="1375954" y="4059153"/>
            <a:chExt cx="956346" cy="1022187"/>
          </a:xfrm>
        </p:grpSpPr>
        <p:pic>
          <p:nvPicPr>
            <p:cNvPr id="18" name="Graphic 17" descr="Ice cream with solid fill">
              <a:extLst>
                <a:ext uri="{FF2B5EF4-FFF2-40B4-BE49-F238E27FC236}">
                  <a16:creationId xmlns:a16="http://schemas.microsoft.com/office/drawing/2014/main" id="{4BD4F394-5D86-E2D5-1914-58BEBDEF09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95032" y="4059153"/>
              <a:ext cx="457200" cy="457200"/>
            </a:xfrm>
            <a:prstGeom prst="rect">
              <a:avLst/>
            </a:prstGeom>
          </p:spPr>
        </p:pic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E415FEBD-1592-F4A5-5870-CCA88325F362}"/>
                </a:ext>
              </a:extLst>
            </p:cNvPr>
            <p:cNvSpPr/>
            <p:nvPr/>
          </p:nvSpPr>
          <p:spPr>
            <a:xfrm>
              <a:off x="1375954" y="4444495"/>
              <a:ext cx="956346" cy="63684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Weight: 0.3 kg</a:t>
              </a:r>
            </a:p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Calories: 600 Price: 2 </a:t>
              </a:r>
              <a:r>
                <a:rPr lang="en-US" sz="10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usd</a:t>
              </a:r>
              <a:endParaRPr lang="en-US" sz="1000" baseline="30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27BD18-E2C2-1A3A-A21D-92DA6075A498}"/>
              </a:ext>
            </a:extLst>
          </p:cNvPr>
          <p:cNvGrpSpPr/>
          <p:nvPr/>
        </p:nvGrpSpPr>
        <p:grpSpPr>
          <a:xfrm>
            <a:off x="5143691" y="3579686"/>
            <a:ext cx="956346" cy="755863"/>
            <a:chOff x="2376805" y="4089438"/>
            <a:chExt cx="956346" cy="755863"/>
          </a:xfrm>
        </p:grpSpPr>
        <p:pic>
          <p:nvPicPr>
            <p:cNvPr id="21" name="Graphic 20" descr="Cheese with solid fill">
              <a:extLst>
                <a:ext uri="{FF2B5EF4-FFF2-40B4-BE49-F238E27FC236}">
                  <a16:creationId xmlns:a16="http://schemas.microsoft.com/office/drawing/2014/main" id="{C963EAD1-E9DA-4EF9-1F10-9B929330E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78998" y="4089438"/>
              <a:ext cx="457200" cy="457200"/>
            </a:xfrm>
            <a:prstGeom prst="rect">
              <a:avLst/>
            </a:prstGeom>
          </p:spPr>
        </p:pic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3F1EE849-A36A-9613-2565-CDB49A3E7D8A}"/>
                </a:ext>
              </a:extLst>
            </p:cNvPr>
            <p:cNvSpPr/>
            <p:nvPr/>
          </p:nvSpPr>
          <p:spPr>
            <a:xfrm>
              <a:off x="2376805" y="4455674"/>
              <a:ext cx="956346" cy="38962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Weight: 2 kg</a:t>
              </a:r>
            </a:p>
            <a:p>
              <a:pPr>
                <a:buSzPct val="100000"/>
              </a:pPr>
              <a:r>
                <a:rPr lang="en-US" sz="10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Calories: 1000 Price: 3 </a:t>
              </a:r>
              <a:r>
                <a:rPr lang="en-US" sz="10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usd</a:t>
              </a:r>
              <a:endParaRPr lang="en-US" sz="1000" baseline="30000" dirty="0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149E7F5-B938-6B4D-65C6-6015F04A899F}"/>
              </a:ext>
            </a:extLst>
          </p:cNvPr>
          <p:cNvSpPr/>
          <p:nvPr/>
        </p:nvSpPr>
        <p:spPr>
          <a:xfrm>
            <a:off x="2695171" y="2082592"/>
            <a:ext cx="3630815" cy="265216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4FB3569-3539-A758-7E95-5BF12D09EABF}"/>
              </a:ext>
            </a:extLst>
          </p:cNvPr>
          <p:cNvSpPr/>
          <p:nvPr/>
        </p:nvSpPr>
        <p:spPr>
          <a:xfrm>
            <a:off x="1898504" y="1297531"/>
            <a:ext cx="5442990" cy="661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700"/>
              </a:spcAft>
              <a:buSzPct val="100000"/>
            </a:pPr>
            <a:r>
              <a:rPr lang="en-US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items to select to maximize the calories without exceeding the capacity and budget?</a:t>
            </a:r>
            <a:endParaRPr lang="en-US" baseline="300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2A9EBC26-1FC5-F94D-E4BC-B3D500EF7AC3}"/>
              </a:ext>
            </a:extLst>
          </p:cNvPr>
          <p:cNvSpPr/>
          <p:nvPr/>
        </p:nvSpPr>
        <p:spPr>
          <a:xfrm>
            <a:off x="2897277" y="3751108"/>
            <a:ext cx="956345" cy="389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1 kg</a:t>
            </a:r>
          </a:p>
          <a:p>
            <a:pPr>
              <a:buSzPct val="100000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10 </a:t>
            </a:r>
            <a:r>
              <a:rPr lang="en-US" sz="10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1599207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FA4C-03B9-6E42-9FE9-15667BB4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0F342F-C91D-D458-39D1-EBDCCA136F55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F80FE3-A397-4373-F168-E0FE3ED5F5F1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5ACF9-4F5F-29C5-7B26-D6D79249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F2E7FF-A5E4-A000-1BE0-92FFDA28EC0C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10D61-1041-6890-F3B2-BF2EC6C28F9B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F8DB0-95D1-7DC6-B872-84BFB19496D1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B5910-4FBB-95BB-CF7D-5D73D087FC32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24423-2E4E-A28E-C6AE-D77611CCB2E6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DC4E8-C20E-16A4-9473-EFBA1A00CEA0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76E69-424E-1AB0-2A24-A748443DC6FA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6450BDF-4C85-0968-FD8A-6C754CC9ABE8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792585A-C895-3571-2E5C-0BC9B8E5B05B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2778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6E16-2956-BDC0-4AD5-B97ACFD4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76D005-BCFA-081A-0A4E-F4DCB38AEA56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E3C26-58F3-3773-67A7-E9C4D66878B4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6D509-30F4-5E07-C507-3BC970F3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7DCE74B-A984-33CE-E62B-2788D6D83250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B7297-4AE9-3592-E021-3FA491D6250B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DE3BB2-04DB-D5F9-EED7-A32CB5F33836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89C35-5BD1-BF3A-D3CC-9EF370DB072C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1DE5E7-8A80-BD84-C677-BCC29DEB97BA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A668F2-D7E3-4731-4B5B-9E0BFAAA0702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E2231-11B4-22D1-FF5C-CAFD237E790F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7729DAE-9BCE-C2CA-1941-665408D9681E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3AA9BB7-68F1-8029-65EA-882458A4ACDE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3B8DEF0-BCCF-B075-8AF1-9DC9D323B63D}"/>
              </a:ext>
            </a:extLst>
          </p:cNvPr>
          <p:cNvSpPr/>
          <p:nvPr/>
        </p:nvSpPr>
        <p:spPr>
          <a:xfrm>
            <a:off x="707029" y="2388869"/>
            <a:ext cx="3693829" cy="1669571"/>
          </a:xfrm>
          <a:prstGeom prst="wedgeRectCallout">
            <a:avLst>
              <a:gd name="adj1" fmla="val -54758"/>
              <a:gd name="adj2" fmla="val -2236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Everything starts from the command line interface (CLI).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This repo offers a single </a:t>
            </a:r>
            <a:r>
              <a:rPr lang="en-US" sz="1600" b="1" dirty="0">
                <a:solidFill>
                  <a:schemeClr val="tx1"/>
                </a:solidFill>
              </a:rPr>
              <a:t>service</a:t>
            </a:r>
            <a:r>
              <a:rPr lang="en-US" sz="1600" dirty="0">
                <a:solidFill>
                  <a:schemeClr val="tx1"/>
                </a:solidFill>
              </a:rPr>
              <a:t> or “</a:t>
            </a:r>
            <a:r>
              <a:rPr lang="en-US" sz="1600" b="1" dirty="0">
                <a:solidFill>
                  <a:schemeClr val="tx1"/>
                </a:solidFill>
              </a:rPr>
              <a:t>use case</a:t>
            </a:r>
            <a:r>
              <a:rPr lang="en-US" sz="1600" dirty="0">
                <a:solidFill>
                  <a:schemeClr val="tx1"/>
                </a:solidFill>
              </a:rPr>
              <a:t>”: solve 1 knapsack optimization problem.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657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E050-983A-DDB1-924C-76F62F2D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5314FE-E644-3C68-AB24-1396ACF6ED94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EAEC3-1767-0E8C-407A-F0D08D5AFD24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F32B7-BBE8-123D-AB35-47FB9EA3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77193BD-7E14-93E6-5A8B-AD7D672C5D19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99232-5F5C-B100-F9DB-850B2FC3DBE4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3955E-5B1F-30F6-CC5B-F337813CEB95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32DC51-81C8-5D55-19BE-9024A5DD7AF9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2481BC-32AB-CFA8-3E5E-05897B31DF0F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27C81-E5FC-C959-4463-83F3B545BF6C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D708A2-E494-EA9F-737F-08143AB52656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9C334AFB-82DE-1964-FC3A-416C4A05335A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EE27022-1E3E-C487-E4AC-27DF53C497F9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7923E17-AB4F-5D61-E8AD-4E82581A9815}"/>
              </a:ext>
            </a:extLst>
          </p:cNvPr>
          <p:cNvSpPr/>
          <p:nvPr/>
        </p:nvSpPr>
        <p:spPr>
          <a:xfrm>
            <a:off x="2125079" y="2915690"/>
            <a:ext cx="3693829" cy="1945178"/>
          </a:xfrm>
          <a:prstGeom prst="wedgeRectCallout">
            <a:avLst>
              <a:gd name="adj1" fmla="val -52845"/>
              <a:gd name="adj2" fmla="val -22941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u="sng" dirty="0">
                <a:solidFill>
                  <a:schemeClr val="tx1"/>
                </a:solidFill>
              </a:rPr>
              <a:t>Output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>
                <a:solidFill>
                  <a:schemeClr val="tx1"/>
                </a:solidFill>
              </a:rPr>
              <a:t>Request</a:t>
            </a:r>
            <a:r>
              <a:rPr lang="en-US" sz="1600" dirty="0">
                <a:solidFill>
                  <a:schemeClr val="tx1"/>
                </a:solidFill>
              </a:rPr>
              <a:t>, which is part of the </a:t>
            </a:r>
            <a:r>
              <a:rPr lang="en-US" sz="1600" b="1" dirty="0">
                <a:solidFill>
                  <a:schemeClr val="tx1"/>
                </a:solidFill>
              </a:rPr>
              <a:t>Domain</a:t>
            </a:r>
            <a:r>
              <a:rPr lang="en-US" sz="1600" dirty="0">
                <a:solidFill>
                  <a:schemeClr val="tx1"/>
                </a:solidFill>
              </a:rPr>
              <a:t> of the problem.</a:t>
            </a:r>
            <a:endParaRPr lang="en-US" sz="1600" b="1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Go to the code and see the domain:</a:t>
            </a:r>
          </a:p>
          <a:p>
            <a:r>
              <a:rPr lang="en-US" sz="1600" dirty="0">
                <a:solidFill>
                  <a:schemeClr val="tx1"/>
                </a:solidFill>
                <a:hlinkClick r:id="rId3"/>
              </a:rPr>
              <a:t>https://github.com/sefop/sefop-python-starter/tree/main/src/domain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28D0210-52D5-C113-6E94-7AA2088289BB}"/>
              </a:ext>
            </a:extLst>
          </p:cNvPr>
          <p:cNvSpPr/>
          <p:nvPr/>
        </p:nvSpPr>
        <p:spPr>
          <a:xfrm>
            <a:off x="2125079" y="889982"/>
            <a:ext cx="3693829" cy="1945178"/>
          </a:xfrm>
          <a:prstGeom prst="wedgeRectCallout">
            <a:avLst>
              <a:gd name="adj1" fmla="val -53520"/>
              <a:gd name="adj2" fmla="val -456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u="sng" dirty="0">
                <a:solidFill>
                  <a:schemeClr val="tx1"/>
                </a:solidFill>
              </a:rPr>
              <a:t>Input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Any data source. It could be JSON, XLSX, TXT, it does not matter.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This module is responsible for </a:t>
            </a:r>
            <a:r>
              <a:rPr lang="en-US" sz="1600" b="1" dirty="0">
                <a:solidFill>
                  <a:schemeClr val="tx1"/>
                </a:solidFill>
              </a:rPr>
              <a:t>hiding that complexity </a:t>
            </a:r>
            <a:r>
              <a:rPr lang="en-US" sz="1600" dirty="0">
                <a:solidFill>
                  <a:schemeClr val="tx1"/>
                </a:solidFill>
              </a:rPr>
              <a:t>to its client: the </a:t>
            </a:r>
            <a:r>
              <a:rPr lang="en-US" sz="1600" dirty="0" err="1">
                <a:solidFill>
                  <a:schemeClr val="tx1"/>
                </a:solidFill>
              </a:rPr>
              <a:t>PreProcessing</a:t>
            </a:r>
            <a:r>
              <a:rPr lang="en-US" sz="1600" dirty="0">
                <a:solidFill>
                  <a:schemeClr val="tx1"/>
                </a:solidFill>
              </a:rPr>
              <a:t> module.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360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B166-5C8D-F55A-3AAB-D008A622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2EB605-2EF9-FD20-05F7-9F56CEA04F2C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8D50F-8429-D2AE-613D-41E1F48BF855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5659-4862-687F-1966-C1209842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0E0A8FE-BFBB-00E4-DBEE-54449BE6C23C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120B1D-A311-BA7D-465E-1A1F605BECD3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09A83-6F3F-0DD8-9FCA-D7619F70FF5C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39EF5-4DFA-2B29-8E1F-61A33741CB36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2DCCD-0538-C11B-C624-4A2175B88B5E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F2B9D-A5F5-BB34-989C-A074736C2B95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EFD2F-CBA2-3731-EFAE-03AB59D23F8B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3E0F375-9585-666B-3A0E-9F7F37E9103A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F456BA4-097B-249E-09F6-65A405874B4E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E5249940-3BD0-91A8-FC6A-17B7DE9DBF81}"/>
              </a:ext>
            </a:extLst>
          </p:cNvPr>
          <p:cNvSpPr/>
          <p:nvPr/>
        </p:nvSpPr>
        <p:spPr>
          <a:xfrm>
            <a:off x="4133004" y="1593293"/>
            <a:ext cx="3414951" cy="2353867"/>
          </a:xfrm>
          <a:prstGeom prst="wedgeRectCallout">
            <a:avLst>
              <a:gd name="adj1" fmla="val -55746"/>
              <a:gd name="adj2" fmla="val -2132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u="sng" dirty="0">
                <a:solidFill>
                  <a:schemeClr val="tx1"/>
                </a:solidFill>
              </a:rPr>
              <a:t>Input: 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tx1"/>
                </a:solidFill>
              </a:rPr>
              <a:t>Request</a:t>
            </a:r>
            <a:r>
              <a:rPr lang="en-US" sz="1600" dirty="0">
                <a:solidFill>
                  <a:schemeClr val="tx1"/>
                </a:solidFill>
              </a:rPr>
              <a:t> object incoming from Data Loading.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u="sng" dirty="0">
                <a:solidFill>
                  <a:schemeClr val="tx1"/>
                </a:solidFill>
              </a:rPr>
              <a:t>Output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 err="1">
                <a:solidFill>
                  <a:schemeClr val="tx1"/>
                </a:solidFill>
              </a:rPr>
              <a:t>PreProcessedData</a:t>
            </a:r>
            <a:r>
              <a:rPr lang="en-US" sz="1600" dirty="0">
                <a:solidFill>
                  <a:schemeClr val="tx1"/>
                </a:solidFill>
              </a:rPr>
              <a:t> object that applied your business rules for cleaning and transformation.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439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0622-7DBE-03F8-4798-F8947E2B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16DAD-7283-5846-FC9E-3FC619E62E01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A07EC2-69B2-0DC0-DB53-3B5AB3CD3D3B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A94E3-0D0A-C7EC-2501-D5F2A335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1BAE9EE-DDCE-D1EB-9F38-2D694F0949B4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A7114-2D4E-E587-49BC-BD06EB1E6A36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3333F-41E5-3AA1-BD03-DBFD52A293CB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998B9-ABB0-4DF0-43DC-95AB59F746A5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9D906-FEB1-B618-EA7E-151F16341252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E2A29-D89D-39A9-B04D-FF7C7BF1C34E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8E927-29A8-3284-3ECC-7ECC57F46951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71CF9A96-2797-C110-7FD5-92A6416E151A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42F8D07-9574-E131-0B70-339C00D1B8EF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E454D82B-754B-78D6-C247-5F6481CF7EF1}"/>
              </a:ext>
            </a:extLst>
          </p:cNvPr>
          <p:cNvSpPr/>
          <p:nvPr/>
        </p:nvSpPr>
        <p:spPr>
          <a:xfrm>
            <a:off x="384047" y="828318"/>
            <a:ext cx="3882771" cy="4040862"/>
          </a:xfrm>
          <a:prstGeom prst="wedgeRectCallout">
            <a:avLst>
              <a:gd name="adj1" fmla="val 59026"/>
              <a:gd name="adj2" fmla="val -2269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u="sng" dirty="0">
                <a:solidFill>
                  <a:schemeClr val="tx1"/>
                </a:solidFill>
              </a:rPr>
              <a:t>Input: 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 err="1">
                <a:solidFill>
                  <a:schemeClr val="tx1"/>
                </a:solidFill>
              </a:rPr>
              <a:t>PreProcessedData</a:t>
            </a:r>
            <a:r>
              <a:rPr lang="en-US" sz="1600" dirty="0">
                <a:solidFill>
                  <a:schemeClr val="tx1"/>
                </a:solidFill>
              </a:rPr>
              <a:t> object.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Note: this module </a:t>
            </a:r>
            <a:r>
              <a:rPr lang="en-US" sz="1600" b="1" dirty="0">
                <a:solidFill>
                  <a:schemeClr val="tx1"/>
                </a:solidFill>
              </a:rPr>
              <a:t>hides the complexity </a:t>
            </a:r>
            <a:r>
              <a:rPr lang="en-US" sz="1600" dirty="0">
                <a:solidFill>
                  <a:schemeClr val="tx1"/>
                </a:solidFill>
              </a:rPr>
              <a:t>of solving the problem. Nobody knows how the knapsack is solved, except this module. Thus, </a:t>
            </a:r>
            <a:r>
              <a:rPr lang="en-US" sz="1600" b="1" dirty="0">
                <a:solidFill>
                  <a:schemeClr val="tx1"/>
                </a:solidFill>
              </a:rPr>
              <a:t>the optimization module is decoupled from other modules</a:t>
            </a:r>
            <a:r>
              <a:rPr lang="en-US" sz="1600" dirty="0">
                <a:solidFill>
                  <a:schemeClr val="tx1"/>
                </a:solidFill>
              </a:rPr>
              <a:t>. If you wanted to add a new method (ex: Dynamic Programming), the only change would be on this module.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Design: uses a strategy pattern.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u="sng" dirty="0">
                <a:solidFill>
                  <a:schemeClr val="tx1"/>
                </a:solidFill>
              </a:rPr>
              <a:t>Output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 err="1">
                <a:solidFill>
                  <a:schemeClr val="tx1"/>
                </a:solidFill>
              </a:rPr>
              <a:t>Recomendation</a:t>
            </a:r>
            <a:r>
              <a:rPr lang="en-US" sz="1600" dirty="0">
                <a:solidFill>
                  <a:schemeClr val="tx1"/>
                </a:solidFill>
              </a:rPr>
              <a:t> object (part of the Domain). 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924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9714-6E42-3ABE-160E-3976D2D5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7475B5-8222-14E7-7490-C2CE57A21B0F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94E1-5FE6-04BD-000C-028347EB0D21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19516-393F-60EE-5040-14DCADF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8DFCA9A-ED93-8D14-F245-41BAAC0E0477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7940E-BDE8-233C-83A1-1028183A1E6D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CE7E4-AEAC-BFA1-3193-CF53C5CBAF59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39829-64AC-7AFD-7EA9-8EA677A88A57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49E55-4C54-A197-2691-E2A8286431A6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5E317-D513-3400-ACFC-05636E98007F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40E61-0C36-5CA9-A2F8-A0D65455F0FD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1AA4F59-A4E5-BED7-C5A9-55E14A42A5F6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8C4E990-A68F-A831-0339-38785054DC7B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2AA561AD-EA3C-AB2E-3175-48CFE6AC2127}"/>
              </a:ext>
            </a:extLst>
          </p:cNvPr>
          <p:cNvSpPr/>
          <p:nvPr/>
        </p:nvSpPr>
        <p:spPr>
          <a:xfrm>
            <a:off x="384047" y="1091766"/>
            <a:ext cx="3882771" cy="3340970"/>
          </a:xfrm>
          <a:prstGeom prst="wedgeRectCallout">
            <a:avLst>
              <a:gd name="adj1" fmla="val 57527"/>
              <a:gd name="adj2" fmla="val -2488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To provide </a:t>
            </a:r>
            <a:r>
              <a:rPr lang="en-US" sz="1600" b="1" dirty="0">
                <a:solidFill>
                  <a:schemeClr val="tx1"/>
                </a:solidFill>
              </a:rPr>
              <a:t>testability</a:t>
            </a:r>
            <a:r>
              <a:rPr lang="en-US" sz="1600" dirty="0">
                <a:solidFill>
                  <a:schemeClr val="tx1"/>
                </a:solidFill>
              </a:rPr>
              <a:t> to the optimization module: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Separate the build phase from the solve phase.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build phase: outputs a model formulation (100% deterministic and testable).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solve phase: calls a solver (</a:t>
            </a:r>
            <a:r>
              <a:rPr lang="en-US" sz="1600" dirty="0" err="1">
                <a:solidFill>
                  <a:schemeClr val="tx1"/>
                </a:solidFill>
              </a:rPr>
              <a:t>gurobi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xpress</a:t>
            </a:r>
            <a:r>
              <a:rPr lang="en-US" sz="1600" dirty="0">
                <a:solidFill>
                  <a:schemeClr val="tx1"/>
                </a:solidFill>
              </a:rPr>
              <a:t>, other) and outputs a solution.</a:t>
            </a:r>
          </a:p>
        </p:txBody>
      </p:sp>
    </p:spTree>
    <p:extLst>
      <p:ext uri="{BB962C8B-B14F-4D97-AF65-F5344CB8AC3E}">
        <p14:creationId xmlns:p14="http://schemas.microsoft.com/office/powerpoint/2010/main" val="1802319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3442-8049-F190-FBCC-B826AE14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8A07D-93E2-56CF-7B95-3CDF395F3833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Overview of SEFOP design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4265A-A3E4-8A26-522E-A5E4681CA5FA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C0FAC-5E81-3AD0-08B8-CBD225BF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CEFEE27-2009-5658-0595-E0F96C6FC561}"/>
              </a:ext>
            </a:extLst>
          </p:cNvPr>
          <p:cNvSpPr/>
          <p:nvPr/>
        </p:nvSpPr>
        <p:spPr>
          <a:xfrm>
            <a:off x="106680" y="2754630"/>
            <a:ext cx="8930640" cy="4000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546050-757A-4D85-D52D-A6A3F4B7A1AF}"/>
              </a:ext>
            </a:extLst>
          </p:cNvPr>
          <p:cNvSpPr/>
          <p:nvPr/>
        </p:nvSpPr>
        <p:spPr>
          <a:xfrm>
            <a:off x="765048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loading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input data from different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Uses a Data Model to abstract the sources.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64938-3B97-680C-824C-8F186BA768EB}"/>
              </a:ext>
            </a:extLst>
          </p:cNvPr>
          <p:cNvSpPr/>
          <p:nvPr/>
        </p:nvSpPr>
        <p:spPr>
          <a:xfrm>
            <a:off x="2596134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transformation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C0A9E-CD7F-CDE2-C53C-75DC556DDF7F}"/>
              </a:ext>
            </a:extLst>
          </p:cNvPr>
          <p:cNvSpPr/>
          <p:nvPr/>
        </p:nvSpPr>
        <p:spPr>
          <a:xfrm>
            <a:off x="4427220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Optimization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6BDD1-87AB-3B68-A129-AC272573F76B}"/>
              </a:ext>
            </a:extLst>
          </p:cNvPr>
          <p:cNvSpPr/>
          <p:nvPr/>
        </p:nvSpPr>
        <p:spPr>
          <a:xfrm>
            <a:off x="6258306" y="1699263"/>
            <a:ext cx="1645920" cy="21259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Postprocessing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 solutions to be sent to the 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Transform solution to final business representation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22450-F342-A960-C739-57A0D213A4E3}"/>
              </a:ext>
            </a:extLst>
          </p:cNvPr>
          <p:cNvSpPr txBox="1"/>
          <p:nvPr/>
        </p:nvSpPr>
        <p:spPr>
          <a:xfrm>
            <a:off x="53957" y="2347829"/>
            <a:ext cx="660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</a:p>
          <a:p>
            <a:pPr algn="ctr"/>
            <a:r>
              <a:rPr lang="en-US" sz="1200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F8C3B-13A8-B7AF-AFFD-B1F6EDF89CFC}"/>
              </a:ext>
            </a:extLst>
          </p:cNvPr>
          <p:cNvSpPr txBox="1"/>
          <p:nvPr/>
        </p:nvSpPr>
        <p:spPr>
          <a:xfrm>
            <a:off x="7904226" y="2284699"/>
            <a:ext cx="126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Business</a:t>
            </a:r>
          </a:p>
          <a:p>
            <a:pPr algn="ctr"/>
            <a:r>
              <a:rPr lang="en-US" sz="1200" dirty="0"/>
              <a:t>recommendation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961B917-BDAE-1BB2-A1E9-97C8CD853CD0}"/>
              </a:ext>
            </a:extLst>
          </p:cNvPr>
          <p:cNvSpPr/>
          <p:nvPr/>
        </p:nvSpPr>
        <p:spPr>
          <a:xfrm>
            <a:off x="384047" y="10850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4 phases of an optimization request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0A48B77-6E7D-945D-C0E8-3ECE63FD5332}"/>
              </a:ext>
            </a:extLst>
          </p:cNvPr>
          <p:cNvSpPr/>
          <p:nvPr/>
        </p:nvSpPr>
        <p:spPr>
          <a:xfrm>
            <a:off x="608768" y="4169288"/>
            <a:ext cx="7936716" cy="56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Separation of concerns    	✅ Testable modules	    ✅ Simple interfaces 	       ✅ Solver agnostic</a:t>
            </a:r>
            <a:endParaRPr lang="en-US" sz="14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C9CF3278-3109-C5C2-E319-C428C7FA15FB}"/>
              </a:ext>
            </a:extLst>
          </p:cNvPr>
          <p:cNvSpPr/>
          <p:nvPr/>
        </p:nvSpPr>
        <p:spPr>
          <a:xfrm>
            <a:off x="2115502" y="1037591"/>
            <a:ext cx="3882771" cy="3417546"/>
          </a:xfrm>
          <a:prstGeom prst="wedgeRectCallout">
            <a:avLst>
              <a:gd name="adj1" fmla="val 59026"/>
              <a:gd name="adj2" fmla="val -2269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u="sng" dirty="0">
                <a:solidFill>
                  <a:schemeClr val="tx1"/>
                </a:solidFill>
              </a:rPr>
              <a:t>Input: 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tx1"/>
                </a:solidFill>
              </a:rPr>
              <a:t>Recommendation</a:t>
            </a:r>
            <a:r>
              <a:rPr lang="en-US" sz="1600" dirty="0">
                <a:solidFill>
                  <a:schemeClr val="tx1"/>
                </a:solidFill>
              </a:rPr>
              <a:t> object coming from the Optimization.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Note: this module is the last step of the pipeline and contains logic out of the scope of the optimization. Example: show the solution in a different way that considers users-preferences or risk.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u="sng" dirty="0">
                <a:solidFill>
                  <a:schemeClr val="tx1"/>
                </a:solidFill>
              </a:rPr>
              <a:t>Output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600" b="1" dirty="0" err="1">
                <a:solidFill>
                  <a:schemeClr val="tx1"/>
                </a:solidFill>
              </a:rPr>
              <a:t>Recomendation</a:t>
            </a:r>
            <a:r>
              <a:rPr lang="en-US" sz="1600" dirty="0">
                <a:solidFill>
                  <a:schemeClr val="tx1"/>
                </a:solidFill>
              </a:rPr>
              <a:t> object (part of the Domain). 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126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4469-AAF6-42C8-154F-BBDD5BB65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03D55-2DE3-92BF-DFF4-BE1ECB59631D}"/>
              </a:ext>
            </a:extLst>
          </p:cNvPr>
          <p:cNvSpPr txBox="1"/>
          <p:nvPr/>
        </p:nvSpPr>
        <p:spPr>
          <a:xfrm>
            <a:off x="457200" y="2743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A1628"/>
                </a:solidFill>
                <a:latin typeface="Calibri"/>
              </a:rPr>
              <a:t>Your tasks</a:t>
            </a:r>
            <a:endParaRPr sz="3000" b="1" i="0" dirty="0">
              <a:solidFill>
                <a:srgbClr val="0A1628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EADAD-BECF-6257-3845-A4E449593BAD}"/>
              </a:ext>
            </a:extLst>
          </p:cNvPr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66410-4457-840D-8D87-CA938CD5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3187A-5415-14EA-4810-C84C5E850C1A}"/>
              </a:ext>
            </a:extLst>
          </p:cNvPr>
          <p:cNvSpPr txBox="1"/>
          <p:nvPr/>
        </p:nvSpPr>
        <p:spPr>
          <a:xfrm>
            <a:off x="457200" y="1106667"/>
            <a:ext cx="80467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Fork the repo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Run it locally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Create a branch with your name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Create a new request within the folder ./data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Create a new constraint with its unit tests (be creative!) (ex: create a constraint that prohibits products with calories &lt; 60)</a:t>
            </a:r>
          </a:p>
          <a:p>
            <a:pPr marL="457200" indent="-457200" algn="l">
              <a:buAutoNum type="arabicPeriod"/>
            </a:pPr>
            <a:endParaRPr lang="en-US" sz="2000" dirty="0">
              <a:solidFill>
                <a:srgbClr val="2D3748"/>
              </a:solidFill>
              <a:latin typeface="Calibri"/>
            </a:endParaRPr>
          </a:p>
          <a:p>
            <a:pPr marL="457200" indent="-457200" algn="l">
              <a:buAutoNum type="arabicPeriod"/>
            </a:pPr>
            <a:r>
              <a:rPr lang="en-US" sz="2000" dirty="0">
                <a:solidFill>
                  <a:srgbClr val="2D3748"/>
                </a:solidFill>
                <a:latin typeface="Calibri"/>
              </a:rPr>
              <a:t>Submit a PR and watch the tests pass</a:t>
            </a:r>
            <a:endParaRPr lang="en-US" sz="2000" dirty="0">
              <a:solidFill>
                <a:srgbClr val="2D3748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2D3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5577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62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 dirty="0">
                <a:solidFill>
                  <a:srgbClr val="0A1628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20" y="1554480"/>
            <a:ext cx="8229600" cy="36576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65BAB-B7AA-9168-ED59-AC258553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FC925-3049-5023-F37C-B488F0DDAD12}"/>
              </a:ext>
            </a:extLst>
          </p:cNvPr>
          <p:cNvSpPr txBox="1"/>
          <p:nvPr/>
        </p:nvSpPr>
        <p:spPr>
          <a:xfrm>
            <a:off x="441960" y="29506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https://forms.gle/Ajp2wa3kgcDhyGDW7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00993-E833-5B49-EE01-049E21D98E6E}"/>
              </a:ext>
            </a:extLst>
          </p:cNvPr>
          <p:cNvSpPr txBox="1"/>
          <p:nvPr/>
        </p:nvSpPr>
        <p:spPr>
          <a:xfrm>
            <a:off x="441960" y="25290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D3748"/>
                </a:solidFill>
                <a:latin typeface="Calibri"/>
              </a:rPr>
              <a:t>Provide your feedback here please: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F567CB-A713-ABEE-D8FF-DB8361AC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2590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3374</Words>
  <Application>Microsoft Office PowerPoint</Application>
  <PresentationFormat>On-screen Show (16:9)</PresentationFormat>
  <Paragraphs>653</Paragraphs>
  <Slides>47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Microsoft GothicNeo Light</vt:lpstr>
      <vt:lpstr>Aptos</vt:lpstr>
      <vt:lpstr>Arial</vt:lpstr>
      <vt:lpstr>Calibri</vt:lpstr>
      <vt:lpstr>Consolas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Zenteno Smith</cp:lastModifiedBy>
  <cp:revision>159</cp:revision>
  <dcterms:created xsi:type="dcterms:W3CDTF">2013-01-27T09:14:16Z</dcterms:created>
  <dcterms:modified xsi:type="dcterms:W3CDTF">2026-06-29T18:28:10Z</dcterms:modified>
  <cp:category/>
</cp:coreProperties>
</file>