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4"/>
  </p:notesMasterIdLst>
  <p:sldIdLst>
    <p:sldId id="256" r:id="rId2"/>
    <p:sldId id="257" r:id="rId3"/>
    <p:sldId id="258" r:id="rId4"/>
    <p:sldId id="290" r:id="rId5"/>
    <p:sldId id="259" r:id="rId6"/>
    <p:sldId id="260" r:id="rId7"/>
    <p:sldId id="262" r:id="rId8"/>
    <p:sldId id="265" r:id="rId9"/>
    <p:sldId id="280" r:id="rId10"/>
    <p:sldId id="281" r:id="rId11"/>
    <p:sldId id="283" r:id="rId12"/>
    <p:sldId id="284" r:id="rId13"/>
    <p:sldId id="285" r:id="rId14"/>
    <p:sldId id="286" r:id="rId15"/>
    <p:sldId id="266" r:id="rId16"/>
    <p:sldId id="267" r:id="rId17"/>
    <p:sldId id="289" r:id="rId18"/>
    <p:sldId id="287" r:id="rId19"/>
    <p:sldId id="268" r:id="rId20"/>
    <p:sldId id="291" r:id="rId21"/>
    <p:sldId id="269" r:id="rId22"/>
    <p:sldId id="270" r:id="rId23"/>
    <p:sldId id="272" r:id="rId24"/>
    <p:sldId id="273" r:id="rId25"/>
    <p:sldId id="293" r:id="rId26"/>
    <p:sldId id="295" r:id="rId27"/>
    <p:sldId id="296" r:id="rId28"/>
    <p:sldId id="297" r:id="rId29"/>
    <p:sldId id="274" r:id="rId30"/>
    <p:sldId id="298" r:id="rId31"/>
    <p:sldId id="275" r:id="rId32"/>
    <p:sldId id="301" r:id="rId33"/>
    <p:sldId id="299" r:id="rId34"/>
    <p:sldId id="276" r:id="rId35"/>
    <p:sldId id="300" r:id="rId36"/>
    <p:sldId id="278" r:id="rId37"/>
    <p:sldId id="303" r:id="rId38"/>
    <p:sldId id="304" r:id="rId39"/>
    <p:sldId id="305" r:id="rId40"/>
    <p:sldId id="306" r:id="rId41"/>
    <p:sldId id="307" r:id="rId42"/>
    <p:sldId id="279" r:id="rId43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8983" autoAdjust="0"/>
  </p:normalViewPr>
  <p:slideViewPr>
    <p:cSldViewPr snapToGrid="0" snapToObjects="1">
      <p:cViewPr varScale="1">
        <p:scale>
          <a:sx n="92" d="100"/>
          <a:sy n="92" d="100"/>
        </p:scale>
        <p:origin x="1114" y="7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E9B7D80-9A1B-459B-ADCD-49EFEE497B73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376DFAB4-4C9C-4453-833B-22B2A19EB338}">
      <dgm:prSet phldrT="[Text]" phldr="0" custT="1"/>
      <dgm:spPr/>
      <dgm:t>
        <a:bodyPr/>
        <a:lstStyle/>
        <a:p>
          <a:r>
            <a:rPr lang="en-US" sz="4000" b="1" dirty="0"/>
            <a:t>Adapt</a:t>
          </a:r>
        </a:p>
      </dgm:t>
    </dgm:pt>
    <dgm:pt modelId="{C0A306D7-42E9-45E8-BD4B-7B95BF673B5F}" type="parTrans" cxnId="{54C35C5D-9990-48AC-B043-F9EE02B63494}">
      <dgm:prSet/>
      <dgm:spPr/>
      <dgm:t>
        <a:bodyPr/>
        <a:lstStyle/>
        <a:p>
          <a:endParaRPr lang="en-US"/>
        </a:p>
      </dgm:t>
    </dgm:pt>
    <dgm:pt modelId="{9BF2DF7C-CCEB-4445-A14A-425E2A57FC2D}" type="sibTrans" cxnId="{54C35C5D-9990-48AC-B043-F9EE02B63494}">
      <dgm:prSet/>
      <dgm:spPr/>
      <dgm:t>
        <a:bodyPr/>
        <a:lstStyle/>
        <a:p>
          <a:endParaRPr lang="en-US"/>
        </a:p>
      </dgm:t>
    </dgm:pt>
    <dgm:pt modelId="{27DD6F7D-55BA-4AC1-975C-DF728B056618}">
      <dgm:prSet phldrT="[Text]" phldr="0" custT="1"/>
      <dgm:spPr/>
      <dgm:t>
        <a:bodyPr/>
        <a:lstStyle/>
        <a:p>
          <a:r>
            <a:rPr lang="en-US" sz="4000" b="1" dirty="0"/>
            <a:t>Learn</a:t>
          </a:r>
          <a:endParaRPr lang="en-US" sz="4400" b="1" dirty="0"/>
        </a:p>
      </dgm:t>
    </dgm:pt>
    <dgm:pt modelId="{C3C755E6-8ADA-4941-8AF7-201321C974DD}" type="parTrans" cxnId="{73E8E2D4-62B0-4FA4-BE4F-936E724A546B}">
      <dgm:prSet/>
      <dgm:spPr/>
      <dgm:t>
        <a:bodyPr/>
        <a:lstStyle/>
        <a:p>
          <a:endParaRPr lang="en-US"/>
        </a:p>
      </dgm:t>
    </dgm:pt>
    <dgm:pt modelId="{792B36C3-79A5-414B-AE18-146518492D70}" type="sibTrans" cxnId="{73E8E2D4-62B0-4FA4-BE4F-936E724A546B}">
      <dgm:prSet/>
      <dgm:spPr/>
      <dgm:t>
        <a:bodyPr/>
        <a:lstStyle/>
        <a:p>
          <a:endParaRPr lang="en-US"/>
        </a:p>
      </dgm:t>
    </dgm:pt>
    <dgm:pt modelId="{12019EC4-D26C-4A7E-837D-21CC1D6BF0E0}" type="pres">
      <dgm:prSet presAssocID="{FE9B7D80-9A1B-459B-ADCD-49EFEE497B73}" presName="cycle" presStyleCnt="0">
        <dgm:presLayoutVars>
          <dgm:dir/>
          <dgm:resizeHandles val="exact"/>
        </dgm:presLayoutVars>
      </dgm:prSet>
      <dgm:spPr/>
    </dgm:pt>
    <dgm:pt modelId="{73274EA0-3F4F-4B55-B2C8-DAE374E822EE}" type="pres">
      <dgm:prSet presAssocID="{376DFAB4-4C9C-4453-833B-22B2A19EB338}" presName="dummy" presStyleCnt="0"/>
      <dgm:spPr/>
    </dgm:pt>
    <dgm:pt modelId="{3567B15F-E0FD-44E4-B1E4-4EF47527B01D}" type="pres">
      <dgm:prSet presAssocID="{376DFAB4-4C9C-4453-833B-22B2A19EB338}" presName="node" presStyleLbl="revTx" presStyleIdx="0" presStyleCnt="2">
        <dgm:presLayoutVars>
          <dgm:bulletEnabled val="1"/>
        </dgm:presLayoutVars>
      </dgm:prSet>
      <dgm:spPr/>
    </dgm:pt>
    <dgm:pt modelId="{F47B4486-4893-449B-B6E8-F6B0C3165D0F}" type="pres">
      <dgm:prSet presAssocID="{9BF2DF7C-CCEB-4445-A14A-425E2A57FC2D}" presName="sibTrans" presStyleLbl="node1" presStyleIdx="0" presStyleCnt="2"/>
      <dgm:spPr/>
    </dgm:pt>
    <dgm:pt modelId="{C0C878E9-41AB-4F4A-A446-4831F54643E6}" type="pres">
      <dgm:prSet presAssocID="{27DD6F7D-55BA-4AC1-975C-DF728B056618}" presName="dummy" presStyleCnt="0"/>
      <dgm:spPr/>
    </dgm:pt>
    <dgm:pt modelId="{0CE4C7AF-0BB3-433F-89C4-1122CC6994E8}" type="pres">
      <dgm:prSet presAssocID="{27DD6F7D-55BA-4AC1-975C-DF728B056618}" presName="node" presStyleLbl="revTx" presStyleIdx="1" presStyleCnt="2">
        <dgm:presLayoutVars>
          <dgm:bulletEnabled val="1"/>
        </dgm:presLayoutVars>
      </dgm:prSet>
      <dgm:spPr/>
    </dgm:pt>
    <dgm:pt modelId="{5B45765C-EBFD-45CB-BA8F-20EB05C97DC9}" type="pres">
      <dgm:prSet presAssocID="{792B36C3-79A5-414B-AE18-146518492D70}" presName="sibTrans" presStyleLbl="node1" presStyleIdx="1" presStyleCnt="2"/>
      <dgm:spPr/>
    </dgm:pt>
  </dgm:ptLst>
  <dgm:cxnLst>
    <dgm:cxn modelId="{436C6310-6524-48B6-8107-22B21DE4C087}" type="presOf" srcId="{9BF2DF7C-CCEB-4445-A14A-425E2A57FC2D}" destId="{F47B4486-4893-449B-B6E8-F6B0C3165D0F}" srcOrd="0" destOrd="0" presId="urn:microsoft.com/office/officeart/2005/8/layout/cycle1"/>
    <dgm:cxn modelId="{B83C3720-5B49-4D24-A1A2-F67659859FE0}" type="presOf" srcId="{27DD6F7D-55BA-4AC1-975C-DF728B056618}" destId="{0CE4C7AF-0BB3-433F-89C4-1122CC6994E8}" srcOrd="0" destOrd="0" presId="urn:microsoft.com/office/officeart/2005/8/layout/cycle1"/>
    <dgm:cxn modelId="{569C0E29-F536-41EC-A051-996E6B801A82}" type="presOf" srcId="{FE9B7D80-9A1B-459B-ADCD-49EFEE497B73}" destId="{12019EC4-D26C-4A7E-837D-21CC1D6BF0E0}" srcOrd="0" destOrd="0" presId="urn:microsoft.com/office/officeart/2005/8/layout/cycle1"/>
    <dgm:cxn modelId="{54C35C5D-9990-48AC-B043-F9EE02B63494}" srcId="{FE9B7D80-9A1B-459B-ADCD-49EFEE497B73}" destId="{376DFAB4-4C9C-4453-833B-22B2A19EB338}" srcOrd="0" destOrd="0" parTransId="{C0A306D7-42E9-45E8-BD4B-7B95BF673B5F}" sibTransId="{9BF2DF7C-CCEB-4445-A14A-425E2A57FC2D}"/>
    <dgm:cxn modelId="{B21EA689-655F-4B46-9293-AD6BCF144C22}" type="presOf" srcId="{376DFAB4-4C9C-4453-833B-22B2A19EB338}" destId="{3567B15F-E0FD-44E4-B1E4-4EF47527B01D}" srcOrd="0" destOrd="0" presId="urn:microsoft.com/office/officeart/2005/8/layout/cycle1"/>
    <dgm:cxn modelId="{F4B451AA-5BAE-4837-A6F2-22450AFEDFA4}" type="presOf" srcId="{792B36C3-79A5-414B-AE18-146518492D70}" destId="{5B45765C-EBFD-45CB-BA8F-20EB05C97DC9}" srcOrd="0" destOrd="0" presId="urn:microsoft.com/office/officeart/2005/8/layout/cycle1"/>
    <dgm:cxn modelId="{73E8E2D4-62B0-4FA4-BE4F-936E724A546B}" srcId="{FE9B7D80-9A1B-459B-ADCD-49EFEE497B73}" destId="{27DD6F7D-55BA-4AC1-975C-DF728B056618}" srcOrd="1" destOrd="0" parTransId="{C3C755E6-8ADA-4941-8AF7-201321C974DD}" sibTransId="{792B36C3-79A5-414B-AE18-146518492D70}"/>
    <dgm:cxn modelId="{0AA1C26E-E2DF-455F-93D0-C64BF938F1D9}" type="presParOf" srcId="{12019EC4-D26C-4A7E-837D-21CC1D6BF0E0}" destId="{73274EA0-3F4F-4B55-B2C8-DAE374E822EE}" srcOrd="0" destOrd="0" presId="urn:microsoft.com/office/officeart/2005/8/layout/cycle1"/>
    <dgm:cxn modelId="{555FAC33-9673-4E2C-9167-8340B6DF37DD}" type="presParOf" srcId="{12019EC4-D26C-4A7E-837D-21CC1D6BF0E0}" destId="{3567B15F-E0FD-44E4-B1E4-4EF47527B01D}" srcOrd="1" destOrd="0" presId="urn:microsoft.com/office/officeart/2005/8/layout/cycle1"/>
    <dgm:cxn modelId="{4C44EB1E-2F26-4A3C-9A7F-030F93A257C8}" type="presParOf" srcId="{12019EC4-D26C-4A7E-837D-21CC1D6BF0E0}" destId="{F47B4486-4893-449B-B6E8-F6B0C3165D0F}" srcOrd="2" destOrd="0" presId="urn:microsoft.com/office/officeart/2005/8/layout/cycle1"/>
    <dgm:cxn modelId="{0D90AA66-96F0-4567-8E23-85250544AD33}" type="presParOf" srcId="{12019EC4-D26C-4A7E-837D-21CC1D6BF0E0}" destId="{C0C878E9-41AB-4F4A-A446-4831F54643E6}" srcOrd="3" destOrd="0" presId="urn:microsoft.com/office/officeart/2005/8/layout/cycle1"/>
    <dgm:cxn modelId="{7FE542CA-3047-4210-8869-9BBEAC66C7F5}" type="presParOf" srcId="{12019EC4-D26C-4A7E-837D-21CC1D6BF0E0}" destId="{0CE4C7AF-0BB3-433F-89C4-1122CC6994E8}" srcOrd="4" destOrd="0" presId="urn:microsoft.com/office/officeart/2005/8/layout/cycle1"/>
    <dgm:cxn modelId="{119B4E87-74FF-4313-B04B-5929E95A46C3}" type="presParOf" srcId="{12019EC4-D26C-4A7E-837D-21CC1D6BF0E0}" destId="{5B45765C-EBFD-45CB-BA8F-20EB05C97DC9}" srcOrd="5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67B15F-E0FD-44E4-B1E4-4EF47527B01D}">
      <dsp:nvSpPr>
        <dsp:cNvPr id="0" name=""/>
        <dsp:cNvSpPr/>
      </dsp:nvSpPr>
      <dsp:spPr>
        <a:xfrm>
          <a:off x="3675830" y="1043781"/>
          <a:ext cx="1976437" cy="19764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0800" tIns="50800" rIns="50800" bIns="508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b="1" kern="1200" dirty="0"/>
            <a:t>Adapt</a:t>
          </a:r>
        </a:p>
      </dsp:txBody>
      <dsp:txXfrm>
        <a:off x="3675830" y="1043781"/>
        <a:ext cx="1976437" cy="1976437"/>
      </dsp:txXfrm>
    </dsp:sp>
    <dsp:sp modelId="{F47B4486-4893-449B-B6E8-F6B0C3165D0F}">
      <dsp:nvSpPr>
        <dsp:cNvPr id="0" name=""/>
        <dsp:cNvSpPr/>
      </dsp:nvSpPr>
      <dsp:spPr>
        <a:xfrm>
          <a:off x="1014428" y="-1571"/>
          <a:ext cx="4067142" cy="4067142"/>
        </a:xfrm>
        <a:prstGeom prst="circularArrow">
          <a:avLst>
            <a:gd name="adj1" fmla="val 9476"/>
            <a:gd name="adj2" fmla="val 684342"/>
            <a:gd name="adj3" fmla="val 7853762"/>
            <a:gd name="adj4" fmla="val 2261896"/>
            <a:gd name="adj5" fmla="val 11055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E4C7AF-0BB3-433F-89C4-1122CC6994E8}">
      <dsp:nvSpPr>
        <dsp:cNvPr id="0" name=""/>
        <dsp:cNvSpPr/>
      </dsp:nvSpPr>
      <dsp:spPr>
        <a:xfrm>
          <a:off x="443732" y="1043781"/>
          <a:ext cx="1976437" cy="19764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0800" tIns="50800" rIns="50800" bIns="508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b="1" kern="1200" dirty="0"/>
            <a:t>Learn</a:t>
          </a:r>
          <a:endParaRPr lang="en-US" sz="4400" b="1" kern="1200" dirty="0"/>
        </a:p>
      </dsp:txBody>
      <dsp:txXfrm>
        <a:off x="443732" y="1043781"/>
        <a:ext cx="1976437" cy="1976437"/>
      </dsp:txXfrm>
    </dsp:sp>
    <dsp:sp modelId="{5B45765C-EBFD-45CB-BA8F-20EB05C97DC9}">
      <dsp:nvSpPr>
        <dsp:cNvPr id="0" name=""/>
        <dsp:cNvSpPr/>
      </dsp:nvSpPr>
      <dsp:spPr>
        <a:xfrm>
          <a:off x="1014428" y="-1571"/>
          <a:ext cx="4067142" cy="4067142"/>
        </a:xfrm>
        <a:prstGeom prst="circularArrow">
          <a:avLst>
            <a:gd name="adj1" fmla="val 9476"/>
            <a:gd name="adj2" fmla="val 684342"/>
            <a:gd name="adj3" fmla="val 18653762"/>
            <a:gd name="adj4" fmla="val 13061896"/>
            <a:gd name="adj5" fmla="val 11055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4956B9-647A-4037-9FC9-E7553A40054A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5BE8A4-D8EF-4587-8089-654936417D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11823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5BE8A4-D8EF-4587-8089-654936417D0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99024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will show the direction, convince you why you should move into that direction, and how to reach that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5BE8A4-D8EF-4587-8089-654936417D02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1261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887876-884F-C956-AECE-62FB0FED4B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0C9025-639F-093E-94E0-C0F99E1F47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E249C6-6964-2DAD-7CBC-3FC7310668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Indicate that all the software principles apply for all these situations, the technology might be different on each situation.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71BD1F-E878-99F2-F2CB-4F2FDE8D5F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5BE8A4-D8EF-4587-8089-654936417D02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62738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0A4BF-DCAC-8324-5B09-6DE1699520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06F91E-C260-F62C-5743-A56DC2B0C9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850360-E578-F63F-D8AA-1E6B0D24F0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ADCCF5-AA61-3DD2-1D0E-FDE9543E1F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5BE8A4-D8EF-4587-8089-654936417D0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1535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4E97A9-4026-9B3E-8EE3-3522C477A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E11566-85BF-AF73-7C88-DA413143E1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BAE137-223F-6407-1891-E1251B67C4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audience: how would you go to some vacations with these characteristics?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550539-F2F6-9B0D-4480-A397907765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5BE8A4-D8EF-4587-8089-654936417D02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0884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E6470E-387E-ECBA-5B3B-BCBD4B622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9D13D1-F412-37E6-5A59-4A882B131C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C746D9-6621-635E-3F27-0FFCAFE6B0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EB991E-BA18-71B4-094E-639EC8C9CE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5BE8A4-D8EF-4587-8089-654936417D02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80567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06A72F-8CDB-AFAC-CF9E-F292FBAD4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74E9CA-1AF9-B146-BF97-BE1BEF6C73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E7FEF9-587E-10A0-FFF5-378AFE350B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18442E-CB06-3866-0A8E-0180BF7CA2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5BE8A4-D8EF-4587-8089-654936417D02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5446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288C5-D5E0-EEDB-677D-126DC1B91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7CC1AD-8C0A-CB60-1A2C-995D582B09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E2A892-3AFD-AB44-28F0-126608EC11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audience first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3E21C6-2FBB-9484-8645-5ADE5CB4AD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5BE8A4-D8EF-4587-8089-654936417D02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530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5BE8A4-D8EF-4587-8089-654936417D02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66749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 the responsibilities of each class, also list what is the coupling between Train and 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5BE8A4-D8EF-4587-8089-654936417D02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14436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47E5C7-3FE3-59F5-4829-1C15F3239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95D1E7-E10A-1529-AE3C-8BC7CEAC01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5B71BB-1FE7-F1F2-B8FD-DDCB457D6E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41AC07-5749-B5ED-C0FE-BC847DF86B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90635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F84637-6AAD-423E-0B65-9DFCE64BC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A8C43E-5A51-AF16-631B-F012B0970C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FD56E7-DF9B-445B-0DC1-25D4DA55BA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037EF8-CD1F-FCFB-4828-7BEAD2567E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664640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24D793-0F8D-311E-F42F-457F41FD9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345BDF-3583-7C5A-E261-EBFB37757B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39239C-96A9-E9A4-DCDA-6BF1335414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104E7C-5FA9-0248-6B9A-8D2219EB8D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5914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42D1CD-6AB1-4632-BD93-8036A9CEFF23}" type="datetime1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00EA7E-9CA4-48E5-AE0F-8EB3D9C4CEFB}" type="datetime1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F74363-77CA-4138-8286-11DFC9A682A9}" type="datetime1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3B3468-378A-4E8F-A396-A32E33B2EC7F}" type="datetime1">
              <a:rPr lang="en-US" smtClean="0"/>
              <a:t>6/28/2026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10099B-0CB6-4B47-A9FE-5D03141F6A59}" type="datetime1">
              <a:rPr lang="en-US" smtClean="0"/>
              <a:t>6/28/2026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6B215-2DC8-464E-9BB9-CCDF4BAF4AAD}" type="datetime1">
              <a:rPr lang="en-US" smtClean="0"/>
              <a:t>6/28/2026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34634-A279-4D99-8043-05016171F086}" type="datetime1">
              <a:rPr lang="en-US" smtClean="0"/>
              <a:t>6/28/2026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4EEF5-1E0F-4E32-85A6-DE84C2FE1F72}" type="datetime1">
              <a:rPr lang="en-US" smtClean="0"/>
              <a:t>6/28/2026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2AC6DC-4DE5-4950-9546-1509DD61DC9D}" type="datetime1">
              <a:rPr lang="en-US" smtClean="0"/>
              <a:t>6/28/2026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E0D227-684F-4C4A-9180-D6AC381CF6A0}" type="datetime1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8DED5-2788-4AF6-8CD2-D9EF3324F112}" type="datetime1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981414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540504-DADD-4441-A07E-1EAA97398A05}" type="datetime1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efop/training-testing-python" TargetMode="External"/><Relationship Id="rId2" Type="http://schemas.openxmlformats.org/officeDocument/2006/relationships/hyperlink" Target="https://github.com/sefop" TargetMode="Externa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github.com/sefop/sefop-training-hub/tree/main/guides" TargetMode="Externa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Ariane_flight_V88" TargetMode="External"/><Relationship Id="rId2" Type="http://schemas.openxmlformats.org/officeDocument/2006/relationships/hyperlink" Target="https://en.wikipedia.org/wiki/Geoffrey_Chang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e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svg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dora.dev/research/2025/dora-report/" TargetMode="Externa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management.org/waterfall-methodology" TargetMode="External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agilemanifesto.org/" TargetMode="External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ustralianenvironmentaleducation.com.au/education-resources/what-is-the-scientific-method/" TargetMode="External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efop/sefop-training-hub/blob/main/workshops/2026-06-29-purdue/code_smell.py" TargetMode="External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refactoring.guru/smells/long-method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refactoring.guru/refactoring/smells" TargetMode="Externa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sv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geeksforgeeks.org/system-design/single-responsibility-in-solid-design-principle/" TargetMode="Externa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efop/sefop-python-starter" TargetMode="Externa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1.png"/><Relationship Id="rId4" Type="http://schemas.openxmlformats.org/officeDocument/2006/relationships/image" Target="../media/image100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8.svg"/><Relationship Id="rId5" Type="http://schemas.openxmlformats.org/officeDocument/2006/relationships/image" Target="../media/image130.png"/><Relationship Id="rId4" Type="http://schemas.openxmlformats.org/officeDocument/2006/relationships/image" Target="../media/image100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hyperlink" Target="https://forms.gle/Ajp2wa3kgcDhyGDW7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88819"/>
            <a:ext cx="8229600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 dirty="0">
                <a:solidFill>
                  <a:srgbClr val="0A1628"/>
                </a:solidFill>
                <a:ea typeface="Microsoft GothicNeo Light" panose="020B0503020000020004" pitchFamily="34" charset="-127"/>
                <a:cs typeface="Microsoft GothicNeo Light" panose="020B0503020000020004" pitchFamily="34" charset="-127"/>
              </a:rPr>
              <a:t>Operations Research
meets Software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8229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 dirty="0" err="1">
                <a:solidFill>
                  <a:srgbClr val="0077A8"/>
                </a:solidFill>
                <a:ea typeface="Microsoft GothicNeo Light" panose="020B0503020000020004" pitchFamily="34" charset="-127"/>
                <a:cs typeface="Microsoft GothicNeo Light" panose="020B0503020000020004" pitchFamily="34" charset="-127"/>
              </a:rPr>
              <a:t>Secquoia</a:t>
            </a:r>
            <a:r>
              <a:rPr sz="1800" b="0" i="0" dirty="0">
                <a:solidFill>
                  <a:srgbClr val="0077A8"/>
                </a:solidFill>
                <a:ea typeface="Microsoft GothicNeo Light" panose="020B0503020000020004" pitchFamily="34" charset="-127"/>
                <a:cs typeface="Microsoft GothicNeo Light" panose="020B0503020000020004" pitchFamily="34" charset="-127"/>
              </a:rPr>
              <a:t> Lab — Purdue University  |  June 29,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69940"/>
            <a:ext cx="8229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 dirty="0">
                <a:solidFill>
                  <a:srgbClr val="2D3748"/>
                </a:solidFill>
                <a:ea typeface="Microsoft GothicNeo Light" panose="020B0503020000020004" pitchFamily="34" charset="-127"/>
                <a:cs typeface="Microsoft GothicNeo Light" panose="020B0503020000020004" pitchFamily="34" charset="-127"/>
              </a:rPr>
              <a:t>Francisco Zenteno Smith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9B60CB-83D4-5B71-69C9-6C5519514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dirty="0">
                <a:solidFill>
                  <a:srgbClr val="0A1628"/>
                </a:solidFill>
                <a:latin typeface="Calibri"/>
              </a:rPr>
              <a:t>About me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 dirty="0">
                <a:solidFill>
                  <a:srgbClr val="2D3748"/>
                </a:solidFill>
                <a:latin typeface="Calibri"/>
              </a:rPr>
              <a:t>Senior Operations Research Scientist</a:t>
            </a:r>
            <a:r>
              <a:rPr lang="en-US" sz="2200" b="0" i="0" dirty="0">
                <a:solidFill>
                  <a:srgbClr val="2D3748"/>
                </a:solidFill>
                <a:latin typeface="Calibri"/>
              </a:rPr>
              <a:t> at American Airlines</a:t>
            </a:r>
            <a:r>
              <a:rPr sz="2200" b="0" i="0" dirty="0">
                <a:solidFill>
                  <a:srgbClr val="2D3748"/>
                </a:solidFill>
                <a:latin typeface="Calibri"/>
              </a:rPr>
              <a:t>
</a:t>
            </a:r>
            <a:r>
              <a:rPr lang="en-US" sz="2200" b="0" i="0" dirty="0">
                <a:solidFill>
                  <a:srgbClr val="2D3748"/>
                </a:solidFill>
                <a:latin typeface="Calibri"/>
              </a:rPr>
              <a:t>- </a:t>
            </a:r>
            <a:r>
              <a:rPr sz="2200" b="0" i="0" dirty="0">
                <a:solidFill>
                  <a:srgbClr val="2D3748"/>
                </a:solidFill>
                <a:latin typeface="Calibri"/>
              </a:rPr>
              <a:t>10 years in applied Operations Research.</a:t>
            </a:r>
            <a:endParaRPr lang="en-US" sz="2200" b="0" i="0" dirty="0">
              <a:solidFill>
                <a:srgbClr val="2D3748"/>
              </a:solidFill>
              <a:latin typeface="Calibri"/>
            </a:endParaRPr>
          </a:p>
          <a:p>
            <a:pPr algn="l"/>
            <a:endParaRPr lang="en-US" sz="2200" dirty="0">
              <a:solidFill>
                <a:srgbClr val="2D3748"/>
              </a:solidFill>
              <a:latin typeface="Calibri"/>
            </a:endParaRPr>
          </a:p>
          <a:p>
            <a:pPr algn="l"/>
            <a:r>
              <a:rPr lang="en-US" sz="2200" dirty="0">
                <a:solidFill>
                  <a:srgbClr val="2D3748"/>
                </a:solidFill>
                <a:latin typeface="Calibri"/>
              </a:rPr>
              <a:t>Education</a:t>
            </a:r>
          </a:p>
          <a:p>
            <a:pPr marL="342900" indent="-342900" algn="l">
              <a:buFontTx/>
              <a:buChar char="-"/>
            </a:pPr>
            <a:r>
              <a:rPr lang="en-US" sz="2200" b="0" i="0" dirty="0">
                <a:solidFill>
                  <a:srgbClr val="2D3748"/>
                </a:solidFill>
                <a:latin typeface="Calibri"/>
              </a:rPr>
              <a:t>Bache</a:t>
            </a:r>
            <a:r>
              <a:rPr lang="en-US" sz="2200" dirty="0">
                <a:solidFill>
                  <a:srgbClr val="2D3748"/>
                </a:solidFill>
                <a:latin typeface="Calibri"/>
              </a:rPr>
              <a:t>lors in Industrial Engineering PUC</a:t>
            </a:r>
          </a:p>
          <a:p>
            <a:pPr marL="342900" indent="-342900" algn="l">
              <a:buFontTx/>
              <a:buChar char="-"/>
            </a:pPr>
            <a:r>
              <a:rPr lang="en-US" sz="2200" b="0" i="0" dirty="0">
                <a:solidFill>
                  <a:srgbClr val="2D3748"/>
                </a:solidFill>
                <a:latin typeface="Calibri"/>
              </a:rPr>
              <a:t>Masters in Operations Research PUC</a:t>
            </a:r>
            <a:r>
              <a:rPr sz="2200" b="0" i="0" dirty="0">
                <a:solidFill>
                  <a:srgbClr val="2D3748"/>
                </a:solidFill>
                <a:latin typeface="Calibri"/>
              </a:rPr>
              <a:t>
</a:t>
            </a:r>
            <a:r>
              <a:rPr lang="en-US" sz="2200" b="0" i="0" dirty="0">
                <a:solidFill>
                  <a:srgbClr val="2D3748"/>
                </a:solidFill>
                <a:latin typeface="Calibri"/>
              </a:rPr>
              <a:t>Masters in Computer Science UCSD</a:t>
            </a:r>
          </a:p>
          <a:p>
            <a:pPr marL="342900" indent="-342900" algn="l">
              <a:buFontTx/>
              <a:buChar char="-"/>
            </a:pPr>
            <a:endParaRPr lang="en-US" sz="2200" dirty="0">
              <a:solidFill>
                <a:srgbClr val="2D3748"/>
              </a:solidFill>
              <a:latin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025C809-3C63-52B7-B8D3-193C3CB452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6475" y="1960579"/>
            <a:ext cx="1144290" cy="1537926"/>
          </a:xfrm>
          <a:prstGeom prst="rect">
            <a:avLst/>
          </a:prstGeom>
        </p:spPr>
      </p:pic>
      <p:pic>
        <p:nvPicPr>
          <p:cNvPr id="6" name="Picture 5" descr="UCSD Logo, symbol, meaning, history, PNG, brand">
            <a:extLst>
              <a:ext uri="{FF2B5EF4-FFF2-40B4-BE49-F238E27FC236}">
                <a16:creationId xmlns:a16="http://schemas.microsoft.com/office/drawing/2014/main" id="{84A64771-4CEE-D593-7499-EB893C5F11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7020" y="3589311"/>
            <a:ext cx="2403200" cy="1351800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2E058B-5DF7-D80C-DE7B-4B05647A1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dirty="0">
                <a:solidFill>
                  <a:srgbClr val="0A1628"/>
                </a:solidFill>
                <a:latin typeface="Calibri"/>
              </a:rPr>
              <a:t>Schedule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91360" y="1412954"/>
            <a:ext cx="7361280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dirty="0">
                <a:solidFill>
                  <a:srgbClr val="2D3748"/>
                </a:solidFill>
                <a:latin typeface="+mj-lt"/>
              </a:rPr>
              <a:t>09:00–09:50    Block 1: Why learn Software Engineering?
09:50–10:00    Break
10:00–10:50    Block 2: Optimize for Learning
10:50–11:00    Break
11:00–11:50    Block 3: </a:t>
            </a:r>
            <a:r>
              <a:rPr lang="en-US" sz="2000" dirty="0">
                <a:solidFill>
                  <a:srgbClr val="2D3748"/>
                </a:solidFill>
                <a:latin typeface="+mj-lt"/>
              </a:rPr>
              <a:t>Hands-on </a:t>
            </a:r>
            <a:r>
              <a:rPr sz="2000" dirty="0">
                <a:solidFill>
                  <a:srgbClr val="2D3748"/>
                </a:solidFill>
                <a:latin typeface="+mj-lt"/>
              </a:rPr>
              <a:t>Unit Testing in Practice
11:50–12:00    Break
12:00–13:00    Lunch
13:00–13:50    Block 4: Optimize for Managing Complexity
13:50–14:00    Break
14:00–17:00    Putting it all together: SEFOP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F7FD55-2857-88B4-12F0-7472B7814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F3F31A-F887-AA40-6297-E3932420E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CB5F4C9-8917-E78D-A4DA-F3EA1DCDCA73}"/>
              </a:ext>
            </a:extLst>
          </p:cNvPr>
          <p:cNvSpPr txBox="1"/>
          <p:nvPr/>
        </p:nvSpPr>
        <p:spPr>
          <a:xfrm>
            <a:off x="457200" y="274320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Public materials and resources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A490831-EC19-E3A8-200D-6E7824C94AB8}"/>
              </a:ext>
            </a:extLst>
          </p:cNvPr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D2A2A8-2CDB-8048-A19B-1B549C2BA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1324D5-EC19-FC47-AA14-1322FAFA96EA}"/>
              </a:ext>
            </a:extLst>
          </p:cNvPr>
          <p:cNvSpPr txBox="1"/>
          <p:nvPr/>
        </p:nvSpPr>
        <p:spPr>
          <a:xfrm>
            <a:off x="457200" y="1304964"/>
            <a:ext cx="4572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hlinkClick r:id="rId2"/>
              </a:rPr>
              <a:t>https://github.com/sefop</a:t>
            </a:r>
            <a:r>
              <a:rPr lang="en-US" sz="2000" dirty="0"/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85BF4B-E63C-4049-7E3E-B3F439D0C266}"/>
              </a:ext>
            </a:extLst>
          </p:cNvPr>
          <p:cNvSpPr txBox="1"/>
          <p:nvPr/>
        </p:nvSpPr>
        <p:spPr>
          <a:xfrm>
            <a:off x="480060" y="2355378"/>
            <a:ext cx="75895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hlinkClick r:id="rId3"/>
              </a:rPr>
              <a:t>https://github.com/sefop/training-testing-python</a:t>
            </a:r>
            <a:r>
              <a:rPr lang="en-US" sz="2000" dirty="0"/>
              <a:t> </a:t>
            </a:r>
          </a:p>
        </p:txBody>
      </p:sp>
      <p:sp>
        <p:nvSpPr>
          <p:cNvPr id="10" name="Speech Bubble: Rectangle 9">
            <a:extLst>
              <a:ext uri="{FF2B5EF4-FFF2-40B4-BE49-F238E27FC236}">
                <a16:creationId xmlns:a16="http://schemas.microsoft.com/office/drawing/2014/main" id="{51E943FB-BD3A-0E56-95BB-E42B45F2D127}"/>
              </a:ext>
            </a:extLst>
          </p:cNvPr>
          <p:cNvSpPr/>
          <p:nvPr/>
        </p:nvSpPr>
        <p:spPr>
          <a:xfrm>
            <a:off x="5548532" y="1418019"/>
            <a:ext cx="2978248" cy="473186"/>
          </a:xfrm>
          <a:prstGeom prst="wedgeRectCallout">
            <a:avLst>
              <a:gd name="adj1" fmla="val -55375"/>
              <a:gd name="adj2" fmla="val 43896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tx1"/>
                </a:solidFill>
              </a:rPr>
              <a:t>Leave a star if you like it </a:t>
            </a:r>
            <a:r>
              <a:rPr lang="en-US" sz="2000" dirty="0">
                <a:solidFill>
                  <a:schemeClr val="tx1"/>
                </a:solidFill>
                <a:sym typeface="Wingdings" panose="05000000000000000000" pitchFamily="2" charset="2"/>
              </a:rPr>
              <a:t>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A0C7AA5-1295-E966-9BD0-BCD95A757463}"/>
              </a:ext>
            </a:extLst>
          </p:cNvPr>
          <p:cNvSpPr txBox="1"/>
          <p:nvPr/>
        </p:nvSpPr>
        <p:spPr>
          <a:xfrm>
            <a:off x="480060" y="3322893"/>
            <a:ext cx="74295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hlinkClick r:id="rId4"/>
              </a:rPr>
              <a:t>https://github.com/sefop/sefop-training-hub/tree/main/guides</a:t>
            </a:r>
            <a:r>
              <a:rPr lang="en-US" sz="2000" dirty="0"/>
              <a:t>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1032687-3F25-480A-5C28-0A1B33CD3B89}"/>
              </a:ext>
            </a:extLst>
          </p:cNvPr>
          <p:cNvSpPr txBox="1"/>
          <p:nvPr/>
        </p:nvSpPr>
        <p:spPr>
          <a:xfrm>
            <a:off x="480060" y="1735986"/>
            <a:ext cx="80467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000" b="0" i="0" dirty="0">
                <a:solidFill>
                  <a:srgbClr val="2D3748"/>
                </a:solidFill>
                <a:latin typeface="Calibri"/>
              </a:rPr>
              <a:t>Entry to the organization</a:t>
            </a:r>
            <a:endParaRPr sz="2000" b="0" i="0" dirty="0">
              <a:solidFill>
                <a:schemeClr val="bg1">
                  <a:lumMod val="65000"/>
                </a:schemeClr>
              </a:solidFill>
              <a:latin typeface="Calibri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C2C9A28-C086-CA37-ECC3-41F455A7AB94}"/>
              </a:ext>
            </a:extLst>
          </p:cNvPr>
          <p:cNvSpPr txBox="1"/>
          <p:nvPr/>
        </p:nvSpPr>
        <p:spPr>
          <a:xfrm>
            <a:off x="480060" y="2755488"/>
            <a:ext cx="80467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000" b="0" i="0" dirty="0">
                <a:solidFill>
                  <a:srgbClr val="2D3748"/>
                </a:solidFill>
                <a:latin typeface="Calibri"/>
              </a:rPr>
              <a:t>Training materials in python</a:t>
            </a:r>
            <a:endParaRPr sz="2000" b="0" i="0" dirty="0">
              <a:solidFill>
                <a:schemeClr val="bg1">
                  <a:lumMod val="65000"/>
                </a:schemeClr>
              </a:solidFill>
              <a:latin typeface="Calibri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C56BD23-D55D-8208-51A2-A04EC5C6A702}"/>
              </a:ext>
            </a:extLst>
          </p:cNvPr>
          <p:cNvSpPr txBox="1"/>
          <p:nvPr/>
        </p:nvSpPr>
        <p:spPr>
          <a:xfrm>
            <a:off x="502920" y="3661448"/>
            <a:ext cx="804672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000" b="0" i="0" dirty="0">
                <a:solidFill>
                  <a:srgbClr val="2D3748"/>
                </a:solidFill>
                <a:latin typeface="Calibri"/>
              </a:rPr>
              <a:t>Language agnostic guides: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2D3748"/>
                </a:solidFill>
                <a:latin typeface="Calibri"/>
              </a:rPr>
              <a:t>S</a:t>
            </a:r>
            <a:r>
              <a:rPr lang="en-US" b="0" i="0" dirty="0">
                <a:solidFill>
                  <a:srgbClr val="2D3748"/>
                </a:solidFill>
                <a:latin typeface="Calibri"/>
              </a:rPr>
              <a:t>oftware engineering learning roadmap for you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2D3748"/>
                </a:solidFill>
                <a:latin typeface="Calibri"/>
              </a:rPr>
              <a:t>How to work with an inherited codebase</a:t>
            </a:r>
            <a:endParaRPr b="0" i="0" dirty="0">
              <a:solidFill>
                <a:schemeClr val="bg1">
                  <a:lumMod val="65000"/>
                </a:scheme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2491551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7A8"/>
                </a:solidFill>
                <a:latin typeface="Calibri"/>
              </a:rPr>
              <a:t>BLOCK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0A1628"/>
                </a:solidFill>
                <a:latin typeface="Calibri"/>
              </a:rPr>
              <a:t>Why learn Software Engineering?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08760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22EFBE-7D7D-3DC0-2F9E-BF7022DB21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8465"/>
            <a:ext cx="82296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 err="1">
                <a:solidFill>
                  <a:srgbClr val="0A1628"/>
                </a:solidFill>
                <a:latin typeface="Calibri"/>
              </a:rPr>
              <a:t>Sofware</a:t>
            </a:r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 engineering principles always apply… whether you know them or not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04672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dirty="0">
                <a:solidFill>
                  <a:srgbClr val="2D3748"/>
                </a:solidFill>
                <a:latin typeface="Calibri"/>
              </a:rPr>
              <a:t>Tragedy in the academy</a:t>
            </a:r>
            <a:r>
              <a:rPr lang="en-US" sz="2400" b="1" i="0" baseline="30000" dirty="0">
                <a:solidFill>
                  <a:srgbClr val="2D3748"/>
                </a:solidFill>
                <a:latin typeface="Calibri"/>
              </a:rPr>
              <a:t>1</a:t>
            </a:r>
            <a:r>
              <a:rPr lang="en-US" sz="2400" b="0" i="0" dirty="0">
                <a:solidFill>
                  <a:srgbClr val="2D3748"/>
                </a:solidFill>
                <a:latin typeface="Calibri"/>
              </a:rPr>
              <a:t>: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1600" b="0" i="0" dirty="0">
                <a:solidFill>
                  <a:srgbClr val="2D3748"/>
                </a:solidFill>
                <a:latin typeface="Calibri"/>
              </a:rPr>
              <a:t>Geoffrey Chang, Scripps Institute  (2006)
A sign error in a data-processing script corrupted all results.
5 high-impact papers on membrane protein structures retracted.</a:t>
            </a:r>
            <a:endParaRPr lang="en-US" sz="1600" b="0" i="0" dirty="0">
              <a:solidFill>
                <a:srgbClr val="2D3748"/>
              </a:solidFill>
              <a:latin typeface="Calibri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2000" dirty="0">
              <a:solidFill>
                <a:srgbClr val="2D3748"/>
              </a:solidFill>
              <a:latin typeface="Calibri"/>
            </a:endParaRPr>
          </a:p>
          <a:p>
            <a:r>
              <a:rPr lang="en-US" sz="2400" b="1" i="0" dirty="0">
                <a:solidFill>
                  <a:srgbClr val="2D3748"/>
                </a:solidFill>
                <a:latin typeface="Calibri"/>
              </a:rPr>
              <a:t>Tragedy in the industry</a:t>
            </a:r>
            <a:r>
              <a:rPr lang="en-US" sz="2400" b="1" i="0" baseline="30000" dirty="0">
                <a:solidFill>
                  <a:srgbClr val="2D3748"/>
                </a:solidFill>
                <a:latin typeface="Calibri"/>
              </a:rPr>
              <a:t>2</a:t>
            </a:r>
            <a:r>
              <a:rPr lang="en-US" sz="2400" dirty="0">
                <a:solidFill>
                  <a:srgbClr val="2D3748"/>
                </a:solidFill>
              </a:rPr>
              <a:t>:</a:t>
            </a:r>
            <a:endParaRPr lang="en-US" sz="2400" b="1" i="0" baseline="30000" dirty="0">
              <a:solidFill>
                <a:srgbClr val="2D3748"/>
              </a:solidFill>
              <a:latin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2D3748"/>
                </a:solidFill>
              </a:rPr>
              <a:t>Ariane 5 Rocket Explosion (1996)
A reused software component caused an unhandled </a:t>
            </a:r>
          </a:p>
          <a:p>
            <a:r>
              <a:rPr lang="en-US" sz="1600" dirty="0">
                <a:solidFill>
                  <a:srgbClr val="2D3748"/>
                </a:solidFill>
              </a:rPr>
              <a:t>overflow exception.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2D3748"/>
                </a:solidFill>
              </a:rPr>
              <a:t>The rocket self-destructed 37 seconds after launch.
$370 million USD payload destroyed.</a:t>
            </a:r>
          </a:p>
          <a:p>
            <a:pPr algn="l"/>
            <a:endParaRPr sz="2000" b="0" i="0" dirty="0">
              <a:solidFill>
                <a:srgbClr val="2D3748"/>
              </a:solidFill>
              <a:latin typeface="Calibri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76441B-92D8-4B83-AD8C-1DC9BCD38357}"/>
              </a:ext>
            </a:extLst>
          </p:cNvPr>
          <p:cNvSpPr txBox="1"/>
          <p:nvPr/>
        </p:nvSpPr>
        <p:spPr>
          <a:xfrm>
            <a:off x="255600" y="4667520"/>
            <a:ext cx="80467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AutoNum type="arabicParenR"/>
            </a:pPr>
            <a:r>
              <a:rPr lang="en-US" sz="1000" dirty="0">
                <a:solidFill>
                  <a:srgbClr val="2D3748"/>
                </a:solidFill>
              </a:rPr>
              <a:t>Source: </a:t>
            </a:r>
            <a:r>
              <a:rPr lang="en-US" sz="1000" dirty="0">
                <a:solidFill>
                  <a:srgbClr val="2D3748"/>
                </a:solidFill>
                <a:hlinkClick r:id="rId2"/>
              </a:rPr>
              <a:t>https://en.wikipedia.org/wiki/Geoffrey_Chang</a:t>
            </a:r>
            <a:r>
              <a:rPr lang="en-US" sz="1000" dirty="0">
                <a:solidFill>
                  <a:srgbClr val="2D3748"/>
                </a:solidFill>
              </a:rPr>
              <a:t> </a:t>
            </a:r>
          </a:p>
          <a:p>
            <a:pPr marL="228600" indent="-228600">
              <a:buAutoNum type="arabicParenR"/>
            </a:pPr>
            <a:r>
              <a:rPr lang="en-US" sz="1000" i="0" dirty="0">
                <a:solidFill>
                  <a:srgbClr val="2D3748"/>
                </a:solidFill>
                <a:latin typeface="Calibri"/>
              </a:rPr>
              <a:t>Source: </a:t>
            </a:r>
            <a:r>
              <a:rPr lang="en-US" sz="1000" dirty="0">
                <a:solidFill>
                  <a:srgbClr val="2D3748"/>
                </a:solidFill>
                <a:hlinkClick r:id="rId3"/>
              </a:rPr>
              <a:t>https://en.wikipedia.org/wiki/Ariane_flight_V88</a:t>
            </a:r>
            <a:r>
              <a:rPr lang="en-US" sz="1000" dirty="0">
                <a:solidFill>
                  <a:srgbClr val="2D3748"/>
                </a:solidFill>
              </a:rPr>
              <a:t> </a:t>
            </a:r>
            <a:endParaRPr sz="1000" i="0" dirty="0">
              <a:solidFill>
                <a:srgbClr val="2D3748"/>
              </a:solidFill>
              <a:latin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54EA24E-351F-DC4F-FB1E-5BED0B02E5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3997" y="2481808"/>
            <a:ext cx="3497137" cy="2185711"/>
          </a:xfrm>
          <a:prstGeom prst="rect">
            <a:avLst/>
          </a:prstGeom>
        </p:spPr>
      </p:pic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FE6D91B-E583-3F91-1C89-368DDBC4DE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6</a:t>
            </a:fld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2676FC2-45D6-8261-DBEF-AADA89902F58}"/>
              </a:ext>
            </a:extLst>
          </p:cNvPr>
          <p:cNvSpPr txBox="1"/>
          <p:nvPr/>
        </p:nvSpPr>
        <p:spPr>
          <a:xfrm>
            <a:off x="5875020" y="4667519"/>
            <a:ext cx="28727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0" i="0" dirty="0">
                <a:solidFill>
                  <a:srgbClr val="000000"/>
                </a:solidFill>
                <a:effectLst/>
              </a:rPr>
              <a:t>Ariane flight V88 exploding during launch</a:t>
            </a:r>
            <a:endParaRPr lang="en-US" sz="11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allAtOnce"/>
      <p:bldP spid="1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Symptoms of being in a bad spot 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31234"/>
            <a:ext cx="8046720" cy="37379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2000" b="0" i="0" dirty="0">
                <a:solidFill>
                  <a:srgbClr val="2D3748"/>
                </a:solidFill>
                <a:latin typeface="Calibri"/>
              </a:rPr>
              <a:t>Can't </a:t>
            </a:r>
            <a:r>
              <a:rPr sz="2000" b="1" i="0" dirty="0">
                <a:solidFill>
                  <a:srgbClr val="2D3748"/>
                </a:solidFill>
                <a:latin typeface="Calibri"/>
              </a:rPr>
              <a:t>reproduce</a:t>
            </a:r>
            <a:r>
              <a:rPr sz="2000" b="0" i="0" dirty="0">
                <a:solidFill>
                  <a:srgbClr val="2D3748"/>
                </a:solidFill>
                <a:latin typeface="Calibri"/>
              </a:rPr>
              <a:t> your own results </a:t>
            </a:r>
            <a:r>
              <a:rPr lang="en-US" sz="2000" b="0" i="0" dirty="0">
                <a:solidFill>
                  <a:srgbClr val="2D3748"/>
                </a:solidFill>
                <a:latin typeface="Calibri"/>
              </a:rPr>
              <a:t>quickly.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0" i="0" dirty="0">
                <a:solidFill>
                  <a:srgbClr val="2D3748"/>
                </a:solidFill>
                <a:latin typeface="Calibri"/>
              </a:rPr>
              <a:t>Code runs on </a:t>
            </a:r>
            <a:r>
              <a:rPr lang="en-US" sz="2000" b="1" i="0" dirty="0">
                <a:solidFill>
                  <a:srgbClr val="2D3748"/>
                </a:solidFill>
                <a:latin typeface="Calibri"/>
              </a:rPr>
              <a:t>your machine</a:t>
            </a:r>
            <a:r>
              <a:rPr lang="en-US" sz="2000" b="0" i="0" dirty="0">
                <a:solidFill>
                  <a:srgbClr val="2D3748"/>
                </a:solidFill>
                <a:latin typeface="Calibri"/>
              </a:rPr>
              <a:t>, but not in your teammate’s.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2D3748"/>
                </a:solidFill>
                <a:latin typeface="Calibri"/>
              </a:rPr>
              <a:t>You are </a:t>
            </a:r>
            <a:r>
              <a:rPr lang="en-US" sz="2000" b="1" dirty="0">
                <a:solidFill>
                  <a:srgbClr val="2D3748"/>
                </a:solidFill>
                <a:latin typeface="Calibri"/>
              </a:rPr>
              <a:t>afraid</a:t>
            </a:r>
            <a:r>
              <a:rPr lang="en-US" sz="2000" dirty="0">
                <a:solidFill>
                  <a:srgbClr val="2D3748"/>
                </a:solidFill>
                <a:latin typeface="Calibri"/>
              </a:rPr>
              <a:t> of making changes.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2D3748"/>
                </a:solidFill>
                <a:latin typeface="Calibri"/>
              </a:rPr>
              <a:t>Adding new things to the codebase is difficult.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2D3748"/>
                </a:solidFill>
                <a:latin typeface="Calibri"/>
              </a:rPr>
              <a:t>There are </a:t>
            </a:r>
            <a:r>
              <a:rPr lang="en-US" sz="2000" b="1" dirty="0">
                <a:solidFill>
                  <a:srgbClr val="2D3748"/>
                </a:solidFill>
                <a:latin typeface="Calibri"/>
              </a:rPr>
              <a:t>not enough tests </a:t>
            </a:r>
            <a:r>
              <a:rPr lang="en-US" sz="2000" dirty="0">
                <a:solidFill>
                  <a:srgbClr val="2D3748"/>
                </a:solidFill>
                <a:latin typeface="Calibri"/>
              </a:rPr>
              <a:t>to check the codebase works as expected.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2D3748"/>
                </a:solidFill>
                <a:latin typeface="Calibri"/>
              </a:rPr>
              <a:t>Low </a:t>
            </a:r>
            <a:r>
              <a:rPr lang="en-US" sz="2000" b="1" dirty="0">
                <a:solidFill>
                  <a:srgbClr val="2D3748"/>
                </a:solidFill>
                <a:latin typeface="Calibri"/>
              </a:rPr>
              <a:t>morale</a:t>
            </a:r>
            <a:r>
              <a:rPr lang="en-US" sz="2000" dirty="0">
                <a:solidFill>
                  <a:srgbClr val="2D3748"/>
                </a:solidFill>
                <a:latin typeface="Calibri"/>
              </a:rPr>
              <a:t> of the team working on the codebase.</a:t>
            </a:r>
            <a:r>
              <a:rPr sz="2000" b="0" i="0" dirty="0">
                <a:solidFill>
                  <a:srgbClr val="2D3748"/>
                </a:solidFill>
                <a:latin typeface="Calibri"/>
              </a:rPr>
              <a:t>
</a:t>
            </a:r>
            <a:r>
              <a:rPr lang="en-US" sz="2000" b="1" i="0" dirty="0">
                <a:solidFill>
                  <a:srgbClr val="2D3748"/>
                </a:solidFill>
                <a:latin typeface="Calibri"/>
              </a:rPr>
              <a:t>Unknown crashes </a:t>
            </a:r>
            <a:r>
              <a:rPr lang="en-US" sz="2000" b="0" i="0" dirty="0">
                <a:solidFill>
                  <a:srgbClr val="2D3748"/>
                </a:solidFill>
                <a:latin typeface="Calibri"/>
              </a:rPr>
              <a:t>of the codebase.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2D3748"/>
                </a:solidFill>
                <a:latin typeface="Calibri"/>
              </a:rPr>
              <a:t>Other examples? – </a:t>
            </a:r>
            <a:r>
              <a:rPr lang="en-US" sz="2000" dirty="0">
                <a:solidFill>
                  <a:schemeClr val="bg1">
                    <a:lumMod val="65000"/>
                  </a:schemeClr>
                </a:solidFill>
                <a:latin typeface="Calibri"/>
              </a:rPr>
              <a:t>mention Russel Beckett example</a:t>
            </a:r>
            <a:endParaRPr sz="2000" b="0" i="0" dirty="0">
              <a:solidFill>
                <a:schemeClr val="bg1">
                  <a:lumMod val="65000"/>
                </a:schemeClr>
              </a:solidFill>
              <a:latin typeface="Calibri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E728EB-9E71-985F-40CC-2442639985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8465"/>
            <a:ext cx="82296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Disclaimer: acquiring software engineering skills takes practice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6" descr="simple bicycle icon 17744685 PNG">
            <a:extLst>
              <a:ext uri="{FF2B5EF4-FFF2-40B4-BE49-F238E27FC236}">
                <a16:creationId xmlns:a16="http://schemas.microsoft.com/office/drawing/2014/main" id="{793D8ED5-6529-5735-29D3-EB9EBF73C5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480773">
            <a:off x="1063553" y="2048221"/>
            <a:ext cx="1644894" cy="16448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2645D4A6-2AD6-6067-20A4-F2B17FB7E44B}"/>
              </a:ext>
            </a:extLst>
          </p:cNvPr>
          <p:cNvSpPr/>
          <p:nvPr/>
        </p:nvSpPr>
        <p:spPr>
          <a:xfrm>
            <a:off x="843699" y="3544588"/>
            <a:ext cx="443060" cy="44306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E1CFD22-B832-3E5B-F8D6-D6D9C8DB3CD3}"/>
              </a:ext>
            </a:extLst>
          </p:cNvPr>
          <p:cNvSpPr/>
          <p:nvPr/>
        </p:nvSpPr>
        <p:spPr>
          <a:xfrm>
            <a:off x="7777352" y="1314383"/>
            <a:ext cx="443060" cy="44306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DED5D1A-0488-4974-6AFA-EDFE19AEFF29}"/>
              </a:ext>
            </a:extLst>
          </p:cNvPr>
          <p:cNvSpPr txBox="1"/>
          <p:nvPr/>
        </p:nvSpPr>
        <p:spPr>
          <a:xfrm>
            <a:off x="512706" y="4129049"/>
            <a:ext cx="11050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You today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F6A30D-5D0C-CF16-8338-6E7CF672493C}"/>
              </a:ext>
            </a:extLst>
          </p:cNvPr>
          <p:cNvSpPr txBox="1"/>
          <p:nvPr/>
        </p:nvSpPr>
        <p:spPr>
          <a:xfrm>
            <a:off x="7389650" y="1852074"/>
            <a:ext cx="12971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Software</a:t>
            </a:r>
          </a:p>
          <a:p>
            <a:pPr algn="ctr"/>
            <a:r>
              <a:rPr lang="en-US" dirty="0"/>
              <a:t>Engineering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7170B1B6-DE04-54EC-E196-53F11163B4B0}"/>
              </a:ext>
            </a:extLst>
          </p:cNvPr>
          <p:cNvSpPr/>
          <p:nvPr/>
        </p:nvSpPr>
        <p:spPr>
          <a:xfrm rot="20598476">
            <a:off x="1456035" y="3334774"/>
            <a:ext cx="1232648" cy="348178"/>
          </a:xfrm>
          <a:prstGeom prst="rightArrow">
            <a:avLst>
              <a:gd name="adj1" fmla="val 50000"/>
              <a:gd name="adj2" fmla="val 89862"/>
            </a:avLst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Speech Bubble: Rectangle 10">
            <a:extLst>
              <a:ext uri="{FF2B5EF4-FFF2-40B4-BE49-F238E27FC236}">
                <a16:creationId xmlns:a16="http://schemas.microsoft.com/office/drawing/2014/main" id="{22FFFBC4-E18E-FFB4-19F4-DA4228665BF8}"/>
              </a:ext>
            </a:extLst>
          </p:cNvPr>
          <p:cNvSpPr/>
          <p:nvPr/>
        </p:nvSpPr>
        <p:spPr>
          <a:xfrm>
            <a:off x="5972908" y="2927160"/>
            <a:ext cx="2833483" cy="1850963"/>
          </a:xfrm>
          <a:prstGeom prst="wedgeRectCallout">
            <a:avLst>
              <a:gd name="adj1" fmla="val -61695"/>
              <a:gd name="adj2" fmla="val -30981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I can provide you the bicycle, but I can’t ride it for you.</a:t>
            </a:r>
          </a:p>
          <a:p>
            <a:endParaRPr lang="en-US" sz="1400" dirty="0">
              <a:solidFill>
                <a:schemeClr val="tx1"/>
              </a:solidFill>
            </a:endParaRPr>
          </a:p>
          <a:p>
            <a:r>
              <a:rPr lang="en-US" sz="1400" dirty="0">
                <a:solidFill>
                  <a:schemeClr val="tx1"/>
                </a:solidFill>
              </a:rPr>
              <a:t>I will emphasize </a:t>
            </a:r>
            <a:r>
              <a:rPr lang="en-US" sz="1400" u="sng" dirty="0">
                <a:solidFill>
                  <a:schemeClr val="tx1"/>
                </a:solidFill>
              </a:rPr>
              <a:t>principles</a:t>
            </a:r>
            <a:r>
              <a:rPr lang="en-US" sz="1400" dirty="0">
                <a:solidFill>
                  <a:schemeClr val="tx1"/>
                </a:solidFill>
              </a:rPr>
              <a:t> over technologies.</a:t>
            </a:r>
          </a:p>
          <a:p>
            <a:endParaRPr lang="en-US" sz="1400" dirty="0">
              <a:solidFill>
                <a:schemeClr val="tx1"/>
              </a:solidFill>
            </a:endParaRPr>
          </a:p>
          <a:p>
            <a:r>
              <a:rPr lang="en-US" sz="1400" dirty="0">
                <a:solidFill>
                  <a:schemeClr val="tx1"/>
                </a:solidFill>
              </a:rPr>
              <a:t>Principles last, technologies change.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361BE970-6F59-147B-0C5F-D156C0047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8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/>
      <p:bldP spid="10" grpId="0" animBg="1"/>
      <p:bldP spid="1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070142-01C9-1D64-C77F-0248CFB147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E17AAB3-AB7C-7DCC-BF28-B0AA50830D1F}"/>
              </a:ext>
            </a:extLst>
          </p:cNvPr>
          <p:cNvSpPr txBox="1"/>
          <p:nvPr/>
        </p:nvSpPr>
        <p:spPr>
          <a:xfrm>
            <a:off x="457200" y="241679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What do you hope to learn from this workshop?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7811C00-2211-F2DF-A9A3-469EF770E2A7}"/>
              </a:ext>
            </a:extLst>
          </p:cNvPr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BC349C2-FF6A-52FA-818B-DF8EB6F17BA6}"/>
              </a:ext>
            </a:extLst>
          </p:cNvPr>
          <p:cNvSpPr txBox="1"/>
          <p:nvPr/>
        </p:nvSpPr>
        <p:spPr>
          <a:xfrm>
            <a:off x="457199" y="1091922"/>
            <a:ext cx="8470669" cy="3554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0" i="1" dirty="0">
                <a:solidFill>
                  <a:srgbClr val="2D3748"/>
                </a:solidFill>
                <a:latin typeface="Calibri"/>
              </a:rPr>
              <a:t>Best industrial practices.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rgbClr val="2D3748"/>
                </a:solidFill>
              </a:rPr>
              <a:t>I would like to learn how to coordinate between different part of repos and how to do proper docstring commenting</a:t>
            </a:r>
            <a:r>
              <a:rPr lang="en-US" i="1" dirty="0">
                <a:solidFill>
                  <a:srgbClr val="2D3748"/>
                </a:solidFill>
                <a:latin typeface="Calibri"/>
              </a:rPr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rgbClr val="2D3748"/>
                </a:solidFill>
              </a:rPr>
              <a:t>I would like to get some insight into how advanced techniques (e.g. large-scale optimization) get integrated into modern enterprises.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rgbClr val="2D3748"/>
                </a:solidFill>
              </a:rPr>
              <a:t>SWE and Git best practices.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rgbClr val="2D3748"/>
                </a:solidFill>
              </a:rPr>
              <a:t>I want to make my code easier to debug and easier for others to use. I also want to know how to properly fix/maintain code bases I've been assigned.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i="1" dirty="0">
                <a:solidFill>
                  <a:srgbClr val="2D3748"/>
                </a:solidFill>
                <a:latin typeface="Calibri"/>
              </a:rPr>
              <a:t>Learn </a:t>
            </a:r>
            <a:r>
              <a:rPr lang="en-US" i="1" dirty="0">
                <a:solidFill>
                  <a:srgbClr val="2D3748"/>
                </a:solidFill>
                <a:latin typeface="Calibri"/>
              </a:rPr>
              <a:t>formal software design training.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rgbClr val="2D3748"/>
                </a:solidFill>
              </a:rPr>
              <a:t>To properly use Git for version control, efficiently manage issues and pull requests, and to use automation and AI agents to quickly handle mundane non-developmental tasks like testing and </a:t>
            </a:r>
            <a:r>
              <a:rPr lang="en-US" i="1" dirty="0" err="1">
                <a:solidFill>
                  <a:srgbClr val="2D3748"/>
                </a:solidFill>
              </a:rPr>
              <a:t>precommits</a:t>
            </a:r>
            <a:r>
              <a:rPr lang="en-US" i="1" dirty="0">
                <a:solidFill>
                  <a:srgbClr val="2D3748"/>
                </a:solidFill>
              </a:rPr>
              <a:t>.</a:t>
            </a:r>
            <a:endParaRPr b="0" i="1" dirty="0">
              <a:solidFill>
                <a:srgbClr val="2D3748"/>
              </a:solidFill>
              <a:latin typeface="Calibri"/>
            </a:endParaRPr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BCF945CC-F63E-C7C7-040B-8288485D5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58541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F6208D-5DEC-B6FB-833D-5F4B0D8B1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4084172-8AFF-ED3F-F0BF-4824FBC7F0CF}"/>
              </a:ext>
            </a:extLst>
          </p:cNvPr>
          <p:cNvSpPr txBox="1"/>
          <p:nvPr/>
        </p:nvSpPr>
        <p:spPr>
          <a:xfrm>
            <a:off x="396240" y="241679"/>
            <a:ext cx="854964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 err="1">
                <a:solidFill>
                  <a:srgbClr val="0A1628"/>
                </a:solidFill>
                <a:latin typeface="Calibri"/>
              </a:rPr>
              <a:t>Sofware</a:t>
            </a:r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 engineering: a different type of engineering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399556C-CAF0-B957-5930-8C1771435885}"/>
              </a:ext>
            </a:extLst>
          </p:cNvPr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What is Construction Engineering?">
            <a:extLst>
              <a:ext uri="{FF2B5EF4-FFF2-40B4-BE49-F238E27FC236}">
                <a16:creationId xmlns:a16="http://schemas.microsoft.com/office/drawing/2014/main" id="{15F43369-4F0D-2BE6-9CCF-7396CE710B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60" y="1470608"/>
            <a:ext cx="4130040" cy="2757158"/>
          </a:xfrm>
          <a:prstGeom prst="rect">
            <a:avLst/>
          </a:prstGeom>
        </p:spPr>
      </p:pic>
      <p:pic>
        <p:nvPicPr>
          <p:cNvPr id="7" name="Picture 6" descr="What is software engineering?">
            <a:extLst>
              <a:ext uri="{FF2B5EF4-FFF2-40B4-BE49-F238E27FC236}">
                <a16:creationId xmlns:a16="http://schemas.microsoft.com/office/drawing/2014/main" id="{87D48534-D825-DC76-3AB2-A59CAF03DB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1470608"/>
            <a:ext cx="4901614" cy="275715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364D859-F5B0-D854-6157-C32F66F9C183}"/>
              </a:ext>
            </a:extLst>
          </p:cNvPr>
          <p:cNvSpPr txBox="1"/>
          <p:nvPr/>
        </p:nvSpPr>
        <p:spPr>
          <a:xfrm>
            <a:off x="1348740" y="1101276"/>
            <a:ext cx="17652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Civil engineering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93410A4-29DC-6645-F9EC-6BD2480FBC06}"/>
              </a:ext>
            </a:extLst>
          </p:cNvPr>
          <p:cNvSpPr txBox="1"/>
          <p:nvPr/>
        </p:nvSpPr>
        <p:spPr>
          <a:xfrm>
            <a:off x="5816675" y="1101276"/>
            <a:ext cx="2229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Software engineering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2CDF5FF-49B4-92F1-A25B-5C05E565DA3D}"/>
              </a:ext>
            </a:extLst>
          </p:cNvPr>
          <p:cNvSpPr/>
          <p:nvPr/>
        </p:nvSpPr>
        <p:spPr>
          <a:xfrm>
            <a:off x="8945880" y="1101276"/>
            <a:ext cx="1112520" cy="380600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Speech Bubble: Rectangle 10">
            <a:extLst>
              <a:ext uri="{FF2B5EF4-FFF2-40B4-BE49-F238E27FC236}">
                <a16:creationId xmlns:a16="http://schemas.microsoft.com/office/drawing/2014/main" id="{95C4E119-DCBD-3F37-550A-8C77E546079C}"/>
              </a:ext>
            </a:extLst>
          </p:cNvPr>
          <p:cNvSpPr/>
          <p:nvPr/>
        </p:nvSpPr>
        <p:spPr>
          <a:xfrm>
            <a:off x="396240" y="3375661"/>
            <a:ext cx="3901440" cy="1618074"/>
          </a:xfrm>
          <a:prstGeom prst="wedgeRectCallout">
            <a:avLst>
              <a:gd name="adj1" fmla="val -18157"/>
              <a:gd name="adj2" fmla="val -63430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+mj-lt"/>
              <a:buAutoNum type="arabicPeriod"/>
            </a:pPr>
            <a:r>
              <a:rPr lang="en-US" sz="1600" dirty="0">
                <a:solidFill>
                  <a:schemeClr val="tx1"/>
                </a:solidFill>
              </a:rPr>
              <a:t>Constructions are </a:t>
            </a:r>
            <a:r>
              <a:rPr lang="en-US" sz="1600" b="1" dirty="0">
                <a:solidFill>
                  <a:schemeClr val="tx1"/>
                </a:solidFill>
              </a:rPr>
              <a:t>robust to tiny errors.</a:t>
            </a:r>
          </a:p>
          <a:p>
            <a:pPr marL="342900" indent="-342900">
              <a:buFont typeface="+mj-lt"/>
              <a:buAutoNum type="arabicPeriod"/>
            </a:pPr>
            <a:endParaRPr lang="en-US" sz="1600" dirty="0">
              <a:solidFill>
                <a:schemeClr val="tx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600" dirty="0">
                <a:solidFill>
                  <a:schemeClr val="tx1"/>
                </a:solidFill>
              </a:rPr>
              <a:t>When designing, the </a:t>
            </a:r>
            <a:r>
              <a:rPr lang="en-US" sz="1600" b="1" dirty="0">
                <a:solidFill>
                  <a:schemeClr val="tx1"/>
                </a:solidFill>
              </a:rPr>
              <a:t>requirements are known reasonably well</a:t>
            </a:r>
            <a:r>
              <a:rPr lang="en-US" sz="1600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12" name="Speech Bubble: Rectangle 11">
            <a:extLst>
              <a:ext uri="{FF2B5EF4-FFF2-40B4-BE49-F238E27FC236}">
                <a16:creationId xmlns:a16="http://schemas.microsoft.com/office/drawing/2014/main" id="{433DE633-2908-E635-18AB-FFE4F55FE994}"/>
              </a:ext>
            </a:extLst>
          </p:cNvPr>
          <p:cNvSpPr/>
          <p:nvPr/>
        </p:nvSpPr>
        <p:spPr>
          <a:xfrm>
            <a:off x="4785360" y="3375660"/>
            <a:ext cx="3901440" cy="1618073"/>
          </a:xfrm>
          <a:prstGeom prst="wedgeRectCallout">
            <a:avLst>
              <a:gd name="adj1" fmla="val -18743"/>
              <a:gd name="adj2" fmla="val -68610"/>
            </a:avLst>
          </a:prstGeom>
          <a:solidFill>
            <a:schemeClr val="accent5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+mj-lt"/>
              <a:buAutoNum type="arabicPeriod"/>
            </a:pPr>
            <a:r>
              <a:rPr lang="en-US" sz="1600" dirty="0">
                <a:solidFill>
                  <a:schemeClr val="tx1"/>
                </a:solidFill>
              </a:rPr>
              <a:t>Software is </a:t>
            </a:r>
            <a:r>
              <a:rPr lang="en-US" sz="1600" b="1" dirty="0">
                <a:solidFill>
                  <a:schemeClr val="tx1"/>
                </a:solidFill>
              </a:rPr>
              <a:t>incredible flexible and fragile </a:t>
            </a:r>
            <a:r>
              <a:rPr lang="en-US" sz="1600" dirty="0">
                <a:solidFill>
                  <a:schemeClr val="tx1"/>
                </a:solidFill>
              </a:rPr>
              <a:t>at the same time.</a:t>
            </a:r>
          </a:p>
          <a:p>
            <a:pPr marL="342900" indent="-342900">
              <a:buFont typeface="+mj-lt"/>
              <a:buAutoNum type="arabicPeriod"/>
            </a:pPr>
            <a:endParaRPr lang="en-US" sz="1600" dirty="0">
              <a:solidFill>
                <a:schemeClr val="tx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600" dirty="0">
                <a:solidFill>
                  <a:schemeClr val="tx1"/>
                </a:solidFill>
              </a:rPr>
              <a:t>SE lives in a world of highly </a:t>
            </a:r>
            <a:r>
              <a:rPr lang="en-US" sz="1600" b="1" dirty="0">
                <a:solidFill>
                  <a:schemeClr val="tx1"/>
                </a:solidFill>
              </a:rPr>
              <a:t>imperfect information.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B2C3925F-D2D0-6546-3443-DC91FDFA4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9608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91E18-304B-80F7-95C6-E17D3EFA6A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8023C65-852D-C795-0D3C-33B169C8027C}"/>
              </a:ext>
            </a:extLst>
          </p:cNvPr>
          <p:cNvSpPr txBox="1"/>
          <p:nvPr/>
        </p:nvSpPr>
        <p:spPr>
          <a:xfrm>
            <a:off x="396240" y="236220"/>
            <a:ext cx="854964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 err="1">
                <a:solidFill>
                  <a:srgbClr val="0A1628"/>
                </a:solidFill>
                <a:latin typeface="Calibri"/>
              </a:rPr>
              <a:t>Sofware</a:t>
            </a:r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 engineering is a discovery process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1163763-349E-A24E-5671-C955384BF633}"/>
              </a:ext>
            </a:extLst>
          </p:cNvPr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Graphic 12" descr="Questions with solid fill">
            <a:extLst>
              <a:ext uri="{FF2B5EF4-FFF2-40B4-BE49-F238E27FC236}">
                <a16:creationId xmlns:a16="http://schemas.microsoft.com/office/drawing/2014/main" id="{B184CCEF-06E4-6E4A-E134-BAA2653666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1980" y="1495044"/>
            <a:ext cx="1706880" cy="1706880"/>
          </a:xfrm>
          <a:prstGeom prst="rect">
            <a:avLst/>
          </a:prstGeom>
        </p:spPr>
      </p:pic>
      <p:pic>
        <p:nvPicPr>
          <p:cNvPr id="8" name="Graphic 7" descr="Users with solid fill">
            <a:extLst>
              <a:ext uri="{FF2B5EF4-FFF2-40B4-BE49-F238E27FC236}">
                <a16:creationId xmlns:a16="http://schemas.microsoft.com/office/drawing/2014/main" id="{29BA82CE-F4AD-FDE2-E9DA-43C15D4494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977640" y="2038350"/>
            <a:ext cx="1386840" cy="1386840"/>
          </a:xfrm>
          <a:prstGeom prst="rect">
            <a:avLst/>
          </a:prstGeom>
        </p:spPr>
      </p:pic>
      <p:pic>
        <p:nvPicPr>
          <p:cNvPr id="10" name="Graphic 9" descr="Transfer with solid fill">
            <a:extLst>
              <a:ext uri="{FF2B5EF4-FFF2-40B4-BE49-F238E27FC236}">
                <a16:creationId xmlns:a16="http://schemas.microsoft.com/office/drawing/2014/main" id="{4AB4D949-3CC3-C275-D413-0B096703AF6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28541" y="1529678"/>
            <a:ext cx="685038" cy="685038"/>
          </a:xfrm>
          <a:prstGeom prst="rect">
            <a:avLst/>
          </a:prstGeom>
        </p:spPr>
      </p:pic>
      <p:pic>
        <p:nvPicPr>
          <p:cNvPr id="12" name="Graphic 11" descr="Help with solid fill">
            <a:extLst>
              <a:ext uri="{FF2B5EF4-FFF2-40B4-BE49-F238E27FC236}">
                <a16:creationId xmlns:a16="http://schemas.microsoft.com/office/drawing/2014/main" id="{B1AC953B-529D-0F82-71BA-83ADD59304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819232" y="1708022"/>
            <a:ext cx="1328739" cy="132873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6BC905E-7B6F-2243-326B-B839AC070C43}"/>
              </a:ext>
            </a:extLst>
          </p:cNvPr>
          <p:cNvSpPr txBox="1"/>
          <p:nvPr/>
        </p:nvSpPr>
        <p:spPr>
          <a:xfrm>
            <a:off x="548640" y="3340268"/>
            <a:ext cx="216408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000" b="0" dirty="0">
                <a:solidFill>
                  <a:srgbClr val="2D3748"/>
                </a:solidFill>
                <a:latin typeface="Calibri"/>
              </a:rPr>
              <a:t>Users </a:t>
            </a:r>
            <a:r>
              <a:rPr lang="en-US" sz="2000" b="1" dirty="0">
                <a:solidFill>
                  <a:srgbClr val="2D3748"/>
                </a:solidFill>
                <a:latin typeface="Calibri"/>
              </a:rPr>
              <a:t>don’t fully know </a:t>
            </a:r>
            <a:r>
              <a:rPr lang="en-US" sz="2000" b="0" dirty="0">
                <a:solidFill>
                  <a:srgbClr val="2D3748"/>
                </a:solidFill>
                <a:latin typeface="Calibri"/>
              </a:rPr>
              <a:t>what they want.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D124BF9-3ADB-F937-1827-6336EA8C7535}"/>
              </a:ext>
            </a:extLst>
          </p:cNvPr>
          <p:cNvSpPr txBox="1"/>
          <p:nvPr/>
        </p:nvSpPr>
        <p:spPr>
          <a:xfrm>
            <a:off x="3611880" y="3404198"/>
            <a:ext cx="19431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>
                <a:solidFill>
                  <a:srgbClr val="2D3748"/>
                </a:solidFill>
                <a:latin typeface="Calibri"/>
              </a:rPr>
              <a:t>Users </a:t>
            </a:r>
            <a:r>
              <a:rPr lang="en-US" sz="1800" b="1" dirty="0">
                <a:solidFill>
                  <a:srgbClr val="2D3748"/>
                </a:solidFill>
                <a:latin typeface="Calibri"/>
              </a:rPr>
              <a:t>will change </a:t>
            </a:r>
            <a:r>
              <a:rPr lang="en-US" sz="1800" dirty="0">
                <a:solidFill>
                  <a:srgbClr val="2D3748"/>
                </a:solidFill>
                <a:latin typeface="Calibri"/>
              </a:rPr>
              <a:t>their mind.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800889-59CE-E620-E515-652B9E9541A8}"/>
              </a:ext>
            </a:extLst>
          </p:cNvPr>
          <p:cNvSpPr txBox="1"/>
          <p:nvPr/>
        </p:nvSpPr>
        <p:spPr>
          <a:xfrm>
            <a:off x="6454140" y="3287180"/>
            <a:ext cx="249174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800" dirty="0">
                <a:solidFill>
                  <a:srgbClr val="2D3748"/>
                </a:solidFill>
                <a:latin typeface="Calibri"/>
              </a:rPr>
              <a:t>Building the software </a:t>
            </a:r>
            <a:r>
              <a:rPr lang="en-US" sz="1800" b="1" dirty="0">
                <a:solidFill>
                  <a:srgbClr val="2D3748"/>
                </a:solidFill>
                <a:latin typeface="Calibri"/>
              </a:rPr>
              <a:t>reveals unknown challenges </a:t>
            </a:r>
            <a:r>
              <a:rPr lang="en-US" sz="1800" dirty="0">
                <a:solidFill>
                  <a:srgbClr val="2D3748"/>
                </a:solidFill>
                <a:latin typeface="Calibri"/>
              </a:rPr>
              <a:t>over time.</a:t>
            </a:r>
            <a:endParaRPr lang="en-US" dirty="0"/>
          </a:p>
        </p:txBody>
      </p:sp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EF6F3A3A-51B5-521D-4887-5DE3C69A6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5212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6" grpId="0"/>
      <p:bldP spid="1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7B37B-6C3F-5023-C2DF-78052C49B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CC092E4-B870-488E-AE8B-F782C5E8A18B}"/>
              </a:ext>
            </a:extLst>
          </p:cNvPr>
          <p:cNvSpPr txBox="1"/>
          <p:nvPr/>
        </p:nvSpPr>
        <p:spPr>
          <a:xfrm>
            <a:off x="396240" y="236220"/>
            <a:ext cx="854964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The most important abilities in software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9E8079C-55F3-8D7D-5E73-95742AF857BB}"/>
              </a:ext>
            </a:extLst>
          </p:cNvPr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21" name="Diagram 20">
            <a:extLst>
              <a:ext uri="{FF2B5EF4-FFF2-40B4-BE49-F238E27FC236}">
                <a16:creationId xmlns:a16="http://schemas.microsoft.com/office/drawing/2014/main" id="{C89A246F-8D5A-5668-5C92-39A202B2D06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26555931"/>
              </p:ext>
            </p:extLst>
          </p:nvPr>
        </p:nvGraphicFramePr>
        <p:xfrm>
          <a:off x="720412" y="1079500"/>
          <a:ext cx="60960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Speech Bubble: Rectangle 3">
            <a:extLst>
              <a:ext uri="{FF2B5EF4-FFF2-40B4-BE49-F238E27FC236}">
                <a16:creationId xmlns:a16="http://schemas.microsoft.com/office/drawing/2014/main" id="{5E67E8F9-8706-BD92-3F5B-AADC8F01BFE7}"/>
              </a:ext>
            </a:extLst>
          </p:cNvPr>
          <p:cNvSpPr/>
          <p:nvPr/>
        </p:nvSpPr>
        <p:spPr>
          <a:xfrm>
            <a:off x="7141097" y="2628135"/>
            <a:ext cx="1644763" cy="708069"/>
          </a:xfrm>
          <a:prstGeom prst="wedgeRectCallout">
            <a:avLst>
              <a:gd name="adj1" fmla="val -58659"/>
              <a:gd name="adj2" fmla="val 19505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The faster you can do this, the better.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908C4B-1B67-1ABD-B440-0E8D070AB9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61050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3076D8-78FD-E008-25B3-569EC1AFDD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577B40-DB34-3A76-8BBF-0E0F9B7C760B}"/>
              </a:ext>
            </a:extLst>
          </p:cNvPr>
          <p:cNvSpPr txBox="1"/>
          <p:nvPr/>
        </p:nvSpPr>
        <p:spPr>
          <a:xfrm>
            <a:off x="396240" y="236220"/>
            <a:ext cx="854964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The 2 core challenges to review on this workshop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86B5D92-20C2-FB97-3A85-93416EC3C3E9}"/>
              </a:ext>
            </a:extLst>
          </p:cNvPr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5A24808-018E-C048-6613-71555C4F91A8}"/>
              </a:ext>
            </a:extLst>
          </p:cNvPr>
          <p:cNvSpPr txBox="1"/>
          <p:nvPr/>
        </p:nvSpPr>
        <p:spPr>
          <a:xfrm>
            <a:off x="1228126" y="1369762"/>
            <a:ext cx="18678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Learn quickly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ADE6D36-E770-4ADC-3F59-F5B7304581B9}"/>
              </a:ext>
            </a:extLst>
          </p:cNvPr>
          <p:cNvSpPr txBox="1"/>
          <p:nvPr/>
        </p:nvSpPr>
        <p:spPr>
          <a:xfrm>
            <a:off x="5572445" y="1365558"/>
            <a:ext cx="19996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Adapt quickly</a:t>
            </a:r>
          </a:p>
        </p:txBody>
      </p:sp>
      <p:pic>
        <p:nvPicPr>
          <p:cNvPr id="8" name="Graphic 7" descr="Lightbulb with solid fill">
            <a:extLst>
              <a:ext uri="{FF2B5EF4-FFF2-40B4-BE49-F238E27FC236}">
                <a16:creationId xmlns:a16="http://schemas.microsoft.com/office/drawing/2014/main" id="{1424E623-53FD-8BBD-2090-3ECF40246F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8046" y="1305282"/>
            <a:ext cx="554954" cy="554954"/>
          </a:xfrm>
          <a:prstGeom prst="rect">
            <a:avLst/>
          </a:prstGeom>
        </p:spPr>
      </p:pic>
      <p:pic>
        <p:nvPicPr>
          <p:cNvPr id="9" name="Picture 8" descr="6,100+ Adapt Icon Stock Illustrations, Royalty-Free Vector ...">
            <a:extLst>
              <a:ext uri="{FF2B5EF4-FFF2-40B4-BE49-F238E27FC236}">
                <a16:creationId xmlns:a16="http://schemas.microsoft.com/office/drawing/2014/main" id="{DB867B54-9A25-9906-88FF-F942D3BC40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0839" y="1202436"/>
            <a:ext cx="821606" cy="82160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4404AD3E-F63F-031B-7682-C1B9B1B1D6DA}"/>
              </a:ext>
            </a:extLst>
          </p:cNvPr>
          <p:cNvSpPr/>
          <p:nvPr/>
        </p:nvSpPr>
        <p:spPr>
          <a:xfrm>
            <a:off x="4335780" y="1860236"/>
            <a:ext cx="1112520" cy="45513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43B0F9-3FC3-E93B-E025-0EE08E86D77C}"/>
              </a:ext>
            </a:extLst>
          </p:cNvPr>
          <p:cNvSpPr txBox="1"/>
          <p:nvPr/>
        </p:nvSpPr>
        <p:spPr>
          <a:xfrm>
            <a:off x="727479" y="2444860"/>
            <a:ext cx="3608301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2D3748"/>
                </a:solidFill>
                <a:latin typeface="Calibri"/>
              </a:rPr>
              <a:t>Agile to have quick feedback loops.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2D3748"/>
              </a:solidFill>
              <a:latin typeface="Calibri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b="0" dirty="0">
              <a:solidFill>
                <a:srgbClr val="2D3748"/>
              </a:solidFill>
              <a:latin typeface="Calibri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2D3748"/>
                </a:solidFill>
                <a:latin typeface="Calibri"/>
              </a:rPr>
              <a:t>The scientific method to learn effectively on those loops.</a:t>
            </a:r>
            <a:endParaRPr sz="1600" b="0" dirty="0">
              <a:solidFill>
                <a:srgbClr val="2D3748"/>
              </a:solidFill>
              <a:latin typeface="Calibri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1103270-921F-9F78-012C-161CDEFFB467}"/>
              </a:ext>
            </a:extLst>
          </p:cNvPr>
          <p:cNvSpPr txBox="1"/>
          <p:nvPr/>
        </p:nvSpPr>
        <p:spPr>
          <a:xfrm>
            <a:off x="4750839" y="2433639"/>
            <a:ext cx="3608301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2D3748"/>
                </a:solidFill>
                <a:latin typeface="Calibri"/>
              </a:rPr>
              <a:t>Keep code complexity low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2D3748"/>
              </a:solidFill>
              <a:latin typeface="Calibri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2D3748"/>
              </a:solidFill>
              <a:latin typeface="Calibri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2D3748"/>
                </a:solidFill>
              </a:rPr>
              <a:t>Modularity &amp; isolation of changes</a:t>
            </a:r>
            <a:endParaRPr lang="en-US" sz="1600" dirty="0">
              <a:solidFill>
                <a:srgbClr val="2D3748"/>
              </a:solidFill>
              <a:latin typeface="Calibri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b="0" dirty="0">
              <a:solidFill>
                <a:srgbClr val="2D3748"/>
              </a:solidFill>
              <a:latin typeface="Calibri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b="0" dirty="0">
              <a:solidFill>
                <a:srgbClr val="2D3748"/>
              </a:solidFill>
              <a:latin typeface="Calibri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2D3748"/>
                </a:solidFill>
                <a:latin typeface="Calibri"/>
              </a:rPr>
              <a:t>Safety mechanisms for changes</a:t>
            </a:r>
            <a:endParaRPr sz="1600" b="0" dirty="0">
              <a:solidFill>
                <a:srgbClr val="2D3748"/>
              </a:solidFill>
              <a:latin typeface="Calibri"/>
            </a:endParaRP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92E68618-6D52-FA15-6FAC-8ACFBC799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92623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CAB9CC-3738-CA99-9F75-E034FC354B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76520E-8B08-5B95-260B-C2E3B2AA4457}"/>
              </a:ext>
            </a:extLst>
          </p:cNvPr>
          <p:cNvSpPr txBox="1"/>
          <p:nvPr/>
        </p:nvSpPr>
        <p:spPr>
          <a:xfrm>
            <a:off x="396240" y="236220"/>
            <a:ext cx="854964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Wait… why not just use AI-coding assistants?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3F16C5E-57FA-02D6-11B7-589944057FBE}"/>
              </a:ext>
            </a:extLst>
          </p:cNvPr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097893E-9570-DA09-DA22-320D77285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14</a:t>
            </a:fld>
            <a:endParaRPr lang="en-US"/>
          </a:p>
        </p:txBody>
      </p:sp>
      <p:pic>
        <p:nvPicPr>
          <p:cNvPr id="4" name="Picture 3" descr="Claude Connector | Low-Code Claude Integration | Cyclr">
            <a:extLst>
              <a:ext uri="{FF2B5EF4-FFF2-40B4-BE49-F238E27FC236}">
                <a16:creationId xmlns:a16="http://schemas.microsoft.com/office/drawing/2014/main" id="{0D5EFACB-EFBF-BAA0-AE82-A8CF6E5929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6412" y="1211690"/>
            <a:ext cx="1162050" cy="1162050"/>
          </a:xfrm>
          <a:prstGeom prst="rect">
            <a:avLst/>
          </a:prstGeom>
        </p:spPr>
      </p:pic>
      <p:pic>
        <p:nvPicPr>
          <p:cNvPr id="7" name="Picture 6" descr="Copilot Line icon - Free Download PNG &amp; SVG | Streamline">
            <a:extLst>
              <a:ext uri="{FF2B5EF4-FFF2-40B4-BE49-F238E27FC236}">
                <a16:creationId xmlns:a16="http://schemas.microsoft.com/office/drawing/2014/main" id="{3DE77C30-F922-CB67-A09D-804E5C389A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6412" y="2441733"/>
            <a:ext cx="1313712" cy="1313712"/>
          </a:xfrm>
          <a:prstGeom prst="rect">
            <a:avLst/>
          </a:prstGeom>
        </p:spPr>
      </p:pic>
      <p:pic>
        <p:nvPicPr>
          <p:cNvPr id="14" name="Picture 13" descr="Gemini Code Assist">
            <a:extLst>
              <a:ext uri="{FF2B5EF4-FFF2-40B4-BE49-F238E27FC236}">
                <a16:creationId xmlns:a16="http://schemas.microsoft.com/office/drawing/2014/main" id="{BE0A6896-C334-B1DB-4950-F8EC3E1A09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0924" y="3823438"/>
            <a:ext cx="1219200" cy="12192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AE77333-68F9-5920-7AD6-FA57DE8BF42D}"/>
              </a:ext>
            </a:extLst>
          </p:cNvPr>
          <p:cNvSpPr txBox="1"/>
          <p:nvPr/>
        </p:nvSpPr>
        <p:spPr>
          <a:xfrm>
            <a:off x="396240" y="1471170"/>
            <a:ext cx="698754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2D3748"/>
                </a:solidFill>
                <a:latin typeface="Calibri"/>
              </a:rPr>
              <a:t>What are your thoughts?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2000" dirty="0">
              <a:solidFill>
                <a:srgbClr val="2D3748"/>
              </a:solidFill>
              <a:latin typeface="Calibri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2D3748"/>
                </a:solidFill>
                <a:latin typeface="Calibri"/>
              </a:rPr>
              <a:t>Recent industry research shows that</a:t>
            </a:r>
            <a:r>
              <a:rPr lang="en-US" sz="2000" baseline="30000" dirty="0">
                <a:solidFill>
                  <a:srgbClr val="2D3748"/>
                </a:solidFill>
                <a:latin typeface="Calibri"/>
              </a:rPr>
              <a:t>1</a:t>
            </a:r>
            <a:r>
              <a:rPr lang="en-US" sz="2000" dirty="0">
                <a:solidFill>
                  <a:srgbClr val="2D3748"/>
                </a:solidFill>
                <a:latin typeface="Calibri"/>
              </a:rPr>
              <a:t>:</a:t>
            </a:r>
          </a:p>
          <a:p>
            <a:r>
              <a:rPr lang="en-US" sz="1600" b="1" i="1" dirty="0">
                <a:solidFill>
                  <a:srgbClr val="2D3748"/>
                </a:solidFill>
                <a:latin typeface="Calibri"/>
              </a:rPr>
              <a:t>AI’s primary role in software development is that of an amplifier</a:t>
            </a:r>
            <a:r>
              <a:rPr lang="en-US" sz="1600" b="0" i="1" dirty="0">
                <a:solidFill>
                  <a:srgbClr val="2D3748"/>
                </a:solidFill>
                <a:latin typeface="Calibri"/>
              </a:rPr>
              <a:t>, magnifying an organization’s existing strengths and weaknesses. The greatest returns on AI investment come not from the tools themselves, but from a strategic focus on the underlying organizational system.</a:t>
            </a:r>
          </a:p>
          <a:p>
            <a:pPr algn="ctr"/>
            <a:endParaRPr lang="en-US" sz="1600" i="1" dirty="0">
              <a:solidFill>
                <a:srgbClr val="2D3748"/>
              </a:solidFill>
              <a:latin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rgbClr val="2D3748"/>
                </a:solidFill>
                <a:latin typeface="Calibri"/>
              </a:rPr>
              <a:t>At the end of the day, </a:t>
            </a:r>
            <a:r>
              <a:rPr lang="en-US" sz="2000" b="1" dirty="0">
                <a:solidFill>
                  <a:srgbClr val="2D3748"/>
                </a:solidFill>
                <a:latin typeface="Calibri"/>
              </a:rPr>
              <a:t>you are responsible </a:t>
            </a:r>
            <a:r>
              <a:rPr lang="en-US" sz="2000" b="0" dirty="0">
                <a:solidFill>
                  <a:srgbClr val="2D3748"/>
                </a:solidFill>
                <a:latin typeface="Calibri"/>
              </a:rPr>
              <a:t>for the product, not who wrote it (ai-agent, student, teammate, </a:t>
            </a:r>
            <a:r>
              <a:rPr lang="en-US" sz="2000" b="0" dirty="0" err="1">
                <a:solidFill>
                  <a:srgbClr val="2D3748"/>
                </a:solidFill>
                <a:latin typeface="Calibri"/>
              </a:rPr>
              <a:t>etc</a:t>
            </a:r>
            <a:r>
              <a:rPr lang="en-US" sz="2000" b="0" dirty="0">
                <a:solidFill>
                  <a:srgbClr val="2D3748"/>
                </a:solidFill>
                <a:latin typeface="Calibri"/>
              </a:rPr>
              <a:t>).</a:t>
            </a:r>
            <a:endParaRPr sz="2000" b="0" dirty="0">
              <a:solidFill>
                <a:srgbClr val="2D3748"/>
              </a:solidFill>
              <a:latin typeface="Calibri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F84C908-8E94-6BA1-7583-2E5BFE33747C}"/>
              </a:ext>
            </a:extLst>
          </p:cNvPr>
          <p:cNvSpPr txBox="1"/>
          <p:nvPr/>
        </p:nvSpPr>
        <p:spPr>
          <a:xfrm>
            <a:off x="255600" y="4796417"/>
            <a:ext cx="8046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AutoNum type="arabicParenR"/>
            </a:pPr>
            <a:r>
              <a:rPr lang="en-US" sz="1000" dirty="0">
                <a:solidFill>
                  <a:srgbClr val="2D3748"/>
                </a:solidFill>
              </a:rPr>
              <a:t>Source: Google DORA Report 2015: </a:t>
            </a:r>
            <a:r>
              <a:rPr lang="en-US" sz="1000" dirty="0">
                <a:solidFill>
                  <a:srgbClr val="2D3748"/>
                </a:solidFill>
                <a:hlinkClick r:id="rId6"/>
              </a:rPr>
              <a:t>https://dora.dev/research/2025/dora-report/</a:t>
            </a:r>
            <a:r>
              <a:rPr lang="en-US" sz="1000" dirty="0">
                <a:solidFill>
                  <a:srgbClr val="2D3748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1824985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7A8"/>
                </a:solidFill>
                <a:latin typeface="Calibri"/>
              </a:rPr>
              <a:t>BLOCK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0A1628"/>
                </a:solidFill>
                <a:latin typeface="Calibri"/>
              </a:rPr>
              <a:t>Optimize for Learning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08760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D14FB0-0754-F0DC-2337-DD6BC31BA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The old ways of software development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E9347E-1084-BA42-ACD9-E1EC16541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16</a:t>
            </a:fld>
            <a:endParaRPr lang="en-US"/>
          </a:p>
        </p:txBody>
      </p:sp>
      <p:pic>
        <p:nvPicPr>
          <p:cNvPr id="8" name="Picture 7" descr="Visual representation of the 5 Stages of the Waterfall Model">
            <a:extLst>
              <a:ext uri="{FF2B5EF4-FFF2-40B4-BE49-F238E27FC236}">
                <a16:creationId xmlns:a16="http://schemas.microsoft.com/office/drawing/2014/main" id="{625774D4-F145-5873-DE35-D21E881942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8817"/>
            <a:ext cx="5123704" cy="36976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02C6998-68EB-6FD1-C72D-C53C1375AA21}"/>
              </a:ext>
            </a:extLst>
          </p:cNvPr>
          <p:cNvSpPr txBox="1"/>
          <p:nvPr/>
        </p:nvSpPr>
        <p:spPr>
          <a:xfrm>
            <a:off x="400380" y="4802235"/>
            <a:ext cx="8046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AutoNum type="arabicParenR"/>
            </a:pPr>
            <a:r>
              <a:rPr lang="en-US" sz="1000" dirty="0">
                <a:solidFill>
                  <a:srgbClr val="2D3748"/>
                </a:solidFill>
              </a:rPr>
              <a:t>Source: </a:t>
            </a:r>
            <a:r>
              <a:rPr lang="en-US" sz="1000" dirty="0">
                <a:solidFill>
                  <a:srgbClr val="2D3748"/>
                </a:solidFill>
                <a:hlinkClick r:id="rId3"/>
              </a:rPr>
              <a:t>https://management.org/waterfall-methodology</a:t>
            </a:r>
            <a:r>
              <a:rPr lang="en-US" sz="1000" dirty="0">
                <a:solidFill>
                  <a:srgbClr val="2D3748"/>
                </a:solidFill>
              </a:rPr>
              <a:t> </a:t>
            </a:r>
          </a:p>
        </p:txBody>
      </p:sp>
      <p:sp>
        <p:nvSpPr>
          <p:cNvPr id="10" name="Speech Bubble: Rectangle 9">
            <a:extLst>
              <a:ext uri="{FF2B5EF4-FFF2-40B4-BE49-F238E27FC236}">
                <a16:creationId xmlns:a16="http://schemas.microsoft.com/office/drawing/2014/main" id="{9CAEEFF1-19BD-14F9-E4ED-373CD4E274A8}"/>
              </a:ext>
            </a:extLst>
          </p:cNvPr>
          <p:cNvSpPr/>
          <p:nvPr/>
        </p:nvSpPr>
        <p:spPr>
          <a:xfrm>
            <a:off x="6039220" y="1686361"/>
            <a:ext cx="2548520" cy="2420112"/>
          </a:xfrm>
          <a:prstGeom prst="wedgeRectCallout">
            <a:avLst>
              <a:gd name="adj1" fmla="val -56504"/>
              <a:gd name="adj2" fmla="val -25862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2000" dirty="0">
                <a:solidFill>
                  <a:schemeClr val="tx1"/>
                </a:solidFill>
              </a:rPr>
              <a:t>Big problems:</a:t>
            </a:r>
          </a:p>
          <a:p>
            <a:endParaRPr lang="en-US" sz="2000" dirty="0">
              <a:solidFill>
                <a:schemeClr val="tx1"/>
              </a:solidFill>
            </a:endParaRPr>
          </a:p>
          <a:p>
            <a:r>
              <a:rPr lang="en-US" b="1" dirty="0">
                <a:solidFill>
                  <a:schemeClr val="tx1"/>
                </a:solidFill>
              </a:rPr>
              <a:t>Slow learning: </a:t>
            </a:r>
            <a:r>
              <a:rPr lang="en-US" dirty="0">
                <a:solidFill>
                  <a:schemeClr val="tx1"/>
                </a:solidFill>
              </a:rPr>
              <a:t>you learn what’s wrong at the end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b="1" dirty="0">
                <a:solidFill>
                  <a:schemeClr val="tx1"/>
                </a:solidFill>
              </a:rPr>
              <a:t>Slow adaptation</a:t>
            </a:r>
            <a:r>
              <a:rPr lang="en-US" dirty="0">
                <a:solidFill>
                  <a:schemeClr val="tx1"/>
                </a:solidFill>
              </a:rPr>
              <a:t>: system is thought as a rigid and linear process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CEDF6C-6221-613A-9CA2-F484BAF72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B5A3CDE-C045-C64C-13DF-DD32ACAE5765}"/>
              </a:ext>
            </a:extLst>
          </p:cNvPr>
          <p:cNvSpPr txBox="1"/>
          <p:nvPr/>
        </p:nvSpPr>
        <p:spPr>
          <a:xfrm>
            <a:off x="457200" y="274320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Agile allows learning through quick feedback loops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496000-97E5-1BB3-E51E-26934A15D8A9}"/>
              </a:ext>
            </a:extLst>
          </p:cNvPr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02076AC-F0BF-C6D0-BB88-770CB7D91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17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EDC07AE-C0CE-949C-682D-3851B390D6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109399"/>
            <a:ext cx="6675120" cy="3759781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396C878-53FD-333A-9AD1-CAC0DE8F723B}"/>
              </a:ext>
            </a:extLst>
          </p:cNvPr>
          <p:cNvSpPr/>
          <p:nvPr/>
        </p:nvSpPr>
        <p:spPr>
          <a:xfrm>
            <a:off x="3223260" y="4772219"/>
            <a:ext cx="3253740" cy="217945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tx1"/>
                </a:solidFill>
              </a:rPr>
              <a:t>Read the agile manifesto: </a:t>
            </a:r>
            <a:r>
              <a:rPr lang="en-US" sz="1000" dirty="0">
                <a:solidFill>
                  <a:schemeClr val="tx1"/>
                </a:solidFill>
                <a:hlinkClick r:id="rId3"/>
              </a:rPr>
              <a:t>https://agilemanifesto.org/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12" name="Arrow: Chevron 11">
            <a:extLst>
              <a:ext uri="{FF2B5EF4-FFF2-40B4-BE49-F238E27FC236}">
                <a16:creationId xmlns:a16="http://schemas.microsoft.com/office/drawing/2014/main" id="{ECE03444-1F24-E6D0-C6B6-E1EE4E4092D6}"/>
              </a:ext>
            </a:extLst>
          </p:cNvPr>
          <p:cNvSpPr/>
          <p:nvPr/>
        </p:nvSpPr>
        <p:spPr>
          <a:xfrm>
            <a:off x="3931920" y="3714274"/>
            <a:ext cx="1005840" cy="578822"/>
          </a:xfrm>
          <a:prstGeom prst="chevron">
            <a:avLst>
              <a:gd name="adj" fmla="val 39401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Feedback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55BDC88-3BC6-9E02-945F-E60215FF31E9}"/>
              </a:ext>
            </a:extLst>
          </p:cNvPr>
          <p:cNvCxnSpPr>
            <a:cxnSpLocks/>
          </p:cNvCxnSpPr>
          <p:nvPr/>
        </p:nvCxnSpPr>
        <p:spPr>
          <a:xfrm flipH="1" flipV="1">
            <a:off x="1508760" y="4511040"/>
            <a:ext cx="3674110" cy="717"/>
          </a:xfrm>
          <a:prstGeom prst="straightConnector1">
            <a:avLst/>
          </a:prstGeom>
          <a:ln>
            <a:headEnd type="none" w="med" len="med"/>
            <a:tailEnd type="none" w="med" len="med"/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8B68ECF-5735-B9E4-75BF-2AA173072724}"/>
              </a:ext>
            </a:extLst>
          </p:cNvPr>
          <p:cNvCxnSpPr/>
          <p:nvPr/>
        </p:nvCxnSpPr>
        <p:spPr>
          <a:xfrm>
            <a:off x="4903470" y="4003685"/>
            <a:ext cx="279400" cy="0"/>
          </a:xfrm>
          <a:prstGeom prst="line">
            <a:avLst/>
          </a:prstGeom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0E140AD-91D7-A0E7-88E3-B514E78D66C4}"/>
              </a:ext>
            </a:extLst>
          </p:cNvPr>
          <p:cNvCxnSpPr>
            <a:cxnSpLocks/>
          </p:cNvCxnSpPr>
          <p:nvPr/>
        </p:nvCxnSpPr>
        <p:spPr>
          <a:xfrm>
            <a:off x="5182870" y="3991780"/>
            <a:ext cx="0" cy="522358"/>
          </a:xfrm>
          <a:prstGeom prst="line">
            <a:avLst/>
          </a:prstGeom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85C48AF-5CCD-FEF7-DC1A-4C88CE5F2070}"/>
              </a:ext>
            </a:extLst>
          </p:cNvPr>
          <p:cNvCxnSpPr>
            <a:cxnSpLocks/>
          </p:cNvCxnSpPr>
          <p:nvPr/>
        </p:nvCxnSpPr>
        <p:spPr>
          <a:xfrm>
            <a:off x="1508760" y="4250578"/>
            <a:ext cx="0" cy="269128"/>
          </a:xfrm>
          <a:prstGeom prst="line">
            <a:avLst/>
          </a:prstGeom>
          <a:ln>
            <a:headEnd type="triangle" w="med" len="med"/>
            <a:tailEnd type="none" w="med" len="med"/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04440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1A6CE1-C6B1-D5B1-03D1-1DCE4A02C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A57203-72D1-F1BF-83A3-67A57866933F}"/>
              </a:ext>
            </a:extLst>
          </p:cNvPr>
          <p:cNvSpPr txBox="1"/>
          <p:nvPr/>
        </p:nvSpPr>
        <p:spPr>
          <a:xfrm>
            <a:off x="457200" y="274320"/>
            <a:ext cx="855726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dirty="0">
                <a:solidFill>
                  <a:srgbClr val="0A1628"/>
                </a:solidFill>
                <a:latin typeface="Calibri"/>
              </a:rPr>
              <a:t>Agile strategy: working iteratively and incrementally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719496A-64C6-056C-5AD1-DB616E9A39B9}"/>
              </a:ext>
            </a:extLst>
          </p:cNvPr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CBF985-7A61-5AB5-6E13-0CAA73C3817C}"/>
              </a:ext>
            </a:extLst>
          </p:cNvPr>
          <p:cNvSpPr txBox="1"/>
          <p:nvPr/>
        </p:nvSpPr>
        <p:spPr>
          <a:xfrm>
            <a:off x="4572000" y="1509182"/>
            <a:ext cx="4274820" cy="32316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rgbClr val="2D3748"/>
                </a:solidFill>
              </a:rPr>
              <a:t>Incremental</a:t>
            </a:r>
            <a:r>
              <a:rPr lang="en-US" sz="2800" dirty="0">
                <a:solidFill>
                  <a:srgbClr val="2D3748"/>
                </a:solidFill>
              </a:rPr>
              <a:t>  </a:t>
            </a:r>
            <a:endParaRPr lang="en-US" sz="2400" dirty="0">
              <a:solidFill>
                <a:srgbClr val="2D3748"/>
              </a:solidFill>
            </a:endParaRPr>
          </a:p>
          <a:p>
            <a:pPr algn="ctr"/>
            <a:r>
              <a:rPr lang="en-US" sz="2400" dirty="0">
                <a:solidFill>
                  <a:srgbClr val="2D3748"/>
                </a:solidFill>
              </a:rPr>
              <a:t>“Don't build it all at once"</a:t>
            </a:r>
          </a:p>
          <a:p>
            <a:endParaRPr lang="en-US" sz="2400" b="1" i="0" dirty="0">
              <a:solidFill>
                <a:srgbClr val="2D3748"/>
              </a:solidFill>
              <a:latin typeface="Calibri"/>
            </a:endParaRPr>
          </a:p>
          <a:p>
            <a:endParaRPr lang="en-US" sz="2400" b="1" dirty="0">
              <a:solidFill>
                <a:srgbClr val="2D3748"/>
              </a:solidFill>
              <a:latin typeface="Calibri"/>
            </a:endParaRPr>
          </a:p>
          <a:p>
            <a:r>
              <a:rPr sz="2400" b="1" i="0" dirty="0">
                <a:solidFill>
                  <a:srgbClr val="2D3748"/>
                </a:solidFill>
                <a:latin typeface="Calibri"/>
              </a:rPr>
              <a:t>Iterative</a:t>
            </a:r>
            <a:r>
              <a:rPr lang="en-US" sz="2400" b="0" i="0" dirty="0">
                <a:solidFill>
                  <a:srgbClr val="2D3748"/>
                </a:solidFill>
                <a:latin typeface="Calibri"/>
              </a:rPr>
              <a:t> </a:t>
            </a:r>
          </a:p>
          <a:p>
            <a:pPr algn="ctr"/>
            <a:r>
              <a:rPr lang="en-US" sz="2000" dirty="0">
                <a:solidFill>
                  <a:srgbClr val="2D3748"/>
                </a:solidFill>
                <a:latin typeface="Calibri"/>
              </a:rPr>
              <a:t>“D</a:t>
            </a:r>
            <a:r>
              <a:rPr sz="2000" b="0" i="0" dirty="0">
                <a:solidFill>
                  <a:srgbClr val="2D3748"/>
                </a:solidFill>
                <a:latin typeface="Calibri"/>
              </a:rPr>
              <a:t>on't try to get it all right from the beginning</a:t>
            </a:r>
            <a:r>
              <a:rPr lang="en-US" sz="2000" dirty="0">
                <a:solidFill>
                  <a:srgbClr val="2D3748"/>
                </a:solidFill>
                <a:latin typeface="Calibri"/>
              </a:rPr>
              <a:t>"</a:t>
            </a:r>
            <a:endParaRPr lang="en-US" sz="2000" b="0" i="0" dirty="0">
              <a:solidFill>
                <a:srgbClr val="2D3748"/>
              </a:solidFill>
              <a:latin typeface="Calibri"/>
            </a:endParaRPr>
          </a:p>
          <a:p>
            <a:r>
              <a:rPr sz="2000" b="0" i="0" dirty="0">
                <a:solidFill>
                  <a:srgbClr val="2D3748"/>
                </a:solidFill>
                <a:latin typeface="Calibri"/>
              </a:rPr>
              <a:t>
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E4FD01-764F-400C-0576-C7B2D04AC4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6CA0102-CDE4-9E12-172F-DCA16B369B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99" y="1024127"/>
            <a:ext cx="3817621" cy="410778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9BFFBAC-23FC-2AEE-B6E9-68825738B2A2}"/>
              </a:ext>
            </a:extLst>
          </p:cNvPr>
          <p:cNvSpPr txBox="1"/>
          <p:nvPr/>
        </p:nvSpPr>
        <p:spPr>
          <a:xfrm>
            <a:off x="4693920" y="4836765"/>
            <a:ext cx="13182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rgbClr val="2D3748"/>
                </a:solidFill>
              </a:rPr>
              <a:t>Source: Jeff Paton</a:t>
            </a:r>
          </a:p>
        </p:txBody>
      </p:sp>
    </p:spTree>
    <p:extLst>
      <p:ext uri="{BB962C8B-B14F-4D97-AF65-F5344CB8AC3E}">
        <p14:creationId xmlns:p14="http://schemas.microsoft.com/office/powerpoint/2010/main" val="3625450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The S</a:t>
            </a:r>
            <a:r>
              <a:rPr sz="3000" b="1" i="0" dirty="0">
                <a:solidFill>
                  <a:srgbClr val="0A1628"/>
                </a:solidFill>
                <a:latin typeface="Calibri"/>
              </a:rPr>
              <a:t>cientific Method</a:t>
            </a:r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 to learn effectively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16B93F-D600-78A5-9543-EF38EEA43B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19</a:t>
            </a:fld>
            <a:endParaRPr lang="en-US"/>
          </a:p>
        </p:txBody>
      </p:sp>
      <p:pic>
        <p:nvPicPr>
          <p:cNvPr id="6" name="Picture 5" descr="The scientific method is a process for experimentation">
            <a:extLst>
              <a:ext uri="{FF2B5EF4-FFF2-40B4-BE49-F238E27FC236}">
                <a16:creationId xmlns:a16="http://schemas.microsoft.com/office/drawing/2014/main" id="{4DF21B99-8DAF-8B08-B585-74B19D8416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088"/>
            <a:ext cx="3665412" cy="366541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CD6F575-565A-1A55-29CC-9AA9DF2591B6}"/>
              </a:ext>
            </a:extLst>
          </p:cNvPr>
          <p:cNvSpPr txBox="1"/>
          <p:nvPr/>
        </p:nvSpPr>
        <p:spPr>
          <a:xfrm>
            <a:off x="385002" y="4869180"/>
            <a:ext cx="74752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/>
              <a:t>Source: </a:t>
            </a:r>
            <a:r>
              <a:rPr lang="en-US" sz="800" dirty="0">
                <a:hlinkClick r:id="rId3"/>
              </a:rPr>
              <a:t>https://www.australianenvironmentaleducation.com.au/education-resources/what-is-the-scientific-method/</a:t>
            </a:r>
            <a:r>
              <a:rPr lang="en-US" sz="800" dirty="0"/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0568C0C-EBF9-2526-7464-B7BD50041B9A}"/>
              </a:ext>
            </a:extLst>
          </p:cNvPr>
          <p:cNvSpPr txBox="1"/>
          <p:nvPr/>
        </p:nvSpPr>
        <p:spPr>
          <a:xfrm>
            <a:off x="4236720" y="1068992"/>
            <a:ext cx="467106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i="0" dirty="0">
                <a:solidFill>
                  <a:srgbClr val="2D3748"/>
                </a:solidFill>
                <a:latin typeface="Calibri"/>
              </a:rPr>
              <a:t>Principles</a:t>
            </a:r>
          </a:p>
          <a:p>
            <a:endParaRPr lang="en-US" sz="1100" dirty="0">
              <a:solidFill>
                <a:srgbClr val="2D3748"/>
              </a:solidFill>
              <a:latin typeface="Calibri"/>
            </a:endParaRPr>
          </a:p>
          <a:p>
            <a:r>
              <a:rPr lang="en-US" sz="1400" b="1" i="0" dirty="0">
                <a:solidFill>
                  <a:srgbClr val="2D3748"/>
                </a:solidFill>
                <a:latin typeface="Calibri"/>
              </a:rPr>
              <a:t>Skepticism</a:t>
            </a:r>
            <a:r>
              <a:rPr lang="en-US" sz="1400" b="0" i="0" dirty="0">
                <a:solidFill>
                  <a:srgbClr val="2D3748"/>
                </a:solidFill>
                <a:latin typeface="Calibri"/>
              </a:rPr>
              <a:t>: don’t trust, demand evidence.</a:t>
            </a:r>
          </a:p>
          <a:p>
            <a:endParaRPr lang="en-US" sz="1400" b="0" i="0" dirty="0">
              <a:solidFill>
                <a:srgbClr val="2D3748"/>
              </a:solidFill>
              <a:latin typeface="Calibri"/>
            </a:endParaRPr>
          </a:p>
          <a:p>
            <a:r>
              <a:rPr lang="en-US" sz="1400" b="1" i="0" dirty="0">
                <a:solidFill>
                  <a:srgbClr val="2D3748"/>
                </a:solidFill>
                <a:latin typeface="Calibri"/>
              </a:rPr>
              <a:t>Evidence over authority</a:t>
            </a:r>
            <a:r>
              <a:rPr lang="en-US" sz="1400" b="0" i="0" dirty="0">
                <a:solidFill>
                  <a:srgbClr val="2D3748"/>
                </a:solidFill>
                <a:latin typeface="Calibri"/>
              </a:rPr>
              <a:t>: does not matter who wrote the code, only what the evidence says.</a:t>
            </a:r>
          </a:p>
          <a:p>
            <a:endParaRPr lang="en-US" sz="1400" b="0" i="0" dirty="0">
              <a:solidFill>
                <a:srgbClr val="2D3748"/>
              </a:solidFill>
              <a:latin typeface="Calibri"/>
            </a:endParaRPr>
          </a:p>
          <a:p>
            <a:r>
              <a:rPr lang="en-US" sz="1400" b="1" dirty="0">
                <a:solidFill>
                  <a:srgbClr val="2D3748"/>
                </a:solidFill>
                <a:latin typeface="Calibri"/>
              </a:rPr>
              <a:t>Relevance</a:t>
            </a:r>
            <a:r>
              <a:rPr lang="en-US" sz="1400" dirty="0">
                <a:solidFill>
                  <a:srgbClr val="2D3748"/>
                </a:solidFill>
                <a:latin typeface="Calibri"/>
              </a:rPr>
              <a:t>: prove the experiment matters.</a:t>
            </a:r>
          </a:p>
          <a:p>
            <a:endParaRPr lang="en-US" sz="1400" dirty="0">
              <a:solidFill>
                <a:srgbClr val="2D3748"/>
              </a:solidFill>
              <a:latin typeface="Calibri"/>
            </a:endParaRPr>
          </a:p>
          <a:p>
            <a:r>
              <a:rPr lang="en-US" sz="1400" b="1" i="0" dirty="0">
                <a:solidFill>
                  <a:srgbClr val="2D3748"/>
                </a:solidFill>
                <a:latin typeface="Calibri"/>
              </a:rPr>
              <a:t>Testability</a:t>
            </a:r>
            <a:r>
              <a:rPr lang="en-US" sz="1400" b="0" i="0" dirty="0">
                <a:solidFill>
                  <a:srgbClr val="2D3748"/>
                </a:solidFill>
                <a:latin typeface="Calibri"/>
              </a:rPr>
              <a:t>: the hypothesis must be objective and measurable.</a:t>
            </a:r>
          </a:p>
          <a:p>
            <a:endParaRPr lang="en-US" sz="1400" b="0" i="0" dirty="0">
              <a:solidFill>
                <a:srgbClr val="2D3748"/>
              </a:solidFill>
              <a:latin typeface="Calibri"/>
            </a:endParaRPr>
          </a:p>
          <a:p>
            <a:r>
              <a:rPr lang="en-US" sz="1400" b="1" dirty="0">
                <a:solidFill>
                  <a:srgbClr val="2D3748"/>
                </a:solidFill>
                <a:latin typeface="Calibri"/>
              </a:rPr>
              <a:t>Reproducibility</a:t>
            </a:r>
            <a:r>
              <a:rPr lang="en-US" sz="1400" dirty="0">
                <a:solidFill>
                  <a:srgbClr val="2D3748"/>
                </a:solidFill>
                <a:latin typeface="Calibri"/>
              </a:rPr>
              <a:t>: anyone should be able to run the experiment again.</a:t>
            </a:r>
          </a:p>
          <a:p>
            <a:endParaRPr lang="en-US" sz="1400" dirty="0">
              <a:solidFill>
                <a:srgbClr val="2D3748"/>
              </a:solidFill>
              <a:latin typeface="Calibri"/>
            </a:endParaRPr>
          </a:p>
          <a:p>
            <a:r>
              <a:rPr lang="en-US" sz="1400" b="1" i="0" dirty="0">
                <a:solidFill>
                  <a:srgbClr val="2D3748"/>
                </a:solidFill>
                <a:latin typeface="Calibri"/>
              </a:rPr>
              <a:t>Causality</a:t>
            </a:r>
            <a:r>
              <a:rPr lang="en-US" sz="1400" b="0" i="0" dirty="0">
                <a:solidFill>
                  <a:srgbClr val="2D3748"/>
                </a:solidFill>
                <a:latin typeface="Calibri"/>
              </a:rPr>
              <a:t>: the experiment variables should be controlled to show causality.</a:t>
            </a:r>
            <a:endParaRPr lang="en-US" sz="1600" b="0" i="0" dirty="0">
              <a:solidFill>
                <a:srgbClr val="2D3748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39B52-FD94-4B01-19B0-251DE16B0A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B9E891E-0D38-6D80-EC71-FC33EFA3D2FB}"/>
              </a:ext>
            </a:extLst>
          </p:cNvPr>
          <p:cNvSpPr txBox="1"/>
          <p:nvPr/>
        </p:nvSpPr>
        <p:spPr>
          <a:xfrm>
            <a:off x="457200" y="274320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dirty="0">
                <a:solidFill>
                  <a:srgbClr val="0A1628"/>
                </a:solidFill>
                <a:latin typeface="Calibri"/>
              </a:rPr>
              <a:t>Examples of violations heard in the industry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0ABD90C-890A-AAEE-32E5-B33349CBD503}"/>
              </a:ext>
            </a:extLst>
          </p:cNvPr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E40BF51-B23B-48AC-B1F0-064CB8111A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20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FF638D-ECF4-C305-B7BF-736184D83702}"/>
              </a:ext>
            </a:extLst>
          </p:cNvPr>
          <p:cNvSpPr txBox="1"/>
          <p:nvPr/>
        </p:nvSpPr>
        <p:spPr>
          <a:xfrm>
            <a:off x="243840" y="1039451"/>
            <a:ext cx="3619500" cy="386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i="0" dirty="0">
                <a:solidFill>
                  <a:srgbClr val="2D3748"/>
                </a:solidFill>
                <a:latin typeface="Calibri"/>
              </a:rPr>
              <a:t>Principles</a:t>
            </a:r>
          </a:p>
          <a:p>
            <a:endParaRPr lang="en-US" sz="1100" dirty="0">
              <a:solidFill>
                <a:srgbClr val="2D3748"/>
              </a:solidFill>
              <a:latin typeface="Calibri"/>
            </a:endParaRPr>
          </a:p>
          <a:p>
            <a:r>
              <a:rPr lang="en-US" sz="1400" b="1" i="0" dirty="0">
                <a:solidFill>
                  <a:srgbClr val="2D3748"/>
                </a:solidFill>
                <a:latin typeface="Calibri"/>
              </a:rPr>
              <a:t>Skepticism</a:t>
            </a:r>
            <a:r>
              <a:rPr lang="en-US" sz="1400" b="0" i="0" dirty="0">
                <a:solidFill>
                  <a:srgbClr val="2D3748"/>
                </a:solidFill>
                <a:latin typeface="Calibri"/>
              </a:rPr>
              <a:t>: don’t trust, demand evidence.</a:t>
            </a:r>
          </a:p>
          <a:p>
            <a:endParaRPr lang="en-US" sz="1400" b="0" i="0" dirty="0">
              <a:solidFill>
                <a:srgbClr val="2D3748"/>
              </a:solidFill>
              <a:latin typeface="Calibri"/>
            </a:endParaRPr>
          </a:p>
          <a:p>
            <a:r>
              <a:rPr lang="en-US" sz="1400" b="1" i="0" dirty="0">
                <a:solidFill>
                  <a:srgbClr val="2D3748"/>
                </a:solidFill>
                <a:latin typeface="Calibri"/>
              </a:rPr>
              <a:t>Evidence over authority</a:t>
            </a:r>
            <a:r>
              <a:rPr lang="en-US" sz="1400" b="0" i="0" dirty="0">
                <a:solidFill>
                  <a:srgbClr val="2D3748"/>
                </a:solidFill>
                <a:latin typeface="Calibri"/>
              </a:rPr>
              <a:t>: does not matter who wrote the code, only what the evidence says.</a:t>
            </a:r>
          </a:p>
          <a:p>
            <a:endParaRPr lang="en-US" sz="1400" b="0" i="0" dirty="0">
              <a:solidFill>
                <a:srgbClr val="2D3748"/>
              </a:solidFill>
              <a:latin typeface="Calibri"/>
            </a:endParaRPr>
          </a:p>
          <a:p>
            <a:r>
              <a:rPr lang="en-US" sz="1400" b="1" dirty="0">
                <a:solidFill>
                  <a:srgbClr val="2D3748"/>
                </a:solidFill>
                <a:latin typeface="Calibri"/>
              </a:rPr>
              <a:t>Relevance</a:t>
            </a:r>
            <a:r>
              <a:rPr lang="en-US" sz="1400" dirty="0">
                <a:solidFill>
                  <a:srgbClr val="2D3748"/>
                </a:solidFill>
                <a:latin typeface="Calibri"/>
              </a:rPr>
              <a:t>: prove the experiment matters.</a:t>
            </a:r>
          </a:p>
          <a:p>
            <a:endParaRPr lang="en-US" sz="1400" dirty="0">
              <a:solidFill>
                <a:srgbClr val="2D3748"/>
              </a:solidFill>
              <a:latin typeface="Calibri"/>
            </a:endParaRPr>
          </a:p>
          <a:p>
            <a:r>
              <a:rPr lang="en-US" sz="1400" b="1" i="0" dirty="0">
                <a:solidFill>
                  <a:srgbClr val="2D3748"/>
                </a:solidFill>
                <a:latin typeface="Calibri"/>
              </a:rPr>
              <a:t>Testability</a:t>
            </a:r>
            <a:r>
              <a:rPr lang="en-US" sz="1400" b="0" i="0" dirty="0">
                <a:solidFill>
                  <a:srgbClr val="2D3748"/>
                </a:solidFill>
                <a:latin typeface="Calibri"/>
              </a:rPr>
              <a:t>: the hypothesis must be objective and measurable.</a:t>
            </a:r>
          </a:p>
          <a:p>
            <a:endParaRPr lang="en-US" sz="1400" b="0" i="0" dirty="0">
              <a:solidFill>
                <a:srgbClr val="2D3748"/>
              </a:solidFill>
              <a:latin typeface="Calibri"/>
            </a:endParaRPr>
          </a:p>
          <a:p>
            <a:r>
              <a:rPr lang="en-US" sz="1400" b="1" dirty="0">
                <a:solidFill>
                  <a:srgbClr val="2D3748"/>
                </a:solidFill>
                <a:latin typeface="Calibri"/>
              </a:rPr>
              <a:t>Reproducibility</a:t>
            </a:r>
            <a:r>
              <a:rPr lang="en-US" sz="1400" dirty="0">
                <a:solidFill>
                  <a:srgbClr val="2D3748"/>
                </a:solidFill>
                <a:latin typeface="Calibri"/>
              </a:rPr>
              <a:t>: anyone should be able to run the experiment again.</a:t>
            </a:r>
          </a:p>
          <a:p>
            <a:endParaRPr lang="en-US" sz="1400" dirty="0">
              <a:solidFill>
                <a:srgbClr val="2D3748"/>
              </a:solidFill>
              <a:latin typeface="Calibri"/>
            </a:endParaRPr>
          </a:p>
          <a:p>
            <a:r>
              <a:rPr lang="en-US" sz="1400" b="1" i="0" dirty="0">
                <a:solidFill>
                  <a:srgbClr val="2D3748"/>
                </a:solidFill>
                <a:latin typeface="Calibri"/>
              </a:rPr>
              <a:t>Causality</a:t>
            </a:r>
            <a:r>
              <a:rPr lang="en-US" sz="1400" b="0" i="0" dirty="0">
                <a:solidFill>
                  <a:srgbClr val="2D3748"/>
                </a:solidFill>
                <a:latin typeface="Calibri"/>
              </a:rPr>
              <a:t>: the experiment variables</a:t>
            </a:r>
            <a:endParaRPr lang="en-US" sz="1400" dirty="0">
              <a:solidFill>
                <a:srgbClr val="2D3748"/>
              </a:solidFill>
              <a:latin typeface="Calibri"/>
            </a:endParaRPr>
          </a:p>
          <a:p>
            <a:r>
              <a:rPr lang="en-US" sz="1400" b="0" i="0" dirty="0">
                <a:solidFill>
                  <a:srgbClr val="2D3748"/>
                </a:solidFill>
                <a:latin typeface="Calibri"/>
              </a:rPr>
              <a:t>Should be controlled to show causality.</a:t>
            </a:r>
            <a:endParaRPr lang="en-US" sz="1600" b="0" i="0" dirty="0">
              <a:solidFill>
                <a:srgbClr val="2D3748"/>
              </a:solidFill>
              <a:latin typeface="Calibri"/>
            </a:endParaRPr>
          </a:p>
        </p:txBody>
      </p:sp>
      <p:sp>
        <p:nvSpPr>
          <p:cNvPr id="4" name="Speech Bubble: Rectangle 3">
            <a:extLst>
              <a:ext uri="{FF2B5EF4-FFF2-40B4-BE49-F238E27FC236}">
                <a16:creationId xmlns:a16="http://schemas.microsoft.com/office/drawing/2014/main" id="{56630494-744F-D8AC-1104-4A399FCC53F1}"/>
              </a:ext>
            </a:extLst>
          </p:cNvPr>
          <p:cNvSpPr/>
          <p:nvPr/>
        </p:nvSpPr>
        <p:spPr>
          <a:xfrm>
            <a:off x="3943350" y="1114782"/>
            <a:ext cx="5173980" cy="706985"/>
          </a:xfrm>
          <a:prstGeom prst="wedgeRectCallout">
            <a:avLst>
              <a:gd name="adj1" fmla="val -52711"/>
              <a:gd name="adj2" fmla="val 26758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b="1" dirty="0">
                <a:solidFill>
                  <a:schemeClr val="tx1"/>
                </a:solidFill>
              </a:rPr>
              <a:t>Q: Why did you not provide automatic tests on the new constraint?</a:t>
            </a:r>
          </a:p>
          <a:p>
            <a:r>
              <a:rPr lang="en-US" sz="1200" dirty="0">
                <a:solidFill>
                  <a:schemeClr val="tx1"/>
                </a:solidFill>
              </a:rPr>
              <a:t>It’s not necessary, I know this works because it’s the same constraint that I have on another repository which has been working correctly for a long time.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7" name="Speech Bubble: Rectangle 6">
            <a:extLst>
              <a:ext uri="{FF2B5EF4-FFF2-40B4-BE49-F238E27FC236}">
                <a16:creationId xmlns:a16="http://schemas.microsoft.com/office/drawing/2014/main" id="{BA704BF9-F465-FB3D-C489-99F3556B09E9}"/>
              </a:ext>
            </a:extLst>
          </p:cNvPr>
          <p:cNvSpPr/>
          <p:nvPr/>
        </p:nvSpPr>
        <p:spPr>
          <a:xfrm>
            <a:off x="3943350" y="1946794"/>
            <a:ext cx="4019550" cy="522169"/>
          </a:xfrm>
          <a:prstGeom prst="wedgeRectCallout">
            <a:avLst>
              <a:gd name="adj1" fmla="val -52711"/>
              <a:gd name="adj2" fmla="val 26758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b="1" dirty="0">
                <a:solidFill>
                  <a:schemeClr val="tx1"/>
                </a:solidFill>
              </a:rPr>
              <a:t>Q: Why this piece of code has no tests?</a:t>
            </a:r>
          </a:p>
          <a:p>
            <a:r>
              <a:rPr lang="en-US" sz="1200" dirty="0">
                <a:solidFill>
                  <a:schemeClr val="tx1"/>
                </a:solidFill>
              </a:rPr>
              <a:t>It was written by [the boss, a principal engineer, a smart guy]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10" name="Speech Bubble: Rectangle 9">
            <a:extLst>
              <a:ext uri="{FF2B5EF4-FFF2-40B4-BE49-F238E27FC236}">
                <a16:creationId xmlns:a16="http://schemas.microsoft.com/office/drawing/2014/main" id="{DA317EBF-453C-9F35-BAFC-46D463213061}"/>
              </a:ext>
            </a:extLst>
          </p:cNvPr>
          <p:cNvSpPr/>
          <p:nvPr/>
        </p:nvSpPr>
        <p:spPr>
          <a:xfrm>
            <a:off x="3943350" y="2548357"/>
            <a:ext cx="5116830" cy="522169"/>
          </a:xfrm>
          <a:prstGeom prst="wedgeRectCallout">
            <a:avLst>
              <a:gd name="adj1" fmla="val -52332"/>
              <a:gd name="adj2" fmla="val 10706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b="1" dirty="0">
                <a:solidFill>
                  <a:schemeClr val="tx1"/>
                </a:solidFill>
              </a:rPr>
              <a:t>Q: Why are you modifying the optimization algorithm?</a:t>
            </a:r>
          </a:p>
          <a:p>
            <a:r>
              <a:rPr lang="en-US" sz="1200" dirty="0">
                <a:solidFill>
                  <a:schemeClr val="tx1"/>
                </a:solidFill>
              </a:rPr>
              <a:t>It will decrease the run time of our model from 10 seconds to 9.8 seconds.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11" name="Speech Bubble: Rectangle 10">
            <a:extLst>
              <a:ext uri="{FF2B5EF4-FFF2-40B4-BE49-F238E27FC236}">
                <a16:creationId xmlns:a16="http://schemas.microsoft.com/office/drawing/2014/main" id="{46FDE51F-C57F-BDF7-E000-D76D38D10EF8}"/>
              </a:ext>
            </a:extLst>
          </p:cNvPr>
          <p:cNvSpPr/>
          <p:nvPr/>
        </p:nvSpPr>
        <p:spPr>
          <a:xfrm>
            <a:off x="3863340" y="3134481"/>
            <a:ext cx="5280660" cy="522169"/>
          </a:xfrm>
          <a:prstGeom prst="wedgeRectCallout">
            <a:avLst>
              <a:gd name="adj1" fmla="val -52332"/>
              <a:gd name="adj2" fmla="val 10706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b="1" dirty="0">
                <a:solidFill>
                  <a:schemeClr val="tx1"/>
                </a:solidFill>
              </a:rPr>
              <a:t>Q: How are you going to analyze if the new constraint is correctly implemented?</a:t>
            </a:r>
          </a:p>
          <a:p>
            <a:r>
              <a:rPr lang="en-US" sz="1200" dirty="0">
                <a:solidFill>
                  <a:schemeClr val="tx1"/>
                </a:solidFill>
              </a:rPr>
              <a:t>I will run 100 experiments and see if the results “look ok”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12" name="Speech Bubble: Rectangle 11">
            <a:extLst>
              <a:ext uri="{FF2B5EF4-FFF2-40B4-BE49-F238E27FC236}">
                <a16:creationId xmlns:a16="http://schemas.microsoft.com/office/drawing/2014/main" id="{2C5F2B0D-DA75-FBAA-943B-357334808C44}"/>
              </a:ext>
            </a:extLst>
          </p:cNvPr>
          <p:cNvSpPr/>
          <p:nvPr/>
        </p:nvSpPr>
        <p:spPr>
          <a:xfrm>
            <a:off x="3890010" y="3713841"/>
            <a:ext cx="5170170" cy="608327"/>
          </a:xfrm>
          <a:prstGeom prst="wedgeRectCallout">
            <a:avLst>
              <a:gd name="adj1" fmla="val -52332"/>
              <a:gd name="adj2" fmla="val 10706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b="1" dirty="0">
                <a:solidFill>
                  <a:schemeClr val="tx1"/>
                </a:solidFill>
              </a:rPr>
              <a:t>Q: How do I run your repository?</a:t>
            </a:r>
          </a:p>
          <a:p>
            <a:r>
              <a:rPr lang="en-US" sz="1200" dirty="0">
                <a:solidFill>
                  <a:schemeClr val="tx1"/>
                </a:solidFill>
              </a:rPr>
              <a:t>Follow the readme instructions, but then don’t forget to call me back because there are unwritten steps that you need to do that are not documented.</a:t>
            </a:r>
          </a:p>
        </p:txBody>
      </p:sp>
      <p:sp>
        <p:nvSpPr>
          <p:cNvPr id="13" name="Speech Bubble: Rectangle 12">
            <a:extLst>
              <a:ext uri="{FF2B5EF4-FFF2-40B4-BE49-F238E27FC236}">
                <a16:creationId xmlns:a16="http://schemas.microsoft.com/office/drawing/2014/main" id="{8DEFB1F4-5A98-47F9-34C4-0F55049DDF08}"/>
              </a:ext>
            </a:extLst>
          </p:cNvPr>
          <p:cNvSpPr/>
          <p:nvPr/>
        </p:nvSpPr>
        <p:spPr>
          <a:xfrm>
            <a:off x="3463290" y="4383654"/>
            <a:ext cx="5680710" cy="637070"/>
          </a:xfrm>
          <a:prstGeom prst="wedgeRectCallout">
            <a:avLst>
              <a:gd name="adj1" fmla="val -52332"/>
              <a:gd name="adj2" fmla="val 10706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b="1" dirty="0">
                <a:solidFill>
                  <a:schemeClr val="tx1"/>
                </a:solidFill>
              </a:rPr>
              <a:t>Q: I deleted part of the code of your constraint implementation, and the tests still pass</a:t>
            </a:r>
          </a:p>
          <a:p>
            <a:r>
              <a:rPr lang="en-US" sz="1200" dirty="0">
                <a:solidFill>
                  <a:schemeClr val="tx1"/>
                </a:solidFill>
              </a:rPr>
              <a:t>Yeah… the tests will pass anyway because I was not asserting anything, just making sure the code compiled correctly.</a:t>
            </a:r>
          </a:p>
        </p:txBody>
      </p:sp>
    </p:spTree>
    <p:extLst>
      <p:ext uri="{BB962C8B-B14F-4D97-AF65-F5344CB8AC3E}">
        <p14:creationId xmlns:p14="http://schemas.microsoft.com/office/powerpoint/2010/main" val="7146165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Some t</a:t>
            </a:r>
            <a:r>
              <a:rPr sz="3000" b="1" i="0" dirty="0">
                <a:solidFill>
                  <a:srgbClr val="0A1628"/>
                </a:solidFill>
                <a:latin typeface="Calibri"/>
              </a:rPr>
              <a:t>echnologies that enable experimentation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40180"/>
            <a:ext cx="8046720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2D3748"/>
                </a:solidFill>
                <a:latin typeface="Calibri"/>
              </a:rPr>
              <a:t>Static </a:t>
            </a:r>
            <a:r>
              <a:rPr lang="en-US" sz="2000" b="1" i="0" dirty="0">
                <a:solidFill>
                  <a:srgbClr val="2D3748"/>
                </a:solidFill>
                <a:latin typeface="Calibri"/>
              </a:rPr>
              <a:t>code </a:t>
            </a:r>
            <a:r>
              <a:rPr sz="2000" b="1" i="0" dirty="0">
                <a:solidFill>
                  <a:srgbClr val="2D3748"/>
                </a:solidFill>
                <a:latin typeface="Calibri"/>
              </a:rPr>
              <a:t>analysis</a:t>
            </a:r>
            <a:r>
              <a:rPr lang="en-US" sz="2000" b="1" i="0" dirty="0">
                <a:solidFill>
                  <a:srgbClr val="2D3748"/>
                </a:solidFill>
                <a:latin typeface="Calibri"/>
              </a:rPr>
              <a:t> tools </a:t>
            </a:r>
            <a:r>
              <a:rPr sz="2000" b="0" i="0" dirty="0">
                <a:solidFill>
                  <a:srgbClr val="2D3748"/>
                </a:solidFill>
                <a:latin typeface="Calibri"/>
              </a:rPr>
              <a:t>→</a:t>
            </a:r>
            <a:r>
              <a:rPr lang="en-US" sz="2000" b="0" i="0" dirty="0">
                <a:solidFill>
                  <a:srgbClr val="2D3748"/>
                </a:solidFill>
                <a:latin typeface="Calibri"/>
              </a:rPr>
              <a:t> </a:t>
            </a:r>
            <a:r>
              <a:rPr sz="2000" b="0" i="0" dirty="0">
                <a:solidFill>
                  <a:srgbClr val="2D3748"/>
                </a:solidFill>
                <a:latin typeface="Calibri"/>
              </a:rPr>
              <a:t>catch errors before you run</a:t>
            </a:r>
            <a:r>
              <a:rPr lang="en-US" sz="2000" b="0" i="0" dirty="0">
                <a:solidFill>
                  <a:srgbClr val="2D3748"/>
                </a:solidFill>
                <a:latin typeface="Calibri"/>
              </a:rPr>
              <a:t> (Skepticism)</a:t>
            </a:r>
          </a:p>
          <a:p>
            <a:pPr algn="l"/>
            <a:r>
              <a:rPr sz="2000" b="0" i="0" dirty="0">
                <a:solidFill>
                  <a:srgbClr val="2D3748"/>
                </a:solidFill>
                <a:latin typeface="Calibri"/>
              </a:rPr>
              <a:t>
</a:t>
            </a:r>
            <a:r>
              <a:rPr sz="2000" b="1" i="0" dirty="0">
                <a:solidFill>
                  <a:srgbClr val="2D3748"/>
                </a:solidFill>
                <a:latin typeface="Calibri"/>
              </a:rPr>
              <a:t>Automated tests</a:t>
            </a:r>
            <a:r>
              <a:rPr lang="en-US" sz="2000" b="1" i="0" dirty="0">
                <a:solidFill>
                  <a:srgbClr val="2D3748"/>
                </a:solidFill>
                <a:latin typeface="Calibri"/>
              </a:rPr>
              <a:t> </a:t>
            </a:r>
            <a:r>
              <a:rPr sz="2000" b="0" i="0" dirty="0">
                <a:solidFill>
                  <a:srgbClr val="2D3748"/>
                </a:solidFill>
                <a:latin typeface="Calibri"/>
              </a:rPr>
              <a:t>→</a:t>
            </a:r>
            <a:r>
              <a:rPr lang="en-US" sz="2000" b="0" i="0" dirty="0">
                <a:solidFill>
                  <a:srgbClr val="2D3748"/>
                </a:solidFill>
                <a:latin typeface="Calibri"/>
              </a:rPr>
              <a:t> </a:t>
            </a:r>
            <a:r>
              <a:rPr sz="2000" b="0" i="0" dirty="0">
                <a:solidFill>
                  <a:srgbClr val="2D3748"/>
                </a:solidFill>
                <a:latin typeface="Calibri"/>
              </a:rPr>
              <a:t>verify </a:t>
            </a:r>
            <a:r>
              <a:rPr lang="en-US" sz="2000" b="0" i="0" dirty="0">
                <a:solidFill>
                  <a:srgbClr val="2D3748"/>
                </a:solidFill>
                <a:latin typeface="Calibri"/>
              </a:rPr>
              <a:t>the hypothesis of the program working correctly </a:t>
            </a:r>
            <a:r>
              <a:rPr sz="2000" b="0" i="0" dirty="0">
                <a:solidFill>
                  <a:srgbClr val="2D3748"/>
                </a:solidFill>
                <a:latin typeface="Calibri"/>
              </a:rPr>
              <a:t> automatically</a:t>
            </a:r>
            <a:r>
              <a:rPr lang="en-US" sz="2000" b="0" i="0" dirty="0">
                <a:solidFill>
                  <a:srgbClr val="2D3748"/>
                </a:solidFill>
                <a:latin typeface="Calibri"/>
              </a:rPr>
              <a:t> quickly (Reproducibility, Testability)</a:t>
            </a:r>
          </a:p>
          <a:p>
            <a:r>
              <a:rPr sz="2000" b="0" i="0" dirty="0">
                <a:solidFill>
                  <a:srgbClr val="2D3748"/>
                </a:solidFill>
                <a:latin typeface="Calibri"/>
              </a:rPr>
              <a:t>
</a:t>
            </a:r>
            <a:r>
              <a:rPr sz="2000" b="1" i="0" dirty="0">
                <a:solidFill>
                  <a:srgbClr val="2D3748"/>
                </a:solidFill>
                <a:latin typeface="Calibri"/>
              </a:rPr>
              <a:t>CI/CD</a:t>
            </a:r>
            <a:r>
              <a:rPr lang="en-US" sz="2000" b="1" i="0" dirty="0">
                <a:solidFill>
                  <a:srgbClr val="2D3748"/>
                </a:solidFill>
                <a:latin typeface="Calibri"/>
              </a:rPr>
              <a:t> </a:t>
            </a:r>
            <a:r>
              <a:rPr sz="2000" b="0" i="0" dirty="0">
                <a:solidFill>
                  <a:srgbClr val="2D3748"/>
                </a:solidFill>
                <a:latin typeface="Calibri"/>
              </a:rPr>
              <a:t>→  instant feedback on every change</a:t>
            </a:r>
            <a:r>
              <a:rPr lang="en-US" sz="2000" dirty="0">
                <a:solidFill>
                  <a:srgbClr val="2D3748"/>
                </a:solidFill>
              </a:rPr>
              <a:t> (Reproducibility, Testability)</a:t>
            </a:r>
            <a:endParaRPr lang="en-US" sz="2000" b="0" i="0" dirty="0">
              <a:solidFill>
                <a:srgbClr val="2D3748"/>
              </a:solidFill>
              <a:latin typeface="Calibri"/>
            </a:endParaRPr>
          </a:p>
          <a:p>
            <a:r>
              <a:rPr sz="2000" b="0" i="0" dirty="0">
                <a:solidFill>
                  <a:srgbClr val="2D3748"/>
                </a:solidFill>
                <a:latin typeface="Calibri"/>
              </a:rPr>
              <a:t>
</a:t>
            </a:r>
            <a:r>
              <a:rPr sz="2000" b="1" i="0" dirty="0">
                <a:solidFill>
                  <a:srgbClr val="2D3748"/>
                </a:solidFill>
                <a:latin typeface="Calibri"/>
              </a:rPr>
              <a:t>Virtual environments </a:t>
            </a:r>
            <a:r>
              <a:rPr sz="2000" b="0" i="0" dirty="0">
                <a:solidFill>
                  <a:srgbClr val="2D3748"/>
                </a:solidFill>
                <a:latin typeface="Calibri"/>
              </a:rPr>
              <a:t>→  </a:t>
            </a:r>
            <a:r>
              <a:rPr lang="en-US" sz="2000" b="0" i="0" dirty="0">
                <a:solidFill>
                  <a:srgbClr val="2D3748"/>
                </a:solidFill>
                <a:latin typeface="Calibri"/>
              </a:rPr>
              <a:t>R</a:t>
            </a:r>
            <a:r>
              <a:rPr sz="2000" b="0" i="0" dirty="0">
                <a:solidFill>
                  <a:srgbClr val="2D3748"/>
                </a:solidFill>
                <a:latin typeface="Calibri"/>
              </a:rPr>
              <a:t>eproducibility guaranteed</a:t>
            </a:r>
            <a:r>
              <a:rPr lang="en-US" sz="2000" b="0" i="0" dirty="0">
                <a:solidFill>
                  <a:srgbClr val="2D3748"/>
                </a:solidFill>
                <a:latin typeface="Calibri"/>
              </a:rPr>
              <a:t> (</a:t>
            </a:r>
            <a:r>
              <a:rPr lang="en-US" sz="2000" dirty="0">
                <a:solidFill>
                  <a:srgbClr val="2D3748"/>
                </a:solidFill>
              </a:rPr>
              <a:t>Reproducibility)</a:t>
            </a:r>
            <a:endParaRPr lang="en-US" sz="2000" b="0" i="0" dirty="0">
              <a:solidFill>
                <a:srgbClr val="2D3748"/>
              </a:solidFill>
              <a:latin typeface="Calibri"/>
            </a:endParaRPr>
          </a:p>
          <a:p>
            <a:r>
              <a:rPr sz="2000" b="0" i="0" dirty="0">
                <a:solidFill>
                  <a:srgbClr val="2D3748"/>
                </a:solidFill>
                <a:latin typeface="Calibri"/>
              </a:rPr>
              <a:t>
</a:t>
            </a:r>
            <a:r>
              <a:rPr sz="2000" b="1" i="0" dirty="0">
                <a:solidFill>
                  <a:srgbClr val="2D3748"/>
                </a:solidFill>
                <a:latin typeface="Calibri"/>
              </a:rPr>
              <a:t>Git branches</a:t>
            </a:r>
            <a:r>
              <a:rPr lang="en-US" sz="2000" b="1" i="0" dirty="0">
                <a:solidFill>
                  <a:srgbClr val="2D3748"/>
                </a:solidFill>
                <a:latin typeface="Calibri"/>
              </a:rPr>
              <a:t> &amp; Pull Requests </a:t>
            </a:r>
            <a:r>
              <a:rPr sz="2000" b="0" i="0" dirty="0">
                <a:solidFill>
                  <a:srgbClr val="2D3748"/>
                </a:solidFill>
                <a:latin typeface="Calibri"/>
              </a:rPr>
              <a:t>→ isolated laboratories</a:t>
            </a:r>
            <a:r>
              <a:rPr lang="en-US" sz="2000" dirty="0">
                <a:solidFill>
                  <a:srgbClr val="2D3748"/>
                </a:solidFill>
              </a:rPr>
              <a:t> (Reproducibility)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2A0853-122D-5729-90CA-A276FF52A1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7A8"/>
                </a:solidFill>
                <a:latin typeface="Calibri"/>
              </a:rPr>
              <a:t>BLOCK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0A1628"/>
                </a:solidFill>
                <a:latin typeface="Calibri"/>
              </a:rPr>
              <a:t>Unit Testing in Practice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08760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FCA4FC-DC63-7855-CA53-2F978A8BB3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22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4D62CD-759C-8FA8-2A58-9A2D0529E544}"/>
              </a:ext>
            </a:extLst>
          </p:cNvPr>
          <p:cNvSpPr txBox="1"/>
          <p:nvPr/>
        </p:nvSpPr>
        <p:spPr>
          <a:xfrm>
            <a:off x="457200" y="2941320"/>
            <a:ext cx="80467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 dirty="0">
                <a:solidFill>
                  <a:srgbClr val="2D3748"/>
                </a:solidFill>
                <a:latin typeface="Calibri"/>
              </a:rPr>
              <a:t>Hands-on exercise — follow </a:t>
            </a:r>
            <a:r>
              <a:rPr lang="en-US" sz="1800" b="0" i="0" dirty="0">
                <a:solidFill>
                  <a:srgbClr val="2D3748"/>
                </a:solidFill>
                <a:latin typeface="Calibri"/>
              </a:rPr>
              <a:t>on your laptop.</a:t>
            </a:r>
            <a:endParaRPr sz="1800" b="0" i="0" dirty="0">
              <a:solidFill>
                <a:srgbClr val="2D3748"/>
              </a:solidFill>
              <a:latin typeface="Calibri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D9F389-950C-233A-34D0-D90A6509D1D2}"/>
              </a:ext>
            </a:extLst>
          </p:cNvPr>
          <p:cNvSpPr txBox="1"/>
          <p:nvPr/>
        </p:nvSpPr>
        <p:spPr>
          <a:xfrm>
            <a:off x="1455420" y="3644890"/>
            <a:ext cx="64617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0077A8"/>
                </a:solidFill>
                <a:latin typeface="Calibri"/>
              </a:rPr>
              <a:t>github.com/</a:t>
            </a:r>
            <a:r>
              <a:rPr sz="2800" b="1" i="0" dirty="0" err="1">
                <a:solidFill>
                  <a:srgbClr val="0077A8"/>
                </a:solidFill>
                <a:latin typeface="Calibri"/>
              </a:rPr>
              <a:t>sefop</a:t>
            </a:r>
            <a:r>
              <a:rPr sz="2800" b="1" i="0" dirty="0">
                <a:solidFill>
                  <a:srgbClr val="0077A8"/>
                </a:solidFill>
                <a:latin typeface="Calibri"/>
              </a:rPr>
              <a:t>/training-testing-python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7A8"/>
                </a:solidFill>
                <a:latin typeface="Calibri"/>
              </a:rPr>
              <a:t>BLOCK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82296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 dirty="0">
                <a:solidFill>
                  <a:srgbClr val="0A1628"/>
                </a:solidFill>
                <a:latin typeface="Calibri"/>
              </a:rPr>
              <a:t>Optimize for </a:t>
            </a:r>
            <a:r>
              <a:rPr lang="en-US" sz="4000" b="1" dirty="0">
                <a:solidFill>
                  <a:srgbClr val="0A1628"/>
                </a:solidFill>
                <a:latin typeface="Calibri"/>
              </a:rPr>
              <a:t>Adapting</a:t>
            </a:r>
            <a:endParaRPr sz="4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57200" y="1508760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7C40AA-8BC8-4B18-31D1-D244BEB0C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23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764D1E-1F27-84F5-E1AB-2C6AF45FA996}"/>
              </a:ext>
            </a:extLst>
          </p:cNvPr>
          <p:cNvSpPr txBox="1"/>
          <p:nvPr/>
        </p:nvSpPr>
        <p:spPr>
          <a:xfrm>
            <a:off x="2987362" y="2994396"/>
            <a:ext cx="48917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i="0" dirty="0">
                <a:solidFill>
                  <a:schemeClr val="bg1">
                    <a:lumMod val="50000"/>
                  </a:schemeClr>
                </a:solidFill>
                <a:effectLst/>
              </a:rPr>
              <a:t>Adapting = “changing the code”</a:t>
            </a:r>
            <a:endParaRPr lang="en-US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To adapt quickly we need modularity and testing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9E8212-0FAC-502D-D63E-35F3AAFB0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24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A6378ED-F6CB-CD3C-897B-10D436668F41}"/>
              </a:ext>
            </a:extLst>
          </p:cNvPr>
          <p:cNvSpPr txBox="1"/>
          <p:nvPr/>
        </p:nvSpPr>
        <p:spPr>
          <a:xfrm>
            <a:off x="457201" y="2378166"/>
            <a:ext cx="313944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2D3748"/>
                </a:solidFill>
                <a:latin typeface="Calibri"/>
              </a:rPr>
              <a:t>Code change isolation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solidFill>
                <a:srgbClr val="2D3748"/>
              </a:solidFill>
              <a:latin typeface="Calibri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2D3748"/>
                </a:solidFill>
                <a:latin typeface="Calibri"/>
              </a:rPr>
              <a:t>Small code changes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solidFill>
                <a:srgbClr val="2D3748"/>
              </a:solidFill>
              <a:latin typeface="Calibri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2D3748"/>
                </a:solidFill>
                <a:latin typeface="Calibri"/>
              </a:rPr>
              <a:t>Easier testing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b="0" dirty="0">
              <a:solidFill>
                <a:srgbClr val="2D3748"/>
              </a:solidFill>
              <a:latin typeface="Calibri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b="0" dirty="0">
              <a:solidFill>
                <a:srgbClr val="2D3748"/>
              </a:solidFill>
              <a:latin typeface="Calibri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58E64C7-63ED-96CC-9E0E-A07BAAF035A6}"/>
              </a:ext>
            </a:extLst>
          </p:cNvPr>
          <p:cNvSpPr/>
          <p:nvPr/>
        </p:nvSpPr>
        <p:spPr>
          <a:xfrm>
            <a:off x="457200" y="1494815"/>
            <a:ext cx="3642360" cy="54673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Modularity provides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F8CA348-5A1E-85EA-A5FC-7C02BD0651AE}"/>
              </a:ext>
            </a:extLst>
          </p:cNvPr>
          <p:cNvSpPr/>
          <p:nvPr/>
        </p:nvSpPr>
        <p:spPr>
          <a:xfrm>
            <a:off x="4732020" y="1488968"/>
            <a:ext cx="3642360" cy="54673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Automatic Testing provides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9A927CA-29A5-4BBD-E25F-6CC40E1E9B24}"/>
              </a:ext>
            </a:extLst>
          </p:cNvPr>
          <p:cNvSpPr txBox="1"/>
          <p:nvPr/>
        </p:nvSpPr>
        <p:spPr>
          <a:xfrm>
            <a:off x="4663440" y="2315880"/>
            <a:ext cx="382524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2D3748"/>
                </a:solidFill>
                <a:latin typeface="Calibri"/>
              </a:rPr>
              <a:t>Safety mechanisms for changes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dirty="0">
              <a:solidFill>
                <a:srgbClr val="2D3748"/>
              </a:solidFill>
              <a:latin typeface="Calibri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2D3748"/>
                </a:solidFill>
                <a:latin typeface="Calibri"/>
              </a:rPr>
              <a:t>Scalable, objective and reproducible experiments to check for expected behaviors</a:t>
            </a:r>
          </a:p>
        </p:txBody>
      </p:sp>
      <p:sp>
        <p:nvSpPr>
          <p:cNvPr id="17" name="Speech Bubble: Rectangle 16">
            <a:extLst>
              <a:ext uri="{FF2B5EF4-FFF2-40B4-BE49-F238E27FC236}">
                <a16:creationId xmlns:a16="http://schemas.microsoft.com/office/drawing/2014/main" id="{D569307D-4D6C-2636-D9A8-FFFEFE63273C}"/>
              </a:ext>
            </a:extLst>
          </p:cNvPr>
          <p:cNvSpPr/>
          <p:nvPr/>
        </p:nvSpPr>
        <p:spPr>
          <a:xfrm>
            <a:off x="2526031" y="4023141"/>
            <a:ext cx="1718310" cy="459689"/>
          </a:xfrm>
          <a:prstGeom prst="wedgeRectCallout">
            <a:avLst>
              <a:gd name="adj1" fmla="val -22962"/>
              <a:gd name="adj2" fmla="val -81587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</a:rPr>
              <a:t>Focus of this block</a:t>
            </a:r>
            <a:endParaRPr lang="en-US" sz="14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DFE39E-40DB-9435-EF08-3F2722367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84416E3-53B4-2AF7-264A-1203E91735D4}"/>
              </a:ext>
            </a:extLst>
          </p:cNvPr>
          <p:cNvSpPr txBox="1"/>
          <p:nvPr/>
        </p:nvSpPr>
        <p:spPr>
          <a:xfrm>
            <a:off x="457200" y="274320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Software design </a:t>
            </a:r>
            <a:r>
              <a:rPr lang="en-US" sz="3000" b="1" dirty="0">
                <a:solidFill>
                  <a:srgbClr val="0A1628"/>
                </a:solidFill>
                <a:latin typeface="Calibri"/>
              </a:rPr>
              <a:t>is applied</a:t>
            </a:r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 at different levels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54D9D62-4398-779B-5F0F-31961F7C564F}"/>
              </a:ext>
            </a:extLst>
          </p:cNvPr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502365-65C9-255E-2FDC-294E4E5F3F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25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061E7E-7D5A-606A-33B7-8E204EFCD14E}"/>
              </a:ext>
            </a:extLst>
          </p:cNvPr>
          <p:cNvSpPr txBox="1"/>
          <p:nvPr/>
        </p:nvSpPr>
        <p:spPr>
          <a:xfrm>
            <a:off x="457200" y="1656678"/>
            <a:ext cx="3360420" cy="2496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dirty="0">
                <a:solidFill>
                  <a:srgbClr val="2D3748"/>
                </a:solidFill>
                <a:latin typeface="Calibri"/>
              </a:rPr>
              <a:t>Level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2D3748"/>
                </a:solidFill>
                <a:latin typeface="Calibri"/>
              </a:rPr>
              <a:t>Function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rgbClr val="2D3748"/>
                </a:solidFill>
                <a:latin typeface="Calibri"/>
              </a:rPr>
              <a:t>Class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2D3748"/>
                </a:solidFill>
                <a:latin typeface="Calibri"/>
              </a:rPr>
              <a:t>Package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rgbClr val="2D3748"/>
                </a:solidFill>
                <a:latin typeface="Calibri"/>
              </a:rPr>
              <a:t>Program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2D3748"/>
                </a:solidFill>
                <a:latin typeface="Calibri"/>
              </a:rPr>
              <a:t>Enterprise</a:t>
            </a:r>
            <a:endParaRPr b="0" dirty="0">
              <a:solidFill>
                <a:srgbClr val="2D3748"/>
              </a:solidFill>
              <a:latin typeface="Calibri"/>
            </a:endParaRPr>
          </a:p>
        </p:txBody>
      </p:sp>
      <p:sp>
        <p:nvSpPr>
          <p:cNvPr id="4" name="Left Brace 3">
            <a:extLst>
              <a:ext uri="{FF2B5EF4-FFF2-40B4-BE49-F238E27FC236}">
                <a16:creationId xmlns:a16="http://schemas.microsoft.com/office/drawing/2014/main" id="{C0708C26-897C-E9BE-CC9D-98F2660163E0}"/>
              </a:ext>
            </a:extLst>
          </p:cNvPr>
          <p:cNvSpPr/>
          <p:nvPr/>
        </p:nvSpPr>
        <p:spPr>
          <a:xfrm rot="10800000">
            <a:off x="2137410" y="2149724"/>
            <a:ext cx="487680" cy="1548387"/>
          </a:xfrm>
          <a:prstGeom prst="leftBrac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96D0CF4-ED63-4642-0985-8478BE86AADB}"/>
              </a:ext>
            </a:extLst>
          </p:cNvPr>
          <p:cNvSpPr/>
          <p:nvPr/>
        </p:nvSpPr>
        <p:spPr>
          <a:xfrm>
            <a:off x="2971800" y="2631407"/>
            <a:ext cx="3657600" cy="54673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Usually the scientist scope lives here 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0727C67-0881-D9B5-27DD-4917D49D86CA}"/>
              </a:ext>
            </a:extLst>
          </p:cNvPr>
          <p:cNvCxnSpPr/>
          <p:nvPr/>
        </p:nvCxnSpPr>
        <p:spPr>
          <a:xfrm>
            <a:off x="2137409" y="3941952"/>
            <a:ext cx="567691" cy="0"/>
          </a:xfrm>
          <a:prstGeom prst="straightConnector1">
            <a:avLst/>
          </a:prstGeom>
          <a:ln w="28575">
            <a:tailEnd type="triangle"/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1D586C76-FFED-386D-6C29-F0B2A2B699FB}"/>
              </a:ext>
            </a:extLst>
          </p:cNvPr>
          <p:cNvSpPr/>
          <p:nvPr/>
        </p:nvSpPr>
        <p:spPr>
          <a:xfrm>
            <a:off x="2971800" y="3596963"/>
            <a:ext cx="5417820" cy="69551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Usually design at this level is called “software architecture”. This is out of the scope for this workshop.</a:t>
            </a:r>
          </a:p>
        </p:txBody>
      </p:sp>
      <p:sp>
        <p:nvSpPr>
          <p:cNvPr id="16" name="Speech Bubble: Rectangle 15">
            <a:extLst>
              <a:ext uri="{FF2B5EF4-FFF2-40B4-BE49-F238E27FC236}">
                <a16:creationId xmlns:a16="http://schemas.microsoft.com/office/drawing/2014/main" id="{D2171B68-760B-5359-FF08-1BB4999AB0A6}"/>
              </a:ext>
            </a:extLst>
          </p:cNvPr>
          <p:cNvSpPr/>
          <p:nvPr/>
        </p:nvSpPr>
        <p:spPr>
          <a:xfrm>
            <a:off x="5680710" y="1461896"/>
            <a:ext cx="2586991" cy="973701"/>
          </a:xfrm>
          <a:prstGeom prst="wedgeRectCallout">
            <a:avLst>
              <a:gd name="adj1" fmla="val -54773"/>
              <a:gd name="adj2" fmla="val 22845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</a:rPr>
              <a:t>The principles we will review apply all they way from a function to a program. </a:t>
            </a:r>
            <a:endParaRPr 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31298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15" grpId="0"/>
      <p:bldP spid="16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FAC4-F07C-44E4-44DE-4D7A0D1C3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11AEE6B-3EFE-EDC0-B4C4-690C876AB870}"/>
              </a:ext>
            </a:extLst>
          </p:cNvPr>
          <p:cNvSpPr txBox="1"/>
          <p:nvPr/>
        </p:nvSpPr>
        <p:spPr>
          <a:xfrm>
            <a:off x="457200" y="274320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Fundamental forces: coupling &amp; cohesion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4A44EBD-E7B0-7544-FB8E-D1840F3487F5}"/>
              </a:ext>
            </a:extLst>
          </p:cNvPr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86B523-1027-5213-97EB-0BC585A2B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26</a:t>
            </a:fld>
            <a:endParaRPr lang="en-US"/>
          </a:p>
        </p:txBody>
      </p:sp>
      <p:pic>
        <p:nvPicPr>
          <p:cNvPr id="17" name="Picture 2" descr="Why Product Development and Design needs Cohesion-Coupling?">
            <a:extLst>
              <a:ext uri="{FF2B5EF4-FFF2-40B4-BE49-F238E27FC236}">
                <a16:creationId xmlns:a16="http://schemas.microsoft.com/office/drawing/2014/main" id="{6473A521-2C3B-64BB-BFD0-B8F70076D2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" y="1132444"/>
            <a:ext cx="4726287" cy="26585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A832E943-D59E-DDF6-14AA-59AD8EF8BF12}"/>
              </a:ext>
            </a:extLst>
          </p:cNvPr>
          <p:cNvSpPr txBox="1"/>
          <p:nvPr/>
        </p:nvSpPr>
        <p:spPr>
          <a:xfrm>
            <a:off x="223119" y="4114800"/>
            <a:ext cx="2608977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i="0" dirty="0">
                <a:solidFill>
                  <a:srgbClr val="000000"/>
                </a:solidFill>
                <a:effectLst/>
              </a:rPr>
              <a:t>Cohesion</a:t>
            </a:r>
            <a:r>
              <a:rPr lang="en-US" sz="1400" b="0" i="0" dirty="0">
                <a:solidFill>
                  <a:srgbClr val="000000"/>
                </a:solidFill>
                <a:effectLst/>
              </a:rPr>
              <a:t> is a measure of the degree to which the elements of a module are functionally related</a:t>
            </a:r>
            <a:endParaRPr lang="en-US" sz="1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53A447E-DFD1-0CE5-CC8A-B959991DB352}"/>
              </a:ext>
            </a:extLst>
          </p:cNvPr>
          <p:cNvSpPr txBox="1"/>
          <p:nvPr/>
        </p:nvSpPr>
        <p:spPr>
          <a:xfrm>
            <a:off x="2826791" y="4105775"/>
            <a:ext cx="252951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i="0" dirty="0">
                <a:solidFill>
                  <a:srgbClr val="000000"/>
                </a:solidFill>
                <a:effectLst/>
              </a:rPr>
              <a:t>Coupling</a:t>
            </a:r>
            <a:r>
              <a:rPr lang="en-US" sz="1400" b="0" i="0" dirty="0">
                <a:solidFill>
                  <a:srgbClr val="000000"/>
                </a:solidFill>
                <a:effectLst/>
              </a:rPr>
              <a:t> is the measure of the degree of interdependence between modules</a:t>
            </a:r>
            <a:endParaRPr lang="en-US" sz="1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2668F37-2F91-E960-04C1-4A4C36F39D06}"/>
              </a:ext>
            </a:extLst>
          </p:cNvPr>
          <p:cNvSpPr txBox="1"/>
          <p:nvPr/>
        </p:nvSpPr>
        <p:spPr>
          <a:xfrm>
            <a:off x="3426694" y="3790979"/>
            <a:ext cx="83878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i="0" dirty="0">
                <a:solidFill>
                  <a:srgbClr val="00B050"/>
                </a:solidFill>
                <a:effectLst/>
                <a:latin typeface="Open Sans" panose="020B0606030504020204" pitchFamily="34" charset="0"/>
              </a:rPr>
              <a:t>Desired</a:t>
            </a:r>
            <a:endParaRPr lang="en-US" sz="1200" dirty="0">
              <a:solidFill>
                <a:srgbClr val="00B05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926BE35-06D3-F315-42D2-735B8576BE04}"/>
              </a:ext>
            </a:extLst>
          </p:cNvPr>
          <p:cNvSpPr txBox="1"/>
          <p:nvPr/>
        </p:nvSpPr>
        <p:spPr>
          <a:xfrm>
            <a:off x="944574" y="3790981"/>
            <a:ext cx="116606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i="0" dirty="0">
                <a:solidFill>
                  <a:srgbClr val="FF0000"/>
                </a:solidFill>
                <a:effectLst/>
                <a:latin typeface="Open Sans" panose="020B0606030504020204" pitchFamily="34" charset="0"/>
              </a:rPr>
              <a:t>Not desired</a:t>
            </a:r>
            <a:endParaRPr lang="en-US" sz="1200" dirty="0">
              <a:solidFill>
                <a:srgbClr val="FF0000"/>
              </a:solidFill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7E8F6430-71C4-4C2B-5571-192D0C1788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9589" y="1132444"/>
            <a:ext cx="2495679" cy="373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Speech Bubble: Rectangle 25">
            <a:extLst>
              <a:ext uri="{FF2B5EF4-FFF2-40B4-BE49-F238E27FC236}">
                <a16:creationId xmlns:a16="http://schemas.microsoft.com/office/drawing/2014/main" id="{832D263E-42DB-508A-ABB8-B6BA3367283F}"/>
              </a:ext>
            </a:extLst>
          </p:cNvPr>
          <p:cNvSpPr/>
          <p:nvPr/>
        </p:nvSpPr>
        <p:spPr>
          <a:xfrm>
            <a:off x="7071360" y="1258681"/>
            <a:ext cx="1836420" cy="702088"/>
          </a:xfrm>
          <a:prstGeom prst="wedgeRectCallout">
            <a:avLst>
              <a:gd name="adj1" fmla="val -54773"/>
              <a:gd name="adj2" fmla="val 22845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The hat is not coupled to the head. </a:t>
            </a:r>
            <a:r>
              <a:rPr lang="en-US" sz="1400" b="1" dirty="0">
                <a:solidFill>
                  <a:schemeClr val="tx1"/>
                </a:solidFill>
              </a:rPr>
              <a:t>He can wear any hat easily</a:t>
            </a:r>
            <a:r>
              <a:rPr lang="en-US" sz="1400" dirty="0">
                <a:solidFill>
                  <a:schemeClr val="tx1"/>
                </a:solidFill>
              </a:rPr>
              <a:t>.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27" name="Speech Bubble: Rectangle 26">
            <a:extLst>
              <a:ext uri="{FF2B5EF4-FFF2-40B4-BE49-F238E27FC236}">
                <a16:creationId xmlns:a16="http://schemas.microsoft.com/office/drawing/2014/main" id="{5E7E5548-E93B-0118-8F11-F995330951F1}"/>
              </a:ext>
            </a:extLst>
          </p:cNvPr>
          <p:cNvSpPr/>
          <p:nvPr/>
        </p:nvSpPr>
        <p:spPr>
          <a:xfrm>
            <a:off x="7378666" y="2348626"/>
            <a:ext cx="1529113" cy="834105"/>
          </a:xfrm>
          <a:prstGeom prst="wedgeRectCallout">
            <a:avLst>
              <a:gd name="adj1" fmla="val -54773"/>
              <a:gd name="adj2" fmla="val 22845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The eyes are coupled to the head.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28" name="Speech Bubble: Rectangle 27">
            <a:extLst>
              <a:ext uri="{FF2B5EF4-FFF2-40B4-BE49-F238E27FC236}">
                <a16:creationId xmlns:a16="http://schemas.microsoft.com/office/drawing/2014/main" id="{72FDB25A-AAAE-F2FA-9D16-61A332D853D4}"/>
              </a:ext>
            </a:extLst>
          </p:cNvPr>
          <p:cNvSpPr/>
          <p:nvPr/>
        </p:nvSpPr>
        <p:spPr>
          <a:xfrm>
            <a:off x="7378666" y="3467766"/>
            <a:ext cx="1529113" cy="1081374"/>
          </a:xfrm>
          <a:prstGeom prst="wedgeRectCallout">
            <a:avLst>
              <a:gd name="adj1" fmla="val -54773"/>
              <a:gd name="adj2" fmla="val 22845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The head is a cohesive module. Its modules can’t be changed easily.</a:t>
            </a:r>
            <a:endParaRPr 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421968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27" grpId="0" animBg="1"/>
      <p:bldP spid="2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78811B-E4DB-1ACA-A9C1-9559D07AF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B5D20CC-2DB7-1399-129E-DB21CCDE6AF9}"/>
              </a:ext>
            </a:extLst>
          </p:cNvPr>
          <p:cNvSpPr txBox="1"/>
          <p:nvPr/>
        </p:nvSpPr>
        <p:spPr>
          <a:xfrm>
            <a:off x="457200" y="274320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Principle: aim for low coupling and high cohesion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FBDAFE2-ECC8-E9AB-8BED-9988455F2565}"/>
              </a:ext>
            </a:extLst>
          </p:cNvPr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DA1001-7F66-85FA-D1D5-2775B8511D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27</a:t>
            </a:fld>
            <a:endParaRPr lang="en-US"/>
          </a:p>
        </p:txBody>
      </p:sp>
      <p:pic>
        <p:nvPicPr>
          <p:cNvPr id="7" name="Picture 2" descr="Why Product Development and Design needs Cohesion-Coupling?">
            <a:extLst>
              <a:ext uri="{FF2B5EF4-FFF2-40B4-BE49-F238E27FC236}">
                <a16:creationId xmlns:a16="http://schemas.microsoft.com/office/drawing/2014/main" id="{D50226FC-C78C-554F-B232-4EE89F7980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381966"/>
            <a:ext cx="5222095" cy="29374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Speech Bubble: Rectangle 7">
            <a:extLst>
              <a:ext uri="{FF2B5EF4-FFF2-40B4-BE49-F238E27FC236}">
                <a16:creationId xmlns:a16="http://schemas.microsoft.com/office/drawing/2014/main" id="{B8EB600A-39ED-7FDF-2E38-B66F8B7F463F}"/>
              </a:ext>
            </a:extLst>
          </p:cNvPr>
          <p:cNvSpPr/>
          <p:nvPr/>
        </p:nvSpPr>
        <p:spPr>
          <a:xfrm>
            <a:off x="5321154" y="1381966"/>
            <a:ext cx="3670445" cy="3058970"/>
          </a:xfrm>
          <a:prstGeom prst="wedgeRectCallout">
            <a:avLst>
              <a:gd name="adj1" fmla="val -55417"/>
              <a:gd name="adj2" fmla="val -20577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 dirty="0">
                <a:solidFill>
                  <a:schemeClr val="tx1"/>
                </a:solidFill>
              </a:rPr>
              <a:t>A </a:t>
            </a:r>
            <a:r>
              <a:rPr lang="en-US" sz="1600" b="1" dirty="0">
                <a:solidFill>
                  <a:schemeClr val="tx1"/>
                </a:solidFill>
              </a:rPr>
              <a:t>highly cohesive </a:t>
            </a:r>
            <a:r>
              <a:rPr lang="en-US" sz="1600" dirty="0">
                <a:solidFill>
                  <a:schemeClr val="tx1"/>
                </a:solidFill>
              </a:rPr>
              <a:t>module means it does a few related things well.</a:t>
            </a:r>
          </a:p>
          <a:p>
            <a:endParaRPr lang="en-US" sz="1600" dirty="0">
              <a:solidFill>
                <a:schemeClr val="tx1"/>
              </a:solidFill>
            </a:endParaRPr>
          </a:p>
          <a:p>
            <a:r>
              <a:rPr lang="en-US" sz="1600" b="1" dirty="0">
                <a:solidFill>
                  <a:schemeClr val="tx1"/>
                </a:solidFill>
              </a:rPr>
              <a:t>Loosely coupled </a:t>
            </a:r>
            <a:r>
              <a:rPr lang="en-US" sz="1600" dirty="0">
                <a:solidFill>
                  <a:schemeClr val="tx1"/>
                </a:solidFill>
              </a:rPr>
              <a:t>module means it has low connections with other modules.</a:t>
            </a:r>
          </a:p>
          <a:p>
            <a:endParaRPr lang="en-US" sz="1600" dirty="0">
              <a:solidFill>
                <a:schemeClr val="tx1"/>
              </a:solidFill>
            </a:endParaRPr>
          </a:p>
          <a:p>
            <a:r>
              <a:rPr lang="en-US" sz="1600" u="sng" dirty="0">
                <a:solidFill>
                  <a:schemeClr val="tx1"/>
                </a:solidFill>
              </a:rPr>
              <a:t>Benefits</a:t>
            </a:r>
            <a:r>
              <a:rPr lang="en-US" sz="1600" dirty="0">
                <a:solidFill>
                  <a:schemeClr val="tx1"/>
                </a:solidFill>
              </a:rPr>
              <a:t>: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1600" dirty="0">
                <a:solidFill>
                  <a:schemeClr val="tx1"/>
                </a:solidFill>
              </a:rPr>
              <a:t>Module easier to understand.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1600" dirty="0">
                <a:solidFill>
                  <a:schemeClr val="tx1"/>
                </a:solidFill>
              </a:rPr>
              <a:t>Module easier to test.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1600" dirty="0">
                <a:solidFill>
                  <a:schemeClr val="tx1"/>
                </a:solidFill>
              </a:rPr>
              <a:t>Easier to maintain.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1600" dirty="0">
                <a:solidFill>
                  <a:schemeClr val="tx1"/>
                </a:solidFill>
              </a:rPr>
              <a:t>Promotes reuse.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1600" dirty="0">
                <a:solidFill>
                  <a:schemeClr val="tx1"/>
                </a:solidFill>
              </a:rPr>
              <a:t>Changes remain local.</a:t>
            </a:r>
            <a:endParaRPr 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985782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D3EAC-04A8-D538-253A-A386CC622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5278087-F0E3-3AA9-F82B-35B03CAB107F}"/>
              </a:ext>
            </a:extLst>
          </p:cNvPr>
          <p:cNvSpPr txBox="1"/>
          <p:nvPr/>
        </p:nvSpPr>
        <p:spPr>
          <a:xfrm>
            <a:off x="99060" y="274320"/>
            <a:ext cx="921258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Example of highly cohesive and loosely coupled classes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5D48726-B7B6-BB0C-07D4-8E719D3941F0}"/>
              </a:ext>
            </a:extLst>
          </p:cNvPr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A84A14-BB73-2E7B-3E79-5464E318C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28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BB0AE0E-E0C2-3E73-7701-80BECD732B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60020" y="1381966"/>
            <a:ext cx="6103620" cy="3336646"/>
          </a:xfrm>
          <a:prstGeom prst="rect">
            <a:avLst/>
          </a:prstGeom>
        </p:spPr>
      </p:pic>
      <p:sp>
        <p:nvSpPr>
          <p:cNvPr id="5" name="Speech Bubble: Rectangle 4">
            <a:extLst>
              <a:ext uri="{FF2B5EF4-FFF2-40B4-BE49-F238E27FC236}">
                <a16:creationId xmlns:a16="http://schemas.microsoft.com/office/drawing/2014/main" id="{FE956768-D517-9167-9B96-7269CDAFC256}"/>
              </a:ext>
            </a:extLst>
          </p:cNvPr>
          <p:cNvSpPr/>
          <p:nvPr/>
        </p:nvSpPr>
        <p:spPr>
          <a:xfrm>
            <a:off x="5844540" y="1293879"/>
            <a:ext cx="3147059" cy="3512820"/>
          </a:xfrm>
          <a:prstGeom prst="wedgeRectCallout">
            <a:avLst>
              <a:gd name="adj1" fmla="val -55417"/>
              <a:gd name="adj2" fmla="val -20577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 dirty="0">
                <a:solidFill>
                  <a:schemeClr val="tx1"/>
                </a:solidFill>
              </a:rPr>
              <a:t>The </a:t>
            </a:r>
            <a:r>
              <a:rPr lang="en-US" sz="1600" b="1" dirty="0">
                <a:solidFill>
                  <a:schemeClr val="tx1"/>
                </a:solidFill>
                <a:latin typeface="Consolas" panose="020B0609020204030204" pitchFamily="49" charset="0"/>
              </a:rPr>
              <a:t>Train</a:t>
            </a:r>
            <a:r>
              <a:rPr lang="en-US" sz="1600" dirty="0">
                <a:solidFill>
                  <a:schemeClr val="tx1"/>
                </a:solidFill>
              </a:rPr>
              <a:t> class has a 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List&lt;</a:t>
            </a:r>
            <a:r>
              <a:rPr lang="en-US" sz="1600" b="1" dirty="0">
                <a:solidFill>
                  <a:schemeClr val="tx1"/>
                </a:solidFill>
                <a:latin typeface="Consolas" panose="020B0609020204030204" pitchFamily="49" charset="0"/>
              </a:rPr>
              <a:t>Car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&gt;</a:t>
            </a:r>
            <a:r>
              <a:rPr lang="en-US" sz="1600" dirty="0">
                <a:solidFill>
                  <a:schemeClr val="tx1"/>
                </a:solidFill>
                <a:latin typeface="+mj-lt"/>
              </a:rPr>
              <a:t>.</a:t>
            </a:r>
          </a:p>
          <a:p>
            <a:r>
              <a:rPr lang="en-US" sz="1600" dirty="0">
                <a:solidFill>
                  <a:schemeClr val="tx1"/>
                </a:solidFill>
                <a:latin typeface="+mj-lt"/>
              </a:rPr>
              <a:t>There are multiple subclasses of Car. The Train requires each Car to have some dimensions and some wheels. The train knows how to transport the cars to a destination.</a:t>
            </a:r>
          </a:p>
          <a:p>
            <a:endParaRPr lang="en-US" sz="1600" dirty="0">
              <a:solidFill>
                <a:schemeClr val="tx1"/>
              </a:solidFill>
            </a:endParaRPr>
          </a:p>
          <a:p>
            <a:r>
              <a:rPr lang="en-US" sz="1600" dirty="0">
                <a:solidFill>
                  <a:schemeClr val="tx1"/>
                </a:solidFill>
              </a:rPr>
              <a:t>The Train is </a:t>
            </a:r>
            <a:r>
              <a:rPr lang="en-US" sz="1600" b="1" dirty="0">
                <a:solidFill>
                  <a:schemeClr val="tx1"/>
                </a:solidFill>
              </a:rPr>
              <a:t>loosely coupled </a:t>
            </a:r>
            <a:r>
              <a:rPr lang="en-US" sz="1600" dirty="0">
                <a:solidFill>
                  <a:schemeClr val="tx1"/>
                </a:solidFill>
              </a:rPr>
              <a:t>to the Car class.</a:t>
            </a:r>
          </a:p>
          <a:p>
            <a:endParaRPr lang="en-US" sz="1600" dirty="0">
              <a:solidFill>
                <a:schemeClr val="tx1"/>
              </a:solidFill>
            </a:endParaRPr>
          </a:p>
          <a:p>
            <a:r>
              <a:rPr lang="en-US" sz="1600" dirty="0">
                <a:solidFill>
                  <a:schemeClr val="tx1"/>
                </a:solidFill>
              </a:rPr>
              <a:t>Each car is </a:t>
            </a:r>
            <a:r>
              <a:rPr lang="en-US" sz="1600" b="1" dirty="0">
                <a:solidFill>
                  <a:schemeClr val="tx1"/>
                </a:solidFill>
              </a:rPr>
              <a:t>cohesive</a:t>
            </a:r>
            <a:r>
              <a:rPr lang="en-US" sz="1600" dirty="0">
                <a:solidFill>
                  <a:schemeClr val="tx1"/>
                </a:solidFill>
              </a:rPr>
              <a:t>: it is specifically designed to carry a specific type of cargo. The car does not know how it is carried to the destination.</a:t>
            </a:r>
            <a:endParaRPr 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579971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dirty="0">
                <a:solidFill>
                  <a:srgbClr val="0A1628"/>
                </a:solidFill>
                <a:latin typeface="Calibri"/>
              </a:rPr>
              <a:t>A “code smell” reveals a design anti-pattern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6BD9F5-8CE8-CA7D-2BB4-D4B4C534F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29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A4A751A-1250-A0FC-BCAE-D487135D1E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963" y="1264920"/>
            <a:ext cx="4107576" cy="350063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46CD0DD-A111-931F-B5AC-DDACF2636BDA}"/>
              </a:ext>
            </a:extLst>
          </p:cNvPr>
          <p:cNvSpPr txBox="1"/>
          <p:nvPr/>
        </p:nvSpPr>
        <p:spPr>
          <a:xfrm>
            <a:off x="4815840" y="1473592"/>
            <a:ext cx="403098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Check out this script:</a:t>
            </a:r>
          </a:p>
          <a:p>
            <a:endParaRPr lang="en-US" dirty="0"/>
          </a:p>
          <a:p>
            <a:r>
              <a:rPr lang="en-US" dirty="0">
                <a:hlinkClick r:id="rId3"/>
              </a:rPr>
              <a:t>https://github.com/sefop/sefop-training-hub/blob/main/workshops/2026-06-29-purdue/code_smell.py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/>
              <a:t>What are the </a:t>
            </a:r>
            <a:r>
              <a:rPr lang="en-US" b="1" dirty="0"/>
              <a:t>problems</a:t>
            </a:r>
            <a:r>
              <a:rPr lang="en-US" dirty="0"/>
              <a:t> and </a:t>
            </a:r>
            <a:r>
              <a:rPr lang="en-US" b="1" dirty="0"/>
              <a:t>how can we solve them</a:t>
            </a:r>
            <a:r>
              <a:rPr lang="en-US" dirty="0"/>
              <a:t>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15B997C-0352-1542-B422-0C146D40F99B}"/>
              </a:ext>
            </a:extLst>
          </p:cNvPr>
          <p:cNvSpPr txBox="1"/>
          <p:nvPr/>
        </p:nvSpPr>
        <p:spPr>
          <a:xfrm>
            <a:off x="448963" y="4852138"/>
            <a:ext cx="8046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rgbClr val="2D3748"/>
                </a:solidFill>
              </a:rPr>
              <a:t>Source: </a:t>
            </a:r>
            <a:r>
              <a:rPr lang="en-US" sz="1000" dirty="0">
                <a:solidFill>
                  <a:srgbClr val="2D3748"/>
                </a:solidFill>
                <a:hlinkClick r:id="rId4"/>
              </a:rPr>
              <a:t>https://refactoring.guru/smells/long-method</a:t>
            </a:r>
            <a:r>
              <a:rPr lang="en-US" sz="1000" dirty="0">
                <a:solidFill>
                  <a:srgbClr val="2D3748"/>
                </a:solidFill>
              </a:rPr>
              <a:t>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C1727-1EEB-E822-BB63-61D6B1851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5F5BA5-5391-43F2-487A-19F641802E2E}"/>
              </a:ext>
            </a:extLst>
          </p:cNvPr>
          <p:cNvSpPr txBox="1"/>
          <p:nvPr/>
        </p:nvSpPr>
        <p:spPr>
          <a:xfrm>
            <a:off x="441739" y="45141"/>
            <a:ext cx="82296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dirty="0">
                <a:solidFill>
                  <a:srgbClr val="0A1628"/>
                </a:solidFill>
                <a:latin typeface="Calibri"/>
              </a:rPr>
              <a:t>Great website with other code smells and what to do about them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2FC2775-C882-D5E1-2979-50D18E8814E4}"/>
              </a:ext>
            </a:extLst>
          </p:cNvPr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7A68D5-A49E-9D35-CF51-20C9F38C7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30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E5740A-B7ED-33FA-6263-799080AED020}"/>
              </a:ext>
            </a:extLst>
          </p:cNvPr>
          <p:cNvSpPr txBox="1"/>
          <p:nvPr/>
        </p:nvSpPr>
        <p:spPr>
          <a:xfrm>
            <a:off x="448963" y="4852138"/>
            <a:ext cx="8046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rgbClr val="2D3748"/>
                </a:solidFill>
              </a:rPr>
              <a:t>Source: </a:t>
            </a:r>
            <a:r>
              <a:rPr lang="en-US" sz="1000" dirty="0">
                <a:solidFill>
                  <a:srgbClr val="2D3748"/>
                </a:solidFill>
                <a:hlinkClick r:id="rId2"/>
              </a:rPr>
              <a:t>https://refactoring.guru/refactoring/smells</a:t>
            </a:r>
            <a:r>
              <a:rPr lang="en-US" sz="1000" dirty="0">
                <a:solidFill>
                  <a:srgbClr val="2D3748"/>
                </a:solidFill>
              </a:rPr>
              <a:t>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BD1AC0E-F267-3594-69CC-890FA80CEA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928" y="1413423"/>
            <a:ext cx="7911802" cy="2952837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759040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57523" y="33209"/>
            <a:ext cx="82296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Single Responsibility Principle</a:t>
            </a:r>
            <a:r>
              <a:rPr lang="en-US" sz="3000" b="1" i="0" baseline="30000" dirty="0">
                <a:solidFill>
                  <a:srgbClr val="0A1628"/>
                </a:solidFill>
                <a:latin typeface="Calibri"/>
              </a:rPr>
              <a:t>1  </a:t>
            </a:r>
            <a:r>
              <a:rPr lang="en-US" sz="3000" b="1" dirty="0">
                <a:solidFill>
                  <a:srgbClr val="0A1628"/>
                </a:solidFill>
              </a:rPr>
              <a:t>(SRP) and Don’t Repeat Yourself (DRY).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0E2341-B04B-BFB3-5CE6-402651874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31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4C2DB4-9FE6-E7F4-6514-13FB88A32381}"/>
              </a:ext>
            </a:extLst>
          </p:cNvPr>
          <p:cNvSpPr txBox="1"/>
          <p:nvPr/>
        </p:nvSpPr>
        <p:spPr>
          <a:xfrm>
            <a:off x="448963" y="4852138"/>
            <a:ext cx="8046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rgbClr val="2D3748"/>
                </a:solidFill>
              </a:rPr>
              <a:t>1) Also known as “Separation of Concerns”. Invented by Rober C. Martin.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D1A3B192-27C2-2D6F-1830-B29FA78F88A0}"/>
              </a:ext>
            </a:extLst>
          </p:cNvPr>
          <p:cNvSpPr txBox="1">
            <a:spLocks/>
          </p:cNvSpPr>
          <p:nvPr/>
        </p:nvSpPr>
        <p:spPr>
          <a:xfrm>
            <a:off x="457200" y="1478338"/>
            <a:ext cx="8686800" cy="112392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b="1" i="1" dirty="0">
                <a:cs typeface="Arial" panose="020B0604020202020204" pitchFamily="34" charset="0"/>
              </a:rPr>
              <a:t>SRP</a:t>
            </a:r>
            <a:r>
              <a:rPr lang="en-US" sz="2000" i="1" dirty="0">
                <a:cs typeface="Arial" panose="020B0604020202020204" pitchFamily="34" charset="0"/>
              </a:rPr>
              <a:t>:         A module/class should have only one reason to change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b="1" i="1" dirty="0">
                <a:cs typeface="Arial" panose="020B0604020202020204" pitchFamily="34" charset="0"/>
              </a:rPr>
              <a:t>DRY</a:t>
            </a:r>
            <a:r>
              <a:rPr lang="en-US" sz="2000" i="1" dirty="0">
                <a:cs typeface="Arial" panose="020B0604020202020204" pitchFamily="34" charset="0"/>
              </a:rPr>
              <a:t>: 	Have your reasons-to-change stored in single places</a:t>
            </a:r>
            <a:endParaRPr lang="en-US" sz="2000" i="1" dirty="0"/>
          </a:p>
        </p:txBody>
      </p:sp>
      <p:pic>
        <p:nvPicPr>
          <p:cNvPr id="11" name="Graphic 10" descr="Information with solid fill">
            <a:extLst>
              <a:ext uri="{FF2B5EF4-FFF2-40B4-BE49-F238E27FC236}">
                <a16:creationId xmlns:a16="http://schemas.microsoft.com/office/drawing/2014/main" id="{1D2073BD-D5E4-8E7D-7816-1737F38532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8137" y="2792813"/>
            <a:ext cx="1363135" cy="136313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B27834A-57EB-8A26-3A88-B179B1EF27CE}"/>
              </a:ext>
            </a:extLst>
          </p:cNvPr>
          <p:cNvSpPr txBox="1"/>
          <p:nvPr/>
        </p:nvSpPr>
        <p:spPr>
          <a:xfrm>
            <a:off x="1502708" y="2626762"/>
            <a:ext cx="7543155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“</a:t>
            </a:r>
            <a:r>
              <a:rPr lang="en-US" sz="1600" b="1" dirty="0"/>
              <a:t>Responsibility</a:t>
            </a:r>
            <a:r>
              <a:rPr lang="en-US" sz="1600" dirty="0"/>
              <a:t>” is not related to what the module does, it does not mean “function”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It means “</a:t>
            </a:r>
            <a:r>
              <a:rPr lang="en-US" sz="1600" b="1" dirty="0"/>
              <a:t>reason for change</a:t>
            </a:r>
            <a:r>
              <a:rPr lang="en-US" sz="1600" dirty="0"/>
              <a:t>” or “</a:t>
            </a:r>
            <a:r>
              <a:rPr lang="en-US" sz="1600" b="1" dirty="0"/>
              <a:t>axis of change</a:t>
            </a:r>
            <a:r>
              <a:rPr lang="en-US" sz="1600" dirty="0"/>
              <a:t>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SRP and DRY are two sides of the same coin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In summary: </a:t>
            </a:r>
            <a:r>
              <a:rPr lang="en-US" sz="1600" b="1" dirty="0"/>
              <a:t>encapsulate</a:t>
            </a:r>
            <a:r>
              <a:rPr lang="en-US" sz="1600" dirty="0"/>
              <a:t> each axis-of-change in single places (classes/packages)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63C434-88AE-E250-EAD3-69A6D20C2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3F539AF-1C49-18B8-07B9-0C9255D725CD}"/>
              </a:ext>
            </a:extLst>
          </p:cNvPr>
          <p:cNvSpPr txBox="1"/>
          <p:nvPr/>
        </p:nvSpPr>
        <p:spPr>
          <a:xfrm>
            <a:off x="357523" y="281583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What ar</a:t>
            </a:r>
            <a:r>
              <a:rPr lang="en-US" sz="3000" b="1" dirty="0">
                <a:solidFill>
                  <a:srgbClr val="0A1628"/>
                </a:solidFill>
                <a:latin typeface="Calibri"/>
              </a:rPr>
              <a:t>e ‘responsibilities’?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2D6A24A-8EAA-9848-0968-3801CD89A198}"/>
              </a:ext>
            </a:extLst>
          </p:cNvPr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EB14CCB-4CC2-EF30-0B54-7B1EF1128E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32</a:t>
            </a:fld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FF136A3-9A21-5D75-4C37-B37FE17537E3}"/>
              </a:ext>
            </a:extLst>
          </p:cNvPr>
          <p:cNvSpPr/>
          <p:nvPr/>
        </p:nvSpPr>
        <p:spPr>
          <a:xfrm>
            <a:off x="457200" y="2125980"/>
            <a:ext cx="4046220" cy="166420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About its own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About data it can produce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About related objects available to use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AA31F4-49A9-16E4-9C18-D72C437DD55A}"/>
              </a:ext>
            </a:extLst>
          </p:cNvPr>
          <p:cNvSpPr txBox="1"/>
          <p:nvPr/>
        </p:nvSpPr>
        <p:spPr>
          <a:xfrm>
            <a:off x="1832889" y="1540162"/>
            <a:ext cx="12948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Knowing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69EA070-03E3-4952-BDCE-83C1A7DFC037}"/>
              </a:ext>
            </a:extLst>
          </p:cNvPr>
          <p:cNvSpPr/>
          <p:nvPr/>
        </p:nvSpPr>
        <p:spPr>
          <a:xfrm>
            <a:off x="4701540" y="2125980"/>
            <a:ext cx="4107180" cy="166420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Creates objects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Does a calculation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Initiates actions in other objects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FC9574-AE08-68E1-D8F0-747FE36056BE}"/>
              </a:ext>
            </a:extLst>
          </p:cNvPr>
          <p:cNvSpPr txBox="1"/>
          <p:nvPr/>
        </p:nvSpPr>
        <p:spPr>
          <a:xfrm>
            <a:off x="6260521" y="1537007"/>
            <a:ext cx="930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Doing</a:t>
            </a:r>
          </a:p>
        </p:txBody>
      </p:sp>
    </p:spTree>
    <p:extLst>
      <p:ext uri="{BB962C8B-B14F-4D97-AF65-F5344CB8AC3E}">
        <p14:creationId xmlns:p14="http://schemas.microsoft.com/office/powerpoint/2010/main" val="353198819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B209E8-FE6B-99CC-9E91-C12A2B9AB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2639E26-2849-6D11-D556-D885897D93AA}"/>
              </a:ext>
            </a:extLst>
          </p:cNvPr>
          <p:cNvSpPr txBox="1"/>
          <p:nvPr/>
        </p:nvSpPr>
        <p:spPr>
          <a:xfrm>
            <a:off x="357523" y="243000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SRP &amp; DRY example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5071B89-4529-5F58-E2BE-8AEC76C549C5}"/>
              </a:ext>
            </a:extLst>
          </p:cNvPr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30933B-EF28-1C8C-4F9D-EE1B5E666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33</a:t>
            </a:fld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BB1FFDB-235D-07EA-963A-3190D4880C6C}"/>
              </a:ext>
            </a:extLst>
          </p:cNvPr>
          <p:cNvSpPr txBox="1"/>
          <p:nvPr/>
        </p:nvSpPr>
        <p:spPr>
          <a:xfrm>
            <a:off x="114298" y="1086499"/>
            <a:ext cx="4324352" cy="369332"/>
          </a:xfrm>
          <a:prstGeom prst="rect">
            <a:avLst/>
          </a:prstGeom>
          <a:solidFill>
            <a:srgbClr val="C000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Violation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50E1B24-E22A-08E9-D111-A049A8B3B01F}"/>
              </a:ext>
            </a:extLst>
          </p:cNvPr>
          <p:cNvSpPr txBox="1"/>
          <p:nvPr/>
        </p:nvSpPr>
        <p:spPr>
          <a:xfrm>
            <a:off x="4522163" y="1086499"/>
            <a:ext cx="4507539" cy="369332"/>
          </a:xfrm>
          <a:prstGeom prst="rect">
            <a:avLst/>
          </a:prstGeom>
          <a:solidFill>
            <a:srgbClr val="00B05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Compliance</a:t>
            </a:r>
          </a:p>
        </p:txBody>
      </p:sp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8F736906-84DC-7715-1AFD-C87890A049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9561838"/>
              </p:ext>
            </p:extLst>
          </p:nvPr>
        </p:nvGraphicFramePr>
        <p:xfrm>
          <a:off x="487980" y="1564356"/>
          <a:ext cx="1452212" cy="1479339"/>
        </p:xfrm>
        <a:graphic>
          <a:graphicData uri="http://schemas.openxmlformats.org/drawingml/2006/table">
            <a:tbl>
              <a:tblPr firstRow="1">
                <a:tableStyleId>{9D7B26C5-4107-4FEC-AEDC-1716B250A1EF}</a:tableStyleId>
              </a:tblPr>
              <a:tblGrid>
                <a:gridCol w="1452212">
                  <a:extLst>
                    <a:ext uri="{9D8B030D-6E8A-4147-A177-3AD203B41FA5}">
                      <a16:colId xmlns:a16="http://schemas.microsoft.com/office/drawing/2014/main" val="732015260"/>
                    </a:ext>
                  </a:extLst>
                </a:gridCol>
              </a:tblGrid>
              <a:tr h="416957">
                <a:tc>
                  <a:txBody>
                    <a:bodyPr/>
                    <a:lstStyle/>
                    <a:p>
                      <a:r>
                        <a:rPr lang="en-US" sz="1400" dirty="0" err="1"/>
                        <a:t>InvoiceManager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815788956"/>
                  </a:ext>
                </a:extLst>
              </a:tr>
              <a:tr h="1062382">
                <a:tc>
                  <a:txBody>
                    <a:bodyPr/>
                    <a:lstStyle/>
                    <a:p>
                      <a:r>
                        <a:rPr lang="en-US" sz="1400" dirty="0" err="1"/>
                        <a:t>addInvoice</a:t>
                      </a:r>
                      <a:r>
                        <a:rPr lang="en-US" sz="1400" dirty="0"/>
                        <a:t>()</a:t>
                      </a:r>
                    </a:p>
                    <a:p>
                      <a:r>
                        <a:rPr lang="en-US" sz="1400" dirty="0" err="1"/>
                        <a:t>deleteInvoice</a:t>
                      </a:r>
                      <a:r>
                        <a:rPr lang="en-US" sz="1400" dirty="0"/>
                        <a:t>()</a:t>
                      </a:r>
                    </a:p>
                    <a:p>
                      <a:r>
                        <a:rPr lang="en-US" sz="1400" dirty="0" err="1"/>
                        <a:t>printReport</a:t>
                      </a:r>
                      <a:r>
                        <a:rPr lang="en-US" sz="1400" dirty="0"/>
                        <a:t>()</a:t>
                      </a:r>
                    </a:p>
                    <a:p>
                      <a:r>
                        <a:rPr lang="en-US" sz="1400" dirty="0" err="1"/>
                        <a:t>emailReport</a:t>
                      </a:r>
                      <a:r>
                        <a:rPr lang="en-US" sz="140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4670165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E2D9BEF6-AC20-B773-C4B0-8A34D66B61B0}"/>
              </a:ext>
            </a:extLst>
          </p:cNvPr>
          <p:cNvSpPr txBox="1"/>
          <p:nvPr/>
        </p:nvSpPr>
        <p:spPr>
          <a:xfrm>
            <a:off x="114297" y="3317754"/>
            <a:ext cx="536786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An </a:t>
            </a:r>
            <a:r>
              <a:rPr lang="en-US" sz="1400" dirty="0" err="1"/>
              <a:t>InvoiceManager</a:t>
            </a:r>
            <a:r>
              <a:rPr lang="en-US" sz="1400" dirty="0"/>
              <a:t> class has many reasons for change: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Adding/Deleting invoices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Print the report in different ways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Sending the report not only by email, also by mail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Sending the report at different frequencies in time</a:t>
            </a:r>
          </a:p>
        </p:txBody>
      </p:sp>
      <p:sp>
        <p:nvSpPr>
          <p:cNvPr id="26" name="Speech Bubble: Rectangle 25">
            <a:extLst>
              <a:ext uri="{FF2B5EF4-FFF2-40B4-BE49-F238E27FC236}">
                <a16:creationId xmlns:a16="http://schemas.microsoft.com/office/drawing/2014/main" id="{C4BB5A70-56B7-31A4-9566-DBC6C8ECEE51}"/>
              </a:ext>
            </a:extLst>
          </p:cNvPr>
          <p:cNvSpPr/>
          <p:nvPr/>
        </p:nvSpPr>
        <p:spPr>
          <a:xfrm>
            <a:off x="2247899" y="1898480"/>
            <a:ext cx="2133600" cy="835153"/>
          </a:xfrm>
          <a:prstGeom prst="wedgeRectCallout">
            <a:avLst>
              <a:gd name="adj1" fmla="val -55417"/>
              <a:gd name="adj2" fmla="val -20577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 b="1" dirty="0">
                <a:solidFill>
                  <a:schemeClr val="tx1"/>
                </a:solidFill>
              </a:rPr>
              <a:t>Problem</a:t>
            </a:r>
            <a:r>
              <a:rPr lang="en-US" sz="1600" dirty="0">
                <a:solidFill>
                  <a:schemeClr val="tx1"/>
                </a:solidFill>
              </a:rPr>
              <a:t>: changing the report might break how it is sent!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18D6C5D-72E0-9164-9CF4-5AEB11E272EB}"/>
              </a:ext>
            </a:extLst>
          </p:cNvPr>
          <p:cNvSpPr txBox="1"/>
          <p:nvPr/>
        </p:nvSpPr>
        <p:spPr>
          <a:xfrm>
            <a:off x="192437" y="4797367"/>
            <a:ext cx="446528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hlinkClick r:id="rId2"/>
              </a:rPr>
              <a:t>Single Responsibility in SOLID Design Principle - </a:t>
            </a:r>
            <a:r>
              <a:rPr lang="en-US" sz="1000" dirty="0" err="1">
                <a:hlinkClick r:id="rId2"/>
              </a:rPr>
              <a:t>GeeksforGeeks</a:t>
            </a:r>
            <a:endParaRPr lang="en-US" sz="1000" dirty="0"/>
          </a:p>
        </p:txBody>
      </p:sp>
      <p:graphicFrame>
        <p:nvGraphicFramePr>
          <p:cNvPr id="28" name="Table 27">
            <a:extLst>
              <a:ext uri="{FF2B5EF4-FFF2-40B4-BE49-F238E27FC236}">
                <a16:creationId xmlns:a16="http://schemas.microsoft.com/office/drawing/2014/main" id="{FF583A4B-6197-2CED-7D8A-EDF16C2689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3403238"/>
              </p:ext>
            </p:extLst>
          </p:nvPr>
        </p:nvGraphicFramePr>
        <p:xfrm>
          <a:off x="7509544" y="1733279"/>
          <a:ext cx="1224084" cy="1089873"/>
        </p:xfrm>
        <a:graphic>
          <a:graphicData uri="http://schemas.openxmlformats.org/drawingml/2006/table">
            <a:tbl>
              <a:tblPr firstRow="1">
                <a:tableStyleId>{9D7B26C5-4107-4FEC-AEDC-1716B250A1EF}</a:tableStyleId>
              </a:tblPr>
              <a:tblGrid>
                <a:gridCol w="1224084">
                  <a:extLst>
                    <a:ext uri="{9D8B030D-6E8A-4147-A177-3AD203B41FA5}">
                      <a16:colId xmlns:a16="http://schemas.microsoft.com/office/drawing/2014/main" val="732015260"/>
                    </a:ext>
                  </a:extLst>
                </a:gridCol>
              </a:tblGrid>
              <a:tr h="307185">
                <a:tc>
                  <a:txBody>
                    <a:bodyPr/>
                    <a:lstStyle/>
                    <a:p>
                      <a:r>
                        <a:rPr lang="en-US" sz="1200" dirty="0" err="1"/>
                        <a:t>InvoiceManager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815788956"/>
                  </a:ext>
                </a:extLst>
              </a:tr>
              <a:tr h="782688">
                <a:tc>
                  <a:txBody>
                    <a:bodyPr/>
                    <a:lstStyle/>
                    <a:p>
                      <a:r>
                        <a:rPr lang="en-US" sz="1200" dirty="0" err="1"/>
                        <a:t>addInvoice</a:t>
                      </a:r>
                      <a:r>
                        <a:rPr lang="en-US" sz="1200" dirty="0"/>
                        <a:t>()</a:t>
                      </a:r>
                    </a:p>
                    <a:p>
                      <a:r>
                        <a:rPr lang="en-US" sz="1200" dirty="0" err="1"/>
                        <a:t>deleteInvoice</a:t>
                      </a:r>
                      <a:r>
                        <a:rPr lang="en-US" sz="1200" dirty="0"/>
                        <a:t>()</a:t>
                      </a:r>
                    </a:p>
                    <a:p>
                      <a:r>
                        <a:rPr lang="en-US" sz="1200" dirty="0" err="1"/>
                        <a:t>getInvoices</a:t>
                      </a:r>
                      <a:r>
                        <a:rPr lang="en-US" sz="120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4670165"/>
                  </a:ext>
                </a:extLst>
              </a:tr>
            </a:tbl>
          </a:graphicData>
        </a:graphic>
      </p:graphicFrame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58FBD5FF-684E-15C0-FD1F-D68B47DFA2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2343953"/>
              </p:ext>
            </p:extLst>
          </p:nvPr>
        </p:nvGraphicFramePr>
        <p:xfrm>
          <a:off x="6063258" y="1877992"/>
          <a:ext cx="1071210" cy="800449"/>
        </p:xfrm>
        <a:graphic>
          <a:graphicData uri="http://schemas.openxmlformats.org/drawingml/2006/table">
            <a:tbl>
              <a:tblPr firstRow="1">
                <a:tableStyleId>{9D7B26C5-4107-4FEC-AEDC-1716B250A1EF}</a:tableStyleId>
              </a:tblPr>
              <a:tblGrid>
                <a:gridCol w="1071210">
                  <a:extLst>
                    <a:ext uri="{9D8B030D-6E8A-4147-A177-3AD203B41FA5}">
                      <a16:colId xmlns:a16="http://schemas.microsoft.com/office/drawing/2014/main" val="732015260"/>
                    </a:ext>
                  </a:extLst>
                </a:gridCol>
              </a:tblGrid>
              <a:tr h="304372">
                <a:tc>
                  <a:txBody>
                    <a:bodyPr/>
                    <a:lstStyle/>
                    <a:p>
                      <a:r>
                        <a:rPr lang="en-US" sz="1200" dirty="0" err="1"/>
                        <a:t>InvoiceReport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815788956"/>
                  </a:ext>
                </a:extLst>
              </a:tr>
              <a:tr h="496077">
                <a:tc>
                  <a:txBody>
                    <a:bodyPr/>
                    <a:lstStyle/>
                    <a:p>
                      <a:r>
                        <a:rPr lang="en-US" sz="1200" dirty="0" err="1"/>
                        <a:t>printReport</a:t>
                      </a:r>
                      <a:r>
                        <a:rPr lang="en-US" sz="120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4670165"/>
                  </a:ext>
                </a:extLst>
              </a:tr>
            </a:tbl>
          </a:graphicData>
        </a:graphic>
      </p:graphicFrame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8B118BE6-9A7A-C0AD-AF6F-79BDBD7637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1602394"/>
              </p:ext>
            </p:extLst>
          </p:nvPr>
        </p:nvGraphicFramePr>
        <p:xfrm>
          <a:off x="4743937" y="1912457"/>
          <a:ext cx="1071210" cy="731520"/>
        </p:xfrm>
        <a:graphic>
          <a:graphicData uri="http://schemas.openxmlformats.org/drawingml/2006/table">
            <a:tbl>
              <a:tblPr firstRow="1">
                <a:tableStyleId>{9D7B26C5-4107-4FEC-AEDC-1716B250A1EF}</a:tableStyleId>
              </a:tblPr>
              <a:tblGrid>
                <a:gridCol w="1071210">
                  <a:extLst>
                    <a:ext uri="{9D8B030D-6E8A-4147-A177-3AD203B41FA5}">
                      <a16:colId xmlns:a16="http://schemas.microsoft.com/office/drawing/2014/main" val="732015260"/>
                    </a:ext>
                  </a:extLst>
                </a:gridCol>
              </a:tblGrid>
              <a:tr h="289856">
                <a:tc>
                  <a:txBody>
                    <a:bodyPr/>
                    <a:lstStyle/>
                    <a:p>
                      <a:r>
                        <a:rPr lang="en-US" sz="1200" dirty="0" err="1"/>
                        <a:t>ReportSender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815788956"/>
                  </a:ext>
                </a:extLst>
              </a:tr>
              <a:tr h="441664">
                <a:tc>
                  <a:txBody>
                    <a:bodyPr/>
                    <a:lstStyle/>
                    <a:p>
                      <a:r>
                        <a:rPr lang="en-US" sz="1200" dirty="0" err="1"/>
                        <a:t>sendReport</a:t>
                      </a:r>
                      <a:r>
                        <a:rPr lang="en-US" sz="120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4670165"/>
                  </a:ext>
                </a:extLst>
              </a:tr>
            </a:tbl>
          </a:graphicData>
        </a:graphic>
      </p:graphicFrame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256064B-9345-18B8-0BB0-FAB6522B8EC5}"/>
              </a:ext>
            </a:extLst>
          </p:cNvPr>
          <p:cNvCxnSpPr>
            <a:cxnSpLocks/>
            <a:stCxn id="29" idx="3"/>
            <a:endCxn id="28" idx="1"/>
          </p:cNvCxnSpPr>
          <p:nvPr/>
        </p:nvCxnSpPr>
        <p:spPr>
          <a:xfrm flipV="1">
            <a:off x="7134468" y="2278215"/>
            <a:ext cx="375076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5040985-2736-D867-7045-5DF3EDA31AB1}"/>
              </a:ext>
            </a:extLst>
          </p:cNvPr>
          <p:cNvCxnSpPr>
            <a:cxnSpLocks/>
            <a:stCxn id="30" idx="3"/>
            <a:endCxn id="29" idx="1"/>
          </p:cNvCxnSpPr>
          <p:nvPr/>
        </p:nvCxnSpPr>
        <p:spPr>
          <a:xfrm flipV="1">
            <a:off x="5815147" y="2278216"/>
            <a:ext cx="248111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1EFD9A09-4E4A-B717-66F6-75CCEB140365}"/>
              </a:ext>
            </a:extLst>
          </p:cNvPr>
          <p:cNvSpPr txBox="1"/>
          <p:nvPr/>
        </p:nvSpPr>
        <p:spPr>
          <a:xfrm>
            <a:off x="4803466" y="3245313"/>
            <a:ext cx="378365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Now the reasons for change are separated (</a:t>
            </a:r>
            <a:r>
              <a:rPr lang="en-US" sz="1600" b="1" dirty="0"/>
              <a:t>encapsulated</a:t>
            </a:r>
            <a:r>
              <a:rPr lang="en-US" sz="1600" dirty="0"/>
              <a:t>)!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1600" dirty="0"/>
              <a:t>If we want to change the report format that change does not impact the </a:t>
            </a:r>
            <a:r>
              <a:rPr lang="en-US" sz="1600" dirty="0" err="1"/>
              <a:t>InvoiceManager</a:t>
            </a:r>
            <a:r>
              <a:rPr lang="en-US" sz="1600" dirty="0"/>
              <a:t> class.</a:t>
            </a:r>
          </a:p>
        </p:txBody>
      </p:sp>
    </p:spTree>
    <p:extLst>
      <p:ext uri="{BB962C8B-B14F-4D97-AF65-F5344CB8AC3E}">
        <p14:creationId xmlns:p14="http://schemas.microsoft.com/office/powerpoint/2010/main" val="471382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build="allAtOnce"/>
      <p:bldP spid="26" grpId="0" animBg="1"/>
      <p:bldP spid="27" grpId="0"/>
      <p:bldP spid="50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dirty="0">
                <a:solidFill>
                  <a:srgbClr val="0A1628"/>
                </a:solidFill>
                <a:latin typeface="Calibri"/>
              </a:rPr>
              <a:t>Information Hiding</a:t>
            </a:r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 Principle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8681" y="1213628"/>
            <a:ext cx="80467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 dirty="0">
                <a:solidFill>
                  <a:srgbClr val="2D3748"/>
                </a:solidFill>
                <a:latin typeface="Calibri"/>
              </a:rPr>
              <a:t>Hide implementation details behind </a:t>
            </a:r>
            <a:r>
              <a:rPr lang="en-US" sz="1800" b="0" i="0" dirty="0">
                <a:solidFill>
                  <a:srgbClr val="2D3748"/>
                </a:solidFill>
                <a:latin typeface="Calibri"/>
              </a:rPr>
              <a:t>an </a:t>
            </a:r>
            <a:r>
              <a:rPr lang="en-US" sz="1800" b="1" i="0" dirty="0">
                <a:solidFill>
                  <a:srgbClr val="2D3748"/>
                </a:solidFill>
                <a:latin typeface="Calibri"/>
              </a:rPr>
              <a:t>abstraction</a:t>
            </a:r>
            <a:r>
              <a:rPr lang="en-US" sz="1800" b="0" i="0" dirty="0">
                <a:solidFill>
                  <a:srgbClr val="2D3748"/>
                </a:solidFill>
                <a:latin typeface="Calibri"/>
              </a:rPr>
              <a:t>/</a:t>
            </a:r>
            <a:r>
              <a:rPr lang="en-US" sz="1800" b="1" i="0" dirty="0">
                <a:solidFill>
                  <a:srgbClr val="2D3748"/>
                </a:solidFill>
                <a:latin typeface="Calibri"/>
              </a:rPr>
              <a:t>interface</a:t>
            </a:r>
            <a:r>
              <a:rPr sz="1800" b="0" i="0" dirty="0">
                <a:solidFill>
                  <a:srgbClr val="2D3748"/>
                </a:solidFill>
                <a:latin typeface="Calibri"/>
              </a:rPr>
              <a:t>.
Callers</a:t>
            </a:r>
            <a:r>
              <a:rPr lang="en-US" sz="1800" b="0" i="0" dirty="0">
                <a:solidFill>
                  <a:srgbClr val="2D3748"/>
                </a:solidFill>
                <a:latin typeface="Calibri"/>
              </a:rPr>
              <a:t>/clients</a:t>
            </a:r>
            <a:r>
              <a:rPr sz="1800" b="0" i="0" dirty="0">
                <a:solidFill>
                  <a:srgbClr val="2D3748"/>
                </a:solidFill>
                <a:latin typeface="Calibri"/>
              </a:rPr>
              <a:t> need to know what a module does, not how.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6267F1-C01B-82DF-A13C-DAB1992B1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34</a:t>
            </a:fld>
            <a:endParaRPr lang="en-US"/>
          </a:p>
        </p:txBody>
      </p:sp>
      <p:pic>
        <p:nvPicPr>
          <p:cNvPr id="8" name="Picture 7" descr="How Much Draw from a Single Outlet? | Promise Electric - Sarasota, FL">
            <a:extLst>
              <a:ext uri="{FF2B5EF4-FFF2-40B4-BE49-F238E27FC236}">
                <a16:creationId xmlns:a16="http://schemas.microsoft.com/office/drawing/2014/main" id="{5985F87A-1CE4-3F09-ED63-E3B3D3C1E8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5999" y="2410266"/>
            <a:ext cx="3821182" cy="2552430"/>
          </a:xfrm>
          <a:prstGeom prst="rect">
            <a:avLst/>
          </a:prstGeom>
        </p:spPr>
      </p:pic>
      <p:pic>
        <p:nvPicPr>
          <p:cNvPr id="9" name="Picture 8" descr="How Receptacles work (US/CAN) - The Engineering Mindset">
            <a:extLst>
              <a:ext uri="{FF2B5EF4-FFF2-40B4-BE49-F238E27FC236}">
                <a16:creationId xmlns:a16="http://schemas.microsoft.com/office/drawing/2014/main" id="{9A7A9E30-44C0-E395-5478-171649A110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410266"/>
            <a:ext cx="4463548" cy="256654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E72E5C0-ED8F-D31B-8C61-3B5E596CB87B}"/>
              </a:ext>
            </a:extLst>
          </p:cNvPr>
          <p:cNvSpPr txBox="1"/>
          <p:nvPr/>
        </p:nvSpPr>
        <p:spPr>
          <a:xfrm>
            <a:off x="457201" y="2012052"/>
            <a:ext cx="4463548" cy="369332"/>
          </a:xfrm>
          <a:prstGeom prst="rect">
            <a:avLst/>
          </a:prstGeom>
          <a:solidFill>
            <a:srgbClr val="5959EB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Implementation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942B75-625C-F7D9-ADC9-A9E1218C9EAF}"/>
              </a:ext>
            </a:extLst>
          </p:cNvPr>
          <p:cNvSpPr txBox="1"/>
          <p:nvPr/>
        </p:nvSpPr>
        <p:spPr>
          <a:xfrm>
            <a:off x="4975998" y="2012052"/>
            <a:ext cx="1925951" cy="369332"/>
          </a:xfrm>
          <a:prstGeom prst="rect">
            <a:avLst/>
          </a:prstGeom>
          <a:solidFill>
            <a:srgbClr val="FF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Interface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39DBAF7-DF31-7B70-CAC0-2C8B689DB75A}"/>
              </a:ext>
            </a:extLst>
          </p:cNvPr>
          <p:cNvSpPr txBox="1"/>
          <p:nvPr/>
        </p:nvSpPr>
        <p:spPr>
          <a:xfrm>
            <a:off x="6968922" y="2012052"/>
            <a:ext cx="1828259" cy="369332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Clients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184D7C-A654-94DF-B7FD-46E5C8E837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36AB562-0FAB-C8CD-331E-46576CE6317F}"/>
              </a:ext>
            </a:extLst>
          </p:cNvPr>
          <p:cNvSpPr txBox="1"/>
          <p:nvPr/>
        </p:nvSpPr>
        <p:spPr>
          <a:xfrm>
            <a:off x="457200" y="274320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dirty="0">
                <a:solidFill>
                  <a:srgbClr val="0A1628"/>
                </a:solidFill>
                <a:latin typeface="Calibri"/>
              </a:rPr>
              <a:t>Information Hiding</a:t>
            </a:r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 Principle in Optimization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9AEAAB2-B944-A850-6746-ACCF1FA9F270}"/>
              </a:ext>
            </a:extLst>
          </p:cNvPr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8CFC44-436E-DEAA-7DD0-080F25AF9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35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A659D90-6EAA-F4F1-B39B-AEC447CEDB81}"/>
              </a:ext>
            </a:extLst>
          </p:cNvPr>
          <p:cNvSpPr/>
          <p:nvPr/>
        </p:nvSpPr>
        <p:spPr>
          <a:xfrm>
            <a:off x="4614987" y="1703754"/>
            <a:ext cx="2110154" cy="101600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2"/>
                </a:solidFill>
              </a:rPr>
              <a:t>Knapsack Algorithm Solver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0D212F6-E2AE-34CC-38DB-207FAAA30BCF}"/>
              </a:ext>
            </a:extLst>
          </p:cNvPr>
          <p:cNvSpPr/>
          <p:nvPr/>
        </p:nvSpPr>
        <p:spPr>
          <a:xfrm>
            <a:off x="308707" y="1703754"/>
            <a:ext cx="2110154" cy="1016000"/>
          </a:xfrm>
          <a:prstGeom prst="rect">
            <a:avLst/>
          </a:prstGeom>
          <a:solidFill>
            <a:srgbClr val="00B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2"/>
                </a:solidFill>
              </a:rPr>
              <a:t>Knapsack Service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E492463-6A85-F6CE-9A89-1985694D71A9}"/>
              </a:ext>
            </a:extLst>
          </p:cNvPr>
          <p:cNvCxnSpPr>
            <a:cxnSpLocks/>
            <a:stCxn id="7" idx="3"/>
            <a:endCxn id="6" idx="1"/>
          </p:cNvCxnSpPr>
          <p:nvPr/>
        </p:nvCxnSpPr>
        <p:spPr>
          <a:xfrm>
            <a:off x="2418861" y="2211754"/>
            <a:ext cx="2196126" cy="0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662B4AF-A4F3-3FAA-386C-4BFD567B0A5C}"/>
              </a:ext>
            </a:extLst>
          </p:cNvPr>
          <p:cNvSpPr txBox="1"/>
          <p:nvPr/>
        </p:nvSpPr>
        <p:spPr>
          <a:xfrm>
            <a:off x="2329964" y="1612292"/>
            <a:ext cx="22850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Solve me this knapsack problem please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022570C-200A-F4C5-CAD2-C117C8824820}"/>
              </a:ext>
            </a:extLst>
          </p:cNvPr>
          <p:cNvSpPr txBox="1"/>
          <p:nvPr/>
        </p:nvSpPr>
        <p:spPr>
          <a:xfrm>
            <a:off x="308707" y="1237465"/>
            <a:ext cx="2110154" cy="369332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Clients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C9604C3-6090-4FF5-0CE7-B6D10C0F1360}"/>
              </a:ext>
            </a:extLst>
          </p:cNvPr>
          <p:cNvSpPr txBox="1"/>
          <p:nvPr/>
        </p:nvSpPr>
        <p:spPr>
          <a:xfrm>
            <a:off x="4614987" y="1248610"/>
            <a:ext cx="2110154" cy="369332"/>
          </a:xfrm>
          <a:prstGeom prst="rect">
            <a:avLst/>
          </a:prstGeom>
          <a:solidFill>
            <a:srgbClr val="FF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Interface</a:t>
            </a:r>
          </a:p>
        </p:txBody>
      </p:sp>
      <p:sp>
        <p:nvSpPr>
          <p:cNvPr id="19" name="Speech Bubble: Rectangle with Corners Rounded 18">
            <a:extLst>
              <a:ext uri="{FF2B5EF4-FFF2-40B4-BE49-F238E27FC236}">
                <a16:creationId xmlns:a16="http://schemas.microsoft.com/office/drawing/2014/main" id="{F3BD4A70-DEB5-A555-5FF3-321A3F166110}"/>
              </a:ext>
            </a:extLst>
          </p:cNvPr>
          <p:cNvSpPr/>
          <p:nvPr/>
        </p:nvSpPr>
        <p:spPr>
          <a:xfrm>
            <a:off x="6811113" y="1272312"/>
            <a:ext cx="1812925" cy="691259"/>
          </a:xfrm>
          <a:prstGeom prst="wedgeRoundRectCallout">
            <a:avLst>
              <a:gd name="adj1" fmla="val -61928"/>
              <a:gd name="adj2" fmla="val -23738"/>
              <a:gd name="adj3" fmla="val 16667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 solve knapsack problems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E3251E7-77F3-BF1D-4C23-D29A0285F6A6}"/>
              </a:ext>
            </a:extLst>
          </p:cNvPr>
          <p:cNvSpPr txBox="1"/>
          <p:nvPr/>
        </p:nvSpPr>
        <p:spPr>
          <a:xfrm>
            <a:off x="4614987" y="2867676"/>
            <a:ext cx="3747475" cy="1384995"/>
          </a:xfrm>
          <a:prstGeom prst="rect">
            <a:avLst/>
          </a:prstGeom>
          <a:solidFill>
            <a:srgbClr val="5959EB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Implementation details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Depending on the instance I may use different approaches: MIP, Dynamic Programming, Metaheuristics, etc. </a:t>
            </a:r>
          </a:p>
          <a:p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25" name="Speech Bubble: Rectangle 24">
            <a:extLst>
              <a:ext uri="{FF2B5EF4-FFF2-40B4-BE49-F238E27FC236}">
                <a16:creationId xmlns:a16="http://schemas.microsoft.com/office/drawing/2014/main" id="{A9F2FB3F-77B1-C399-E29C-E7489208F1EF}"/>
              </a:ext>
            </a:extLst>
          </p:cNvPr>
          <p:cNvSpPr/>
          <p:nvPr/>
        </p:nvSpPr>
        <p:spPr>
          <a:xfrm>
            <a:off x="457200" y="3320794"/>
            <a:ext cx="3185160" cy="1182625"/>
          </a:xfrm>
          <a:prstGeom prst="wedgeRectCallout">
            <a:avLst>
              <a:gd name="adj1" fmla="val -26488"/>
              <a:gd name="adj2" fmla="val -77146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 dirty="0">
                <a:solidFill>
                  <a:schemeClr val="tx1"/>
                </a:solidFill>
              </a:rPr>
              <a:t>The Knapsack service is coupled to the Knapsack Algorithm through its interface. It is not coupled to the different algorithms used!.</a:t>
            </a:r>
          </a:p>
        </p:txBody>
      </p:sp>
    </p:spTree>
    <p:extLst>
      <p:ext uri="{BB962C8B-B14F-4D97-AF65-F5344CB8AC3E}">
        <p14:creationId xmlns:p14="http://schemas.microsoft.com/office/powerpoint/2010/main" val="338489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7A8"/>
                </a:solidFill>
                <a:latin typeface="Calibri"/>
              </a:rPr>
              <a:t>AFTERNOON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0A1628"/>
                </a:solidFill>
                <a:latin typeface="Calibri"/>
              </a:rPr>
              <a:t>Putting it all together: SEFOP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08760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3A0754-6D28-C33A-55B4-F0FB62607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36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BC26A8F-7EDC-E6EE-938C-C6486DE16BAD}"/>
              </a:ext>
            </a:extLst>
          </p:cNvPr>
          <p:cNvSpPr txBox="1"/>
          <p:nvPr/>
        </p:nvSpPr>
        <p:spPr>
          <a:xfrm>
            <a:off x="510540" y="3193653"/>
            <a:ext cx="457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Create a fork of this repo in your machine</a:t>
            </a:r>
          </a:p>
          <a:p>
            <a:r>
              <a:rPr lang="en-US" dirty="0">
                <a:hlinkClick r:id="rId2"/>
              </a:rPr>
              <a:t>https://github.com/sefop/sefop-python-starter</a:t>
            </a:r>
            <a:r>
              <a:rPr lang="en-US" dirty="0"/>
              <a:t> 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90C5B6-68D0-4F84-6D71-7D29692A8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C3A15F-C5EA-6B68-C963-B0E794C24BEA}"/>
              </a:ext>
            </a:extLst>
          </p:cNvPr>
          <p:cNvSpPr txBox="1"/>
          <p:nvPr/>
        </p:nvSpPr>
        <p:spPr>
          <a:xfrm>
            <a:off x="457200" y="274320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What is SEFOP?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8D5BD19-3904-B12A-74D3-88B7D646AF8D}"/>
              </a:ext>
            </a:extLst>
          </p:cNvPr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AED6E44-D905-9AE6-4AAD-C52F23A773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37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6E8B3D-ED6A-72EC-4901-CEAA081B32F6}"/>
              </a:ext>
            </a:extLst>
          </p:cNvPr>
          <p:cNvSpPr txBox="1"/>
          <p:nvPr/>
        </p:nvSpPr>
        <p:spPr>
          <a:xfrm>
            <a:off x="457200" y="1193753"/>
            <a:ext cx="804672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000" b="1" i="0" dirty="0">
                <a:solidFill>
                  <a:srgbClr val="2D3748"/>
                </a:solidFill>
                <a:latin typeface="Calibri"/>
              </a:rPr>
              <a:t>S</a:t>
            </a:r>
            <a:r>
              <a:rPr lang="en-US" sz="2000" i="0" dirty="0">
                <a:solidFill>
                  <a:srgbClr val="2D3748"/>
                </a:solidFill>
                <a:latin typeface="Calibri"/>
              </a:rPr>
              <a:t>oftware </a:t>
            </a:r>
            <a:r>
              <a:rPr lang="en-US" sz="2000" b="1" i="0" dirty="0">
                <a:solidFill>
                  <a:srgbClr val="2D3748"/>
                </a:solidFill>
                <a:latin typeface="Calibri"/>
              </a:rPr>
              <a:t>E</a:t>
            </a:r>
            <a:r>
              <a:rPr lang="en-US" sz="2000" i="0" dirty="0">
                <a:solidFill>
                  <a:srgbClr val="2D3748"/>
                </a:solidFill>
                <a:latin typeface="Calibri"/>
              </a:rPr>
              <a:t>ngineering </a:t>
            </a:r>
            <a:r>
              <a:rPr lang="en-US" sz="2000" b="1" i="0" dirty="0">
                <a:solidFill>
                  <a:srgbClr val="2D3748"/>
                </a:solidFill>
                <a:latin typeface="Calibri"/>
              </a:rPr>
              <a:t>F</a:t>
            </a:r>
            <a:r>
              <a:rPr lang="en-US" sz="2000" i="0" dirty="0">
                <a:solidFill>
                  <a:srgbClr val="2D3748"/>
                </a:solidFill>
                <a:latin typeface="Calibri"/>
              </a:rPr>
              <a:t>ramework for </a:t>
            </a:r>
            <a:r>
              <a:rPr lang="en-US" sz="2000" b="1" i="0" dirty="0">
                <a:solidFill>
                  <a:srgbClr val="2D3748"/>
                </a:solidFill>
                <a:latin typeface="Calibri"/>
              </a:rPr>
              <a:t>O</a:t>
            </a:r>
            <a:r>
              <a:rPr lang="en-US" sz="2000" i="0" dirty="0">
                <a:solidFill>
                  <a:srgbClr val="2D3748"/>
                </a:solidFill>
                <a:latin typeface="Calibri"/>
              </a:rPr>
              <a:t>ptimization </a:t>
            </a:r>
            <a:r>
              <a:rPr lang="en-US" sz="2000" b="1" i="0" dirty="0">
                <a:solidFill>
                  <a:srgbClr val="2D3748"/>
                </a:solidFill>
                <a:latin typeface="Calibri"/>
              </a:rPr>
              <a:t>P</a:t>
            </a:r>
            <a:r>
              <a:rPr lang="en-US" sz="2000" i="0" dirty="0">
                <a:solidFill>
                  <a:srgbClr val="2D3748"/>
                </a:solidFill>
                <a:latin typeface="Calibri"/>
              </a:rPr>
              <a:t>rograms</a:t>
            </a:r>
          </a:p>
          <a:p>
            <a:pPr algn="l"/>
            <a:endParaRPr lang="en-US" sz="2000" dirty="0">
              <a:solidFill>
                <a:srgbClr val="2D3748"/>
              </a:solidFill>
            </a:endParaRPr>
          </a:p>
          <a:p>
            <a:pPr algn="l"/>
            <a:r>
              <a:rPr lang="en-US" sz="2000" u="sng" dirty="0">
                <a:solidFill>
                  <a:srgbClr val="2D3748"/>
                </a:solidFill>
              </a:rPr>
              <a:t>It comes in 2 versions</a:t>
            </a:r>
            <a:r>
              <a:rPr lang="en-US" sz="2000" dirty="0">
                <a:solidFill>
                  <a:srgbClr val="2D3748"/>
                </a:solidFill>
              </a:rPr>
              <a:t>:</a:t>
            </a:r>
          </a:p>
          <a:p>
            <a:pPr marL="457200" indent="-457200" algn="l">
              <a:buFont typeface="+mj-lt"/>
              <a:buAutoNum type="arabicPeriod"/>
            </a:pPr>
            <a:r>
              <a:rPr lang="en-US" sz="2000" dirty="0">
                <a:solidFill>
                  <a:srgbClr val="2D3748"/>
                </a:solidFill>
              </a:rPr>
              <a:t>“Starter”: simplified design for non-web applications</a:t>
            </a:r>
          </a:p>
          <a:p>
            <a:pPr marL="457200" indent="-457200" algn="l">
              <a:buFont typeface="+mj-lt"/>
              <a:buAutoNum type="arabicPeriod"/>
            </a:pPr>
            <a:r>
              <a:rPr lang="en-US" sz="2000" dirty="0">
                <a:solidFill>
                  <a:srgbClr val="2D3748"/>
                </a:solidFill>
              </a:rPr>
              <a:t>“Advanced”: design thought for a web-application in the industry</a:t>
            </a:r>
          </a:p>
          <a:p>
            <a:pPr marL="457200" indent="-457200" algn="l">
              <a:buFont typeface="+mj-lt"/>
              <a:buAutoNum type="arabicPeriod"/>
            </a:pPr>
            <a:endParaRPr lang="en-US" sz="2000" dirty="0">
              <a:solidFill>
                <a:srgbClr val="2D3748"/>
              </a:solidFill>
            </a:endParaRPr>
          </a:p>
          <a:p>
            <a:pPr algn="l"/>
            <a:r>
              <a:rPr lang="en-US" sz="2000" u="sng" dirty="0">
                <a:solidFill>
                  <a:srgbClr val="2D3748"/>
                </a:solidFill>
              </a:rPr>
              <a:t>Benefits</a:t>
            </a:r>
            <a:r>
              <a:rPr lang="en-US" sz="2000" dirty="0">
                <a:solidFill>
                  <a:srgbClr val="2D3748"/>
                </a:solidFill>
              </a:rPr>
              <a:t>: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en-US" sz="2000" dirty="0">
                <a:solidFill>
                  <a:srgbClr val="2D3748"/>
                </a:solidFill>
              </a:rPr>
              <a:t>Modularization of main phases of an optimization run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en-US" sz="2000" dirty="0">
                <a:solidFill>
                  <a:srgbClr val="2D3748"/>
                </a:solidFill>
              </a:rPr>
              <a:t>Automatic testing framework included for optimization problems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en-US" sz="2000" dirty="0">
                <a:solidFill>
                  <a:srgbClr val="2D3748"/>
                </a:solidFill>
              </a:rPr>
              <a:t>Solver decoupling from the logic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endParaRPr lang="en-US" sz="2000" dirty="0">
              <a:solidFill>
                <a:srgbClr val="2D3748"/>
              </a:solidFill>
            </a:endParaRPr>
          </a:p>
        </p:txBody>
      </p:sp>
      <p:sp>
        <p:nvSpPr>
          <p:cNvPr id="8" name="Speech Bubble: Rectangle 7">
            <a:extLst>
              <a:ext uri="{FF2B5EF4-FFF2-40B4-BE49-F238E27FC236}">
                <a16:creationId xmlns:a16="http://schemas.microsoft.com/office/drawing/2014/main" id="{34F0B4A7-98F2-4F16-DD8F-B525DBFC1E77}"/>
              </a:ext>
            </a:extLst>
          </p:cNvPr>
          <p:cNvSpPr/>
          <p:nvPr/>
        </p:nvSpPr>
        <p:spPr>
          <a:xfrm>
            <a:off x="6724997" y="2078926"/>
            <a:ext cx="1255221" cy="328549"/>
          </a:xfrm>
          <a:prstGeom prst="wedgeRectCallout">
            <a:avLst>
              <a:gd name="adj1" fmla="val -63825"/>
              <a:gd name="adj2" fmla="val 24059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 dirty="0">
                <a:solidFill>
                  <a:schemeClr val="tx1"/>
                </a:solidFill>
              </a:rPr>
              <a:t>Focus today</a:t>
            </a:r>
          </a:p>
        </p:txBody>
      </p:sp>
      <p:sp>
        <p:nvSpPr>
          <p:cNvPr id="10" name="Speech Bubble: Rectangle 9">
            <a:extLst>
              <a:ext uri="{FF2B5EF4-FFF2-40B4-BE49-F238E27FC236}">
                <a16:creationId xmlns:a16="http://schemas.microsoft.com/office/drawing/2014/main" id="{29010350-1607-0D43-FBA4-81AE455CB7AD}"/>
              </a:ext>
            </a:extLst>
          </p:cNvPr>
          <p:cNvSpPr/>
          <p:nvPr/>
        </p:nvSpPr>
        <p:spPr>
          <a:xfrm>
            <a:off x="6350925" y="3062409"/>
            <a:ext cx="2588028" cy="1609219"/>
          </a:xfrm>
          <a:prstGeom prst="wedgeRectCallout">
            <a:avLst>
              <a:gd name="adj1" fmla="val -37992"/>
              <a:gd name="adj2" fmla="val -62685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 dirty="0">
                <a:solidFill>
                  <a:schemeClr val="tx1"/>
                </a:solidFill>
              </a:rPr>
              <a:t>Do not take this framework as the </a:t>
            </a:r>
            <a:r>
              <a:rPr lang="en-US" sz="1600" b="1" dirty="0">
                <a:solidFill>
                  <a:schemeClr val="tx1"/>
                </a:solidFill>
              </a:rPr>
              <a:t>only way of achieving modularity and testing</a:t>
            </a:r>
            <a:r>
              <a:rPr lang="en-US" sz="1600" dirty="0">
                <a:solidFill>
                  <a:schemeClr val="tx1"/>
                </a:solidFill>
              </a:rPr>
              <a:t>. Instead, focus on the most important ideas that could benefit you.</a:t>
            </a:r>
          </a:p>
        </p:txBody>
      </p:sp>
    </p:spTree>
    <p:extLst>
      <p:ext uri="{BB962C8B-B14F-4D97-AF65-F5344CB8AC3E}">
        <p14:creationId xmlns:p14="http://schemas.microsoft.com/office/powerpoint/2010/main" val="2310603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CFA4C-03B9-6E42-9FE9-15667BB49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30F342F-C91D-D458-39D1-EBDCCA136F55}"/>
              </a:ext>
            </a:extLst>
          </p:cNvPr>
          <p:cNvSpPr txBox="1"/>
          <p:nvPr/>
        </p:nvSpPr>
        <p:spPr>
          <a:xfrm>
            <a:off x="457200" y="274320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Overview of SEFOP design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DF80FE3-A397-4373-F168-E0FE3ED5F5F1}"/>
              </a:ext>
            </a:extLst>
          </p:cNvPr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B5ACF9-4F5F-29C5-7B26-D6D792494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38</a:t>
            </a:fld>
            <a:endParaRPr lang="en-US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EF2E7FF-A5E4-A000-1BE0-92FFDA28EC0C}"/>
              </a:ext>
            </a:extLst>
          </p:cNvPr>
          <p:cNvSpPr/>
          <p:nvPr/>
        </p:nvSpPr>
        <p:spPr>
          <a:xfrm>
            <a:off x="106680" y="2754630"/>
            <a:ext cx="8930640" cy="400039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5610D61-1041-6890-F3B2-BF2EC6C28F9B}"/>
              </a:ext>
            </a:extLst>
          </p:cNvPr>
          <p:cNvSpPr/>
          <p:nvPr/>
        </p:nvSpPr>
        <p:spPr>
          <a:xfrm>
            <a:off x="765048" y="1699263"/>
            <a:ext cx="1645920" cy="212597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b="1" dirty="0">
                <a:solidFill>
                  <a:schemeClr val="tx1"/>
                </a:solidFill>
              </a:rPr>
              <a:t>Data loading</a:t>
            </a:r>
          </a:p>
          <a:p>
            <a:pPr algn="ctr"/>
            <a:endParaRPr lang="en-US" sz="1600" b="1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Reads input data from different sources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Uses a Data Model to abstract the sources.</a:t>
            </a:r>
          </a:p>
          <a:p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5FF8DB0-95D1-7DC6-B872-84BFB19496D1}"/>
              </a:ext>
            </a:extLst>
          </p:cNvPr>
          <p:cNvSpPr/>
          <p:nvPr/>
        </p:nvSpPr>
        <p:spPr>
          <a:xfrm>
            <a:off x="2596134" y="1699263"/>
            <a:ext cx="1645920" cy="212597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b="1" dirty="0">
                <a:solidFill>
                  <a:schemeClr val="tx1"/>
                </a:solidFill>
              </a:rPr>
              <a:t>Preprocessing</a:t>
            </a:r>
          </a:p>
          <a:p>
            <a:pPr algn="ctr"/>
            <a:endParaRPr lang="en-US" sz="1600" b="1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Validation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Data cleaning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Data transformation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E4B5910-4FBB-95BB-CF7D-5D73D087FC32}"/>
              </a:ext>
            </a:extLst>
          </p:cNvPr>
          <p:cNvSpPr/>
          <p:nvPr/>
        </p:nvSpPr>
        <p:spPr>
          <a:xfrm>
            <a:off x="4427220" y="1699263"/>
            <a:ext cx="1645920" cy="212597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b="1" dirty="0">
                <a:solidFill>
                  <a:schemeClr val="tx1"/>
                </a:solidFill>
              </a:rPr>
              <a:t>Optimization</a:t>
            </a:r>
          </a:p>
          <a:p>
            <a:pPr algn="ctr"/>
            <a:endParaRPr lang="en-US" sz="1600" b="1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Build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Solve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5624423-2E4E-A28E-C6AE-D77611CCB2E6}"/>
              </a:ext>
            </a:extLst>
          </p:cNvPr>
          <p:cNvSpPr/>
          <p:nvPr/>
        </p:nvSpPr>
        <p:spPr>
          <a:xfrm>
            <a:off x="6258306" y="1699263"/>
            <a:ext cx="1645920" cy="212597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b="1" dirty="0">
                <a:solidFill>
                  <a:schemeClr val="tx1"/>
                </a:solidFill>
              </a:rPr>
              <a:t>Postprocessing</a:t>
            </a:r>
          </a:p>
          <a:p>
            <a:pPr algn="ctr"/>
            <a:endParaRPr lang="en-US" sz="1600" b="1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Filter solutions to be sent to the user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tx1"/>
              </a:solidFill>
            </a:endParaRPr>
          </a:p>
          <a:p>
            <a:endParaRPr lang="en-US" sz="120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Transform solution to business representation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26DC4E8-C20E-16A4-9473-EFBA1A00CEA0}"/>
              </a:ext>
            </a:extLst>
          </p:cNvPr>
          <p:cNvSpPr txBox="1"/>
          <p:nvPr/>
        </p:nvSpPr>
        <p:spPr>
          <a:xfrm>
            <a:off x="53957" y="2347829"/>
            <a:ext cx="6601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User</a:t>
            </a:r>
          </a:p>
          <a:p>
            <a:pPr algn="ctr"/>
            <a:r>
              <a:rPr lang="en-US" sz="1200" dirty="0"/>
              <a:t>request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D076E69-424E-1AB0-2A24-A748443DC6FA}"/>
              </a:ext>
            </a:extLst>
          </p:cNvPr>
          <p:cNvSpPr txBox="1"/>
          <p:nvPr/>
        </p:nvSpPr>
        <p:spPr>
          <a:xfrm>
            <a:off x="7904226" y="2284699"/>
            <a:ext cx="12635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Business</a:t>
            </a:r>
          </a:p>
          <a:p>
            <a:pPr algn="ctr"/>
            <a:r>
              <a:rPr lang="en-US" sz="1200" dirty="0"/>
              <a:t>recommendation</a:t>
            </a:r>
          </a:p>
        </p:txBody>
      </p:sp>
      <p:sp>
        <p:nvSpPr>
          <p:cNvPr id="16" name="Text 3">
            <a:extLst>
              <a:ext uri="{FF2B5EF4-FFF2-40B4-BE49-F238E27FC236}">
                <a16:creationId xmlns:a16="http://schemas.microsoft.com/office/drawing/2014/main" id="{26450BDF-4C85-0968-FD8A-6C754CC9ABE8}"/>
              </a:ext>
            </a:extLst>
          </p:cNvPr>
          <p:cNvSpPr/>
          <p:nvPr/>
        </p:nvSpPr>
        <p:spPr>
          <a:xfrm>
            <a:off x="384047" y="1085059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4 phases of an optimization request</a:t>
            </a:r>
            <a:endParaRPr lang="en-US" sz="1300" dirty="0"/>
          </a:p>
        </p:txBody>
      </p:sp>
      <p:sp>
        <p:nvSpPr>
          <p:cNvPr id="17" name="Text 3">
            <a:extLst>
              <a:ext uri="{FF2B5EF4-FFF2-40B4-BE49-F238E27FC236}">
                <a16:creationId xmlns:a16="http://schemas.microsoft.com/office/drawing/2014/main" id="{8792585A-C895-3571-2E5C-0BC9B8E5B05B}"/>
              </a:ext>
            </a:extLst>
          </p:cNvPr>
          <p:cNvSpPr/>
          <p:nvPr/>
        </p:nvSpPr>
        <p:spPr>
          <a:xfrm>
            <a:off x="608768" y="4169288"/>
            <a:ext cx="7936716" cy="565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✅ Separation of concerns    	✅ Testable modules	    ✅ Simple interfaces 	       ✅ Solver agnostic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72277840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6013E-D9A5-320A-F9EF-13A9CF322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1">
            <a:extLst>
              <a:ext uri="{FF2B5EF4-FFF2-40B4-BE49-F238E27FC236}">
                <a16:creationId xmlns:a16="http://schemas.microsoft.com/office/drawing/2014/main" id="{32BA3E97-AD32-48FF-112A-2AE500383CE2}"/>
              </a:ext>
            </a:extLst>
          </p:cNvPr>
          <p:cNvSpPr/>
          <p:nvPr/>
        </p:nvSpPr>
        <p:spPr>
          <a:xfrm>
            <a:off x="502920" y="22860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test an optimization module?</a:t>
            </a:r>
            <a:endParaRPr lang="en-US" sz="3000" dirty="0"/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4548604E-56FF-ACCD-0613-574C0D54A17E}"/>
              </a:ext>
            </a:extLst>
          </p:cNvPr>
          <p:cNvSpPr/>
          <p:nvPr/>
        </p:nvSpPr>
        <p:spPr>
          <a:xfrm>
            <a:off x="2176272" y="1417319"/>
            <a:ext cx="4791456" cy="2324095"/>
          </a:xfrm>
          <a:prstGeom prst="rect">
            <a:avLst/>
          </a:prstGeom>
          <a:solidFill>
            <a:schemeClr val="tx1"/>
          </a:solidFill>
          <a:ln w="12700">
            <a:solidFill>
              <a:srgbClr val="3333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1C270257-81B9-8BAF-A5B8-ECDDF85EC092}"/>
              </a:ext>
            </a:extLst>
          </p:cNvPr>
          <p:cNvSpPr/>
          <p:nvPr/>
        </p:nvSpPr>
        <p:spPr>
          <a:xfrm>
            <a:off x="2176272" y="1417319"/>
            <a:ext cx="4791456" cy="23240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Optimization module:</a:t>
            </a:r>
          </a:p>
          <a:p>
            <a:pPr marL="342900" indent="-342900" algn="ctr">
              <a:buFontTx/>
              <a:buChar char="-"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the math</a:t>
            </a:r>
          </a:p>
          <a:p>
            <a:pPr marL="342900" indent="-342900" algn="ctr">
              <a:buFontTx/>
              <a:buChar char="-"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solves the math</a:t>
            </a:r>
            <a:endParaRPr lang="en-US" sz="2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Shape 10">
                <a:extLst>
                  <a:ext uri="{FF2B5EF4-FFF2-40B4-BE49-F238E27FC236}">
                    <a16:creationId xmlns:a16="http://schemas.microsoft.com/office/drawing/2014/main" id="{88F02D7D-0084-A4F4-C5E6-819771FCB160}"/>
                  </a:ext>
                </a:extLst>
              </p:cNvPr>
              <p:cNvSpPr/>
              <p:nvPr/>
            </p:nvSpPr>
            <p:spPr>
              <a:xfrm>
                <a:off x="2176272" y="3969260"/>
                <a:ext cx="4791456" cy="678175"/>
              </a:xfrm>
              <a:prstGeom prst="roundRect">
                <a:avLst>
                  <a:gd name="adj" fmla="val 9677"/>
                </a:avLst>
              </a:prstGeom>
              <a:solidFill>
                <a:srgbClr val="FEF3DC"/>
              </a:solidFill>
              <a:ln w="6350">
                <a:solidFill>
                  <a:srgbClr val="BA7517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For real instances is practically impossible to know what should be the expected output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𝑓</m:t>
                    </m:r>
                    <m:r>
                      <a:rPr lang="en-US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(</m:t>
                    </m:r>
                    <m:r>
                      <a:rPr lang="en-US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𝑥</m:t>
                    </m:r>
                    <m:r>
                      <a:rPr lang="en-US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)</m:t>
                    </m:r>
                  </m:oMath>
                </a14:m>
                <a:r>
                  <a:rPr lang="en-US" sz="1400" dirty="0">
                    <a:solidFill>
                      <a:schemeClr val="tx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given some input data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𝑥</m:t>
                    </m:r>
                  </m:oMath>
                </a14:m>
                <a:endParaRPr lang="en-US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Shape 10">
                <a:extLst>
                  <a:ext uri="{FF2B5EF4-FFF2-40B4-BE49-F238E27FC236}">
                    <a16:creationId xmlns:a16="http://schemas.microsoft.com/office/drawing/2014/main" id="{88F02D7D-0084-A4F4-C5E6-819771FCB16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6272" y="3969260"/>
                <a:ext cx="4791456" cy="678175"/>
              </a:xfrm>
              <a:prstGeom prst="roundRect">
                <a:avLst>
                  <a:gd name="adj" fmla="val 9677"/>
                </a:avLst>
              </a:prstGeom>
              <a:blipFill>
                <a:blip r:embed="rId3"/>
                <a:stretch>
                  <a:fillRect r="-635"/>
                </a:stretch>
              </a:blipFill>
              <a:ln w="6350">
                <a:solidFill>
                  <a:srgbClr val="BA7517"/>
                </a:solidFill>
                <a:prstDash val="solid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Shape 7">
            <a:extLst>
              <a:ext uri="{FF2B5EF4-FFF2-40B4-BE49-F238E27FC236}">
                <a16:creationId xmlns:a16="http://schemas.microsoft.com/office/drawing/2014/main" id="{455760AB-5CE3-CFD9-A1AB-8040B0C14127}"/>
              </a:ext>
            </a:extLst>
          </p:cNvPr>
          <p:cNvSpPr/>
          <p:nvPr/>
        </p:nvSpPr>
        <p:spPr>
          <a:xfrm>
            <a:off x="7036308" y="2636520"/>
            <a:ext cx="914400" cy="0"/>
          </a:xfrm>
          <a:prstGeom prst="line">
            <a:avLst/>
          </a:prstGeom>
          <a:noFill/>
          <a:ln w="19050">
            <a:solidFill>
              <a:srgbClr val="BA7517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 8">
                <a:extLst>
                  <a:ext uri="{FF2B5EF4-FFF2-40B4-BE49-F238E27FC236}">
                    <a16:creationId xmlns:a16="http://schemas.microsoft.com/office/drawing/2014/main" id="{066CE955-279D-657E-44A2-62A572DF8DA7}"/>
                  </a:ext>
                </a:extLst>
              </p:cNvPr>
              <p:cNvSpPr/>
              <p:nvPr/>
            </p:nvSpPr>
            <p:spPr>
              <a:xfrm>
                <a:off x="8092440" y="2368914"/>
                <a:ext cx="822960" cy="45720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600" b="1" i="1" dirty="0" smtClean="0">
                          <a:solidFill>
                            <a:srgbClr val="7A4D0C"/>
                          </a:solidFill>
                          <a:latin typeface="Cambria Math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m:t>𝒇</m:t>
                      </m:r>
                      <m:r>
                        <a:rPr lang="en-US" sz="2600" b="1" i="1" dirty="0" smtClean="0">
                          <a:solidFill>
                            <a:srgbClr val="7A4D0C"/>
                          </a:solidFill>
                          <a:latin typeface="Cambria Math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m:t> (</m:t>
                      </m:r>
                      <m:r>
                        <a:rPr lang="en-US" sz="2600" b="1" i="1" dirty="0" smtClean="0">
                          <a:solidFill>
                            <a:srgbClr val="7A4D0C"/>
                          </a:solidFill>
                          <a:latin typeface="Cambria Math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m:t>𝒙</m:t>
                      </m:r>
                      <m:r>
                        <a:rPr lang="en-US" sz="2600" b="1" i="1" dirty="0" smtClean="0">
                          <a:solidFill>
                            <a:srgbClr val="7A4D0C"/>
                          </a:solidFill>
                          <a:latin typeface="Cambria Math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m:t>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7" name="Text 8">
                <a:extLst>
                  <a:ext uri="{FF2B5EF4-FFF2-40B4-BE49-F238E27FC236}">
                    <a16:creationId xmlns:a16="http://schemas.microsoft.com/office/drawing/2014/main" id="{066CE955-279D-657E-44A2-62A572DF8DA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92440" y="2368914"/>
                <a:ext cx="822960" cy="4572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 9">
            <a:extLst>
              <a:ext uri="{FF2B5EF4-FFF2-40B4-BE49-F238E27FC236}">
                <a16:creationId xmlns:a16="http://schemas.microsoft.com/office/drawing/2014/main" id="{5D347BC4-305B-050D-7273-5D99FB4C3172}"/>
              </a:ext>
            </a:extLst>
          </p:cNvPr>
          <p:cNvSpPr/>
          <p:nvPr/>
        </p:nvSpPr>
        <p:spPr>
          <a:xfrm>
            <a:off x="8001000" y="282611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(solution)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 1">
                <a:extLst>
                  <a:ext uri="{FF2B5EF4-FFF2-40B4-BE49-F238E27FC236}">
                    <a16:creationId xmlns:a16="http://schemas.microsoft.com/office/drawing/2014/main" id="{707F6B98-3280-A0AC-265C-6965E164C498}"/>
                  </a:ext>
                </a:extLst>
              </p:cNvPr>
              <p:cNvSpPr/>
              <p:nvPr/>
            </p:nvSpPr>
            <p:spPr>
              <a:xfrm>
                <a:off x="594360" y="2249425"/>
                <a:ext cx="548640" cy="45720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dirty="0" smtClean="0">
                          <a:solidFill>
                            <a:srgbClr val="0F6E56"/>
                          </a:solidFill>
                          <a:latin typeface="Cambria Math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m:t>𝒙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9" name="Text 1">
                <a:extLst>
                  <a:ext uri="{FF2B5EF4-FFF2-40B4-BE49-F238E27FC236}">
                    <a16:creationId xmlns:a16="http://schemas.microsoft.com/office/drawing/2014/main" id="{707F6B98-3280-A0AC-265C-6965E164C49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360" y="2249425"/>
                <a:ext cx="548640" cy="4572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 2">
            <a:extLst>
              <a:ext uri="{FF2B5EF4-FFF2-40B4-BE49-F238E27FC236}">
                <a16:creationId xmlns:a16="http://schemas.microsoft.com/office/drawing/2014/main" id="{2D1A7717-1CE3-434A-E250-8B7C09995B22}"/>
              </a:ext>
            </a:extLst>
          </p:cNvPr>
          <p:cNvSpPr/>
          <p:nvPr/>
        </p:nvSpPr>
        <p:spPr>
          <a:xfrm>
            <a:off x="480246" y="2796546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(data)</a:t>
            </a:r>
            <a:endParaRPr lang="en-US" sz="1400" dirty="0"/>
          </a:p>
        </p:txBody>
      </p:sp>
      <p:sp>
        <p:nvSpPr>
          <p:cNvPr id="22" name="Shape 3">
            <a:extLst>
              <a:ext uri="{FF2B5EF4-FFF2-40B4-BE49-F238E27FC236}">
                <a16:creationId xmlns:a16="http://schemas.microsoft.com/office/drawing/2014/main" id="{020DCCA6-E951-72BC-3B31-9AEB3F095328}"/>
              </a:ext>
            </a:extLst>
          </p:cNvPr>
          <p:cNvSpPr/>
          <p:nvPr/>
        </p:nvSpPr>
        <p:spPr>
          <a:xfrm>
            <a:off x="1188720" y="2597514"/>
            <a:ext cx="914400" cy="0"/>
          </a:xfrm>
          <a:prstGeom prst="line">
            <a:avLst/>
          </a:prstGeom>
          <a:noFill/>
          <a:ln w="19050">
            <a:solidFill>
              <a:srgbClr val="1D9E75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F86684F-ACFF-0D32-BA45-FD1653CF7B86}"/>
              </a:ext>
            </a:extLst>
          </p:cNvPr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55197239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84D81-8DFE-66CA-EF25-27A4C7A289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1">
            <a:extLst>
              <a:ext uri="{FF2B5EF4-FFF2-40B4-BE49-F238E27FC236}">
                <a16:creationId xmlns:a16="http://schemas.microsoft.com/office/drawing/2014/main" id="{25974E01-6964-37C4-0148-33C3E4CAC808}"/>
              </a:ext>
            </a:extLst>
          </p:cNvPr>
          <p:cNvSpPr/>
          <p:nvPr/>
        </p:nvSpPr>
        <p:spPr>
          <a:xfrm>
            <a:off x="502920" y="22860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can unit test the mathematical model</a:t>
            </a:r>
            <a:endParaRPr lang="en-US" sz="3000" baseline="30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1">
                <a:extLst>
                  <a:ext uri="{FF2B5EF4-FFF2-40B4-BE49-F238E27FC236}">
                    <a16:creationId xmlns:a16="http://schemas.microsoft.com/office/drawing/2014/main" id="{1E017A26-39BF-D081-A9C6-CACD3EA70E8F}"/>
                  </a:ext>
                </a:extLst>
              </p:cNvPr>
              <p:cNvSpPr/>
              <p:nvPr/>
            </p:nvSpPr>
            <p:spPr>
              <a:xfrm>
                <a:off x="594360" y="2249425"/>
                <a:ext cx="548640" cy="45720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dirty="0" smtClean="0">
                          <a:solidFill>
                            <a:srgbClr val="0F6E56"/>
                          </a:solidFill>
                          <a:latin typeface="Cambria Math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m:t>𝒙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5" name="Text 1">
                <a:extLst>
                  <a:ext uri="{FF2B5EF4-FFF2-40B4-BE49-F238E27FC236}">
                    <a16:creationId xmlns:a16="http://schemas.microsoft.com/office/drawing/2014/main" id="{1E017A26-39BF-D081-A9C6-CACD3EA70E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360" y="2249425"/>
                <a:ext cx="548640" cy="4572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hape 3">
            <a:extLst>
              <a:ext uri="{FF2B5EF4-FFF2-40B4-BE49-F238E27FC236}">
                <a16:creationId xmlns:a16="http://schemas.microsoft.com/office/drawing/2014/main" id="{FBDD32B3-1326-5A1D-CDF0-78FE7ECE89CB}"/>
              </a:ext>
            </a:extLst>
          </p:cNvPr>
          <p:cNvSpPr/>
          <p:nvPr/>
        </p:nvSpPr>
        <p:spPr>
          <a:xfrm>
            <a:off x="1188720" y="2597514"/>
            <a:ext cx="914400" cy="0"/>
          </a:xfrm>
          <a:prstGeom prst="line">
            <a:avLst/>
          </a:prstGeom>
          <a:noFill/>
          <a:ln w="19050">
            <a:solidFill>
              <a:srgbClr val="1D9E75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46246196-14C2-B27B-DF1C-B5A15178473B}"/>
              </a:ext>
            </a:extLst>
          </p:cNvPr>
          <p:cNvSpPr/>
          <p:nvPr/>
        </p:nvSpPr>
        <p:spPr>
          <a:xfrm>
            <a:off x="2176272" y="1417319"/>
            <a:ext cx="4791456" cy="2324095"/>
          </a:xfrm>
          <a:prstGeom prst="rect">
            <a:avLst/>
          </a:prstGeom>
          <a:solidFill>
            <a:schemeClr val="bg1">
              <a:lumMod val="95000"/>
            </a:schemeClr>
          </a:solidFill>
          <a:ln w="762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A43F08C8-9DC7-701F-F0C0-F3AD4F20C9ED}"/>
              </a:ext>
            </a:extLst>
          </p:cNvPr>
          <p:cNvSpPr/>
          <p:nvPr/>
        </p:nvSpPr>
        <p:spPr>
          <a:xfrm>
            <a:off x="2176272" y="1417319"/>
            <a:ext cx="4791456" cy="23240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dirty="0"/>
          </a:p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CA2938FE-FA43-B9CE-1BF4-30075EBEC584}"/>
              </a:ext>
            </a:extLst>
          </p:cNvPr>
          <p:cNvSpPr/>
          <p:nvPr/>
        </p:nvSpPr>
        <p:spPr>
          <a:xfrm>
            <a:off x="7036308" y="2636520"/>
            <a:ext cx="914400" cy="0"/>
          </a:xfrm>
          <a:prstGeom prst="line">
            <a:avLst/>
          </a:prstGeom>
          <a:noFill/>
          <a:ln w="19050">
            <a:solidFill>
              <a:srgbClr val="BA7517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 8">
                <a:extLst>
                  <a:ext uri="{FF2B5EF4-FFF2-40B4-BE49-F238E27FC236}">
                    <a16:creationId xmlns:a16="http://schemas.microsoft.com/office/drawing/2014/main" id="{144008C9-9082-6EBF-4586-8C65C82D28B4}"/>
                  </a:ext>
                </a:extLst>
              </p:cNvPr>
              <p:cNvSpPr/>
              <p:nvPr/>
            </p:nvSpPr>
            <p:spPr>
              <a:xfrm>
                <a:off x="8092440" y="2368914"/>
                <a:ext cx="822960" cy="45720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600" b="1" i="1" dirty="0" smtClean="0">
                          <a:solidFill>
                            <a:srgbClr val="7A4D0C"/>
                          </a:solidFill>
                          <a:latin typeface="Cambria Math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m:t>𝒇</m:t>
                      </m:r>
                      <m:r>
                        <a:rPr lang="en-US" sz="2600" b="1" i="1" dirty="0" smtClean="0">
                          <a:solidFill>
                            <a:srgbClr val="7A4D0C"/>
                          </a:solidFill>
                          <a:latin typeface="Cambria Math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m:t> (</m:t>
                      </m:r>
                      <m:r>
                        <a:rPr lang="en-US" sz="2600" b="1" i="1" dirty="0" smtClean="0">
                          <a:solidFill>
                            <a:srgbClr val="7A4D0C"/>
                          </a:solidFill>
                          <a:latin typeface="Cambria Math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m:t>𝒙</m:t>
                      </m:r>
                      <m:r>
                        <a:rPr lang="en-US" sz="2600" b="1" i="1" dirty="0" smtClean="0">
                          <a:solidFill>
                            <a:srgbClr val="7A4D0C"/>
                          </a:solidFill>
                          <a:latin typeface="Cambria Math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m:t>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2" name="Text 8">
                <a:extLst>
                  <a:ext uri="{FF2B5EF4-FFF2-40B4-BE49-F238E27FC236}">
                    <a16:creationId xmlns:a16="http://schemas.microsoft.com/office/drawing/2014/main" id="{144008C9-9082-6EBF-4586-8C65C82D28B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92440" y="2368914"/>
                <a:ext cx="822960" cy="4572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Shape 10">
                <a:extLst>
                  <a:ext uri="{FF2B5EF4-FFF2-40B4-BE49-F238E27FC236}">
                    <a16:creationId xmlns:a16="http://schemas.microsoft.com/office/drawing/2014/main" id="{BBFDF9A3-A5B1-F2FC-6FAB-F22C5465B431}"/>
                  </a:ext>
                </a:extLst>
              </p:cNvPr>
              <p:cNvSpPr/>
              <p:nvPr/>
            </p:nvSpPr>
            <p:spPr>
              <a:xfrm>
                <a:off x="2176272" y="4016407"/>
                <a:ext cx="4791456" cy="544820"/>
              </a:xfrm>
              <a:prstGeom prst="roundRect">
                <a:avLst>
                  <a:gd name="adj" fmla="val 9677"/>
                </a:avLst>
              </a:prstGeom>
              <a:solidFill>
                <a:srgbClr val="FEF3DC"/>
              </a:solidFill>
              <a:ln w="6350">
                <a:solidFill>
                  <a:srgbClr val="BA7517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We can test the model was correctly assembled given the data </a:t>
                </a:r>
                <a14:m>
                  <m:oMath xmlns:m="http://schemas.openxmlformats.org/officeDocument/2006/math">
                    <m:r>
                      <a:rPr lang="en-US" sz="1400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𝑥</m:t>
                    </m:r>
                  </m:oMath>
                </a14:m>
                <a:r>
                  <a:rPr lang="en-US" sz="1400" dirty="0">
                    <a:solidFill>
                      <a:schemeClr val="tx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. The mathematical model is a deterministic artefact! </a:t>
                </a:r>
              </a:p>
            </p:txBody>
          </p:sp>
        </mc:Choice>
        <mc:Fallback xmlns="">
          <p:sp>
            <p:nvSpPr>
              <p:cNvPr id="14" name="Shape 10">
                <a:extLst>
                  <a:ext uri="{FF2B5EF4-FFF2-40B4-BE49-F238E27FC236}">
                    <a16:creationId xmlns:a16="http://schemas.microsoft.com/office/drawing/2014/main" id="{BBFDF9A3-A5B1-F2FC-6FAB-F22C5465B43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6272" y="4016407"/>
                <a:ext cx="4791456" cy="544820"/>
              </a:xfrm>
              <a:prstGeom prst="roundRect">
                <a:avLst>
                  <a:gd name="adj" fmla="val 9677"/>
                </a:avLst>
              </a:prstGeom>
              <a:blipFill>
                <a:blip r:embed="rId5"/>
                <a:stretch>
                  <a:fillRect b="-8889"/>
                </a:stretch>
              </a:blipFill>
              <a:ln w="6350">
                <a:solidFill>
                  <a:srgbClr val="BA7517"/>
                </a:solidFill>
                <a:prstDash val="solid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2">
            <a:extLst>
              <a:ext uri="{FF2B5EF4-FFF2-40B4-BE49-F238E27FC236}">
                <a16:creationId xmlns:a16="http://schemas.microsoft.com/office/drawing/2014/main" id="{50438011-7078-E919-9F31-873D82C7E4E2}"/>
              </a:ext>
            </a:extLst>
          </p:cNvPr>
          <p:cNvSpPr/>
          <p:nvPr/>
        </p:nvSpPr>
        <p:spPr>
          <a:xfrm>
            <a:off x="2430780" y="1981200"/>
            <a:ext cx="1958340" cy="157734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D9C6CC9-F9C6-D29C-C717-380988B6205F}"/>
              </a:ext>
            </a:extLst>
          </p:cNvPr>
          <p:cNvSpPr/>
          <p:nvPr/>
        </p:nvSpPr>
        <p:spPr>
          <a:xfrm>
            <a:off x="2580894" y="2188465"/>
            <a:ext cx="1623060" cy="28956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Decisions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6FC4DAE-F997-4BD6-B8CB-8852FE5F6759}"/>
              </a:ext>
            </a:extLst>
          </p:cNvPr>
          <p:cNvSpPr/>
          <p:nvPr/>
        </p:nvSpPr>
        <p:spPr>
          <a:xfrm>
            <a:off x="2580894" y="2644146"/>
            <a:ext cx="1623060" cy="28956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Objective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15EF0BB-10C9-4E63-8DA3-8822901C0DA2}"/>
              </a:ext>
            </a:extLst>
          </p:cNvPr>
          <p:cNvSpPr/>
          <p:nvPr/>
        </p:nvSpPr>
        <p:spPr>
          <a:xfrm>
            <a:off x="2580894" y="3101343"/>
            <a:ext cx="1623060" cy="28956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Constraints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A5FF110-C5AB-58CE-4C9C-7F237BA3BF47}"/>
              </a:ext>
            </a:extLst>
          </p:cNvPr>
          <p:cNvSpPr txBox="1"/>
          <p:nvPr/>
        </p:nvSpPr>
        <p:spPr>
          <a:xfrm>
            <a:off x="2176272" y="1586860"/>
            <a:ext cx="24719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Mathematical Model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5EDD968-0EDC-EB84-B067-D89F4F7660B9}"/>
              </a:ext>
            </a:extLst>
          </p:cNvPr>
          <p:cNvSpPr txBox="1"/>
          <p:nvPr/>
        </p:nvSpPr>
        <p:spPr>
          <a:xfrm>
            <a:off x="4716782" y="1586860"/>
            <a:ext cx="19583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Solver technology</a:t>
            </a:r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51E0098D-6A53-E7AB-F296-B2EB91F8375A}"/>
              </a:ext>
            </a:extLst>
          </p:cNvPr>
          <p:cNvSpPr/>
          <p:nvPr/>
        </p:nvSpPr>
        <p:spPr>
          <a:xfrm>
            <a:off x="4578662" y="2464539"/>
            <a:ext cx="398528" cy="369332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0ECC32EC-12A8-1389-6354-0C558E5A7961}"/>
              </a:ext>
            </a:extLst>
          </p:cNvPr>
          <p:cNvSpPr/>
          <p:nvPr/>
        </p:nvSpPr>
        <p:spPr>
          <a:xfrm>
            <a:off x="6410269" y="2464539"/>
            <a:ext cx="398528" cy="369332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 9">
            <a:extLst>
              <a:ext uri="{FF2B5EF4-FFF2-40B4-BE49-F238E27FC236}">
                <a16:creationId xmlns:a16="http://schemas.microsoft.com/office/drawing/2014/main" id="{22EF48AC-C55F-3B66-3DE2-9120893DED97}"/>
              </a:ext>
            </a:extLst>
          </p:cNvPr>
          <p:cNvSpPr/>
          <p:nvPr/>
        </p:nvSpPr>
        <p:spPr>
          <a:xfrm>
            <a:off x="8001000" y="282611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(solution)</a:t>
            </a:r>
            <a:endParaRPr lang="en-US" sz="1400" dirty="0"/>
          </a:p>
        </p:txBody>
      </p:sp>
      <p:sp>
        <p:nvSpPr>
          <p:cNvPr id="18" name="Text 2">
            <a:extLst>
              <a:ext uri="{FF2B5EF4-FFF2-40B4-BE49-F238E27FC236}">
                <a16:creationId xmlns:a16="http://schemas.microsoft.com/office/drawing/2014/main" id="{C4B05D69-85A7-1B18-EFD6-91AD2AC711DA}"/>
              </a:ext>
            </a:extLst>
          </p:cNvPr>
          <p:cNvSpPr/>
          <p:nvPr/>
        </p:nvSpPr>
        <p:spPr>
          <a:xfrm>
            <a:off x="480246" y="2796546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(data)</a:t>
            </a:r>
            <a:endParaRPr lang="en-US" sz="1400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6E4E1D2-7BDA-5E50-7E7D-F89B3D22F1EE}"/>
              </a:ext>
            </a:extLst>
          </p:cNvPr>
          <p:cNvGrpSpPr/>
          <p:nvPr/>
        </p:nvGrpSpPr>
        <p:grpSpPr>
          <a:xfrm>
            <a:off x="5074591" y="2175007"/>
            <a:ext cx="1232536" cy="1083213"/>
            <a:chOff x="5171698" y="2175007"/>
            <a:chExt cx="1232536" cy="1083213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640F15B-F494-9F74-0D86-CB8B1BFA0468}"/>
                </a:ext>
              </a:extLst>
            </p:cNvPr>
            <p:cNvSpPr/>
            <p:nvPr/>
          </p:nvSpPr>
          <p:spPr>
            <a:xfrm>
              <a:off x="5171698" y="2175007"/>
              <a:ext cx="1232536" cy="1083213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4" name="Graphic 23" descr="Gears with solid fill">
              <a:extLst>
                <a:ext uri="{FF2B5EF4-FFF2-40B4-BE49-F238E27FC236}">
                  <a16:creationId xmlns:a16="http://schemas.microsoft.com/office/drawing/2014/main" id="{A24BC7C3-33B2-7286-4EE5-9E82F40E336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308762" y="2261522"/>
              <a:ext cx="929107" cy="929107"/>
            </a:xfrm>
            <a:prstGeom prst="rect">
              <a:avLst/>
            </a:prstGeom>
          </p:spPr>
        </p:pic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239EFFED-083C-3880-71A5-5485059076B6}"/>
              </a:ext>
            </a:extLst>
          </p:cNvPr>
          <p:cNvSpPr txBox="1"/>
          <p:nvPr/>
        </p:nvSpPr>
        <p:spPr>
          <a:xfrm>
            <a:off x="5309593" y="3246123"/>
            <a:ext cx="11177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 dirty="0"/>
              <a:t>Black box</a:t>
            </a:r>
          </a:p>
        </p:txBody>
      </p:sp>
      <p:sp>
        <p:nvSpPr>
          <p:cNvPr id="23" name="Speech Bubble: Rectangle 22">
            <a:extLst>
              <a:ext uri="{FF2B5EF4-FFF2-40B4-BE49-F238E27FC236}">
                <a16:creationId xmlns:a16="http://schemas.microsoft.com/office/drawing/2014/main" id="{B3B2A7A7-8498-8245-834C-10370C201C06}"/>
              </a:ext>
            </a:extLst>
          </p:cNvPr>
          <p:cNvSpPr/>
          <p:nvPr/>
        </p:nvSpPr>
        <p:spPr>
          <a:xfrm>
            <a:off x="7202730" y="3500262"/>
            <a:ext cx="1768228" cy="833515"/>
          </a:xfrm>
          <a:prstGeom prst="wedgeRectCallout">
            <a:avLst>
              <a:gd name="adj1" fmla="val -67020"/>
              <a:gd name="adj2" fmla="val -42001"/>
            </a:avLst>
          </a:prstGeom>
          <a:solidFill>
            <a:schemeClr val="accent4">
              <a:lumMod val="20000"/>
              <a:lumOff val="8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Integration tests can be used to check the second step.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EEED64C-B6C3-E36B-A8B0-319D5646CBC2}"/>
              </a:ext>
            </a:extLst>
          </p:cNvPr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3078854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B4173-5004-F276-1F28-818102F31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63B3E252-0BEC-C775-C5EE-86A24FBB6D65}"/>
              </a:ext>
            </a:extLst>
          </p:cNvPr>
          <p:cNvCxnSpPr>
            <a:cxnSpLocks/>
          </p:cNvCxnSpPr>
          <p:nvPr/>
        </p:nvCxnSpPr>
        <p:spPr>
          <a:xfrm>
            <a:off x="3313629" y="3707127"/>
            <a:ext cx="0" cy="285214"/>
          </a:xfrm>
          <a:prstGeom prst="line">
            <a:avLst/>
          </a:prstGeom>
          <a:ln w="1270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A1788CE1-BFA3-229E-D4A1-82B7D9AB440F}"/>
              </a:ext>
            </a:extLst>
          </p:cNvPr>
          <p:cNvCxnSpPr>
            <a:cxnSpLocks/>
          </p:cNvCxnSpPr>
          <p:nvPr/>
        </p:nvCxnSpPr>
        <p:spPr>
          <a:xfrm>
            <a:off x="3457501" y="2042583"/>
            <a:ext cx="0" cy="256395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Text 1">
            <a:extLst>
              <a:ext uri="{FF2B5EF4-FFF2-40B4-BE49-F238E27FC236}">
                <a16:creationId xmlns:a16="http://schemas.microsoft.com/office/drawing/2014/main" id="{6754C570-283E-365E-95CC-DD1218B3A1B1}"/>
              </a:ext>
            </a:extLst>
          </p:cNvPr>
          <p:cNvSpPr/>
          <p:nvPr/>
        </p:nvSpPr>
        <p:spPr>
          <a:xfrm>
            <a:off x="502920" y="22860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tests to check the full pipeline</a:t>
            </a:r>
            <a:endParaRPr lang="en-US" sz="3000" baseline="30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7C5AA4-BB66-1BB1-EB6A-F5E38B61A37E}"/>
              </a:ext>
            </a:extLst>
          </p:cNvPr>
          <p:cNvSpPr txBox="1"/>
          <p:nvPr/>
        </p:nvSpPr>
        <p:spPr>
          <a:xfrm>
            <a:off x="250787" y="1300885"/>
            <a:ext cx="86887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For a set of predefined scenarios, on independent runs, compare </a:t>
            </a:r>
            <a:r>
              <a:rPr lang="en-US" sz="1600" b="1" dirty="0">
                <a:solidFill>
                  <a:srgbClr val="00B050"/>
                </a:solidFill>
              </a:rPr>
              <a:t>expected artifacts </a:t>
            </a:r>
            <a:r>
              <a:rPr lang="en-US" sz="1600" dirty="0"/>
              <a:t>vs </a:t>
            </a:r>
            <a:r>
              <a:rPr lang="en-US" sz="1600" b="1" dirty="0">
                <a:solidFill>
                  <a:schemeClr val="accent1"/>
                </a:solidFill>
              </a:rPr>
              <a:t>actual artifacts</a:t>
            </a:r>
            <a:r>
              <a:rPr lang="en-US" sz="1600" dirty="0"/>
              <a:t>.</a:t>
            </a:r>
          </a:p>
        </p:txBody>
      </p:sp>
      <p:pic>
        <p:nvPicPr>
          <p:cNvPr id="19" name="Graphic 18" descr="Folder with solid fill">
            <a:extLst>
              <a:ext uri="{FF2B5EF4-FFF2-40B4-BE49-F238E27FC236}">
                <a16:creationId xmlns:a16="http://schemas.microsoft.com/office/drawing/2014/main" id="{4F441C7A-2EEE-0325-1E33-5DE52E2039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0663" y="1868105"/>
            <a:ext cx="535257" cy="535257"/>
          </a:xfrm>
          <a:prstGeom prst="rect">
            <a:avLst/>
          </a:prstGeom>
        </p:spPr>
      </p:pic>
      <p:pic>
        <p:nvPicPr>
          <p:cNvPr id="21" name="Graphic 20" descr="Folder with solid fill">
            <a:extLst>
              <a:ext uri="{FF2B5EF4-FFF2-40B4-BE49-F238E27FC236}">
                <a16:creationId xmlns:a16="http://schemas.microsoft.com/office/drawing/2014/main" id="{30849C45-7B0F-E3FF-E6B2-7E0578E42FA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0663" y="2602497"/>
            <a:ext cx="535257" cy="535257"/>
          </a:xfrm>
          <a:prstGeom prst="rect">
            <a:avLst/>
          </a:prstGeom>
        </p:spPr>
      </p:pic>
      <p:pic>
        <p:nvPicPr>
          <p:cNvPr id="23" name="Graphic 22" descr="Folder with solid fill">
            <a:extLst>
              <a:ext uri="{FF2B5EF4-FFF2-40B4-BE49-F238E27FC236}">
                <a16:creationId xmlns:a16="http://schemas.microsoft.com/office/drawing/2014/main" id="{00A37C79-7E26-EE4A-33C5-B83736FAEC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0663" y="3336889"/>
            <a:ext cx="535257" cy="535257"/>
          </a:xfrm>
          <a:prstGeom prst="rect">
            <a:avLst/>
          </a:prstGeom>
        </p:spPr>
      </p:pic>
      <p:pic>
        <p:nvPicPr>
          <p:cNvPr id="28" name="Graphic 27" descr="Folder with solid fill">
            <a:extLst>
              <a:ext uri="{FF2B5EF4-FFF2-40B4-BE49-F238E27FC236}">
                <a16:creationId xmlns:a16="http://schemas.microsoft.com/office/drawing/2014/main" id="{D8AFBB72-4F00-BB56-BC04-66682AB902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0663" y="4071281"/>
            <a:ext cx="535257" cy="535257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C9D069EB-4324-5215-DF0B-396209FB7DC7}"/>
              </a:ext>
            </a:extLst>
          </p:cNvPr>
          <p:cNvSpPr/>
          <p:nvPr/>
        </p:nvSpPr>
        <p:spPr>
          <a:xfrm>
            <a:off x="2810061" y="2309905"/>
            <a:ext cx="1279339" cy="35435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Data loading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41F2F0E-0868-FF95-6991-EEB593B68258}"/>
              </a:ext>
            </a:extLst>
          </p:cNvPr>
          <p:cNvSpPr/>
          <p:nvPr/>
        </p:nvSpPr>
        <p:spPr>
          <a:xfrm>
            <a:off x="2810061" y="2851902"/>
            <a:ext cx="1279339" cy="35435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Preprocessing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2BC1A05-41D0-7581-AAC6-4EF317E1A160}"/>
              </a:ext>
            </a:extLst>
          </p:cNvPr>
          <p:cNvSpPr/>
          <p:nvPr/>
        </p:nvSpPr>
        <p:spPr>
          <a:xfrm>
            <a:off x="2810061" y="3393899"/>
            <a:ext cx="1279339" cy="35435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Optimization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6E898F0-E8F8-936B-58C7-15CE5762C172}"/>
              </a:ext>
            </a:extLst>
          </p:cNvPr>
          <p:cNvSpPr/>
          <p:nvPr/>
        </p:nvSpPr>
        <p:spPr>
          <a:xfrm>
            <a:off x="2810061" y="4063103"/>
            <a:ext cx="1279339" cy="35435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Postprocessing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FFB5C78-321C-74B8-C529-01C5A64C1F02}"/>
              </a:ext>
            </a:extLst>
          </p:cNvPr>
          <p:cNvSpPr txBox="1"/>
          <p:nvPr/>
        </p:nvSpPr>
        <p:spPr>
          <a:xfrm>
            <a:off x="907159" y="1864535"/>
            <a:ext cx="1819537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 err="1"/>
              <a:t>data.json</a:t>
            </a:r>
            <a:endParaRPr lang="en-US" sz="1400" b="1" dirty="0"/>
          </a:p>
          <a:p>
            <a:r>
              <a:rPr lang="en-US" sz="1400" b="1" dirty="0" err="1">
                <a:solidFill>
                  <a:srgbClr val="00B050"/>
                </a:solidFill>
              </a:rPr>
              <a:t>expected_model.lp</a:t>
            </a:r>
            <a:endParaRPr lang="en-US" sz="1400" b="1" dirty="0">
              <a:solidFill>
                <a:srgbClr val="00B050"/>
              </a:solidFill>
            </a:endParaRPr>
          </a:p>
          <a:p>
            <a:r>
              <a:rPr lang="en-US" sz="1400" b="1" dirty="0" err="1">
                <a:solidFill>
                  <a:srgbClr val="00B050"/>
                </a:solidFill>
              </a:rPr>
              <a:t>expected_output.json</a:t>
            </a:r>
            <a:endParaRPr lang="en-US" sz="1400" b="1" dirty="0">
              <a:solidFill>
                <a:srgbClr val="00B050"/>
              </a:solidFill>
            </a:endParaRPr>
          </a:p>
        </p:txBody>
      </p:sp>
      <p:sp>
        <p:nvSpPr>
          <p:cNvPr id="35" name="Left Brace 34">
            <a:extLst>
              <a:ext uri="{FF2B5EF4-FFF2-40B4-BE49-F238E27FC236}">
                <a16:creationId xmlns:a16="http://schemas.microsoft.com/office/drawing/2014/main" id="{7BFC59E5-A30C-4A94-BE8E-154C97FD9626}"/>
              </a:ext>
            </a:extLst>
          </p:cNvPr>
          <p:cNvSpPr/>
          <p:nvPr/>
        </p:nvSpPr>
        <p:spPr>
          <a:xfrm>
            <a:off x="833695" y="1864535"/>
            <a:ext cx="189278" cy="737962"/>
          </a:xfrm>
          <a:prstGeom prst="leftBrac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CAFEF960-C69A-815F-B1D3-4193A6A24270}"/>
              </a:ext>
            </a:extLst>
          </p:cNvPr>
          <p:cNvCxnSpPr>
            <a:cxnSpLocks/>
          </p:cNvCxnSpPr>
          <p:nvPr/>
        </p:nvCxnSpPr>
        <p:spPr>
          <a:xfrm>
            <a:off x="1778623" y="2012140"/>
            <a:ext cx="1678878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B0AD2DA-1090-5BF1-5920-65D6F6F76B35}"/>
              </a:ext>
            </a:extLst>
          </p:cNvPr>
          <p:cNvSpPr txBox="1"/>
          <p:nvPr/>
        </p:nvSpPr>
        <p:spPr>
          <a:xfrm>
            <a:off x="1299627" y="3812599"/>
            <a:ext cx="13883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 err="1">
                <a:solidFill>
                  <a:schemeClr val="accent1"/>
                </a:solidFill>
              </a:rPr>
              <a:t>actual_model.lp</a:t>
            </a:r>
            <a:endParaRPr lang="en-US" sz="1400" b="1" dirty="0">
              <a:solidFill>
                <a:schemeClr val="accent1"/>
              </a:solidFill>
            </a:endParaRP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40DE5F41-1BD8-BBD9-F5AA-8B6EBBEDF2F3}"/>
              </a:ext>
            </a:extLst>
          </p:cNvPr>
          <p:cNvCxnSpPr>
            <a:cxnSpLocks/>
          </p:cNvCxnSpPr>
          <p:nvPr/>
        </p:nvCxnSpPr>
        <p:spPr>
          <a:xfrm flipH="1">
            <a:off x="2642086" y="3992341"/>
            <a:ext cx="671543" cy="0"/>
          </a:xfrm>
          <a:prstGeom prst="straightConnector1">
            <a:avLst/>
          </a:prstGeom>
          <a:ln w="12700"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6EBFA450-E6A4-23BA-19EA-A85CFFAD05BE}"/>
              </a:ext>
            </a:extLst>
          </p:cNvPr>
          <p:cNvSpPr txBox="1"/>
          <p:nvPr/>
        </p:nvSpPr>
        <p:spPr>
          <a:xfrm>
            <a:off x="2647707" y="4596525"/>
            <a:ext cx="161958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 err="1">
                <a:solidFill>
                  <a:schemeClr val="accent1"/>
                </a:solidFill>
              </a:rPr>
              <a:t>actual_output.json</a:t>
            </a:r>
            <a:endParaRPr lang="en-US" sz="1400" b="1" dirty="0">
              <a:solidFill>
                <a:schemeClr val="accent1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B8F2620-A79F-8A1B-9B5F-2EA89E6D7151}"/>
              </a:ext>
            </a:extLst>
          </p:cNvPr>
          <p:cNvSpPr txBox="1"/>
          <p:nvPr/>
        </p:nvSpPr>
        <p:spPr>
          <a:xfrm>
            <a:off x="4556002" y="1931406"/>
            <a:ext cx="4395702" cy="2185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cs typeface="Arial" panose="020B0604020202020204" pitchFamily="34" charset="0"/>
              </a:rPr>
              <a:t>Goals</a:t>
            </a:r>
            <a:endParaRPr lang="en-US" sz="1400" b="1" dirty="0">
              <a:cs typeface="Arial" panose="020B0604020202020204" pitchFamily="34" charset="0"/>
            </a:endParaRPr>
          </a:p>
          <a:p>
            <a:pPr marL="285750" indent="-285750" algn="just">
              <a:buFont typeface="Wingdings" panose="05000000000000000000" pitchFamily="2" charset="2"/>
              <a:buChar char="ü"/>
            </a:pPr>
            <a:endParaRPr lang="en-US" sz="1400" dirty="0">
              <a:cs typeface="Arial" panose="020B0604020202020204" pitchFamily="34" charset="0"/>
            </a:endParaRPr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n-US" sz="1400" dirty="0">
                <a:cs typeface="Arial" panose="020B0604020202020204" pitchFamily="34" charset="0"/>
              </a:rPr>
              <a:t>Ensure the model units were assembled correctly</a:t>
            </a:r>
          </a:p>
          <a:p>
            <a:pPr marL="285750" indent="-285750" algn="just">
              <a:buFont typeface="Wingdings" panose="05000000000000000000" pitchFamily="2" charset="2"/>
              <a:buChar char="ü"/>
            </a:pPr>
            <a:endParaRPr lang="en-US" sz="1000" dirty="0"/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n-US" sz="1400" dirty="0">
                <a:cs typeface="Arial" panose="020B0604020202020204" pitchFamily="34" charset="0"/>
              </a:rPr>
              <a:t>Detect unintended code changes in the model</a:t>
            </a:r>
          </a:p>
          <a:p>
            <a:pPr marL="285750" indent="-285750" algn="just">
              <a:buFont typeface="Wingdings" panose="05000000000000000000" pitchFamily="2" charset="2"/>
              <a:buChar char="ü"/>
            </a:pPr>
            <a:endParaRPr lang="en-US" sz="1000" dirty="0">
              <a:cs typeface="Arial" panose="020B0604020202020204" pitchFamily="34" charset="0"/>
            </a:endParaRPr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n-US" sz="1400" dirty="0">
                <a:cs typeface="Arial" panose="020B0604020202020204" pitchFamily="34" charset="0"/>
              </a:rPr>
              <a:t>Ensure intended code changes affect only the targeted units of the model</a:t>
            </a:r>
          </a:p>
          <a:p>
            <a:pPr marL="285750" indent="-285750" algn="just">
              <a:buFont typeface="Wingdings" panose="05000000000000000000" pitchFamily="2" charset="2"/>
              <a:buChar char="ü"/>
            </a:pPr>
            <a:endParaRPr lang="en-US" sz="1000" dirty="0">
              <a:cs typeface="Arial" panose="020B0604020202020204" pitchFamily="34" charset="0"/>
            </a:endParaRPr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n-US" sz="1400" dirty="0">
                <a:cs typeface="Arial" panose="020B0604020202020204" pitchFamily="34" charset="0"/>
              </a:rPr>
              <a:t>Ensure the program executed to completion</a:t>
            </a:r>
          </a:p>
        </p:txBody>
      </p:sp>
      <p:sp>
        <p:nvSpPr>
          <p:cNvPr id="61" name="Speech Bubble: Rectangle 60">
            <a:extLst>
              <a:ext uri="{FF2B5EF4-FFF2-40B4-BE49-F238E27FC236}">
                <a16:creationId xmlns:a16="http://schemas.microsoft.com/office/drawing/2014/main" id="{298AE833-F2E3-8E7F-6292-77B7E489F0D9}"/>
              </a:ext>
            </a:extLst>
          </p:cNvPr>
          <p:cNvSpPr/>
          <p:nvPr/>
        </p:nvSpPr>
        <p:spPr>
          <a:xfrm>
            <a:off x="4736840" y="4338909"/>
            <a:ext cx="3496733" cy="588596"/>
          </a:xfrm>
          <a:prstGeom prst="wedgeRectCallout">
            <a:avLst>
              <a:gd name="adj1" fmla="val -60601"/>
              <a:gd name="adj2" fmla="val 19962"/>
            </a:avLst>
          </a:prstGeom>
          <a:solidFill>
            <a:schemeClr val="accent4">
              <a:lumMod val="20000"/>
              <a:lumOff val="8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When comparing business outputs, only check deterministic and objective properties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178CDE8-CA36-331A-F024-20BAD568A0BA}"/>
              </a:ext>
            </a:extLst>
          </p:cNvPr>
          <p:cNvSpPr txBox="1"/>
          <p:nvPr/>
        </p:nvSpPr>
        <p:spPr>
          <a:xfrm>
            <a:off x="2759718" y="3753232"/>
            <a:ext cx="63871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export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AD7685E-850C-2EBC-CD97-CADA77E200BA}"/>
              </a:ext>
            </a:extLst>
          </p:cNvPr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900588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8620" y="3657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 dirty="0">
                <a:solidFill>
                  <a:srgbClr val="0A1628"/>
                </a:solidFill>
                <a:latin typeface="Calibri"/>
              </a:rP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388620" y="1554480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465BAB-B7AA-9168-ED59-AC2585533C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42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7FC925-3049-5023-F37C-B488F0DDAD12}"/>
              </a:ext>
            </a:extLst>
          </p:cNvPr>
          <p:cNvSpPr txBox="1"/>
          <p:nvPr/>
        </p:nvSpPr>
        <p:spPr>
          <a:xfrm>
            <a:off x="441960" y="2950686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https://forms.gle/Ajp2wa3kgcDhyGDW7</a:t>
            </a:r>
            <a:r>
              <a:rPr lang="en-US" dirty="0"/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BC00993-E833-5B49-EE01-049E21D98E6E}"/>
              </a:ext>
            </a:extLst>
          </p:cNvPr>
          <p:cNvSpPr txBox="1"/>
          <p:nvPr/>
        </p:nvSpPr>
        <p:spPr>
          <a:xfrm>
            <a:off x="441960" y="2529054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i="0" dirty="0">
                <a:solidFill>
                  <a:srgbClr val="2D3748"/>
                </a:solidFill>
                <a:latin typeface="Calibri"/>
              </a:rPr>
              <a:t>Provide your feedback here please:</a:t>
            </a:r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4F567CB-A713-ABEE-D8FF-DB8361AC57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0080" y="25908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638</TotalTime>
  <Words>2686</Words>
  <Application>Microsoft Office PowerPoint</Application>
  <PresentationFormat>On-screen Show (16:9)</PresentationFormat>
  <Paragraphs>446</Paragraphs>
  <Slides>42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51" baseType="lpstr">
      <vt:lpstr>Microsoft GothicNeo Light</vt:lpstr>
      <vt:lpstr>Aptos</vt:lpstr>
      <vt:lpstr>Arial</vt:lpstr>
      <vt:lpstr>Calibri</vt:lpstr>
      <vt:lpstr>Cambria Math</vt:lpstr>
      <vt:lpstr>Consolas</vt:lpstr>
      <vt:lpstr>Open Sans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Francisco Zenteno Smith</cp:lastModifiedBy>
  <cp:revision>134</cp:revision>
  <dcterms:created xsi:type="dcterms:W3CDTF">2013-01-27T09:14:16Z</dcterms:created>
  <dcterms:modified xsi:type="dcterms:W3CDTF">2026-06-29T02:08:53Z</dcterms:modified>
  <cp:category/>
</cp:coreProperties>
</file>