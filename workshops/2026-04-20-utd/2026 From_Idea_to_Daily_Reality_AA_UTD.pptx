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133" d="100"/>
          <a:sy n="133" d="100"/>
        </p:scale>
        <p:origin x="9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64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34CC-06D8-AA60-40F0-0879C4D4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07534-E7BB-EBE7-B4DC-273A0C2A9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DD018-BF55-5281-4973-DF5CFE6BB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ED81B-0C9A-ED6A-A149-073244526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76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12DE-BA52-143E-5B6D-933990F8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C1A88-CB6D-413F-EF8A-591718BF0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497C2-F4B5-83A1-A891-400B5BF14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E1B9C-BD45-B788-68B0-7578EC841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24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1 person is paid by the financial profit of the company. The other is paid by maintenance compliance. Ask them how to solve this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  ·  AI IN SUPPLY CHAIN MANAGEMENT  ·  UTD SPRING 2026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idea to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Reality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Operations Research powers American Airlines’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supply chain every day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3657600" cy="0"/>
          </a:xfrm>
          <a:prstGeom prst="line">
            <a:avLst/>
          </a:prstGeom>
          <a:noFill/>
          <a:ln w="12700">
            <a:solidFill>
              <a:srgbClr val="2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Zenteno  |  Operations Research &amp; Advanced Analytics  |  American Airlines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E8EFFE"/>
          </a:solidFill>
          <a:ln w="12700">
            <a:solidFill>
              <a:srgbClr val="C7D7F9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Francisco Zenteno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B.S. Industrial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M.S. Operations Research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Pontificia Universidad Católica de Chile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M.S. Computer Science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UC San Diego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Operations Research &amp; Advanced Analytics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American Airlines  ·  Dallas, TX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wear many hats: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114800" cy="713232"/>
          </a:xfrm>
          <a:prstGeom prst="rect">
            <a:avLst/>
          </a:prstGeom>
          <a:solidFill>
            <a:srgbClr val="E0D7FF"/>
          </a:solidFill>
          <a:ln w="12700">
            <a:solidFill>
              <a:srgbClr val="CCDDE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56362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30368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Scientist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30368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models &amp; algorithms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258568"/>
            <a:ext cx="4114800" cy="713232"/>
          </a:xfrm>
          <a:prstGeom prst="rect">
            <a:avLst/>
          </a:prstGeom>
          <a:solidFill>
            <a:srgbClr val="D7EFFE"/>
          </a:solidFill>
          <a:ln w="12700">
            <a:solidFill>
              <a:srgbClr val="CCDDE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048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2322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30368" y="2624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CI/CD, production systems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3099816"/>
            <a:ext cx="4114800" cy="713232"/>
          </a:xfrm>
          <a:prstGeom prst="rect">
            <a:avLst/>
          </a:prstGeom>
          <a:solidFill>
            <a:srgbClr val="D7FFE8"/>
          </a:solidFill>
          <a:ln w="12700">
            <a:solidFill>
              <a:srgbClr val="CCDDE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246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30368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230368" y="3465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stakeholder alignment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3941064"/>
            <a:ext cx="4114800" cy="713232"/>
          </a:xfrm>
          <a:prstGeom prst="rect">
            <a:avLst/>
          </a:prstGeom>
          <a:solidFill>
            <a:srgbClr val="FFF3D7"/>
          </a:solidFill>
          <a:ln w="12700">
            <a:solidFill>
              <a:srgbClr val="CCDDE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08736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30368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Communicator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30368" y="4306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↔ Business translator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start...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day, American Airlines flies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 aircraft across 200+ airports.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Mechanics every night need maintenance parts to maintain aircrafts that will arrive at that station.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maintenance part is there, or it must be brought by some aircraft.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 team decides how to bring those maintenance parts to where they are needed. Every day.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a medicine cabinet on wings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93192" y="8813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aircraft carries a curated set of spare parts as it flies its daily route sequence. There is not enough inventory for each of the thousand unique parts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airports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185416" y="2057400"/>
            <a:ext cx="475488" cy="0"/>
          </a:xfrm>
          <a:prstGeom prst="line">
            <a:avLst/>
          </a:prstGeom>
          <a:noFill/>
          <a:ln w="25400">
            <a:solidFill>
              <a:srgbClr val="2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9110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9E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600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240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88536" y="2057400"/>
            <a:ext cx="475488" cy="0"/>
          </a:xfrm>
          <a:prstGeom prst="line">
            <a:avLst/>
          </a:prstGeom>
          <a:noFill/>
          <a:ln w="25400">
            <a:solidFill>
              <a:srgbClr val="2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9432" y="19110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9E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600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240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2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91656" y="2057400"/>
            <a:ext cx="475488" cy="0"/>
          </a:xfrm>
          <a:prstGeom prst="line">
            <a:avLst/>
          </a:prstGeom>
          <a:noFill/>
          <a:ln w="25400">
            <a:solidFill>
              <a:srgbClr val="2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02552" y="19110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9E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5087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600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240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waiting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8412480" cy="658368"/>
          </a:xfrm>
          <a:prstGeom prst="rect">
            <a:avLst/>
          </a:prstGeom>
          <a:solidFill>
            <a:srgbClr val="D7F7DF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944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If the part(s) for a specific maintenance task are available when that aircraft arrives, the mechanics can work.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8412480" cy="658368"/>
          </a:xfrm>
          <a:prstGeom prst="rect">
            <a:avLst/>
          </a:prstGeom>
          <a:solidFill>
            <a:srgbClr val="FFE4E4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767328"/>
            <a:ext cx="806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If the part(s) are not there— the plane waits for a shipment, or maintenance is deferred. Sometimes the maintenance is </a:t>
            </a:r>
            <a:r>
              <a:rPr lang="en-US" sz="1300" u="sng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the aircraft to continue flying</a:t>
            </a:r>
            <a:r>
              <a:rPr lang="en-US" sz="13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E9C6-59F2-B76B-C95A-685597DC2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ay include: A black and white outline map of the United States of America, including Alaska and Hawaii.">
            <a:extLst>
              <a:ext uri="{FF2B5EF4-FFF2-40B4-BE49-F238E27FC236}">
                <a16:creationId xmlns:a16="http://schemas.microsoft.com/office/drawing/2014/main" id="{0E324A9B-0D08-E615-D4EA-CDE9658E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28" y="-230400"/>
            <a:ext cx="8175544" cy="6131658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06D99AD8-8DB9-1B14-FDB0-4499B728E403}"/>
              </a:ext>
            </a:extLst>
          </p:cNvPr>
          <p:cNvSpPr/>
          <p:nvPr/>
        </p:nvSpPr>
        <p:spPr>
          <a:xfrm>
            <a:off x="196427" y="21279"/>
            <a:ext cx="894757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 the fleet to transport the parts</a:t>
            </a:r>
            <a:endParaRPr lang="en-US" sz="2800" dirty="0"/>
          </a:p>
        </p:txBody>
      </p:sp>
      <p:pic>
        <p:nvPicPr>
          <p:cNvPr id="15" name="Graphic 14" descr="Airplane with solid fill">
            <a:extLst>
              <a:ext uri="{FF2B5EF4-FFF2-40B4-BE49-F238E27FC236}">
                <a16:creationId xmlns:a16="http://schemas.microsoft.com/office/drawing/2014/main" id="{73D52919-AA63-D73B-FDF2-260710FB8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542446" y="2474888"/>
            <a:ext cx="751580" cy="751580"/>
          </a:xfrm>
          <a:prstGeom prst="rect">
            <a:avLst/>
          </a:prstGeom>
        </p:spPr>
      </p:pic>
      <p:pic>
        <p:nvPicPr>
          <p:cNvPr id="18" name="Graphic 17" descr="Single gear with solid fill">
            <a:extLst>
              <a:ext uri="{FF2B5EF4-FFF2-40B4-BE49-F238E27FC236}">
                <a16:creationId xmlns:a16="http://schemas.microsoft.com/office/drawing/2014/main" id="{CEC0F9D7-5451-DB40-03EB-44F9DDB91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6361" y="4143963"/>
            <a:ext cx="502920" cy="502920"/>
          </a:xfrm>
          <a:prstGeom prst="rect">
            <a:avLst/>
          </a:prstGeom>
        </p:spPr>
      </p:pic>
      <p:pic>
        <p:nvPicPr>
          <p:cNvPr id="19" name="Graphic 18" descr="Airplane with solid fill">
            <a:extLst>
              <a:ext uri="{FF2B5EF4-FFF2-40B4-BE49-F238E27FC236}">
                <a16:creationId xmlns:a16="http://schemas.microsoft.com/office/drawing/2014/main" id="{9745F541-9A08-3981-12EA-D9067CB79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56331">
            <a:off x="7278822" y="1667365"/>
            <a:ext cx="751580" cy="75158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1BCEF06-C22E-86CB-392F-DCD57ADEE63C}"/>
              </a:ext>
            </a:extLst>
          </p:cNvPr>
          <p:cNvSpPr/>
          <p:nvPr/>
        </p:nvSpPr>
        <p:spPr>
          <a:xfrm>
            <a:off x="957600" y="3880800"/>
            <a:ext cx="1310400" cy="1417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4A170E-9856-CF2E-A7C8-5CD6645C8A49}"/>
              </a:ext>
            </a:extLst>
          </p:cNvPr>
          <p:cNvSpPr/>
          <p:nvPr/>
        </p:nvSpPr>
        <p:spPr>
          <a:xfrm>
            <a:off x="1735772" y="4258708"/>
            <a:ext cx="1310400" cy="1039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AB6BA6-7D4C-11E8-05A5-4DEA2DA186E9}"/>
              </a:ext>
            </a:extLst>
          </p:cNvPr>
          <p:cNvSpPr/>
          <p:nvPr/>
        </p:nvSpPr>
        <p:spPr>
          <a:xfrm>
            <a:off x="2741372" y="4435200"/>
            <a:ext cx="592601" cy="862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93CD63-BD39-DD1D-AF60-18F70BEBF29A}"/>
              </a:ext>
            </a:extLst>
          </p:cNvPr>
          <p:cNvSpPr/>
          <p:nvPr/>
        </p:nvSpPr>
        <p:spPr>
          <a:xfrm>
            <a:off x="3172116" y="4572000"/>
            <a:ext cx="592601" cy="725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BFA95-CC2B-A63D-4527-0F11F51CAD44}"/>
              </a:ext>
            </a:extLst>
          </p:cNvPr>
          <p:cNvSpPr txBox="1"/>
          <p:nvPr/>
        </p:nvSpPr>
        <p:spPr>
          <a:xfrm>
            <a:off x="1623838" y="31328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5E0E39-6543-A94F-9CF3-CD878223B237}"/>
              </a:ext>
            </a:extLst>
          </p:cNvPr>
          <p:cNvSpPr txBox="1"/>
          <p:nvPr/>
        </p:nvSpPr>
        <p:spPr>
          <a:xfrm>
            <a:off x="4036276" y="322646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DFW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F5FB3-B6FB-9264-D73F-7F3824D1354D}"/>
              </a:ext>
            </a:extLst>
          </p:cNvPr>
          <p:cNvSpPr txBox="1"/>
          <p:nvPr/>
        </p:nvSpPr>
        <p:spPr>
          <a:xfrm>
            <a:off x="7090502" y="164850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JFK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558234-9D43-0C60-EF1F-26A7661475DC}"/>
              </a:ext>
            </a:extLst>
          </p:cNvPr>
          <p:cNvSpPr txBox="1"/>
          <p:nvPr/>
        </p:nvSpPr>
        <p:spPr>
          <a:xfrm>
            <a:off x="5916902" y="238708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956CA5-F73D-4226-19F4-67CABE6F5A8C}"/>
              </a:ext>
            </a:extLst>
          </p:cNvPr>
          <p:cNvSpPr txBox="1"/>
          <p:nvPr/>
        </p:nvSpPr>
        <p:spPr>
          <a:xfrm>
            <a:off x="6097830" y="443520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MIA</a:t>
            </a:r>
          </a:p>
        </p:txBody>
      </p:sp>
      <p:pic>
        <p:nvPicPr>
          <p:cNvPr id="30" name="Graphic 29" descr="Airplane with solid fill">
            <a:extLst>
              <a:ext uri="{FF2B5EF4-FFF2-40B4-BE49-F238E27FC236}">
                <a16:creationId xmlns:a16="http://schemas.microsoft.com/office/drawing/2014/main" id="{EAC2BBDD-31EA-18FE-7CAE-2CAD6D4AD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009834">
            <a:off x="6516392" y="4043796"/>
            <a:ext cx="751580" cy="7515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B4BC37E-1DA7-6E5D-7977-14A942E7A8CE}"/>
              </a:ext>
            </a:extLst>
          </p:cNvPr>
          <p:cNvSpPr txBox="1"/>
          <p:nvPr/>
        </p:nvSpPr>
        <p:spPr>
          <a:xfrm>
            <a:off x="5154526" y="201701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C56E160B-7896-37DB-A493-E456FAAB2CF9}"/>
              </a:ext>
            </a:extLst>
          </p:cNvPr>
          <p:cNvSpPr/>
          <p:nvPr/>
        </p:nvSpPr>
        <p:spPr>
          <a:xfrm>
            <a:off x="2606400" y="1855267"/>
            <a:ext cx="1584000" cy="1039133"/>
          </a:xfrm>
          <a:prstGeom prst="wedgeRectCallout">
            <a:avLst>
              <a:gd name="adj1" fmla="val -48106"/>
              <a:gd name="adj2" fmla="val 2772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orange aircraft requires the orange part on DFW this night</a:t>
            </a:r>
          </a:p>
        </p:txBody>
      </p:sp>
    </p:spTree>
    <p:extLst>
      <p:ext uri="{BB962C8B-B14F-4D97-AF65-F5344CB8AC3E}">
        <p14:creationId xmlns:p14="http://schemas.microsoft.com/office/powerpoint/2010/main" val="396012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34568E-6 L 0.26736 0.200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68" y="100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9.87654E-7 L -0.09462 -0.3185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1592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7.40741E-7 L -0.06615 -0.2756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6" y="-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22222E-6 L -0.11441 0.1509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29" y="75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D7DF-E28E-B1CE-CEB4-652C403A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ay include: A black and white outline map of the United States of America, including Alaska and Hawaii.">
            <a:extLst>
              <a:ext uri="{FF2B5EF4-FFF2-40B4-BE49-F238E27FC236}">
                <a16:creationId xmlns:a16="http://schemas.microsoft.com/office/drawing/2014/main" id="{898730C0-ECDC-0A54-0EF7-35E17CCC6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28" y="-230400"/>
            <a:ext cx="8175544" cy="6131658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E68A81B4-59A3-222A-4D1A-43269B07AE8A}"/>
              </a:ext>
            </a:extLst>
          </p:cNvPr>
          <p:cNvSpPr/>
          <p:nvPr/>
        </p:nvSpPr>
        <p:spPr>
          <a:xfrm>
            <a:off x="196427" y="21279"/>
            <a:ext cx="894757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 the fleet to transport the parts</a:t>
            </a:r>
            <a:endParaRPr lang="en-US" sz="2800" dirty="0"/>
          </a:p>
        </p:txBody>
      </p:sp>
      <p:pic>
        <p:nvPicPr>
          <p:cNvPr id="15" name="Graphic 14" descr="Airplane with solid fill">
            <a:extLst>
              <a:ext uri="{FF2B5EF4-FFF2-40B4-BE49-F238E27FC236}">
                <a16:creationId xmlns:a16="http://schemas.microsoft.com/office/drawing/2014/main" id="{2B8282F9-360B-C67A-C3E4-25EB9DCB6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979644" y="3498744"/>
            <a:ext cx="751580" cy="751580"/>
          </a:xfrm>
          <a:prstGeom prst="rect">
            <a:avLst/>
          </a:prstGeom>
        </p:spPr>
      </p:pic>
      <p:pic>
        <p:nvPicPr>
          <p:cNvPr id="18" name="Graphic 17" descr="Single gear with solid fill">
            <a:extLst>
              <a:ext uri="{FF2B5EF4-FFF2-40B4-BE49-F238E27FC236}">
                <a16:creationId xmlns:a16="http://schemas.microsoft.com/office/drawing/2014/main" id="{40F55037-6D0A-24AD-784A-878D6F837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6152" y="2463993"/>
            <a:ext cx="502920" cy="502920"/>
          </a:xfrm>
          <a:prstGeom prst="rect">
            <a:avLst/>
          </a:prstGeom>
        </p:spPr>
      </p:pic>
      <p:pic>
        <p:nvPicPr>
          <p:cNvPr id="19" name="Graphic 18" descr="Airplane with solid fill">
            <a:extLst>
              <a:ext uri="{FF2B5EF4-FFF2-40B4-BE49-F238E27FC236}">
                <a16:creationId xmlns:a16="http://schemas.microsoft.com/office/drawing/2014/main" id="{9661E645-F12D-3A3B-08AA-045870C64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56331">
            <a:off x="6250636" y="2371783"/>
            <a:ext cx="751580" cy="75158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146CBA1-725D-87D5-52BD-28F7C014E503}"/>
              </a:ext>
            </a:extLst>
          </p:cNvPr>
          <p:cNvSpPr/>
          <p:nvPr/>
        </p:nvSpPr>
        <p:spPr>
          <a:xfrm>
            <a:off x="957600" y="3880800"/>
            <a:ext cx="1310400" cy="1417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C2B16D-3020-7A59-2A84-D9E08370A1F7}"/>
              </a:ext>
            </a:extLst>
          </p:cNvPr>
          <p:cNvSpPr/>
          <p:nvPr/>
        </p:nvSpPr>
        <p:spPr>
          <a:xfrm>
            <a:off x="1735772" y="4258708"/>
            <a:ext cx="1310400" cy="1039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D5C55-663F-E98E-EC91-49337442DBD3}"/>
              </a:ext>
            </a:extLst>
          </p:cNvPr>
          <p:cNvSpPr/>
          <p:nvPr/>
        </p:nvSpPr>
        <p:spPr>
          <a:xfrm>
            <a:off x="2741372" y="4435200"/>
            <a:ext cx="592601" cy="862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9EC7FE-BAC1-92D9-9C51-66C245883336}"/>
              </a:ext>
            </a:extLst>
          </p:cNvPr>
          <p:cNvSpPr/>
          <p:nvPr/>
        </p:nvSpPr>
        <p:spPr>
          <a:xfrm>
            <a:off x="3172116" y="4572000"/>
            <a:ext cx="592601" cy="725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916231-61D7-E598-83FE-BDB68B6E83E5}"/>
              </a:ext>
            </a:extLst>
          </p:cNvPr>
          <p:cNvSpPr txBox="1"/>
          <p:nvPr/>
        </p:nvSpPr>
        <p:spPr>
          <a:xfrm>
            <a:off x="1623838" y="31328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35290E-18EF-4093-7755-9281D39D1842}"/>
              </a:ext>
            </a:extLst>
          </p:cNvPr>
          <p:cNvSpPr txBox="1"/>
          <p:nvPr/>
        </p:nvSpPr>
        <p:spPr>
          <a:xfrm>
            <a:off x="4036276" y="322646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DFW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00DBB-7B66-E0A6-A6F6-D2BF24843BD1}"/>
              </a:ext>
            </a:extLst>
          </p:cNvPr>
          <p:cNvSpPr txBox="1"/>
          <p:nvPr/>
        </p:nvSpPr>
        <p:spPr>
          <a:xfrm>
            <a:off x="7090502" y="164850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JFK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0CCD1-6750-2B38-DC00-BD98EC8319FD}"/>
              </a:ext>
            </a:extLst>
          </p:cNvPr>
          <p:cNvSpPr txBox="1"/>
          <p:nvPr/>
        </p:nvSpPr>
        <p:spPr>
          <a:xfrm>
            <a:off x="5916902" y="238708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BF126B-77B7-A661-EA7F-82C809DDE518}"/>
              </a:ext>
            </a:extLst>
          </p:cNvPr>
          <p:cNvSpPr txBox="1"/>
          <p:nvPr/>
        </p:nvSpPr>
        <p:spPr>
          <a:xfrm>
            <a:off x="6097830" y="443520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MIA</a:t>
            </a:r>
          </a:p>
        </p:txBody>
      </p:sp>
      <p:pic>
        <p:nvPicPr>
          <p:cNvPr id="30" name="Graphic 29" descr="Airplane with solid fill">
            <a:extLst>
              <a:ext uri="{FF2B5EF4-FFF2-40B4-BE49-F238E27FC236}">
                <a16:creationId xmlns:a16="http://schemas.microsoft.com/office/drawing/2014/main" id="{D86438BF-0201-3D8C-8FCE-B0E47FC07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009834">
            <a:off x="5944003" y="2651217"/>
            <a:ext cx="751580" cy="7515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8DCD53-6734-CB2D-E5C8-4E1B6A7B03DC}"/>
              </a:ext>
            </a:extLst>
          </p:cNvPr>
          <p:cNvSpPr txBox="1"/>
          <p:nvPr/>
        </p:nvSpPr>
        <p:spPr>
          <a:xfrm>
            <a:off x="5154526" y="201701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</a:t>
            </a:r>
          </a:p>
        </p:txBody>
      </p:sp>
    </p:spTree>
    <p:extLst>
      <p:ext uri="{BB962C8B-B14F-4D97-AF65-F5344CB8AC3E}">
        <p14:creationId xmlns:p14="http://schemas.microsoft.com/office/powerpoint/2010/main" val="123803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60494E-6 L -0.09445 -0.185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9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6.17284E-7 L -0.20104 0.1777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888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22222E-6 L -0.22031 0.1567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24" y="78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scale of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011680" cy="1188720"/>
          </a:xfrm>
          <a:prstGeom prst="rect">
            <a:avLst/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201168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0241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201168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241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960120"/>
            <a:ext cx="2011680" cy="11887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0241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4944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isn't uniform — it's a family of models, each with unique part requirements: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743200" cy="2057400"/>
          </a:xfrm>
          <a:prstGeom prst="rect">
            <a:avLst/>
          </a:prstGeom>
          <a:solidFill>
            <a:srgbClr val="E8EFFE"/>
          </a:solidFill>
          <a:ln w="19050">
            <a:solidFill>
              <a:srgbClr val="B8C8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834640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Narrowbody — Airbus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" y="3310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A319  ·  A320  ·  A321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" y="37307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parts shared across models.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unique to each variant.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2743200"/>
            <a:ext cx="2743200" cy="2057400"/>
          </a:xfrm>
          <a:prstGeom prst="rect">
            <a:avLst/>
          </a:prstGeom>
          <a:solidFill>
            <a:srgbClr val="FFF3D7"/>
          </a:solidFill>
          <a:ln w="19050">
            <a:solidFill>
              <a:srgbClr val="FFD96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834640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86200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Narrowbody — Boeing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401568" y="3310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737NG  ·  737 MAX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401568" y="37307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parts shared across models.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unique to each variant.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217920" y="2743200"/>
            <a:ext cx="2743200" cy="2057400"/>
          </a:xfrm>
          <a:prstGeom prst="rect">
            <a:avLst/>
          </a:prstGeom>
          <a:solidFill>
            <a:srgbClr val="FFE4E4"/>
          </a:solidFill>
          <a:ln w="19050">
            <a:solidFill>
              <a:srgbClr val="FFAAA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83464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12280" y="2834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Widebody — Boeing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27648" y="3310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777-200  ·  777-300  ·  787-8  ·  787-9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327648" y="373075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parts shared across models.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unique to each variant.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hard can it be?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731520"/>
          </a:xfrm>
          <a:prstGeom prst="rect">
            <a:avLst/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418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🤔  If you had 30 seconds, what would you do?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D7EF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Quick answer:  "Just figure out what each maintenance base needs, and put those parts on whatever plane is flying there next."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reasonable. But it fails — for at least three reasons: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2743200" cy="1874520"/>
          </a:xfrm>
          <a:prstGeom prst="rect">
            <a:avLst/>
          </a:prstGeom>
          <a:solidFill>
            <a:srgbClr val="FFF3D7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34930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with 100% certainty where each plane will end today.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change. Weather happens. Aircraft swap routes. The future is uncertain.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743200" cy="1874520"/>
          </a:xfrm>
          <a:prstGeom prst="rect">
            <a:avLst/>
          </a:prstGeom>
          <a:solidFill>
            <a:srgbClr val="FFE4E4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01568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01568" y="34930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Aircrafts have weight and space constraints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load everything onto every plane. Each aircraft type has strict limits.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2560320" cy="1874520"/>
          </a:xfrm>
          <a:prstGeom prst="rect">
            <a:avLst/>
          </a:prstGeom>
          <a:solidFill>
            <a:srgbClr val="F0E4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0556" y="3539067"/>
            <a:ext cx="23679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maintenance tasks require a bundle of parts. 1 missing part implies the task can’t be done.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maintenance task might need several parts, the mechanics need all of them.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reality strikes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Even a well-built plan falls apart when the real world intervenes.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3192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4081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1: The Storm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965960"/>
            <a:ext cx="3639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plan: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plane carrying a critical part departs DFW heading to TUL (Tulsa) maintenance base.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2761488"/>
            <a:ext cx="36393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</a:t>
            </a:r>
            <a:r>
              <a:rPr lang="en-US" sz="11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storm grounds the plane in OKC. The part never arrives. The mechanic in Tulsa waits. The job is deferred.</a:t>
            </a:r>
            <a:endParaRPr lang="en-US" sz="1150" dirty="0">
              <a:solidFill>
                <a:srgbClr val="C00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36393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assumed the plane would arrive, but it did not.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61872"/>
            <a:ext cx="393192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38988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4081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2: Emergency Reroute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1965960"/>
            <a:ext cx="3639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plan: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part for MIA (Miami) maintenance is already at the airport, waiting for the scheduled aircraft to arrive.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983480" y="2761488"/>
            <a:ext cx="36393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</a:t>
            </a:r>
            <a:r>
              <a:rPr lang="en-US" sz="11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aircraft was rerouted to cover an emergency elsewhere. A different plane lands at MIA — without the part.</a:t>
            </a:r>
            <a:endParaRPr lang="en-US" sz="1150" dirty="0">
              <a:solidFill>
                <a:srgbClr val="C0000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4983480" y="3703320"/>
            <a:ext cx="36393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part was in the right city. Just not on the right plane.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combinatorial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462272" cy="3460680"/>
          </a:xfrm>
          <a:prstGeom prst="rect">
            <a:avLst/>
          </a:prstGeom>
          <a:solidFill>
            <a:srgbClr val="E8EFFE"/>
          </a:solidFill>
          <a:ln w="12700">
            <a:solidFill>
              <a:srgbClr val="B8C8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 Integer Programming (MIP)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502920" y="1508760"/>
                <a:ext cx="4325112" cy="31089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On a given day, at a given hour:</a:t>
                </a:r>
              </a:p>
              <a:p>
                <a:pPr marL="0" indent="0">
                  <a:buNone/>
                </a:pPr>
                <a:endParaRPr lang="en-US" sz="1150" b="1" dirty="0">
                  <a:solidFill>
                    <a:srgbClr val="1E2D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Decisions (variables):</a:t>
                </a:r>
              </a:p>
              <a:p>
                <a:pPr marL="0" indent="0">
                  <a:buNone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 each aircraft </a:t>
                </a:r>
                <a14:m>
                  <m:oMath xmlns:m="http://schemas.openxmlformats.org/officeDocument/2006/math">
                    <m:r>
                      <a:rPr lang="en-US" sz="1150" b="0" i="1" dirty="0" smtClean="0">
                        <a:solidFill>
                          <a:srgbClr val="1E2D4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</m:oMath>
                </a14:m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arriving to a station </a:t>
                </a:r>
                <a14:m>
                  <m:oMath xmlns:m="http://schemas.openxmlformats.org/officeDocument/2006/math">
                    <m:r>
                      <a:rPr lang="en-US" sz="1150" i="1" dirty="0" smtClean="0">
                        <a:solidFill>
                          <a:srgbClr val="1E2D4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</m:oMath>
                </a14:m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carrying parts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1</m:t>
                        </m:r>
                      </m:sub>
                    </m:sSub>
                    <m:r>
                      <a:rPr lang="en-US" sz="1150" b="0" i="1" smtClean="0">
                        <a:solidFill>
                          <a:srgbClr val="1E2D4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sSub>
                      <m:sSubPr>
                        <m:ctrlP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b>
                    </m:sSub>
                    <m:r>
                      <a:rPr lang="en-US" sz="1150" b="0" i="1" smtClean="0">
                        <a:solidFill>
                          <a:srgbClr val="1E2D4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,…,</m:t>
                    </m:r>
                    <m:sSub>
                      <m:sSubPr>
                        <m:ctrlP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2D4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</m:t>
                        </m:r>
                      </m:sub>
                    </m:sSub>
                    <m:r>
                      <a:rPr lang="en-US" sz="1150" b="0" i="0" smtClean="0">
                        <a:solidFill>
                          <a:srgbClr val="1E2D4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:</m:t>
                    </m:r>
                  </m:oMath>
                </a14:m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1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Which parts should be unloaded on this station?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Which parts should be loaded into its next flights?</a:t>
                </a:r>
              </a:p>
              <a:p>
                <a:pPr marL="0" indent="0">
                  <a:buNone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150" dirty="0"/>
              </a:p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Constraints:</a:t>
                </a:r>
                <a:endParaRPr lang="en-US" sz="1150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Weight/Volume limits on the aircraft to carry parts.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You have a limited time (~1 hour) in the station to load/unload parts to avoid delaying the next flight.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50" dirty="0">
                  <a:solidFill>
                    <a:srgbClr val="1E2D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r>
                  <a:rPr lang="en-US" sz="1150" b="1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Objective(s):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Maximize the tasks that can be done at each station by end of day.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Minimize the cost of carrying unnecessary weight.</a:t>
                </a:r>
              </a:p>
              <a:p>
                <a:endParaRPr lang="en-US" sz="1150" dirty="0"/>
              </a:p>
              <a:p>
                <a:pPr marL="0" indent="0">
                  <a:buNone/>
                </a:pPr>
                <a:r>
                  <a:rPr lang="en-US" sz="1150" dirty="0">
                    <a:solidFill>
                      <a:srgbClr val="1E2D4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150" dirty="0"/>
              </a:p>
              <a:p>
                <a:pPr marL="0" indent="0">
                  <a:buNone/>
                </a:pPr>
                <a:endParaRPr lang="en-US" sz="115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08760"/>
                <a:ext cx="4325112" cy="3108960"/>
              </a:xfrm>
              <a:prstGeom prst="rect">
                <a:avLst/>
              </a:prstGeom>
              <a:blipFill>
                <a:blip r:embed="rId3"/>
                <a:stretch>
                  <a:fillRect t="-3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5263200" y="969912"/>
            <a:ext cx="388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need specialized &amp; fast algorithms.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05600" y="1408824"/>
            <a:ext cx="3371472" cy="3346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Enumerating all combinations is impossible. MIP algorithms help to solve this problem.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may need to run every 30 minutes.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E2D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E2D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should provide a recommendation in &lt; 5 min so the business can review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E2D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E2D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knowledge may be exploited to reduce the search space. Example: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E2D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5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150" i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allow Airbus aircrafts to carry parts of Boeing aircrafts”.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E2D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/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0FF9DBE2-D541-9F6E-0696-DBE7051932B9}"/>
              </a:ext>
            </a:extLst>
          </p:cNvPr>
          <p:cNvSpPr/>
          <p:nvPr/>
        </p:nvSpPr>
        <p:spPr>
          <a:xfrm>
            <a:off x="3520800" y="4223628"/>
            <a:ext cx="1444392" cy="656640"/>
          </a:xfrm>
          <a:prstGeom prst="wedgeRectCallout">
            <a:avLst>
              <a:gd name="adj1" fmla="val -63678"/>
              <a:gd name="adj2" fmla="val -4198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How to deal with these competing objectives?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902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optimal answer might not be optimal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the business can’t execute an ‘optimal solution’, then that solution is not optimal for the business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2743200" cy="2834640"/>
          </a:xfrm>
          <a:prstGeom prst="rect">
            <a:avLst/>
          </a:prstGeom>
          <a:solidFill>
            <a:srgbClr val="E8EFFE"/>
          </a:solidFill>
          <a:ln w="19050">
            <a:solidFill>
              <a:srgbClr val="B8C8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approximates the real operation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95% of the cases, 5% might add unnecessary complexity.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an actionable simple solution might be better than a more complex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938528"/>
            <a:ext cx="2743200" cy="2834640"/>
          </a:xfrm>
          <a:prstGeom prst="rect">
            <a:avLst/>
          </a:prstGeom>
          <a:solidFill>
            <a:srgbClr val="FFF3D7"/>
          </a:solidFill>
          <a:ln w="19050">
            <a:solidFill>
              <a:srgbClr val="FFD96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Reality is uncertain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6060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was sick.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reroutes.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Embed this reality from the beginning. It does need to be tackled in the optimization model necessarily.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38528"/>
            <a:ext cx="2743200" cy="2834640"/>
          </a:xfrm>
          <a:prstGeom prst="rect">
            <a:avLst/>
          </a:prstGeom>
          <a:solidFill>
            <a:srgbClr val="D7F7DF"/>
          </a:solidFill>
          <a:ln w="19050">
            <a:solidFill>
              <a:srgbClr val="86EFAC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in the loop is needed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736000"/>
            <a:ext cx="2468880" cy="188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unit is the leader.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tools provide recommendations.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underestimated effort: Data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2240280"/>
          </a:xfrm>
          <a:prstGeom prst="rect">
            <a:avLst/>
          </a:prstGeom>
          <a:solidFill>
            <a:srgbClr val="E8EFFE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4871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schedules, inventories, locations — from multiple upstream systems, different formats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5A9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2011680" cy="2240280"/>
          </a:xfrm>
          <a:prstGeom prst="rect">
            <a:avLst/>
          </a:prstGeom>
          <a:solidFill>
            <a:srgbClr val="FFF3D7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33472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0048" y="24871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consistent? Can I provide a business recommendation with this information?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5A9E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2011680" cy="2240280"/>
          </a:xfrm>
          <a:prstGeom prst="rect">
            <a:avLst/>
          </a:prstGeom>
          <a:solidFill>
            <a:srgbClr val="D7F7DF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28032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4871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input structures the optimization solver expects.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4848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5A9E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0" y="1417320"/>
            <a:ext cx="2011680" cy="2240280"/>
          </a:xfrm>
          <a:prstGeom prst="rect">
            <a:avLst/>
          </a:prstGeom>
          <a:solidFill>
            <a:srgbClr val="E8EFFE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22592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22592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59168" y="24871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model receives clean, validated, enriched data and produces a recommendation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8595360" cy="1051560"/>
          </a:xfrm>
          <a:prstGeom prst="rect">
            <a:avLst/>
          </a:prstGeom>
          <a:solidFill>
            <a:srgbClr val="FFF3D7"/>
          </a:solidFill>
          <a:ln w="1905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24128" y="3886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 part's weight arrives as “null” in the data?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24128" y="4224528"/>
            <a:ext cx="768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with an estimation might cause the solver to overload an aircraft. The right answer might be instead: talk to data engineering and fix the source — before the model ever runs. Data quality is a team sport.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team sport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AI system is a team sport. Every discipline is essential.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20440" y="2011680"/>
            <a:ext cx="2103120" cy="1143000"/>
          </a:xfrm>
          <a:prstGeom prst="ellipse">
            <a:avLst/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20440" y="20574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280" y="1115568"/>
            <a:ext cx="2743200" cy="960120"/>
          </a:xfrm>
          <a:prstGeom prst="rect">
            <a:avLst/>
          </a:prstGeom>
          <a:solidFill>
            <a:srgbClr val="E8EFFE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008" y="1188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Scientists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008" y="15727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optimization models &amp; algorithms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115568"/>
            <a:ext cx="2743200" cy="960120"/>
          </a:xfrm>
          <a:prstGeom prst="rect">
            <a:avLst/>
          </a:prstGeom>
          <a:solidFill>
            <a:srgbClr val="E8EFFE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44768" y="1188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4768" y="15727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production-grade, tested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280" y="2029968"/>
            <a:ext cx="2743200" cy="960120"/>
          </a:xfrm>
          <a:prstGeom prst="rect">
            <a:avLst/>
          </a:prstGeom>
          <a:solidFill>
            <a:srgbClr val="FFE4E4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008" y="2103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Experts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008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the model must respect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029968"/>
            <a:ext cx="2743200" cy="960120"/>
          </a:xfrm>
          <a:prstGeom prst="rect">
            <a:avLst/>
          </a:prstGeom>
          <a:solidFill>
            <a:srgbClr val="F0E4FF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2103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SCM Experts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constraints &amp; stakeholder alignment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280" y="2944368"/>
            <a:ext cx="2743200" cy="960120"/>
          </a:xfrm>
          <a:prstGeom prst="rect">
            <a:avLst/>
          </a:prstGeom>
          <a:solidFill>
            <a:srgbClr val="D7F7DF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008" y="3017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008" y="3401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maintain the data pipelines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944368"/>
            <a:ext cx="2743200" cy="960120"/>
          </a:xfrm>
          <a:prstGeom prst="rect">
            <a:avLst/>
          </a:prstGeom>
          <a:solidFill>
            <a:srgbClr val="FFF3D7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3017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3401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criteria &amp; prioritize the roadmap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560" y="42062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B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OR scientist who can't talk to the maintenance expert will build the wrong model.</a:t>
            </a:r>
            <a:endParaRPr lang="en-US" sz="110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0B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who doesn't understand the business will build the right system for the wrong problem."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3A78840-110A-D536-403C-A9255BC40669}"/>
              </a:ext>
            </a:extLst>
          </p:cNvPr>
          <p:cNvSpPr/>
          <p:nvPr/>
        </p:nvSpPr>
        <p:spPr>
          <a:xfrm>
            <a:off x="1756440" y="1323000"/>
            <a:ext cx="5177160" cy="214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Thanks</a:t>
            </a:r>
          </a:p>
          <a:p>
            <a:pPr marL="0" indent="0" algn="ctr">
              <a:buNone/>
            </a:pPr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Questions?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1332</Words>
  <Application>Microsoft Office PowerPoint</Application>
  <PresentationFormat>On-screen Show (16:9)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Daily Reality</dc:title>
  <dc:subject>PptxGenJS Presentation</dc:subject>
  <dc:creator>PptxGenJS</dc:creator>
  <cp:lastModifiedBy>Francisco Zenteno Smith</cp:lastModifiedBy>
  <cp:revision>12</cp:revision>
  <dcterms:created xsi:type="dcterms:W3CDTF">2026-04-28T23:50:34Z</dcterms:created>
  <dcterms:modified xsi:type="dcterms:W3CDTF">2026-04-29T02:35:01Z</dcterms:modified>
</cp:coreProperties>
</file>