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73" r:id="rId5"/>
    <p:sldId id="277" r:id="rId6"/>
    <p:sldId id="280" r:id="rId7"/>
    <p:sldId id="281" r:id="rId8"/>
    <p:sldId id="282" r:id="rId9"/>
    <p:sldId id="283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42B"/>
    <a:srgbClr val="81F17B"/>
    <a:srgbClr val="F97316"/>
    <a:srgbClr val="E9F1FB"/>
    <a:srgbClr val="F1F5F9"/>
    <a:srgbClr val="F9F2EE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0" autoAdjust="0"/>
  </p:normalViewPr>
  <p:slideViewPr>
    <p:cSldViewPr snapToGrid="0" snapToObjects="1">
      <p:cViewPr>
        <p:scale>
          <a:sx n="75" d="100"/>
          <a:sy n="75" d="100"/>
        </p:scale>
        <p:origin x="1836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08B69-4B04-442E-A249-3DCED873EEFA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E717D-2DA7-42E8-9D35-D8C4861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7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Hook: what is an OR team building?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Hook: sustainability is a software property, how good is it in DSS?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Hook: can we use AI-assisted tools to fix this?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Hook: 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64748B"/>
                </a:solidFill>
                <a:latin typeface="+mn-lt"/>
              </a:rPr>
              <a:t>SEFOP exists so OR teams do not have to rediscover these practices independently.</a:t>
            </a:r>
          </a:p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64748B"/>
                </a:solidFill>
                <a:latin typeface="+mn-lt"/>
              </a:rPr>
              <a:t>Next: example testing a DSS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9A41-5DA6-CC58-C9E4-B2A4BC13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E63E8-64C5-1B3D-B21A-8DC47D2CA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CDC15-93A2-EBE6-198C-B97003A3C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Next: lets define the contract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AFDA-B09E-6D3F-D576-CE47714B5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6423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0F9ED-F334-24E6-97F6-3D58D0FA5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35857-4435-1C0C-5DBF-0ED9ECE4F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14A93-FF7A-DAC5-3667-66A8DA8C6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Next: how to test this SUT?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869E8-5CEB-C1C3-DD4B-368F0ADEA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82042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2A14B-78EC-9133-2AEE-D35034690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CB022-113A-C5B6-9B03-1492F454E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26D98-5577-2717-63DF-D17611171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Next: lets see an example of 1g.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3CDA5-30F6-EDE8-E73B-4B63CE181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3924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25D5-F065-CF9D-153A-BF3F3FC2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303D2-13AD-398D-24F5-6833ED702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524DD-E807-E00F-1EAD-953B6CA69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You could implement this test in your CI easily.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DFA6B-350A-544B-C3CB-A4347D266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932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E2D10-1E91-2300-16B2-CBC1B9555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E065F-91A9-8C6E-F861-F6BEDD4BE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3B5F9-1919-D07F-52BD-7A28AF117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23C65-47BC-AF2D-A18F-A97CE66D1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4069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FF14-F878-45E8-AFB4-46D953F41C81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6F46-0C3C-4175-8B43-348544656D81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6EC6-7322-4DBC-84C7-E11D30942555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8B31-6056-4B86-B43A-9DBD0BACB6B8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4DAE-E39A-4AB4-9A37-8C4CE854B5ED}" type="datetime1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0320F-0C3E-448D-9224-8CF88A1B4ED1}" type="datetime1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46C6B-8CC5-4835-9317-0254AF58E7FA}" type="datetime1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9325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B2F-C7F6-4FDA-BA62-32815EE05B27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BFFA9-8A0F-4C1F-BDA9-E4A846D0523F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9591-628F-4BAB-AD9F-697EBD829841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EFADA-DB7A-4DBF-B5C8-201C4683F8E6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06CE3-984D-4D4B-A976-00BBA5D668A5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615880"/>
            <a:ext cx="9601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b="0" dirty="0">
                <a:solidFill>
                  <a:srgbClr val="E2EBF2"/>
                </a:solidFill>
                <a:latin typeface="Aptos"/>
              </a:rPr>
              <a:t>INFORMS</a:t>
            </a:r>
            <a:r>
              <a:rPr sz="1800" b="0" dirty="0">
                <a:solidFill>
                  <a:srgbClr val="E2EBF2"/>
                </a:solidFill>
                <a:latin typeface="Aptos"/>
              </a:rPr>
              <a:t> Annual </a:t>
            </a:r>
            <a:r>
              <a:rPr lang="en-US" sz="1800" b="0" dirty="0">
                <a:solidFill>
                  <a:srgbClr val="E2EBF2"/>
                </a:solidFill>
                <a:latin typeface="Aptos"/>
              </a:rPr>
              <a:t>Meeting</a:t>
            </a:r>
            <a:r>
              <a:rPr sz="1800" b="0" dirty="0">
                <a:solidFill>
                  <a:srgbClr val="E2EBF2"/>
                </a:solidFill>
                <a:latin typeface="Aptos"/>
              </a:rPr>
              <a:t>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9" y="1693307"/>
            <a:ext cx="10921701" cy="1231106"/>
          </a:xfrm>
          <a:prstGeom prst="rect">
            <a:avLst/>
          </a:prstGeom>
          <a:solidFill>
            <a:srgbClr val="07142B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ptos Display"/>
              </a:rPr>
              <a:t>SEFOP: a Software Engineering Framework for Optimization Programs</a:t>
            </a:r>
            <a:endParaRPr sz="4000" b="1" dirty="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401568"/>
            <a:ext cx="105156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780383"/>
            <a:ext cx="1060704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Francisco Zenteno Smith</a:t>
            </a:r>
            <a:endParaRPr lang="en-US" sz="28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dirty="0">
                <a:solidFill>
                  <a:srgbClr val="FFFFFF"/>
                </a:solidFill>
                <a:latin typeface="Aptos"/>
              </a:rPr>
              <a:t>Senior Operations Research Scientist</a:t>
            </a:r>
          </a:p>
          <a:p>
            <a:pPr algn="ctr"/>
            <a:r>
              <a:rPr lang="en-US" dirty="0">
                <a:solidFill>
                  <a:srgbClr val="FFFFFF"/>
                </a:solidFill>
                <a:latin typeface="Aptos"/>
              </a:rPr>
              <a:t>American Airlines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5AE60D-51D9-5A48-1353-302ABBC6369E}"/>
              </a:ext>
            </a:extLst>
          </p:cNvPr>
          <p:cNvSpPr txBox="1"/>
          <p:nvPr/>
        </p:nvSpPr>
        <p:spPr>
          <a:xfrm>
            <a:off x="0" y="5646574"/>
            <a:ext cx="12192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i="1" dirty="0">
                <a:solidFill>
                  <a:srgbClr val="FFFFFF"/>
                </a:solidFill>
                <a:latin typeface="Aptos"/>
              </a:rPr>
              <a:t>Every comment here represents my own opinion, and does not represent an American Airlines statement </a:t>
            </a:r>
            <a:endParaRPr lang="en-US" sz="1050" i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3360"/>
            <a:ext cx="11567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0F2343"/>
                </a:solidFill>
                <a:latin typeface="Aptos Display"/>
              </a:rPr>
              <a:t>Doing an analysis v/s building a product</a:t>
            </a:r>
            <a:endParaRPr sz="4000" b="1" i="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488862"/>
            <a:ext cx="11567160" cy="1248290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Operations Research (OR) turns data + business needs + mathematics </a:t>
            </a:r>
            <a:r>
              <a:rPr lang="en-US" sz="2400" b="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 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decision.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F2343"/>
                </a:solidFill>
                <a:latin typeface="Aptos"/>
              </a:rPr>
              <a:t>	</a:t>
            </a:r>
            <a:r>
              <a:rPr sz="2000" dirty="0">
                <a:solidFill>
                  <a:srgbClr val="0F2343"/>
                </a:solidFill>
                <a:latin typeface="Aptos"/>
              </a:rPr>
              <a:t>A</a:t>
            </a:r>
            <a:r>
              <a:rPr lang="en-US" sz="2000" dirty="0">
                <a:solidFill>
                  <a:srgbClr val="0F2343"/>
                </a:solidFill>
                <a:latin typeface="Aptos"/>
              </a:rPr>
              <a:t>n</a:t>
            </a:r>
            <a:r>
              <a:rPr sz="200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1" dirty="0">
                <a:solidFill>
                  <a:srgbClr val="0F2343"/>
                </a:solidFill>
                <a:latin typeface="Aptos"/>
              </a:rPr>
              <a:t>analysis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delivers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a one-time decision</a:t>
            </a:r>
            <a:r>
              <a:rPr lang="en-US" sz="2000" dirty="0">
                <a:solidFill>
                  <a:srgbClr val="0F2343"/>
                </a:solidFill>
                <a:latin typeface="Aptos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F2343"/>
                </a:solidFill>
                <a:latin typeface="Aptos"/>
              </a:rPr>
              <a:t>	</a:t>
            </a:r>
            <a:r>
              <a:rPr sz="2000" dirty="0">
                <a:solidFill>
                  <a:srgbClr val="0F2343"/>
                </a:solidFill>
                <a:latin typeface="Aptos"/>
              </a:rPr>
              <a:t>A </a:t>
            </a:r>
            <a:r>
              <a:rPr sz="2000" b="1" dirty="0">
                <a:solidFill>
                  <a:srgbClr val="0F2343"/>
                </a:solidFill>
                <a:latin typeface="Aptos"/>
              </a:rPr>
              <a:t>product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delivers a recurring decision.</a:t>
            </a:r>
            <a:endParaRPr lang="en-US" sz="200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23" name="Graphic 22" descr="Airplane with solid fill">
            <a:extLst>
              <a:ext uri="{FF2B5EF4-FFF2-40B4-BE49-F238E27FC236}">
                <a16:creationId xmlns:a16="http://schemas.microsoft.com/office/drawing/2014/main" id="{346383ED-F08C-CE59-A228-D3E3CF1C5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3224" y="3636362"/>
            <a:ext cx="640080" cy="640080"/>
          </a:xfrm>
          <a:prstGeom prst="rect">
            <a:avLst/>
          </a:prstGeom>
        </p:spPr>
      </p:pic>
      <p:pic>
        <p:nvPicPr>
          <p:cNvPr id="25" name="Graphic 24" descr="Pilot male with solid fill">
            <a:extLst>
              <a:ext uri="{FF2B5EF4-FFF2-40B4-BE49-F238E27FC236}">
                <a16:creationId xmlns:a16="http://schemas.microsoft.com/office/drawing/2014/main" id="{808A3FA4-B9B9-3C55-0FB2-0794A6F436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224" y="4276486"/>
            <a:ext cx="640080" cy="6400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4779463-3AE0-4406-F6DC-6C888E644398}"/>
              </a:ext>
            </a:extLst>
          </p:cNvPr>
          <p:cNvSpPr txBox="1"/>
          <p:nvPr/>
        </p:nvSpPr>
        <p:spPr>
          <a:xfrm>
            <a:off x="1552449" y="3837189"/>
            <a:ext cx="4777231" cy="1538883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</a:rPr>
              <a:t>Plan the annual fleet composition</a:t>
            </a:r>
            <a:endParaRPr lang="en-US" sz="2000" b="1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Generate the monthly crew schedules</a:t>
            </a:r>
          </a:p>
          <a:p>
            <a:pPr algn="l"/>
            <a:endParaRPr lang="en-US" sz="2000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Recover from irregular operations</a:t>
            </a:r>
            <a:endParaRPr sz="200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29" name="Graphic 28" descr="Lightning with solid fill">
            <a:extLst>
              <a:ext uri="{FF2B5EF4-FFF2-40B4-BE49-F238E27FC236}">
                <a16:creationId xmlns:a16="http://schemas.microsoft.com/office/drawing/2014/main" id="{D5FB4D47-9306-5EAE-D4F1-AA8CA553A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224" y="4916610"/>
            <a:ext cx="640080" cy="6400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304BC2B-B999-069A-F453-3F115A98A815}"/>
              </a:ext>
            </a:extLst>
          </p:cNvPr>
          <p:cNvSpPr txBox="1"/>
          <p:nvPr/>
        </p:nvSpPr>
        <p:spPr>
          <a:xfrm>
            <a:off x="7059719" y="4242583"/>
            <a:ext cx="4677663" cy="70788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ctr"/>
            <a:r>
              <a:rPr lang="en-US" sz="2200" b="1" dirty="0">
                <a:solidFill>
                  <a:srgbClr val="0F2343"/>
                </a:solidFill>
                <a:latin typeface="Aptos"/>
              </a:rPr>
              <a:t>These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product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s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are also known as</a:t>
            </a:r>
          </a:p>
          <a:p>
            <a:pPr algn="ctr"/>
            <a:r>
              <a:rPr sz="2400" b="1" dirty="0">
                <a:solidFill>
                  <a:srgbClr val="F97316"/>
                </a:solidFill>
                <a:latin typeface="Aptos"/>
              </a:rPr>
              <a:t>decision-support system</a:t>
            </a:r>
            <a:r>
              <a:rPr lang="en-US" sz="2400" b="1" dirty="0">
                <a:solidFill>
                  <a:srgbClr val="F97316"/>
                </a:solidFill>
                <a:latin typeface="Aptos"/>
              </a:rPr>
              <a:t>s</a:t>
            </a:r>
            <a:r>
              <a:rPr sz="2400" b="1" dirty="0">
                <a:solidFill>
                  <a:srgbClr val="F97316"/>
                </a:solidFill>
                <a:latin typeface="Aptos"/>
              </a:rPr>
              <a:t> (DSS)</a:t>
            </a:r>
            <a:endParaRPr sz="2400" dirty="0">
              <a:solidFill>
                <a:srgbClr val="F97316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D8BFC1-6CF9-44D6-8A0E-6DD357A2A5DC}"/>
              </a:ext>
            </a:extLst>
          </p:cNvPr>
          <p:cNvSpPr txBox="1"/>
          <p:nvPr/>
        </p:nvSpPr>
        <p:spPr>
          <a:xfrm>
            <a:off x="492760" y="5951100"/>
            <a:ext cx="11440160" cy="33855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F2343"/>
                </a:solidFill>
                <a:latin typeface="Aptos"/>
              </a:rPr>
              <a:t>Its business value comes from 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being sustainable over the lifetime of the business need</a:t>
            </a:r>
            <a:r>
              <a:rPr sz="2200" dirty="0">
                <a:solidFill>
                  <a:srgbClr val="0F2343"/>
                </a:solidFill>
                <a:latin typeface="Aptos"/>
              </a:rPr>
              <a:t>.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2" name="Half Frame 41">
            <a:extLst>
              <a:ext uri="{FF2B5EF4-FFF2-40B4-BE49-F238E27FC236}">
                <a16:creationId xmlns:a16="http://schemas.microsoft.com/office/drawing/2014/main" id="{12D1AA8F-0805-0989-9397-699C7C614D7C}"/>
              </a:ext>
            </a:extLst>
          </p:cNvPr>
          <p:cNvSpPr/>
          <p:nvPr/>
        </p:nvSpPr>
        <p:spPr>
          <a:xfrm rot="7931673">
            <a:off x="5816163" y="4185198"/>
            <a:ext cx="842125" cy="842864"/>
          </a:xfrm>
          <a:prstGeom prst="halfFrame">
            <a:avLst>
              <a:gd name="adj1" fmla="val 22222"/>
              <a:gd name="adj2" fmla="val 22222"/>
            </a:avLst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796BF-8B07-91B8-7E72-BD4A45710603}"/>
              </a:ext>
            </a:extLst>
          </p:cNvPr>
          <p:cNvSpPr txBox="1"/>
          <p:nvPr/>
        </p:nvSpPr>
        <p:spPr>
          <a:xfrm>
            <a:off x="408432" y="3143967"/>
            <a:ext cx="11440160" cy="33855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F2343"/>
                </a:solidFill>
                <a:latin typeface="Aptos"/>
              </a:rPr>
              <a:t>Examples: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9FDD39-FBA8-3120-AF80-591A148C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/>
      <p:bldP spid="32" grpId="0"/>
      <p:bldP spid="34" grpId="0"/>
      <p:bldP spid="42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88D3-FEEB-4F1B-E0A0-4E7BE3F2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C9F707-A9AE-6F46-3E41-731917B65D1B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0F2343"/>
                </a:solidFill>
                <a:latin typeface="Aptos Display"/>
              </a:rPr>
              <a:t>DSS ofte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n has weak software practices surrounding the applied mathematics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036FCF-471F-9482-CD83-501EFE7170D2}"/>
              </a:ext>
            </a:extLst>
          </p:cNvPr>
          <p:cNvSpPr/>
          <p:nvPr/>
        </p:nvSpPr>
        <p:spPr>
          <a:xfrm>
            <a:off x="365760" y="2237740"/>
            <a:ext cx="2877895" cy="2740658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9D194E-D349-1C21-35E3-62AEB7F63DD7}"/>
              </a:ext>
            </a:extLst>
          </p:cNvPr>
          <p:cNvCxnSpPr>
            <a:cxnSpLocks/>
          </p:cNvCxnSpPr>
          <p:nvPr/>
        </p:nvCxnSpPr>
        <p:spPr>
          <a:xfrm>
            <a:off x="1138936" y="2209801"/>
            <a:ext cx="0" cy="276351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AF3F67-D30B-9B79-12FA-A23D62DD38F0}"/>
              </a:ext>
            </a:extLst>
          </p:cNvPr>
          <p:cNvCxnSpPr>
            <a:cxnSpLocks/>
          </p:cNvCxnSpPr>
          <p:nvPr/>
        </p:nvCxnSpPr>
        <p:spPr>
          <a:xfrm>
            <a:off x="2559304" y="2214880"/>
            <a:ext cx="0" cy="276351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C26E8D-9E5A-E5E9-CE96-C6CDC5AAB10C}"/>
              </a:ext>
            </a:extLst>
          </p:cNvPr>
          <p:cNvCxnSpPr>
            <a:cxnSpLocks/>
          </p:cNvCxnSpPr>
          <p:nvPr/>
        </p:nvCxnSpPr>
        <p:spPr>
          <a:xfrm>
            <a:off x="365760" y="3054452"/>
            <a:ext cx="2877895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C832C6-953D-5848-8091-3B054ED1203B}"/>
              </a:ext>
            </a:extLst>
          </p:cNvPr>
          <p:cNvCxnSpPr>
            <a:cxnSpLocks/>
          </p:cNvCxnSpPr>
          <p:nvPr/>
        </p:nvCxnSpPr>
        <p:spPr>
          <a:xfrm>
            <a:off x="365760" y="4260952"/>
            <a:ext cx="2877895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F738DEB-F6F5-56AB-6291-D1EEE8000A38}"/>
              </a:ext>
            </a:extLst>
          </p:cNvPr>
          <p:cNvSpPr/>
          <p:nvPr/>
        </p:nvSpPr>
        <p:spPr>
          <a:xfrm>
            <a:off x="1520010" y="3381214"/>
            <a:ext cx="616413" cy="616413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CE9302-0C58-66DA-DF3B-96FBFDC516D0}"/>
              </a:ext>
            </a:extLst>
          </p:cNvPr>
          <p:cNvSpPr txBox="1"/>
          <p:nvPr/>
        </p:nvSpPr>
        <p:spPr>
          <a:xfrm>
            <a:off x="193040" y="1787129"/>
            <a:ext cx="3556000" cy="369332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ctr"/>
            <a:r>
              <a:rPr lang="en-US" sz="2400" dirty="0">
                <a:solidFill>
                  <a:srgbClr val="0F2343"/>
                </a:solidFill>
                <a:latin typeface="Aptos"/>
              </a:rPr>
              <a:t>Decision-support system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DA70A64-923B-07CD-36E2-5D2215A89307}"/>
              </a:ext>
            </a:extLst>
          </p:cNvPr>
          <p:cNvGrpSpPr/>
          <p:nvPr/>
        </p:nvGrpSpPr>
        <p:grpSpPr>
          <a:xfrm>
            <a:off x="2214880" y="3049372"/>
            <a:ext cx="210820" cy="665449"/>
            <a:chOff x="2448560" y="3002280"/>
            <a:chExt cx="210820" cy="665449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0D9A473-E357-F115-B84B-0A1A2E8B2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73960" y="3002280"/>
              <a:ext cx="81280" cy="1651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385FE7-5F3D-F89B-3607-C3D54D077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8560" y="3154680"/>
              <a:ext cx="106680" cy="9652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7DEA6DD-E8BF-D617-11BD-658E41E85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8560" y="3235961"/>
              <a:ext cx="15240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1922346-6EDB-1FD4-9DED-D06C29AFF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5240" y="3349022"/>
              <a:ext cx="4318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73E4396-3015-A72A-76AF-4E2BEDB0E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5240" y="3469641"/>
              <a:ext cx="10414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62D9E56-35EB-BF80-7D18-A0164F2F3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1895" y="3469641"/>
              <a:ext cx="93345" cy="10420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5ECDAEC-2AC5-76A4-6E9B-0E2AD776B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7634" y="3586513"/>
              <a:ext cx="1429" cy="81216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89E5620-45F3-92DE-F463-65455FD8F3F7}"/>
              </a:ext>
            </a:extLst>
          </p:cNvPr>
          <p:cNvGrpSpPr/>
          <p:nvPr/>
        </p:nvGrpSpPr>
        <p:grpSpPr>
          <a:xfrm>
            <a:off x="1319329" y="3970243"/>
            <a:ext cx="177843" cy="295789"/>
            <a:chOff x="1410769" y="3999351"/>
            <a:chExt cx="177843" cy="295789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73745DF-4C0E-6F0D-AB8B-DEE96840F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6212" y="4072240"/>
              <a:ext cx="123490" cy="111139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02DC999-3657-8E19-7B90-27510C6AB4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6212" y="4168140"/>
              <a:ext cx="15240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A84B3DE-DAB7-2F7D-4528-82B6E4F2F347}"/>
                </a:ext>
              </a:extLst>
            </p:cNvPr>
            <p:cNvCxnSpPr>
              <a:cxnSpLocks/>
            </p:cNvCxnSpPr>
            <p:nvPr/>
          </p:nvCxnSpPr>
          <p:spPr>
            <a:xfrm>
              <a:off x="1410769" y="3999351"/>
              <a:ext cx="148933" cy="8543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C20E2A5A-208E-EE25-A36B-BD1306B1F1E0}"/>
              </a:ext>
            </a:extLst>
          </p:cNvPr>
          <p:cNvSpPr/>
          <p:nvPr/>
        </p:nvSpPr>
        <p:spPr>
          <a:xfrm>
            <a:off x="570371" y="5196554"/>
            <a:ext cx="365760" cy="365760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83C73F0-9BA7-1CDF-F87F-4F42BCD0DB7B}"/>
              </a:ext>
            </a:extLst>
          </p:cNvPr>
          <p:cNvSpPr/>
          <p:nvPr/>
        </p:nvSpPr>
        <p:spPr>
          <a:xfrm>
            <a:off x="570371" y="5698576"/>
            <a:ext cx="322297" cy="322297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136135-8F08-53A0-1C3C-DCD8ED689E2D}"/>
              </a:ext>
            </a:extLst>
          </p:cNvPr>
          <p:cNvSpPr txBox="1"/>
          <p:nvPr/>
        </p:nvSpPr>
        <p:spPr>
          <a:xfrm>
            <a:off x="1012331" y="5240934"/>
            <a:ext cx="2704591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F2343"/>
                </a:solidFill>
                <a:latin typeface="Aptos"/>
              </a:rPr>
              <a:t>Software components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C6B36C-D9FC-0BDE-8BEE-8ECD2B952947}"/>
              </a:ext>
            </a:extLst>
          </p:cNvPr>
          <p:cNvSpPr txBox="1"/>
          <p:nvPr/>
        </p:nvSpPr>
        <p:spPr>
          <a:xfrm>
            <a:off x="988738" y="5716146"/>
            <a:ext cx="2704591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F2343"/>
                </a:solidFill>
                <a:latin typeface="Aptos"/>
              </a:rPr>
              <a:t>Applied mathematics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C194EE-3678-95F3-16AC-0055DAB742EE}"/>
              </a:ext>
            </a:extLst>
          </p:cNvPr>
          <p:cNvSpPr txBox="1"/>
          <p:nvPr/>
        </p:nvSpPr>
        <p:spPr>
          <a:xfrm>
            <a:off x="340906" y="6528066"/>
            <a:ext cx="8652623" cy="18466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200" dirty="0">
                <a:solidFill>
                  <a:srgbClr val="0F2343"/>
                </a:solidFill>
                <a:latin typeface="Aptos"/>
              </a:rPr>
              <a:t>Source: V</a:t>
            </a:r>
            <a:r>
              <a:rPr lang="it-IT" sz="1200" dirty="0">
                <a:solidFill>
                  <a:srgbClr val="0F2343"/>
                </a:solidFill>
                <a:latin typeface="Aptos"/>
              </a:rPr>
              <a:t>idoni, Cunico &amp; Vecchietti (2018, 2020); Vidoni (2021); Vidoni &amp; Cunico (2022); Kanewala &amp; Bieman (2014)</a:t>
            </a:r>
            <a:endParaRPr sz="12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8" name="Half Frame 87">
            <a:extLst>
              <a:ext uri="{FF2B5EF4-FFF2-40B4-BE49-F238E27FC236}">
                <a16:creationId xmlns:a16="http://schemas.microsoft.com/office/drawing/2014/main" id="{0651035A-E85C-0B97-75CB-DBA1672A2B5D}"/>
              </a:ext>
            </a:extLst>
          </p:cNvPr>
          <p:cNvSpPr/>
          <p:nvPr/>
        </p:nvSpPr>
        <p:spPr>
          <a:xfrm rot="7931673">
            <a:off x="3437194" y="3307914"/>
            <a:ext cx="842125" cy="842864"/>
          </a:xfrm>
          <a:prstGeom prst="halfFrame">
            <a:avLst>
              <a:gd name="adj1" fmla="val 22222"/>
              <a:gd name="adj2" fmla="val 22222"/>
            </a:avLst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25FED7-552E-6EE3-97D8-477E6E6860A6}"/>
              </a:ext>
            </a:extLst>
          </p:cNvPr>
          <p:cNvSpPr txBox="1"/>
          <p:nvPr/>
        </p:nvSpPr>
        <p:spPr>
          <a:xfrm>
            <a:off x="4824984" y="1965308"/>
            <a:ext cx="6719314" cy="160043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Cultural reasons</a:t>
            </a:r>
            <a:endParaRPr lang="en-US" sz="2400" b="1" baseline="30000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Scientists are trained deeply in mathematics, but not in software engineering (SE).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They don’t know the benefits of SE, or they don’t think it is for them.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2F24EDD-0C4A-5855-4A6C-24419EC47379}"/>
              </a:ext>
            </a:extLst>
          </p:cNvPr>
          <p:cNvSpPr txBox="1"/>
          <p:nvPr/>
        </p:nvSpPr>
        <p:spPr>
          <a:xfrm>
            <a:off x="4824985" y="4092473"/>
            <a:ext cx="6719314" cy="984885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Technical reasons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DSS has unique challenges deriving from the fusion of applied mathematics and 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71187-EF99-43F8-610D-5D0E2CEC23E0}"/>
              </a:ext>
            </a:extLst>
          </p:cNvPr>
          <p:cNvSpPr txBox="1"/>
          <p:nvPr/>
        </p:nvSpPr>
        <p:spPr>
          <a:xfrm>
            <a:off x="5069518" y="5111687"/>
            <a:ext cx="6093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How to automatically test an optimization model?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How to design the system to be solver-agnostic?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B2EDA-76DD-8C05-09A8-E5B310C2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99BB9CE4-44CD-0AAB-6DA8-31404CC71AFE}"/>
              </a:ext>
            </a:extLst>
          </p:cNvPr>
          <p:cNvSpPr/>
          <p:nvPr/>
        </p:nvSpPr>
        <p:spPr>
          <a:xfrm>
            <a:off x="2917539" y="1720142"/>
            <a:ext cx="5023297" cy="2662201"/>
          </a:xfrm>
          <a:prstGeom prst="wedgeRectCallout">
            <a:avLst>
              <a:gd name="adj1" fmla="val -59611"/>
              <a:gd name="adj2" fmla="val 1783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Some examples: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No version control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Lack of automated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Manual processes to make the system 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Usage of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jupyter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notebooks in production.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Unclear software design.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27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0" grpId="0"/>
      <p:bldP spid="92" grpId="0"/>
      <p:bldP spid="5" grpId="0"/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35C7-C6CD-2B47-E0E1-C4F7EF05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23">
            <a:extLst>
              <a:ext uri="{FF2B5EF4-FFF2-40B4-BE49-F238E27FC236}">
                <a16:creationId xmlns:a16="http://schemas.microsoft.com/office/drawing/2014/main" id="{4EF6B409-E9E8-F6C3-699A-0C91FD056ED9}"/>
              </a:ext>
            </a:extLst>
          </p:cNvPr>
          <p:cNvSpPr/>
          <p:nvPr/>
        </p:nvSpPr>
        <p:spPr>
          <a:xfrm>
            <a:off x="502920" y="4219956"/>
            <a:ext cx="5486400" cy="19202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84C49A-5C86-E3F4-6D78-666C16D0A780}"/>
              </a:ext>
            </a:extLst>
          </p:cNvPr>
          <p:cNvSpPr/>
          <p:nvPr/>
        </p:nvSpPr>
        <p:spPr>
          <a:xfrm>
            <a:off x="502920" y="1842516"/>
            <a:ext cx="5486400" cy="19202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E2BC4-32C1-DE81-D0BC-BEBFB83EC572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AI-coding assistants require strong engineering foundations: they </a:t>
            </a:r>
            <a:r>
              <a:rPr lang="en-US" sz="4000" b="1" dirty="0">
                <a:solidFill>
                  <a:srgbClr val="F97316"/>
                </a:solidFill>
                <a:latin typeface="Aptos Display"/>
              </a:rPr>
              <a:t>amplify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 your practices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C411A-8287-4F76-7EF1-15D324480F45}"/>
              </a:ext>
            </a:extLst>
          </p:cNvPr>
          <p:cNvSpPr txBox="1"/>
          <p:nvPr/>
        </p:nvSpPr>
        <p:spPr>
          <a:xfrm>
            <a:off x="502920" y="1928370"/>
            <a:ext cx="5475428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>
                <a:solidFill>
                  <a:srgbClr val="0F2343"/>
                </a:solidFill>
                <a:latin typeface="Aptos Display"/>
              </a:rPr>
              <a:t>Strong </a:t>
            </a:r>
            <a:r>
              <a:rPr lang="en-US" sz="2300" b="1" dirty="0">
                <a:solidFill>
                  <a:srgbClr val="0F2343"/>
                </a:solidFill>
                <a:latin typeface="Aptos Display"/>
              </a:rPr>
              <a:t>engineering practices</a:t>
            </a:r>
            <a:endParaRPr sz="23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F8373-385B-E059-154E-8E038B731705}"/>
              </a:ext>
            </a:extLst>
          </p:cNvPr>
          <p:cNvSpPr txBox="1"/>
          <p:nvPr/>
        </p:nvSpPr>
        <p:spPr>
          <a:xfrm>
            <a:off x="2918713" y="3372613"/>
            <a:ext cx="66497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0F2343"/>
                </a:solidFill>
                <a:latin typeface="Aptos"/>
              </a:rPr>
              <a:t>CI/CD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66139A-4DED-E134-8E3D-83EDF24253ED}"/>
              </a:ext>
            </a:extLst>
          </p:cNvPr>
          <p:cNvSpPr txBox="1"/>
          <p:nvPr/>
        </p:nvSpPr>
        <p:spPr>
          <a:xfrm>
            <a:off x="4343400" y="3372613"/>
            <a:ext cx="13098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0F2343"/>
                </a:solidFill>
                <a:latin typeface="Aptos"/>
              </a:rPr>
              <a:t>Architecture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841FFE-6DCC-E920-BA0E-72DD5E87B184}"/>
              </a:ext>
            </a:extLst>
          </p:cNvPr>
          <p:cNvSpPr/>
          <p:nvPr/>
        </p:nvSpPr>
        <p:spPr>
          <a:xfrm>
            <a:off x="169164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6A4D8A-9DE9-A3B7-F870-F0E708ED0A50}"/>
              </a:ext>
            </a:extLst>
          </p:cNvPr>
          <p:cNvSpPr/>
          <p:nvPr/>
        </p:nvSpPr>
        <p:spPr>
          <a:xfrm>
            <a:off x="288036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85544B-7287-6406-4D44-7818F5004EA8}"/>
              </a:ext>
            </a:extLst>
          </p:cNvPr>
          <p:cNvSpPr/>
          <p:nvPr/>
        </p:nvSpPr>
        <p:spPr>
          <a:xfrm>
            <a:off x="406908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02D743-F9D6-1CC2-9DDB-57885229B551}"/>
              </a:ext>
            </a:extLst>
          </p:cNvPr>
          <p:cNvSpPr txBox="1"/>
          <p:nvPr/>
        </p:nvSpPr>
        <p:spPr>
          <a:xfrm>
            <a:off x="6178552" y="2626355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×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46494049-A8A5-8301-657F-C892193A1CE0}"/>
              </a:ext>
            </a:extLst>
          </p:cNvPr>
          <p:cNvSpPr/>
          <p:nvPr/>
        </p:nvSpPr>
        <p:spPr>
          <a:xfrm>
            <a:off x="6675120" y="2453402"/>
            <a:ext cx="9601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3B82F6"/>
                </a:solidFill>
              </a:rPr>
              <a:t>AI</a:t>
            </a:r>
            <a:endParaRPr sz="2800" b="1" dirty="0">
              <a:solidFill>
                <a:srgbClr val="3B82F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5814F-EA71-1AA2-0F8B-5027B47BC6DD}"/>
              </a:ext>
            </a:extLst>
          </p:cNvPr>
          <p:cNvSpPr txBox="1"/>
          <p:nvPr/>
        </p:nvSpPr>
        <p:spPr>
          <a:xfrm>
            <a:off x="7795260" y="2646537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rgbClr val="07142B"/>
                </a:solidFill>
                <a:latin typeface="Aptos Display"/>
              </a:rPr>
              <a:t>=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6A2C0CBF-6AA6-5D05-1E8B-FDE2BE9938D3}"/>
              </a:ext>
            </a:extLst>
          </p:cNvPr>
          <p:cNvSpPr/>
          <p:nvPr/>
        </p:nvSpPr>
        <p:spPr>
          <a:xfrm>
            <a:off x="8329168" y="2150983"/>
            <a:ext cx="3603752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8331F4-A992-E745-ED0C-F7C2A545A880}"/>
              </a:ext>
            </a:extLst>
          </p:cNvPr>
          <p:cNvSpPr txBox="1"/>
          <p:nvPr/>
        </p:nvSpPr>
        <p:spPr>
          <a:xfrm>
            <a:off x="8526780" y="2419204"/>
            <a:ext cx="3413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6A34A"/>
                </a:solidFill>
                <a:latin typeface="Aptos Display"/>
              </a:rPr>
              <a:t>↗  Sustainable</a:t>
            </a:r>
            <a:r>
              <a:rPr lang="en-US" sz="2200" b="1" dirty="0">
                <a:solidFill>
                  <a:srgbClr val="16A34A"/>
                </a:solidFill>
                <a:latin typeface="Aptos Display"/>
              </a:rPr>
              <a:t> </a:t>
            </a:r>
            <a:r>
              <a:rPr sz="2200" b="1" dirty="0">
                <a:solidFill>
                  <a:srgbClr val="16A34A"/>
                </a:solidFill>
                <a:latin typeface="Aptos Display"/>
              </a:rPr>
              <a:t>acceleration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2A4005-2581-685A-9610-70735319695E}"/>
              </a:ext>
            </a:extLst>
          </p:cNvPr>
          <p:cNvSpPr txBox="1"/>
          <p:nvPr/>
        </p:nvSpPr>
        <p:spPr>
          <a:xfrm>
            <a:off x="8641080" y="2999363"/>
            <a:ext cx="3185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0F2343"/>
                </a:solidFill>
                <a:latin typeface="Aptos"/>
              </a:rPr>
              <a:t>Faster delivery + higher quality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572935-2F3A-8881-F0E6-562D4D43ABC4}"/>
              </a:ext>
            </a:extLst>
          </p:cNvPr>
          <p:cNvSpPr txBox="1"/>
          <p:nvPr/>
        </p:nvSpPr>
        <p:spPr>
          <a:xfrm>
            <a:off x="502920" y="4366261"/>
            <a:ext cx="552297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>
                <a:solidFill>
                  <a:srgbClr val="0F2343"/>
                </a:solidFill>
                <a:latin typeface="Aptos Display"/>
              </a:rPr>
              <a:t>Weak </a:t>
            </a:r>
            <a:r>
              <a:rPr lang="en-US" sz="2300" b="1" dirty="0">
                <a:solidFill>
                  <a:srgbClr val="0F2343"/>
                </a:solidFill>
                <a:latin typeface="Aptos Display"/>
              </a:rPr>
              <a:t>engineering practices</a:t>
            </a:r>
            <a:endParaRPr sz="23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5D9494-A008-B8AF-2BC5-C3C4A67875A9}"/>
              </a:ext>
            </a:extLst>
          </p:cNvPr>
          <p:cNvSpPr txBox="1"/>
          <p:nvPr/>
        </p:nvSpPr>
        <p:spPr>
          <a:xfrm>
            <a:off x="6178552" y="4941549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×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D8712A-43D7-345F-EEBA-4EE15D9B2955}"/>
              </a:ext>
            </a:extLst>
          </p:cNvPr>
          <p:cNvSpPr txBox="1"/>
          <p:nvPr/>
        </p:nvSpPr>
        <p:spPr>
          <a:xfrm>
            <a:off x="7795260" y="4960863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=</a:t>
            </a:r>
          </a:p>
        </p:txBody>
      </p:sp>
      <p:sp>
        <p:nvSpPr>
          <p:cNvPr id="68" name="Rounded Rectangle 35">
            <a:extLst>
              <a:ext uri="{FF2B5EF4-FFF2-40B4-BE49-F238E27FC236}">
                <a16:creationId xmlns:a16="http://schemas.microsoft.com/office/drawing/2014/main" id="{567286ED-7660-286E-99DC-DAD427F459D5}"/>
              </a:ext>
            </a:extLst>
          </p:cNvPr>
          <p:cNvSpPr/>
          <p:nvPr/>
        </p:nvSpPr>
        <p:spPr>
          <a:xfrm>
            <a:off x="8321040" y="4402837"/>
            <a:ext cx="3603752" cy="1508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35B1C6-5A30-5850-EB2A-4A88B037501C}"/>
              </a:ext>
            </a:extLst>
          </p:cNvPr>
          <p:cNvSpPr txBox="1"/>
          <p:nvPr/>
        </p:nvSpPr>
        <p:spPr>
          <a:xfrm>
            <a:off x="8450034" y="4642969"/>
            <a:ext cx="36652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DC2626"/>
                </a:solidFill>
                <a:latin typeface="Aptos Display"/>
              </a:rPr>
              <a:t>↘  Accelerated</a:t>
            </a:r>
            <a:r>
              <a:rPr lang="en-US" sz="2100" b="1" dirty="0">
                <a:solidFill>
                  <a:srgbClr val="DC2626"/>
                </a:solidFill>
                <a:latin typeface="Aptos Display"/>
              </a:rPr>
              <a:t> </a:t>
            </a:r>
            <a:r>
              <a:rPr sz="2100" b="1" dirty="0">
                <a:solidFill>
                  <a:srgbClr val="DC2626"/>
                </a:solidFill>
                <a:latin typeface="Aptos Display"/>
              </a:rPr>
              <a:t>technical debt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432CD0-A1FC-9D4F-878C-15403F739229}"/>
              </a:ext>
            </a:extLst>
          </p:cNvPr>
          <p:cNvSpPr txBox="1"/>
          <p:nvPr/>
        </p:nvSpPr>
        <p:spPr>
          <a:xfrm>
            <a:off x="9002484" y="5300366"/>
            <a:ext cx="2560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0F2343"/>
                </a:solidFill>
                <a:latin typeface="Aptos"/>
              </a:rPr>
              <a:t>More output + more risk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641D63-CECE-B86F-D7DA-599967FCAB5A}"/>
              </a:ext>
            </a:extLst>
          </p:cNvPr>
          <p:cNvSpPr txBox="1"/>
          <p:nvPr/>
        </p:nvSpPr>
        <p:spPr>
          <a:xfrm>
            <a:off x="365760" y="6505694"/>
            <a:ext cx="11749494" cy="18466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200" dirty="0">
                <a:solidFill>
                  <a:srgbClr val="0F2343"/>
                </a:solidFill>
                <a:latin typeface="Aptos"/>
              </a:rPr>
              <a:t>Source: DORA Research 2025 – State of AI-assisted Software Development (Google Cloud, 2025)</a:t>
            </a:r>
            <a:endParaRPr sz="120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76" name="Graphic 75" descr="Clipboard Mixed with solid fill">
            <a:extLst>
              <a:ext uri="{FF2B5EF4-FFF2-40B4-BE49-F238E27FC236}">
                <a16:creationId xmlns:a16="http://schemas.microsoft.com/office/drawing/2014/main" id="{C0D0DD34-B5B9-F297-EEB0-CCC0C1C8B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52" y="2519304"/>
            <a:ext cx="731520" cy="73152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4D1787E6-CC16-93A4-0161-6F5E0D7F47B5}"/>
              </a:ext>
            </a:extLst>
          </p:cNvPr>
          <p:cNvSpPr txBox="1"/>
          <p:nvPr/>
        </p:nvSpPr>
        <p:spPr>
          <a:xfrm>
            <a:off x="554417" y="3361297"/>
            <a:ext cx="1830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0" dirty="0">
                <a:solidFill>
                  <a:srgbClr val="0F2343"/>
                </a:solidFill>
                <a:latin typeface="Aptos"/>
              </a:rPr>
              <a:t>Automated testing</a:t>
            </a:r>
            <a:endParaRPr b="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79" name="Graphic 78" descr="Arrow circle with solid fill">
            <a:extLst>
              <a:ext uri="{FF2B5EF4-FFF2-40B4-BE49-F238E27FC236}">
                <a16:creationId xmlns:a16="http://schemas.microsoft.com/office/drawing/2014/main" id="{B9B0F380-C4CB-DD8F-87D1-0B27A9B63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2768" y="2492991"/>
            <a:ext cx="731520" cy="731520"/>
          </a:xfrm>
          <a:prstGeom prst="rect">
            <a:avLst/>
          </a:prstGeom>
        </p:spPr>
      </p:pic>
      <p:pic>
        <p:nvPicPr>
          <p:cNvPr id="81" name="Graphic 80" descr="Layers Design with solid fill">
            <a:extLst>
              <a:ext uri="{FF2B5EF4-FFF2-40B4-BE49-F238E27FC236}">
                <a16:creationId xmlns:a16="http://schemas.microsoft.com/office/drawing/2014/main" id="{547F71B6-11C7-5617-E6E6-0FD1D3325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5988" y="2407682"/>
            <a:ext cx="914400" cy="914400"/>
          </a:xfrm>
          <a:prstGeom prst="rect">
            <a:avLst/>
          </a:prstGeom>
        </p:spPr>
      </p:pic>
      <p:sp>
        <p:nvSpPr>
          <p:cNvPr id="87" name="Rounded Rectangle 17">
            <a:extLst>
              <a:ext uri="{FF2B5EF4-FFF2-40B4-BE49-F238E27FC236}">
                <a16:creationId xmlns:a16="http://schemas.microsoft.com/office/drawing/2014/main" id="{DD7DA103-519B-866E-846A-72CD5362BFBF}"/>
              </a:ext>
            </a:extLst>
          </p:cNvPr>
          <p:cNvSpPr/>
          <p:nvPr/>
        </p:nvSpPr>
        <p:spPr>
          <a:xfrm>
            <a:off x="6675120" y="4768596"/>
            <a:ext cx="9601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3B82F6"/>
                </a:solidFill>
              </a:rPr>
              <a:t>AI</a:t>
            </a:r>
            <a:endParaRPr sz="2800" b="1" dirty="0">
              <a:solidFill>
                <a:srgbClr val="3B82F6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C62797A-E0E1-EF48-8CD7-79020325176D}"/>
              </a:ext>
            </a:extLst>
          </p:cNvPr>
          <p:cNvSpPr txBox="1"/>
          <p:nvPr/>
        </p:nvSpPr>
        <p:spPr>
          <a:xfrm>
            <a:off x="2790107" y="5603994"/>
            <a:ext cx="106640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0" dirty="0">
                <a:solidFill>
                  <a:srgbClr val="0F2343"/>
                </a:solidFill>
                <a:latin typeface="Aptos"/>
              </a:rPr>
              <a:t>Manual processes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0B4742-721E-7C2E-7B57-8012CF4CF34E}"/>
              </a:ext>
            </a:extLst>
          </p:cNvPr>
          <p:cNvSpPr txBox="1"/>
          <p:nvPr/>
        </p:nvSpPr>
        <p:spPr>
          <a:xfrm>
            <a:off x="4343400" y="5603994"/>
            <a:ext cx="130982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Unclear design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8CD048-9CCA-8C88-5767-1AF0DF212CF8}"/>
              </a:ext>
            </a:extLst>
          </p:cNvPr>
          <p:cNvSpPr txBox="1"/>
          <p:nvPr/>
        </p:nvSpPr>
        <p:spPr>
          <a:xfrm>
            <a:off x="635697" y="5603994"/>
            <a:ext cx="183008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Manual</a:t>
            </a:r>
            <a:r>
              <a:rPr lang="en-US" sz="1600" b="0" dirty="0">
                <a:solidFill>
                  <a:srgbClr val="0F2343"/>
                </a:solidFill>
                <a:latin typeface="Aptos"/>
              </a:rPr>
              <a:t> testing</a:t>
            </a:r>
          </a:p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(or absence)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102" name="Graphic 101" descr="Touchscreen with solid fill">
            <a:extLst>
              <a:ext uri="{FF2B5EF4-FFF2-40B4-BE49-F238E27FC236}">
                <a16:creationId xmlns:a16="http://schemas.microsoft.com/office/drawing/2014/main" id="{B7606590-4346-0450-F410-F0A0F70DB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5435" y="4838546"/>
            <a:ext cx="721689" cy="721689"/>
          </a:xfrm>
          <a:prstGeom prst="rect">
            <a:avLst/>
          </a:prstGeom>
        </p:spPr>
      </p:pic>
      <p:pic>
        <p:nvPicPr>
          <p:cNvPr id="104" name="Graphic 103" descr="Warning with solid fill">
            <a:extLst>
              <a:ext uri="{FF2B5EF4-FFF2-40B4-BE49-F238E27FC236}">
                <a16:creationId xmlns:a16="http://schemas.microsoft.com/office/drawing/2014/main" id="{B12507AC-2721-0FDD-20E3-E6515004F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212" y="4822972"/>
            <a:ext cx="708864" cy="708864"/>
          </a:xfrm>
          <a:prstGeom prst="rect">
            <a:avLst/>
          </a:prstGeom>
        </p:spPr>
      </p:pic>
      <p:pic>
        <p:nvPicPr>
          <p:cNvPr id="106" name="Graphic 105" descr="Sad face with solid fill with solid fill">
            <a:extLst>
              <a:ext uri="{FF2B5EF4-FFF2-40B4-BE49-F238E27FC236}">
                <a16:creationId xmlns:a16="http://schemas.microsoft.com/office/drawing/2014/main" id="{2E45CDB7-F9DB-FC5F-9749-ED84AD93C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692" y="4811463"/>
            <a:ext cx="780093" cy="7800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C32F9C-F085-EDA4-3109-A0FDABB2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0" grpId="0"/>
      <p:bldP spid="42" grpId="0"/>
      <p:bldP spid="68" grpId="0" animBg="1"/>
      <p:bldP spid="70" grpId="0"/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49CE-C866-2E3D-423D-41F43687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A1D3BD-6DB6-1715-517A-27EE88BBA04A}"/>
              </a:ext>
            </a:extLst>
          </p:cNvPr>
          <p:cNvSpPr txBox="1"/>
          <p:nvPr/>
        </p:nvSpPr>
        <p:spPr>
          <a:xfrm>
            <a:off x="365760" y="213360"/>
            <a:ext cx="11567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F97316"/>
                </a:solidFill>
                <a:latin typeface="Aptos Display"/>
              </a:rPr>
              <a:t>SEFOP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helps you to build those foundations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2AAC7-92A8-2E98-7927-C58D1885D6A6}"/>
              </a:ext>
            </a:extLst>
          </p:cNvPr>
          <p:cNvSpPr txBox="1"/>
          <p:nvPr/>
        </p:nvSpPr>
        <p:spPr>
          <a:xfrm>
            <a:off x="365760" y="1645174"/>
            <a:ext cx="11826240" cy="369332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</a:rPr>
              <a:t>S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oftware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E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ngineering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F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ramework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for 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O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ptimization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b="1" dirty="0">
                <a:solidFill>
                  <a:srgbClr val="0F2343"/>
                </a:solidFill>
                <a:latin typeface="Aptos" panose="020B0004020202020204" pitchFamily="34" charset="0"/>
              </a:rPr>
              <a:t>P</a:t>
            </a:r>
            <a:r>
              <a:rPr lang="en-US" sz="2400" dirty="0">
                <a:solidFill>
                  <a:srgbClr val="0F2343"/>
                </a:solidFill>
                <a:latin typeface="Aptos" panose="020B0004020202020204" pitchFamily="34" charset="0"/>
              </a:rPr>
              <a:t>rograms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— free &amp; open-source</a:t>
            </a:r>
            <a:r>
              <a:rPr lang="en-US" sz="2400" dirty="0">
                <a:solidFill>
                  <a:srgbClr val="0F2343"/>
                </a:solidFill>
                <a:latin typeface="Aptos" panose="020B0004020202020204" pitchFamily="34" charset="0"/>
              </a:rPr>
              <a:t>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09A9ACA-ACDD-DE32-4754-A4FDC9C0F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711" y="2155990"/>
            <a:ext cx="2194560" cy="21945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A122A3-D632-227E-8EBE-3EEEA24CF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076" y="2155990"/>
            <a:ext cx="2194560" cy="21945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FEC196A-61F4-6E95-B0B1-07A1D3FD8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6" y="2155990"/>
            <a:ext cx="2194560" cy="21945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BB8DB83-27EE-DF17-6FE0-75DEDF1321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7440" y="2155990"/>
            <a:ext cx="2194560" cy="2194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EB3279D-A715-1768-0F0B-9B3E38A334DE}"/>
              </a:ext>
            </a:extLst>
          </p:cNvPr>
          <p:cNvSpPr txBox="1"/>
          <p:nvPr/>
        </p:nvSpPr>
        <p:spPr>
          <a:xfrm>
            <a:off x="722493" y="4334057"/>
            <a:ext cx="9482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Train</a:t>
            </a:r>
            <a:endParaRPr lang="en-US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3C749-40E6-AFD5-97C4-DD8D8DD44EA9}"/>
              </a:ext>
            </a:extLst>
          </p:cNvPr>
          <p:cNvSpPr txBox="1"/>
          <p:nvPr/>
        </p:nvSpPr>
        <p:spPr>
          <a:xfrm>
            <a:off x="4021858" y="4301771"/>
            <a:ext cx="9482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Lead</a:t>
            </a:r>
            <a:endParaRPr lang="en-US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22F8AC-347E-5A91-9AA5-6CE8C5564342}"/>
              </a:ext>
            </a:extLst>
          </p:cNvPr>
          <p:cNvSpPr txBox="1"/>
          <p:nvPr/>
        </p:nvSpPr>
        <p:spPr>
          <a:xfrm>
            <a:off x="7027640" y="4338146"/>
            <a:ext cx="1645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Deliver</a:t>
            </a:r>
            <a:endParaRPr lang="en-US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C7F4D0-DFBC-128B-257E-B41B276C6470}"/>
              </a:ext>
            </a:extLst>
          </p:cNvPr>
          <p:cNvSpPr txBox="1"/>
          <p:nvPr/>
        </p:nvSpPr>
        <p:spPr>
          <a:xfrm>
            <a:off x="10327005" y="4301769"/>
            <a:ext cx="1645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Agentic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1E5FC8-297F-CDAD-6473-73C5ED40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CEF4F-581D-D20D-4FD5-1DA805FED2DF}"/>
              </a:ext>
            </a:extLst>
          </p:cNvPr>
          <p:cNvSpPr txBox="1"/>
          <p:nvPr/>
        </p:nvSpPr>
        <p:spPr>
          <a:xfrm>
            <a:off x="-3139" y="5056794"/>
            <a:ext cx="2399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Resources to train your scientists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E7B12-05B1-3334-A549-FEB698557EE2}"/>
              </a:ext>
            </a:extLst>
          </p:cNvPr>
          <p:cNvSpPr txBox="1"/>
          <p:nvPr/>
        </p:nvSpPr>
        <p:spPr>
          <a:xfrm>
            <a:off x="3296226" y="5056794"/>
            <a:ext cx="2399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Lead and maintain software quality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56B75-D653-FA33-986F-1FCBDB6494B1}"/>
              </a:ext>
            </a:extLst>
          </p:cNvPr>
          <p:cNvSpPr txBox="1"/>
          <p:nvPr/>
        </p:nvSpPr>
        <p:spPr>
          <a:xfrm>
            <a:off x="6650835" y="5056794"/>
            <a:ext cx="2399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Software templates to help you start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2C053-21B2-B894-D097-CCAB92B026E2}"/>
              </a:ext>
            </a:extLst>
          </p:cNvPr>
          <p:cNvSpPr txBox="1"/>
          <p:nvPr/>
        </p:nvSpPr>
        <p:spPr>
          <a:xfrm>
            <a:off x="9839325" y="4999507"/>
            <a:ext cx="2399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Skills to boost the team productivity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4A2E5-3AEC-AF76-AE0D-4EF303D0C835}"/>
              </a:ext>
            </a:extLst>
          </p:cNvPr>
          <p:cNvSpPr txBox="1"/>
          <p:nvPr/>
        </p:nvSpPr>
        <p:spPr>
          <a:xfrm>
            <a:off x="4128858" y="986067"/>
            <a:ext cx="3133796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dirty="0">
                <a:solidFill>
                  <a:srgbClr val="07142B"/>
                </a:solidFill>
                <a:latin typeface="Aptos"/>
              </a:rPr>
              <a:t>github.com/</a:t>
            </a:r>
            <a:r>
              <a:rPr sz="2400" dirty="0" err="1">
                <a:solidFill>
                  <a:srgbClr val="07142B"/>
                </a:solidFill>
                <a:latin typeface="Aptos"/>
              </a:rPr>
              <a:t>sefop</a:t>
            </a:r>
            <a:endParaRPr sz="2400" dirty="0">
              <a:solidFill>
                <a:srgbClr val="07142B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21577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3D2B-3609-E5F2-359E-009AD377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DACEFF-A6FF-EB27-D151-97B21A72ED1E}"/>
              </a:ext>
            </a:extLst>
          </p:cNvPr>
          <p:cNvSpPr txBox="1"/>
          <p:nvPr/>
        </p:nvSpPr>
        <p:spPr>
          <a:xfrm>
            <a:off x="365760" y="213360"/>
            <a:ext cx="1182624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Example: testing a knapsack problem implementation with optimality guaranteed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BF0EC3-F7ED-334F-C1F6-E5FD0A16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02CCA-C7BE-7A17-78FD-A2E8EE621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857" y="1527825"/>
            <a:ext cx="1789276" cy="18825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A3C4FB-F3AE-EA6C-0921-F3DA73913B77}"/>
                  </a:ext>
                </a:extLst>
              </p:cNvPr>
              <p:cNvSpPr txBox="1"/>
              <p:nvPr/>
            </p:nvSpPr>
            <p:spPr>
              <a:xfrm>
                <a:off x="165489" y="2120747"/>
                <a:ext cx="2718116" cy="3383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A3C4FB-F3AE-EA6C-0921-F3DA73913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89" y="2120747"/>
                <a:ext cx="2718116" cy="3383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03B33AF-DA41-0FE5-98D9-A26D64101697}"/>
              </a:ext>
            </a:extLst>
          </p:cNvPr>
          <p:cNvSpPr txBox="1"/>
          <p:nvPr/>
        </p:nvSpPr>
        <p:spPr>
          <a:xfrm>
            <a:off x="3118475" y="2431203"/>
            <a:ext cx="2718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Maximize calories</a:t>
            </a:r>
            <a:endParaRPr lang="en-US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291444-1ED0-293C-7222-A656FEC349AD}"/>
              </a:ext>
            </a:extLst>
          </p:cNvPr>
          <p:cNvSpPr txBox="1"/>
          <p:nvPr/>
        </p:nvSpPr>
        <p:spPr>
          <a:xfrm>
            <a:off x="3118475" y="3809597"/>
            <a:ext cx="2718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Weight capacity</a:t>
            </a:r>
            <a:endParaRPr lang="en-US" sz="20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88F39-2439-1717-7376-095B9271417D}"/>
              </a:ext>
            </a:extLst>
          </p:cNvPr>
          <p:cNvSpPr txBox="1"/>
          <p:nvPr/>
        </p:nvSpPr>
        <p:spPr>
          <a:xfrm>
            <a:off x="3144915" y="5027410"/>
            <a:ext cx="2718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Binary decisions</a:t>
            </a:r>
            <a:endParaRPr lang="en-US" sz="2000" b="1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1DFDE02-F492-3C02-824F-E4020E4A6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26017"/>
              </p:ext>
            </p:extLst>
          </p:nvPr>
        </p:nvGraphicFramePr>
        <p:xfrm>
          <a:off x="6997313" y="3586625"/>
          <a:ext cx="459589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  <a:endParaRPr sz="18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/>
                        </a:rPr>
                        <a:t>Calories</a:t>
                      </a:r>
                      <a:endParaRPr sz="18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F2343"/>
                          </a:solidFill>
                          <a:latin typeface="Aptos"/>
                        </a:rPr>
                        <a:t>Chocolate</a:t>
                      </a:r>
                      <a:endParaRPr sz="1800" b="0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F2343"/>
                          </a:solidFill>
                          <a:latin typeface="Aptos"/>
                        </a:rPr>
                        <a:t>500</a:t>
                      </a:r>
                      <a:endParaRPr sz="1800" b="0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F2343"/>
                          </a:solidFill>
                          <a:latin typeface="Aptos"/>
                        </a:rPr>
                        <a:t>300</a:t>
                      </a:r>
                      <a:endParaRPr sz="1800" b="0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F2343"/>
                          </a:solidFill>
                          <a:latin typeface="Aptos"/>
                        </a:rPr>
                        <a:t>Peanuts</a:t>
                      </a:r>
                      <a:endParaRPr sz="1800" b="1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81F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F2343"/>
                          </a:solidFill>
                          <a:latin typeface="Aptos"/>
                        </a:rPr>
                        <a:t>250</a:t>
                      </a:r>
                      <a:endParaRPr sz="1800" b="1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81F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F2343"/>
                          </a:solidFill>
                          <a:latin typeface="Aptos"/>
                        </a:rPr>
                        <a:t>200</a:t>
                      </a:r>
                      <a:endParaRPr sz="1800" b="1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81F1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F2343"/>
                          </a:solidFill>
                          <a:latin typeface="Aptos"/>
                        </a:rPr>
                        <a:t>Cheese</a:t>
                      </a:r>
                      <a:endParaRPr sz="1800" b="1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81F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F2343"/>
                          </a:solidFill>
                          <a:latin typeface="Aptos"/>
                        </a:rPr>
                        <a:t>250</a:t>
                      </a:r>
                      <a:endParaRPr sz="1800" b="1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81F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F2343"/>
                          </a:solidFill>
                          <a:latin typeface="Aptos"/>
                        </a:rPr>
                        <a:t>150</a:t>
                      </a:r>
                      <a:endParaRPr sz="1800" b="1" dirty="0">
                        <a:solidFill>
                          <a:srgbClr val="0F2343"/>
                        </a:solidFill>
                        <a:latin typeface="Aptos"/>
                      </a:endParaRPr>
                    </a:p>
                  </a:txBody>
                  <a:tcPr marL="128016" marR="109728" anchor="ctr">
                    <a:solidFill>
                      <a:srgbClr val="81F1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: ✓">
            <a:extLst>
              <a:ext uri="{FF2B5EF4-FFF2-40B4-BE49-F238E27FC236}">
                <a16:creationId xmlns:a16="http://schemas.microsoft.com/office/drawing/2014/main" id="{F7ECE24D-2992-3F4E-6F19-9BEDACF0E9D6}"/>
              </a:ext>
            </a:extLst>
          </p:cNvPr>
          <p:cNvSpPr txBox="1"/>
          <p:nvPr/>
        </p:nvSpPr>
        <p:spPr>
          <a:xfrm>
            <a:off x="6622409" y="4311983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00B050"/>
                </a:solidFill>
                <a:latin typeface="Segoe UI Symbol"/>
              </a:rPr>
              <a:t>✓</a:t>
            </a:r>
          </a:p>
        </p:txBody>
      </p:sp>
      <p:sp>
        <p:nvSpPr>
          <p:cNvPr id="29" name="Text: ✓">
            <a:extLst>
              <a:ext uri="{FF2B5EF4-FFF2-40B4-BE49-F238E27FC236}">
                <a16:creationId xmlns:a16="http://schemas.microsoft.com/office/drawing/2014/main" id="{97E21F06-ED57-180A-D55F-B0B4CE593F74}"/>
              </a:ext>
            </a:extLst>
          </p:cNvPr>
          <p:cNvSpPr txBox="1"/>
          <p:nvPr/>
        </p:nvSpPr>
        <p:spPr>
          <a:xfrm>
            <a:off x="6622409" y="4713764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00B050"/>
                </a:solidFill>
                <a:latin typeface="Segoe UI Symbol"/>
              </a:rPr>
              <a:t>✓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1EFB3B-DFC8-C811-3A38-C59D559C75A5}"/>
              </a:ext>
            </a:extLst>
          </p:cNvPr>
          <p:cNvSpPr txBox="1"/>
          <p:nvPr/>
        </p:nvSpPr>
        <p:spPr>
          <a:xfrm>
            <a:off x="8747766" y="2226921"/>
            <a:ext cx="28454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Knapsack capacity:</a:t>
            </a:r>
          </a:p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500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0C59E5-255E-ADE9-E306-26CCB295C306}"/>
              </a:ext>
            </a:extLst>
          </p:cNvPr>
          <p:cNvSpPr txBox="1"/>
          <p:nvPr/>
        </p:nvSpPr>
        <p:spPr>
          <a:xfrm>
            <a:off x="7065258" y="5301373"/>
            <a:ext cx="37936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Weight used: 500 / 500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Total calories: 350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7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DFD5-51C5-DCB4-122A-E4A92B2D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C7AF64-1E47-E890-7DD2-244028696E82}"/>
              </a:ext>
            </a:extLst>
          </p:cNvPr>
          <p:cNvSpPr/>
          <p:nvPr/>
        </p:nvSpPr>
        <p:spPr>
          <a:xfrm>
            <a:off x="51129" y="2752076"/>
            <a:ext cx="3610021" cy="22230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4AAD1-6AF3-F45E-325F-9FA9D04BE7DF}"/>
              </a:ext>
            </a:extLst>
          </p:cNvPr>
          <p:cNvSpPr txBox="1"/>
          <p:nvPr/>
        </p:nvSpPr>
        <p:spPr>
          <a:xfrm>
            <a:off x="365760" y="213360"/>
            <a:ext cx="1182624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" panose="020B0004020202020204" pitchFamily="34" charset="0"/>
              </a:rPr>
              <a:t>Example decision-support system</a:t>
            </a:r>
          </a:p>
          <a:p>
            <a:pPr algn="l"/>
            <a:r>
              <a:rPr lang="en-US" sz="4000" b="1" dirty="0">
                <a:solidFill>
                  <a:srgbClr val="0F2343"/>
                </a:solidFill>
                <a:latin typeface="Aptos" panose="020B0004020202020204" pitchFamily="34" charset="0"/>
              </a:rPr>
              <a:t>contract</a:t>
            </a:r>
            <a:endParaRPr sz="4000" b="1" i="0" baseline="30000" dirty="0">
              <a:solidFill>
                <a:srgbClr val="0F2343"/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55A121-836B-3289-013C-35B8822C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291677-FB3F-4AF7-D2A7-727DDCB0D30C}"/>
              </a:ext>
            </a:extLst>
          </p:cNvPr>
          <p:cNvSpPr/>
          <p:nvPr/>
        </p:nvSpPr>
        <p:spPr>
          <a:xfrm>
            <a:off x="4404631" y="3125326"/>
            <a:ext cx="3400567" cy="1476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solve(Request) → Solution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50013C-B9A5-72E7-C11A-87C2FE8B7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476295"/>
              </p:ext>
            </p:extLst>
          </p:nvPr>
        </p:nvGraphicFramePr>
        <p:xfrm>
          <a:off x="168502" y="3391044"/>
          <a:ext cx="3384494" cy="143256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270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Item</a:t>
                      </a:r>
                      <a:endParaRPr sz="1600" b="0" dirty="0">
                        <a:solidFill>
                          <a:sysClr val="windowText" lastClr="000000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Weight</a:t>
                      </a: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Calories</a:t>
                      </a:r>
                      <a:endParaRPr sz="1600" b="0" dirty="0">
                        <a:solidFill>
                          <a:sysClr val="windowText" lastClr="000000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Chocolate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500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300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Peanuts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200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Cheese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150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D276CC6-18CE-6D13-AA45-247BE61E5F67}"/>
              </a:ext>
            </a:extLst>
          </p:cNvPr>
          <p:cNvSpPr txBox="1"/>
          <p:nvPr/>
        </p:nvSpPr>
        <p:spPr>
          <a:xfrm>
            <a:off x="188168" y="2956287"/>
            <a:ext cx="3233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/>
                <a:sym typeface="Wingdings" panose="05000000000000000000" pitchFamily="2" charset="2"/>
              </a:rPr>
              <a:t>Knapsack capacity: 500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70A371-FF24-13A1-1BBE-5AE6143B2FC1}"/>
              </a:ext>
            </a:extLst>
          </p:cNvPr>
          <p:cNvSpPr txBox="1"/>
          <p:nvPr/>
        </p:nvSpPr>
        <p:spPr>
          <a:xfrm>
            <a:off x="51129" y="2351966"/>
            <a:ext cx="3610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"/>
                <a:sym typeface="Wingdings" panose="05000000000000000000" pitchFamily="2" charset="2"/>
              </a:rPr>
              <a:t>Request</a:t>
            </a:r>
            <a:endParaRPr lang="en-US" b="1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37897BD-181C-EA6A-596A-A1C446E7FEA7}"/>
              </a:ext>
            </a:extLst>
          </p:cNvPr>
          <p:cNvSpPr/>
          <p:nvPr/>
        </p:nvSpPr>
        <p:spPr>
          <a:xfrm>
            <a:off x="3778523" y="3647771"/>
            <a:ext cx="499516" cy="3908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824ABD-2DFF-8D1C-9AC6-BB30A605A400}"/>
              </a:ext>
            </a:extLst>
          </p:cNvPr>
          <p:cNvSpPr/>
          <p:nvPr/>
        </p:nvSpPr>
        <p:spPr>
          <a:xfrm>
            <a:off x="10106343" y="422569"/>
            <a:ext cx="365760" cy="365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80B271-E511-2166-712B-A135D22EAE5D}"/>
              </a:ext>
            </a:extLst>
          </p:cNvPr>
          <p:cNvSpPr txBox="1"/>
          <p:nvPr/>
        </p:nvSpPr>
        <p:spPr>
          <a:xfrm>
            <a:off x="10701589" y="418414"/>
            <a:ext cx="101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/>
                <a:sym typeface="Wingdings" panose="05000000000000000000" pitchFamily="2" charset="2"/>
              </a:rPr>
              <a:t>Object</a:t>
            </a:r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0370AE-CBC6-266E-5267-7D0D7E697FCB}"/>
              </a:ext>
            </a:extLst>
          </p:cNvPr>
          <p:cNvSpPr/>
          <p:nvPr/>
        </p:nvSpPr>
        <p:spPr>
          <a:xfrm>
            <a:off x="10106343" y="1006936"/>
            <a:ext cx="365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76B152-CDEB-48A9-EF9B-698EDE10A530}"/>
              </a:ext>
            </a:extLst>
          </p:cNvPr>
          <p:cNvSpPr txBox="1"/>
          <p:nvPr/>
        </p:nvSpPr>
        <p:spPr>
          <a:xfrm>
            <a:off x="10675631" y="1013326"/>
            <a:ext cx="101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/>
                <a:sym typeface="Wingdings" panose="05000000000000000000" pitchFamily="2" charset="2"/>
              </a:rPr>
              <a:t>Module</a:t>
            </a:r>
            <a:endParaRPr lang="en-US" sz="1600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C88F038-57B0-19A8-B289-7DC406CD00FF}"/>
              </a:ext>
            </a:extLst>
          </p:cNvPr>
          <p:cNvSpPr/>
          <p:nvPr/>
        </p:nvSpPr>
        <p:spPr>
          <a:xfrm>
            <a:off x="7913352" y="3647770"/>
            <a:ext cx="499516" cy="3908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8F47FD-C7F2-BC35-BDA1-565B0CA1B09B}"/>
              </a:ext>
            </a:extLst>
          </p:cNvPr>
          <p:cNvSpPr txBox="1"/>
          <p:nvPr/>
        </p:nvSpPr>
        <p:spPr>
          <a:xfrm>
            <a:off x="4395412" y="2342134"/>
            <a:ext cx="34005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"/>
                <a:sym typeface="Wingdings" panose="05000000000000000000" pitchFamily="2" charset="2"/>
              </a:rPr>
              <a:t>Optimization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F67A76-55BF-DFA7-F60C-2557793198F7}"/>
              </a:ext>
            </a:extLst>
          </p:cNvPr>
          <p:cNvSpPr/>
          <p:nvPr/>
        </p:nvSpPr>
        <p:spPr>
          <a:xfrm>
            <a:off x="8521022" y="2707831"/>
            <a:ext cx="3610021" cy="22230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1FA2924-9864-8670-0CF9-DD4AA8EAC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197884"/>
              </p:ext>
            </p:extLst>
          </p:nvPr>
        </p:nvGraphicFramePr>
        <p:xfrm>
          <a:off x="8639004" y="2803786"/>
          <a:ext cx="3384494" cy="106680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270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Item</a:t>
                      </a:r>
                      <a:endParaRPr sz="1600" b="0" dirty="0">
                        <a:solidFill>
                          <a:sysClr val="windowText" lastClr="000000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Weight</a:t>
                      </a: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Calories</a:t>
                      </a:r>
                      <a:endParaRPr sz="1600" b="0" dirty="0">
                        <a:solidFill>
                          <a:sysClr val="windowText" lastClr="000000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Peanuts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200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Cheese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150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2E8F6351-5754-180C-09BA-881DBFCC7CB1}"/>
              </a:ext>
            </a:extLst>
          </p:cNvPr>
          <p:cNvSpPr txBox="1"/>
          <p:nvPr/>
        </p:nvSpPr>
        <p:spPr>
          <a:xfrm>
            <a:off x="8521022" y="2307721"/>
            <a:ext cx="3610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"/>
                <a:sym typeface="Wingdings" panose="05000000000000000000" pitchFamily="2" charset="2"/>
              </a:rPr>
              <a:t>Solution</a:t>
            </a:r>
            <a:endParaRPr 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8840D5-2FC2-4C50-943D-013446B694EB}"/>
              </a:ext>
            </a:extLst>
          </p:cNvPr>
          <p:cNvSpPr txBox="1"/>
          <p:nvPr/>
        </p:nvSpPr>
        <p:spPr>
          <a:xfrm>
            <a:off x="8639004" y="4037267"/>
            <a:ext cx="3384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/>
                <a:sym typeface="Wingdings" panose="05000000000000000000" pitchFamily="2" charset="2"/>
              </a:rPr>
              <a:t>Capacity used: 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/>
                <a:sym typeface="Wingdings" panose="05000000000000000000" pitchFamily="2" charset="2"/>
              </a:rPr>
              <a:t>Total calories: 350</a:t>
            </a:r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282BC4-E48F-5CEB-59D4-922335A70D71}"/>
              </a:ext>
            </a:extLst>
          </p:cNvPr>
          <p:cNvSpPr/>
          <p:nvPr/>
        </p:nvSpPr>
        <p:spPr>
          <a:xfrm>
            <a:off x="51130" y="2172663"/>
            <a:ext cx="12079914" cy="3254744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03B733-0F16-9909-237E-6CD4257B7941}"/>
              </a:ext>
            </a:extLst>
          </p:cNvPr>
          <p:cNvSpPr txBox="1"/>
          <p:nvPr/>
        </p:nvSpPr>
        <p:spPr>
          <a:xfrm>
            <a:off x="4213770" y="5620201"/>
            <a:ext cx="4130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ptos"/>
                <a:sym typeface="Wingdings" panose="05000000000000000000" pitchFamily="2" charset="2"/>
              </a:rPr>
              <a:t>System under test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34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19141-75CA-300D-D6BE-C3DDBA82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9AE25-E778-18A7-73B2-BB9B84CCF338}"/>
              </a:ext>
            </a:extLst>
          </p:cNvPr>
          <p:cNvSpPr txBox="1"/>
          <p:nvPr/>
        </p:nvSpPr>
        <p:spPr>
          <a:xfrm>
            <a:off x="365760" y="213360"/>
            <a:ext cx="11826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" panose="020B0004020202020204" pitchFamily="34" charset="0"/>
              </a:rPr>
              <a:t>List the contract behaviors first*</a:t>
            </a:r>
            <a:endParaRPr sz="4000" b="1" i="0" baseline="30000" dirty="0">
              <a:solidFill>
                <a:srgbClr val="0F2343"/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3464DF-DB27-F460-4A36-6ABDC44C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BF1EC-817E-6C19-6939-2797692AA2D1}"/>
              </a:ext>
            </a:extLst>
          </p:cNvPr>
          <p:cNvSpPr txBox="1"/>
          <p:nvPr/>
        </p:nvSpPr>
        <p:spPr>
          <a:xfrm>
            <a:off x="219075" y="6259810"/>
            <a:ext cx="9744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7142B"/>
                </a:solidFill>
                <a:latin typeface="Aptos" panose="020B0004020202020204" pitchFamily="34" charset="0"/>
                <a:sym typeface="Wingdings" panose="05000000000000000000" pitchFamily="2" charset="2"/>
              </a:rPr>
              <a:t>* Assume the Request object is well formed (i.e., capacity is not negative).</a:t>
            </a:r>
          </a:p>
          <a:p>
            <a:r>
              <a:rPr lang="en-US" sz="1200" dirty="0">
                <a:solidFill>
                  <a:srgbClr val="07142B"/>
                </a:solidFill>
                <a:latin typeface="Aptos" panose="020B0004020202020204" pitchFamily="34" charset="0"/>
              </a:rPr>
              <a:t>* These behaviors should be specified in the comments of the contract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72200-02B8-CC20-46ED-6BBB2F3ADCAC}"/>
              </a:ext>
            </a:extLst>
          </p:cNvPr>
          <p:cNvSpPr txBox="1"/>
          <p:nvPr/>
        </p:nvSpPr>
        <p:spPr>
          <a:xfrm>
            <a:off x="312420" y="1132443"/>
            <a:ext cx="11567160" cy="553997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solidFill>
                  <a:srgbClr val="0F2343"/>
                </a:solidFill>
                <a:latin typeface="Aptos"/>
              </a:rPr>
              <a:t>Solution is optimal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lvl="1"/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000" b="0" dirty="0">
                <a:solidFill>
                  <a:srgbClr val="0F2343"/>
                </a:solidFill>
                <a:latin typeface="Aptos"/>
              </a:rPr>
              <a:t>Solution does not exist</a:t>
            </a:r>
          </a:p>
          <a:p>
            <a:pPr algn="l"/>
            <a:r>
              <a:rPr lang="en-US" dirty="0">
                <a:solidFill>
                  <a:srgbClr val="0F2343"/>
                </a:solidFill>
                <a:latin typeface="Aptos"/>
              </a:rPr>
              <a:t>	… left as an exercise to the reader</a:t>
            </a:r>
            <a:endParaRPr lang="en-US" b="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457200" indent="-457200" algn="l">
              <a:buFont typeface="+mj-lt"/>
              <a:buAutoNum type="arabicPeriod"/>
            </a:pPr>
            <a:endParaRPr sz="2000" b="0" dirty="0">
              <a:solidFill>
                <a:srgbClr val="0F2343"/>
              </a:solidFill>
              <a:latin typeface="Apto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5BE5B14-0C71-9592-EFBB-A54ADB62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702428"/>
              </p:ext>
            </p:extLst>
          </p:nvPr>
        </p:nvGraphicFramePr>
        <p:xfrm>
          <a:off x="365761" y="1646916"/>
          <a:ext cx="11236304" cy="3291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76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2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7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7142B"/>
                          </a:solidFill>
                          <a:latin typeface="Aptos" panose="020B0004020202020204" pitchFamily="34" charset="0"/>
                        </a:rPr>
                        <a:t>Scenario</a:t>
                      </a:r>
                      <a:endParaRPr sz="1600" b="1" dirty="0">
                        <a:solidFill>
                          <a:srgbClr val="0714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7142B"/>
                          </a:solidFill>
                          <a:latin typeface="Aptos" panose="020B0004020202020204" pitchFamily="34" charset="0"/>
                        </a:rPr>
                        <a:t>Given</a:t>
                      </a:r>
                      <a:endParaRPr sz="1600" b="1" dirty="0">
                        <a:solidFill>
                          <a:srgbClr val="0714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7142B"/>
                          </a:solidFill>
                          <a:latin typeface="Aptos" panose="020B0004020202020204" pitchFamily="34" charset="0"/>
                        </a:rPr>
                        <a:t>Then</a:t>
                      </a:r>
                      <a:endParaRPr sz="1600" b="1" dirty="0">
                        <a:solidFill>
                          <a:srgbClr val="0714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a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Empty list of products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Calories = 0, Capacity used = 0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b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1 product that fits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Calories and capacity of that product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1 product that does not fit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Calories = 0, Capacity used = 0</a:t>
                      </a: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d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2 products fit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Calories and capacity of both</a:t>
                      </a: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41873762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e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1 product fit, another does not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Calories and capacity of the product that fits</a:t>
                      </a: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26087551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f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2 products, but only 1 fits</a:t>
                      </a: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Calories and capacity of the best product</a:t>
                      </a: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3882212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g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2 products, only 1 fit, same calories</a:t>
                      </a: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Calories of any product</a:t>
                      </a: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4667159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h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Case g &amp; Case g with data reordered</a:t>
                      </a: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Both objectives are the same</a:t>
                      </a: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3523785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429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C081-1B13-31CC-ACEF-350FC991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782F1-C248-F765-2A9C-1D8B3248E3C2}"/>
              </a:ext>
            </a:extLst>
          </p:cNvPr>
          <p:cNvSpPr txBox="1"/>
          <p:nvPr/>
        </p:nvSpPr>
        <p:spPr>
          <a:xfrm>
            <a:off x="365760" y="213360"/>
            <a:ext cx="11826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" panose="020B0004020202020204" pitchFamily="34" charset="0"/>
              </a:rPr>
              <a:t>Example test 1g</a:t>
            </a:r>
            <a:endParaRPr sz="4000" b="1" i="0" baseline="30000" dirty="0">
              <a:solidFill>
                <a:srgbClr val="0F2343"/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103109-D218-395F-A553-4B7F1874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3ECEF-303F-2AC4-51A4-13F26C80DA47}"/>
              </a:ext>
            </a:extLst>
          </p:cNvPr>
          <p:cNvSpPr/>
          <p:nvPr/>
        </p:nvSpPr>
        <p:spPr>
          <a:xfrm>
            <a:off x="90458" y="3076542"/>
            <a:ext cx="3610021" cy="21788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427A65-327B-FE02-0254-5C5DD9586C9B}"/>
              </a:ext>
            </a:extLst>
          </p:cNvPr>
          <p:cNvSpPr/>
          <p:nvPr/>
        </p:nvSpPr>
        <p:spPr>
          <a:xfrm>
            <a:off x="4443960" y="3449791"/>
            <a:ext cx="3400567" cy="1476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solve(Request) → Solution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C07B80-435B-C012-FCAB-02DAADDCF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608102"/>
              </p:ext>
            </p:extLst>
          </p:nvPr>
        </p:nvGraphicFramePr>
        <p:xfrm>
          <a:off x="207831" y="3715509"/>
          <a:ext cx="3384494" cy="106680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270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Item</a:t>
                      </a:r>
                      <a:endParaRPr sz="1600" b="0" dirty="0">
                        <a:solidFill>
                          <a:sysClr val="windowText" lastClr="000000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Weight</a:t>
                      </a: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latin typeface="Aptos" panose="020B0004020202020204" pitchFamily="34" charset="0"/>
                        </a:rPr>
                        <a:t>Calories</a:t>
                      </a:r>
                      <a:endParaRPr sz="1600" b="0" dirty="0">
                        <a:solidFill>
                          <a:sysClr val="windowText" lastClr="000000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Chocolate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400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300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Peanuts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450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300</a:t>
                      </a:r>
                      <a:endParaRPr sz="16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22EDF9-8D0D-1B4A-D07B-84F1CF5639EC}"/>
              </a:ext>
            </a:extLst>
          </p:cNvPr>
          <p:cNvSpPr txBox="1"/>
          <p:nvPr/>
        </p:nvSpPr>
        <p:spPr>
          <a:xfrm>
            <a:off x="227497" y="3280752"/>
            <a:ext cx="3233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/>
                <a:sym typeface="Wingdings" panose="05000000000000000000" pitchFamily="2" charset="2"/>
              </a:rPr>
              <a:t>Knapsack capacity: 500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1BCD2-0607-AF64-07BD-3501D9BD522A}"/>
              </a:ext>
            </a:extLst>
          </p:cNvPr>
          <p:cNvSpPr txBox="1"/>
          <p:nvPr/>
        </p:nvSpPr>
        <p:spPr>
          <a:xfrm>
            <a:off x="90458" y="2676431"/>
            <a:ext cx="3610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"/>
                <a:sym typeface="Wingdings" panose="05000000000000000000" pitchFamily="2" charset="2"/>
              </a:rPr>
              <a:t>Given</a:t>
            </a:r>
            <a:endParaRPr lang="en-US" b="1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90EF870-A109-17E2-056A-EC0017183BF5}"/>
              </a:ext>
            </a:extLst>
          </p:cNvPr>
          <p:cNvSpPr/>
          <p:nvPr/>
        </p:nvSpPr>
        <p:spPr>
          <a:xfrm>
            <a:off x="3817852" y="3972236"/>
            <a:ext cx="499516" cy="3908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CC934FE-A315-A7F8-BD2E-6552112CE679}"/>
              </a:ext>
            </a:extLst>
          </p:cNvPr>
          <p:cNvSpPr/>
          <p:nvPr/>
        </p:nvSpPr>
        <p:spPr>
          <a:xfrm>
            <a:off x="7952681" y="3972235"/>
            <a:ext cx="499516" cy="3908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645705-1C2F-5FE1-0F75-558C1A1E3373}"/>
              </a:ext>
            </a:extLst>
          </p:cNvPr>
          <p:cNvSpPr txBox="1"/>
          <p:nvPr/>
        </p:nvSpPr>
        <p:spPr>
          <a:xfrm>
            <a:off x="4434741" y="2666599"/>
            <a:ext cx="34005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"/>
                <a:sym typeface="Wingdings" panose="05000000000000000000" pitchFamily="2" charset="2"/>
              </a:rPr>
              <a:t>When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A1FB03-F350-4321-C689-F12220A7D6C2}"/>
              </a:ext>
            </a:extLst>
          </p:cNvPr>
          <p:cNvSpPr txBox="1"/>
          <p:nvPr/>
        </p:nvSpPr>
        <p:spPr>
          <a:xfrm>
            <a:off x="8560351" y="2632186"/>
            <a:ext cx="3610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"/>
                <a:sym typeface="Wingdings" panose="05000000000000000000" pitchFamily="2" charset="2"/>
              </a:rPr>
              <a:t>Then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79D935-11FB-44A2-2CDC-FB184B9453B0}"/>
              </a:ext>
            </a:extLst>
          </p:cNvPr>
          <p:cNvSpPr txBox="1"/>
          <p:nvPr/>
        </p:nvSpPr>
        <p:spPr>
          <a:xfrm>
            <a:off x="8678333" y="3715509"/>
            <a:ext cx="33844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/>
                <a:sym typeface="Wingdings" panose="05000000000000000000" pitchFamily="2" charset="2"/>
              </a:rPr>
              <a:t>Capacity used should be 400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/>
                <a:sym typeface="Wingdings" panose="05000000000000000000" pitchFamily="2" charset="2"/>
              </a:rPr>
              <a:t>Total calories should be: 300</a:t>
            </a:r>
            <a:endParaRPr lang="en-US" sz="14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3BBE348-4C19-F900-928B-20089BA08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309860"/>
              </p:ext>
            </p:extLst>
          </p:nvPr>
        </p:nvGraphicFramePr>
        <p:xfrm>
          <a:off x="477543" y="1375017"/>
          <a:ext cx="11236304" cy="731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76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2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7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7142B"/>
                          </a:solidFill>
                          <a:latin typeface="Aptos" panose="020B0004020202020204" pitchFamily="34" charset="0"/>
                        </a:rPr>
                        <a:t>Scenario</a:t>
                      </a:r>
                      <a:endParaRPr sz="1600" b="1" dirty="0">
                        <a:solidFill>
                          <a:srgbClr val="0714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7142B"/>
                          </a:solidFill>
                          <a:latin typeface="Aptos" panose="020B0004020202020204" pitchFamily="34" charset="0"/>
                        </a:rPr>
                        <a:t>Given</a:t>
                      </a:r>
                      <a:endParaRPr sz="1600" b="1" dirty="0">
                        <a:solidFill>
                          <a:srgbClr val="0714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7142B"/>
                          </a:solidFill>
                          <a:latin typeface="Aptos" panose="020B0004020202020204" pitchFamily="34" charset="0"/>
                        </a:rPr>
                        <a:t>Then</a:t>
                      </a:r>
                      <a:endParaRPr sz="1600" b="1" dirty="0">
                        <a:solidFill>
                          <a:srgbClr val="0714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1g</a:t>
                      </a:r>
                      <a:endParaRPr sz="1600" b="0" dirty="0">
                        <a:solidFill>
                          <a:srgbClr val="0F2343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2 products, only 1 fit, same calories</a:t>
                      </a:r>
                    </a:p>
                  </a:txBody>
                  <a:tcPr marL="128016" marR="109728"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F2343"/>
                          </a:solidFill>
                          <a:latin typeface="Aptos" panose="020B0004020202020204" pitchFamily="34" charset="0"/>
                        </a:rPr>
                        <a:t>Calories of any product</a:t>
                      </a:r>
                    </a:p>
                  </a:txBody>
                  <a:tcPr marL="128016" marR="109728" anchor="ctr"/>
                </a:tc>
                <a:extLst>
                  <a:ext uri="{0D108BD9-81ED-4DB2-BD59-A6C34878D82A}">
                    <a16:rowId xmlns:a16="http://schemas.microsoft.com/office/drawing/2014/main" val="146671595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ECD006E-2C84-9136-AAF5-E97A7BC40F25}"/>
              </a:ext>
            </a:extLst>
          </p:cNvPr>
          <p:cNvSpPr txBox="1"/>
          <p:nvPr/>
        </p:nvSpPr>
        <p:spPr>
          <a:xfrm>
            <a:off x="652478" y="5704318"/>
            <a:ext cx="93370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Implicitly here we check cases where there are </a:t>
            </a:r>
            <a:r>
              <a:rPr lang="en-US" sz="20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multiple optimal solutions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Note we </a:t>
            </a:r>
            <a:r>
              <a:rPr lang="en-US" sz="20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don’t assert the specific solution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.</a:t>
            </a:r>
            <a:endParaRPr lang="en-US" sz="2000" dirty="0">
              <a:solidFill>
                <a:srgbClr val="0F234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4556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4F8EF-3E6A-0334-3A98-284B014B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293021-B947-5E14-CBFA-7BD4A81028DC}"/>
              </a:ext>
            </a:extLst>
          </p:cNvPr>
          <p:cNvSpPr txBox="1"/>
          <p:nvPr/>
        </p:nvSpPr>
        <p:spPr>
          <a:xfrm>
            <a:off x="365760" y="213360"/>
            <a:ext cx="11567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Thank you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AC09C-0614-CF6C-CC15-BFDFE02E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37670-C958-F44C-01A0-D4A33C269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981" y="-397126"/>
            <a:ext cx="6936038" cy="69360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B9113E-29E4-4997-BAAE-9387A282678C}"/>
              </a:ext>
            </a:extLst>
          </p:cNvPr>
          <p:cNvSpPr txBox="1"/>
          <p:nvPr/>
        </p:nvSpPr>
        <p:spPr>
          <a:xfrm>
            <a:off x="4770491" y="5925463"/>
            <a:ext cx="3133796" cy="43088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dirty="0">
                <a:solidFill>
                  <a:srgbClr val="0F2343"/>
                </a:solidFill>
                <a:latin typeface="Aptos"/>
              </a:rPr>
              <a:t>github.com/</a:t>
            </a:r>
            <a:r>
              <a:rPr sz="2800" b="1" dirty="0" err="1">
                <a:solidFill>
                  <a:srgbClr val="0F2343"/>
                </a:solidFill>
                <a:latin typeface="Aptos"/>
              </a:rPr>
              <a:t>sefop</a:t>
            </a:r>
            <a:endParaRPr sz="2800" b="1" dirty="0">
              <a:solidFill>
                <a:srgbClr val="0F234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00979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3294</TotalTime>
  <Words>832</Words>
  <Application>Microsoft Office PowerPoint</Application>
  <PresentationFormat>Widescreen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Segoe UI 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Zenteno Smith, Francisco</cp:lastModifiedBy>
  <cp:revision>200</cp:revision>
  <dcterms:created xsi:type="dcterms:W3CDTF">2013-01-27T09:14:16Z</dcterms:created>
  <dcterms:modified xsi:type="dcterms:W3CDTF">2026-10-31T02:52:32Z</dcterms:modified>
  <cp:category/>
</cp:coreProperties>
</file>