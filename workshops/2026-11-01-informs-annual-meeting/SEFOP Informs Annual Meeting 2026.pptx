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8" r:id="rId4"/>
    <p:sldId id="273" r:id="rId5"/>
    <p:sldId id="277" r:id="rId6"/>
    <p:sldId id="280" r:id="rId7"/>
    <p:sldId id="281" r:id="rId8"/>
    <p:sldId id="272" r:id="rId9"/>
    <p:sldId id="27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F17B"/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850" autoAdjust="0"/>
  </p:normalViewPr>
  <p:slideViewPr>
    <p:cSldViewPr snapToGrid="0" snapToObjects="1">
      <p:cViewPr varScale="1">
        <p:scale>
          <a:sx n="71" d="100"/>
          <a:sy n="71" d="100"/>
        </p:scale>
        <p:origin x="103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can we use AI-assisted tools to fix this?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How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Hook: example testing a DSS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89A41-5DA6-CC58-C9E4-B2A4BC13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E63E8-64C5-1B3D-B21A-8DC47D2CA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CDC15-93A2-EBE6-198C-B97003A3C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CAFDA-B09E-6D3F-D576-CE47714B5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423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0F9ED-F334-24E6-97F6-3D58D0FA5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35857-4435-1C0C-5DBF-0ED9ECE4F8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D14A93-FF7A-DAC5-3667-66A8DA8C68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869E8-5CEB-C1C3-DD4B-368F0ADEA1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820423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E2D10-1E91-2300-16B2-CBC1B9555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CE065F-91A9-8C6E-F861-F6BEDD4BE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3B5F9-1919-D07F-52BD-7A28AF117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23C65-47BC-AF2D-A18F-A97CE66D1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40692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7FF14-F878-45E8-AFB4-46D953F41C81}" type="datetime1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3B6F46-0C3C-4175-8B43-348544656D81}" type="datetime1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46EC6-7322-4DBC-84C7-E11D30942555}" type="datetime1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48B31-6056-4B86-B43A-9DBD0BACB6B8}" type="datetime1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A4DAE-E39A-4AB4-9A37-8C4CE854B5ED}" type="datetime1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0320F-0C3E-448D-9224-8CF88A1B4ED1}" type="datetime1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C46C6B-8CC5-4835-9317-0254AF58E7FA}" type="datetime1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39325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12DB2F-C7F6-4FDA-BA62-32815EE05B27}" type="datetime1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BFFA9-8A0F-4C1F-BDA9-E4A846D0523F}" type="datetime1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9591-628F-4BAB-AD9F-697EBD829841}" type="datetime1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EFADA-DB7A-4DBF-B5C8-201C4683F8E6}" type="datetime1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06CE3-984D-4D4B-A976-00BBA5D668A5}" type="datetime1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615880"/>
            <a:ext cx="96012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800" b="0" dirty="0">
                <a:solidFill>
                  <a:srgbClr val="E2EBF2"/>
                </a:solidFill>
                <a:latin typeface="Aptos"/>
              </a:rPr>
              <a:t>INFORMS</a:t>
            </a:r>
            <a:r>
              <a:rPr sz="1800" b="0" dirty="0">
                <a:solidFill>
                  <a:srgbClr val="E2EBF2"/>
                </a:solidFill>
                <a:latin typeface="Aptos"/>
              </a:rPr>
              <a:t> Annual </a:t>
            </a:r>
            <a:r>
              <a:rPr lang="en-US" sz="1800" b="0" dirty="0">
                <a:solidFill>
                  <a:srgbClr val="E2EBF2"/>
                </a:solidFill>
                <a:latin typeface="Aptos"/>
              </a:rPr>
              <a:t>Meeting</a:t>
            </a:r>
            <a:r>
              <a:rPr sz="1800" b="0" dirty="0">
                <a:solidFill>
                  <a:srgbClr val="E2EBF2"/>
                </a:solidFill>
                <a:latin typeface="Aptos"/>
              </a:rPr>
              <a:t>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9" y="1693307"/>
            <a:ext cx="10921701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ptos Display"/>
              </a:rPr>
              <a:t>SEFOP: a Software Engineering Framework for Optimization Programs</a:t>
            </a:r>
            <a:endParaRPr sz="4000" b="1" dirty="0">
              <a:solidFill>
                <a:schemeClr val="bg1"/>
              </a:solidFill>
              <a:latin typeface="Aptos Display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Doing an analysis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n</a:t>
            </a:r>
            <a:r>
              <a:rPr sz="200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1" dirty="0">
                <a:solidFill>
                  <a:srgbClr val="0F2343"/>
                </a:solidFill>
                <a:latin typeface="Aptos"/>
              </a:rPr>
              <a:t>analysis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decision.</a:t>
            </a:r>
            <a:endParaRPr lang="en-US"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FDD39-FBA8-3120-AF80-591A148C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it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fusion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4B2EDA-76DD-8C05-09A8-E5B310C2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99BB9CE4-44CD-0AAB-6DA8-31404CC71AFE}"/>
              </a:ext>
            </a:extLst>
          </p:cNvPr>
          <p:cNvSpPr/>
          <p:nvPr/>
        </p:nvSpPr>
        <p:spPr>
          <a:xfrm>
            <a:off x="2917539" y="1720142"/>
            <a:ext cx="5023297" cy="2662201"/>
          </a:xfrm>
          <a:prstGeom prst="wedgeRectCallout">
            <a:avLst>
              <a:gd name="adj1" fmla="val -59611"/>
              <a:gd name="adj2" fmla="val 1783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Some examples: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No version control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Lack of automated testing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Manual processes to make the system work.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Usage of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jupyter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notebooks in production.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Unclear software design.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  <p:bldP spid="7" grpId="0" animBg="1"/>
      <p:bldP spid="7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strong engineering foundations: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C32F9C-F085-EDA4-3109-A0FDABB2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helps you to build those foundations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295416"/>
            <a:ext cx="1182624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free &amp; 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711" y="2155990"/>
            <a:ext cx="2194560" cy="21945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076" y="2155990"/>
            <a:ext cx="2194560" cy="21945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46" y="2155990"/>
            <a:ext cx="2194560" cy="219456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7440" y="2155990"/>
            <a:ext cx="2194560" cy="219456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722493" y="4334057"/>
            <a:ext cx="9482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sz="24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021858" y="4301771"/>
            <a:ext cx="9482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sz="24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7027640" y="4338146"/>
            <a:ext cx="1645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sz="2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10327005" y="4301769"/>
            <a:ext cx="1645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Agentic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1E5FC8-297F-CDAD-6473-73C5ED40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7CEF4F-581D-D20D-4FD5-1DA805FED2DF}"/>
              </a:ext>
            </a:extLst>
          </p:cNvPr>
          <p:cNvSpPr txBox="1"/>
          <p:nvPr/>
        </p:nvSpPr>
        <p:spPr>
          <a:xfrm>
            <a:off x="-3139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Resources to train your scientists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CE7B12-05B1-3334-A549-FEB698557EE2}"/>
              </a:ext>
            </a:extLst>
          </p:cNvPr>
          <p:cNvSpPr txBox="1"/>
          <p:nvPr/>
        </p:nvSpPr>
        <p:spPr>
          <a:xfrm>
            <a:off x="3296226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 and maintain software quality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F56B75-D653-FA33-986F-1FCBDB6494B1}"/>
              </a:ext>
            </a:extLst>
          </p:cNvPr>
          <p:cNvSpPr txBox="1"/>
          <p:nvPr/>
        </p:nvSpPr>
        <p:spPr>
          <a:xfrm>
            <a:off x="6650835" y="5056794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Software templates to help you start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2C053-21B2-B894-D097-CCAB92B026E2}"/>
              </a:ext>
            </a:extLst>
          </p:cNvPr>
          <p:cNvSpPr txBox="1"/>
          <p:nvPr/>
        </p:nvSpPr>
        <p:spPr>
          <a:xfrm>
            <a:off x="9839325" y="4999507"/>
            <a:ext cx="23995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Skills to boost the team productivity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43D2B-3609-E5F2-359E-009AD3775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ACEFF-A6FF-EB27-D151-97B21A72ED1E}"/>
              </a:ext>
            </a:extLst>
          </p:cNvPr>
          <p:cNvSpPr txBox="1"/>
          <p:nvPr/>
        </p:nvSpPr>
        <p:spPr>
          <a:xfrm>
            <a:off x="365760" y="213360"/>
            <a:ext cx="1182624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Example: testing a knapsack problem implementation with optimality guaranteed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BF0EC3-F7ED-334F-C1F6-E5FD0A16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302CCA-C7BE-7A17-78FD-A2E8EE621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857" y="1527825"/>
            <a:ext cx="1789276" cy="18825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3A3C4FB-F3AE-EA6C-0921-F3DA73913B77}"/>
                  </a:ext>
                </a:extLst>
              </p:cNvPr>
              <p:cNvSpPr txBox="1"/>
              <p:nvPr/>
            </p:nvSpPr>
            <p:spPr>
              <a:xfrm>
                <a:off x="165489" y="2120747"/>
                <a:ext cx="2718116" cy="33837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endParaRPr lang="en-US" sz="2800" b="0" dirty="0"/>
              </a:p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endParaRPr lang="en-US" sz="2800" b="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3A3C4FB-F3AE-EA6C-0921-F3DA73913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89" y="2120747"/>
                <a:ext cx="2718116" cy="33837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03B33AF-DA41-0FE5-98D9-A26D64101697}"/>
              </a:ext>
            </a:extLst>
          </p:cNvPr>
          <p:cNvSpPr txBox="1"/>
          <p:nvPr/>
        </p:nvSpPr>
        <p:spPr>
          <a:xfrm>
            <a:off x="3118475" y="2431203"/>
            <a:ext cx="2718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Maximize calories</a:t>
            </a:r>
            <a:endParaRPr lang="en-US" sz="20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291444-1ED0-293C-7222-A656FEC349AD}"/>
              </a:ext>
            </a:extLst>
          </p:cNvPr>
          <p:cNvSpPr txBox="1"/>
          <p:nvPr/>
        </p:nvSpPr>
        <p:spPr>
          <a:xfrm>
            <a:off x="3118475" y="3809597"/>
            <a:ext cx="2718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Weight capacity</a:t>
            </a:r>
            <a:endParaRPr lang="en-US" sz="20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88F39-2439-1717-7376-095B9271417D}"/>
              </a:ext>
            </a:extLst>
          </p:cNvPr>
          <p:cNvSpPr txBox="1"/>
          <p:nvPr/>
        </p:nvSpPr>
        <p:spPr>
          <a:xfrm>
            <a:off x="3144915" y="5027410"/>
            <a:ext cx="2718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Binary decisions</a:t>
            </a:r>
            <a:endParaRPr lang="en-US" sz="2000" b="1" dirty="0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D1DFDE02-F492-3C02-824F-E4020E4A6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26017"/>
              </p:ext>
            </p:extLst>
          </p:nvPr>
        </p:nvGraphicFramePr>
        <p:xfrm>
          <a:off x="6997313" y="3586625"/>
          <a:ext cx="459589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1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4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  <a:endParaRPr sz="1800" b="1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1" dirty="0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Calories</a:t>
                      </a:r>
                      <a:endParaRPr sz="1800" b="1" dirty="0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0F2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rgbClr val="0F2343"/>
                          </a:solidFill>
                          <a:latin typeface="Aptos"/>
                        </a:rPr>
                        <a:t>Chocolate</a:t>
                      </a:r>
                      <a:endParaRPr sz="1800" b="0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rgbClr val="0F2343"/>
                          </a:solidFill>
                          <a:latin typeface="Aptos"/>
                        </a:rPr>
                        <a:t>500</a:t>
                      </a:r>
                      <a:endParaRPr sz="1800" b="0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rgbClr val="0F2343"/>
                          </a:solidFill>
                          <a:latin typeface="Aptos"/>
                        </a:rPr>
                        <a:t>300</a:t>
                      </a:r>
                      <a:endParaRPr sz="1800" b="0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Peanuts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250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200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Cheese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250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0F2343"/>
                          </a:solidFill>
                          <a:latin typeface="Aptos"/>
                        </a:rPr>
                        <a:t>150</a:t>
                      </a:r>
                      <a:endParaRPr sz="1800" b="1" dirty="0">
                        <a:solidFill>
                          <a:srgbClr val="0F2343"/>
                        </a:solidFill>
                        <a:latin typeface="Aptos"/>
                      </a:endParaRPr>
                    </a:p>
                  </a:txBody>
                  <a:tcPr marL="128016" marR="109728" anchor="ctr">
                    <a:solidFill>
                      <a:srgbClr val="81F1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Text: ✓">
            <a:extLst>
              <a:ext uri="{FF2B5EF4-FFF2-40B4-BE49-F238E27FC236}">
                <a16:creationId xmlns:a16="http://schemas.microsoft.com/office/drawing/2014/main" id="{F7ECE24D-2992-3F4E-6F19-9BEDACF0E9D6}"/>
              </a:ext>
            </a:extLst>
          </p:cNvPr>
          <p:cNvSpPr txBox="1"/>
          <p:nvPr/>
        </p:nvSpPr>
        <p:spPr>
          <a:xfrm>
            <a:off x="6622409" y="4311983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00B050"/>
                </a:solidFill>
                <a:latin typeface="Segoe UI Symbol"/>
              </a:rPr>
              <a:t>✓</a:t>
            </a:r>
          </a:p>
        </p:txBody>
      </p:sp>
      <p:sp>
        <p:nvSpPr>
          <p:cNvPr id="29" name="Text: ✓">
            <a:extLst>
              <a:ext uri="{FF2B5EF4-FFF2-40B4-BE49-F238E27FC236}">
                <a16:creationId xmlns:a16="http://schemas.microsoft.com/office/drawing/2014/main" id="{97E21F06-ED57-180A-D55F-B0B4CE593F74}"/>
              </a:ext>
            </a:extLst>
          </p:cNvPr>
          <p:cNvSpPr txBox="1"/>
          <p:nvPr/>
        </p:nvSpPr>
        <p:spPr>
          <a:xfrm>
            <a:off x="6622409" y="4713764"/>
            <a:ext cx="310896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00B050"/>
                </a:solidFill>
                <a:latin typeface="Segoe UI Symbol"/>
              </a:rPr>
              <a:t>✓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1EFB3B-DFC8-C811-3A38-C59D559C75A5}"/>
              </a:ext>
            </a:extLst>
          </p:cNvPr>
          <p:cNvSpPr txBox="1"/>
          <p:nvPr/>
        </p:nvSpPr>
        <p:spPr>
          <a:xfrm>
            <a:off x="8747766" y="2226921"/>
            <a:ext cx="28454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Knapsack capacity:</a:t>
            </a:r>
          </a:p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500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C59E5-255E-ADE9-E306-26CCB295C306}"/>
              </a:ext>
            </a:extLst>
          </p:cNvPr>
          <p:cNvSpPr txBox="1"/>
          <p:nvPr/>
        </p:nvSpPr>
        <p:spPr>
          <a:xfrm>
            <a:off x="7065258" y="5301373"/>
            <a:ext cx="37936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Weight used: 500 / 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Total calories: 350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072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BDFD5-51C5-DCB4-122A-E4A92B2D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D4AAD1-6AF3-F45E-325F-9FA9D04BE7DF}"/>
              </a:ext>
            </a:extLst>
          </p:cNvPr>
          <p:cNvSpPr txBox="1"/>
          <p:nvPr/>
        </p:nvSpPr>
        <p:spPr>
          <a:xfrm>
            <a:off x="365760" y="213360"/>
            <a:ext cx="1182624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How does the system look like?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55A121-836B-3289-013C-35B8822C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6214161-5E03-DD37-31AA-129A2B8CD126}"/>
              </a:ext>
            </a:extLst>
          </p:cNvPr>
          <p:cNvSpPr/>
          <p:nvPr/>
        </p:nvSpPr>
        <p:spPr>
          <a:xfrm>
            <a:off x="106680" y="2754630"/>
            <a:ext cx="11479578" cy="400039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CC933-0BE6-3C0D-4798-D0EC24A2AA95}"/>
              </a:ext>
            </a:extLst>
          </p:cNvPr>
          <p:cNvSpPr/>
          <p:nvPr/>
        </p:nvSpPr>
        <p:spPr>
          <a:xfrm>
            <a:off x="765048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Data loading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Reads input data from different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Uses a Data Model to abstract the sources.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C1B1C4-97AF-D8E6-A25A-DCB17ED9D775}"/>
              </a:ext>
            </a:extLst>
          </p:cNvPr>
          <p:cNvSpPr/>
          <p:nvPr/>
        </p:nvSpPr>
        <p:spPr>
          <a:xfrm>
            <a:off x="2596134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Preprocessing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cleaning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Data transformation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D9D9DE-FA44-C5CC-F989-5DDA716CFE88}"/>
              </a:ext>
            </a:extLst>
          </p:cNvPr>
          <p:cNvSpPr/>
          <p:nvPr/>
        </p:nvSpPr>
        <p:spPr>
          <a:xfrm>
            <a:off x="4427220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Optimization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Build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Solve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D0CBC5-E09C-3D04-E97A-0687FBCD7A82}"/>
              </a:ext>
            </a:extLst>
          </p:cNvPr>
          <p:cNvSpPr/>
          <p:nvPr/>
        </p:nvSpPr>
        <p:spPr>
          <a:xfrm>
            <a:off x="6258306" y="1699263"/>
            <a:ext cx="1645920" cy="21259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Postprocessing</a:t>
            </a:r>
          </a:p>
          <a:p>
            <a:pPr algn="ctr"/>
            <a:endParaRPr lang="en-US" sz="1600" b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Filter solutions to be sent to the 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Transform solution to business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487409-03E7-348C-A7F6-B43CC88A1BA1}"/>
              </a:ext>
            </a:extLst>
          </p:cNvPr>
          <p:cNvSpPr txBox="1"/>
          <p:nvPr/>
        </p:nvSpPr>
        <p:spPr>
          <a:xfrm>
            <a:off x="53957" y="2347829"/>
            <a:ext cx="660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User</a:t>
            </a:r>
          </a:p>
          <a:p>
            <a:pPr algn="ctr"/>
            <a:r>
              <a:rPr lang="en-US" sz="1200" dirty="0"/>
              <a:t>request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782E20-A0DE-5C4A-C349-F555FDBFD96A}"/>
              </a:ext>
            </a:extLst>
          </p:cNvPr>
          <p:cNvSpPr txBox="1"/>
          <p:nvPr/>
        </p:nvSpPr>
        <p:spPr>
          <a:xfrm>
            <a:off x="7904226" y="2284699"/>
            <a:ext cx="1263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Business</a:t>
            </a:r>
          </a:p>
          <a:p>
            <a:pPr algn="ctr"/>
            <a:r>
              <a:rPr lang="en-US" sz="1200" dirty="0"/>
              <a:t>recommendation</a:t>
            </a:r>
          </a:p>
        </p:txBody>
      </p:sp>
    </p:spTree>
    <p:extLst>
      <p:ext uri="{BB962C8B-B14F-4D97-AF65-F5344CB8AC3E}">
        <p14:creationId xmlns:p14="http://schemas.microsoft.com/office/powerpoint/2010/main" val="2998349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5D5E82-D47A-37A7-2B7B-84D887C7C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F00BEA-BA70-D137-11DA-9B578A1356DB}"/>
              </a:ext>
            </a:extLst>
          </p:cNvPr>
          <p:cNvSpPr txBox="1"/>
          <p:nvPr/>
        </p:nvSpPr>
        <p:spPr>
          <a:xfrm>
            <a:off x="292843" y="6454629"/>
            <a:ext cx="11329984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100" dirty="0">
                <a:solidFill>
                  <a:srgbClr val="0F2343"/>
                </a:solidFill>
                <a:latin typeface="Aptos"/>
              </a:rPr>
              <a:t>* Data is confidential. At a high-level: throughput measured as commits to main branch per person per weak. Software quality measured as unit-testing coverage at line level, and code smells indicated by a static-code analysis tool.</a:t>
            </a:r>
            <a:endParaRPr sz="11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4F8EF-3E6A-0334-3A98-284B014B2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293021-B947-5E14-CBFA-7BD4A81028DC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Thank you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AC09C-0614-CF6C-CC15-BFDFE02E8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137670-C958-F44C-01A0-D4A33C269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762" y="-659156"/>
            <a:ext cx="7641799" cy="76417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9113E-29E4-4997-BAAE-9387A282678C}"/>
              </a:ext>
            </a:extLst>
          </p:cNvPr>
          <p:cNvSpPr txBox="1"/>
          <p:nvPr/>
        </p:nvSpPr>
        <p:spPr>
          <a:xfrm>
            <a:off x="858891" y="3161744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300979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3224</TotalTime>
  <Words>707</Words>
  <Application>Microsoft Office PowerPoint</Application>
  <PresentationFormat>Widescreen</PresentationFormat>
  <Paragraphs>162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Cambria Math</vt:lpstr>
      <vt:lpstr>Segoe UI Symbol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Zenteno Smith, Francisco</cp:lastModifiedBy>
  <cp:revision>185</cp:revision>
  <dcterms:created xsi:type="dcterms:W3CDTF">2013-01-27T09:14:16Z</dcterms:created>
  <dcterms:modified xsi:type="dcterms:W3CDTF">2026-10-31T01:33:55Z</dcterms:modified>
  <cp:category/>
</cp:coreProperties>
</file>