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8" r:id="rId4"/>
    <p:sldId id="273" r:id="rId5"/>
    <p:sldId id="277" r:id="rId6"/>
    <p:sldId id="274" r:id="rId7"/>
    <p:sldId id="280" r:id="rId8"/>
    <p:sldId id="272" r:id="rId9"/>
    <p:sldId id="27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E9F1FB"/>
    <a:srgbClr val="F1F5F9"/>
    <a:srgbClr val="F9F2EE"/>
    <a:srgbClr val="3B82F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588" autoAdjust="0"/>
  </p:normalViewPr>
  <p:slideViewPr>
    <p:cSldViewPr snapToGrid="0" snapToObjects="1">
      <p:cViewPr varScale="1">
        <p:scale>
          <a:sx n="71" d="100"/>
          <a:sy n="71" d="100"/>
        </p:scale>
        <p:origin x="103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what is an OR team building?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sustainability is a software property, how good is it in DSS?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can we use AI-assisted tools to fix this?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How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SEFOP exists so OR teams do not have to rediscover these practices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89A41-5DA6-CC58-C9E4-B2A4BC13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E63E8-64C5-1B3D-B21A-8DC47D2CA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CDC15-93A2-EBE6-198C-B97003A3C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CAFDA-B09E-6D3F-D576-CE47714B5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423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Every team walks this leg first, whatever it decides to staff afterwards.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15 months of engineering. why bother, when AI writes the code?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E2D10-1E91-2300-16B2-CBC1B955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CE065F-91A9-8C6E-F861-F6BEDD4BED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3B5F9-1919-D07F-52BD-7A28AF1175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23C65-47BC-AF2D-A18F-A97CE66D1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40692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7FF14-F878-45E8-AFB4-46D953F41C81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B6F46-0C3C-4175-8B43-348544656D81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46EC6-7322-4DBC-84C7-E11D30942555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48B31-6056-4B86-B43A-9DBD0BACB6B8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A4DAE-E39A-4AB4-9A37-8C4CE854B5ED}" type="datetime1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0320F-0C3E-448D-9224-8CF88A1B4ED1}" type="datetime1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C46C6B-8CC5-4835-9317-0254AF58E7FA}" type="datetime1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2DB2F-C7F6-4FDA-BA62-32815EE05B27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BFFA9-8A0F-4C1F-BDA9-E4A846D0523F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9591-628F-4BAB-AD9F-697EBD829841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EFADA-DB7A-4DBF-B5C8-201C4683F8E6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06CE3-984D-4D4B-A976-00BBA5D668A5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615880"/>
            <a:ext cx="9601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800" b="0" dirty="0">
                <a:solidFill>
                  <a:srgbClr val="E2EBF2"/>
                </a:solidFill>
                <a:latin typeface="Aptos"/>
              </a:rPr>
              <a:t>INFORMS</a:t>
            </a:r>
            <a:r>
              <a:rPr sz="1800" b="0" dirty="0">
                <a:solidFill>
                  <a:srgbClr val="E2EBF2"/>
                </a:solidFill>
                <a:latin typeface="Aptos"/>
              </a:rPr>
              <a:t> Annual </a:t>
            </a:r>
            <a:r>
              <a:rPr lang="en-US" sz="1800" b="0" dirty="0">
                <a:solidFill>
                  <a:srgbClr val="E2EBF2"/>
                </a:solidFill>
                <a:latin typeface="Aptos"/>
              </a:rPr>
              <a:t>Meeting</a:t>
            </a:r>
            <a:r>
              <a:rPr sz="1800" b="0" dirty="0">
                <a:solidFill>
                  <a:srgbClr val="E2EBF2"/>
                </a:solidFill>
                <a:latin typeface="Aptos"/>
              </a:rPr>
              <a:t>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99" y="1693307"/>
            <a:ext cx="10921701" cy="123110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ptos Display"/>
              </a:rPr>
              <a:t>SEFOP: a Software Engineering Framework for Optimization Programs</a:t>
            </a:r>
            <a:endParaRPr sz="4000" b="1" dirty="0">
              <a:solidFill>
                <a:schemeClr val="bg1"/>
              </a:solidFill>
              <a:latin typeface="Aptos Display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646574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i="1" dirty="0">
                <a:solidFill>
                  <a:srgbClr val="FFFFFF"/>
                </a:solidFill>
                <a:latin typeface="Aptos"/>
              </a:rPr>
              <a:t>Every comment here represents my own opinion, and does not represent an American Airlines statement </a:t>
            </a:r>
            <a:endParaRPr lang="en-US" sz="1050" i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Doing an analysis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488862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n</a:t>
            </a:r>
            <a:r>
              <a:rPr sz="200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1" dirty="0">
                <a:solidFill>
                  <a:srgbClr val="0F2343"/>
                </a:solidFill>
                <a:latin typeface="Aptos"/>
              </a:rPr>
              <a:t>analysis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product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decision.</a:t>
            </a: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3224" y="363636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3224" y="427648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552449" y="383718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3224" y="491661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059719" y="4242583"/>
            <a:ext cx="4677663" cy="70788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200" b="1" dirty="0">
                <a:solidFill>
                  <a:srgbClr val="0F2343"/>
                </a:solidFill>
                <a:latin typeface="Aptos"/>
              </a:rPr>
              <a:t>These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product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are also known as</a:t>
            </a:r>
          </a:p>
          <a:p>
            <a:pPr algn="ctr"/>
            <a:r>
              <a:rPr sz="2400" b="1" dirty="0">
                <a:solidFill>
                  <a:srgbClr val="F97316"/>
                </a:solidFill>
                <a:latin typeface="Aptos"/>
              </a:rPr>
              <a:t>decision-support system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s</a:t>
            </a:r>
            <a:r>
              <a:rPr sz="2400" b="1" dirty="0">
                <a:solidFill>
                  <a:srgbClr val="F97316"/>
                </a:solidFill>
                <a:latin typeface="Aptos"/>
              </a:rPr>
              <a:t> (DSS)</a:t>
            </a:r>
            <a:endParaRPr sz="2400" dirty="0">
              <a:solidFill>
                <a:srgbClr val="F97316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92760" y="5951100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rgbClr val="0F2343"/>
                </a:solidFill>
                <a:latin typeface="Aptos"/>
              </a:rPr>
              <a:t>Its business value comes from 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being sustainable over the lifetime of the business need</a:t>
            </a:r>
            <a:r>
              <a:rPr sz="2200" dirty="0">
                <a:solidFill>
                  <a:srgbClr val="0F2343"/>
                </a:solidFill>
                <a:latin typeface="Aptos"/>
              </a:rPr>
              <a:t>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816163" y="4185198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796BF-8B07-91B8-7E72-BD4A45710603}"/>
              </a:ext>
            </a:extLst>
          </p:cNvPr>
          <p:cNvSpPr txBox="1"/>
          <p:nvPr/>
        </p:nvSpPr>
        <p:spPr>
          <a:xfrm>
            <a:off x="408432" y="3143967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0F2343"/>
                </a:solidFill>
                <a:latin typeface="Aptos"/>
              </a:rPr>
              <a:t>Examples: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FDD39-FBA8-3120-AF80-591A148C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7" grpId="0"/>
      <p:bldP spid="32" grpId="0"/>
      <p:bldP spid="34" grpId="0"/>
      <p:bldP spid="42" grpId="0" animBg="1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applied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0544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2609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381214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49372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3970243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it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9848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fusion of applied mathematics and 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71187-EF99-43F8-610D-5D0E2CEC23E0}"/>
              </a:ext>
            </a:extLst>
          </p:cNvPr>
          <p:cNvSpPr txBox="1"/>
          <p:nvPr/>
        </p:nvSpPr>
        <p:spPr>
          <a:xfrm>
            <a:off x="5069518" y="5111687"/>
            <a:ext cx="6093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4B2EDA-76DD-8C05-09A8-E5B310C2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99BB9CE4-44CD-0AAB-6DA8-31404CC71AFE}"/>
              </a:ext>
            </a:extLst>
          </p:cNvPr>
          <p:cNvSpPr/>
          <p:nvPr/>
        </p:nvSpPr>
        <p:spPr>
          <a:xfrm>
            <a:off x="2917539" y="1720142"/>
            <a:ext cx="5023297" cy="2662201"/>
          </a:xfrm>
          <a:prstGeom prst="wedgeRectCallout">
            <a:avLst>
              <a:gd name="adj1" fmla="val -59611"/>
              <a:gd name="adj2" fmla="val 1783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Some examples: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No version control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Lack of automated testing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Manual processes to make the system work.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Usage of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jupyter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notebooks in production.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Unclear software design.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  <p:bldP spid="5" grpId="0"/>
      <p:bldP spid="7" grpId="0" animBg="1"/>
      <p:bldP spid="7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AI-coding assistants require the engineering foundations: they </a:t>
            </a:r>
            <a:r>
              <a:rPr lang="en-US" sz="4000" b="1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your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C32F9C-F085-EDA4-3109-A0FDABB2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F97316"/>
                </a:solidFill>
                <a:latin typeface="Aptos Display"/>
              </a:rPr>
              <a:t>SEFOP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helps you to build those foundations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2AAC7-92A8-2E98-7927-C58D1885D6A6}"/>
              </a:ext>
            </a:extLst>
          </p:cNvPr>
          <p:cNvSpPr txBox="1"/>
          <p:nvPr/>
        </p:nvSpPr>
        <p:spPr>
          <a:xfrm>
            <a:off x="365760" y="1295416"/>
            <a:ext cx="1182624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free &amp; 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09A9ACA-ACDD-DE32-4754-A4FDC9C0F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711" y="2155990"/>
            <a:ext cx="2194560" cy="21945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3A122A3-D632-227E-8EBE-3EEEA24CF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076" y="2155990"/>
            <a:ext cx="2194560" cy="219456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FEC196A-61F4-6E95-B0B1-07A1D3FD89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46" y="2155990"/>
            <a:ext cx="2194560" cy="219456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BB8DB83-27EE-DF17-6FE0-75DEDF1321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7440" y="2155990"/>
            <a:ext cx="2194560" cy="219456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EB3279D-A715-1768-0F0B-9B3E38A334DE}"/>
              </a:ext>
            </a:extLst>
          </p:cNvPr>
          <p:cNvSpPr txBox="1"/>
          <p:nvPr/>
        </p:nvSpPr>
        <p:spPr>
          <a:xfrm>
            <a:off x="722493" y="4334057"/>
            <a:ext cx="9482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sz="2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3C749-40E6-AFD5-97C4-DD8D8DD44EA9}"/>
              </a:ext>
            </a:extLst>
          </p:cNvPr>
          <p:cNvSpPr txBox="1"/>
          <p:nvPr/>
        </p:nvSpPr>
        <p:spPr>
          <a:xfrm>
            <a:off x="4021858" y="4301771"/>
            <a:ext cx="9482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22F8AC-347E-5A91-9AA5-6CE8C5564342}"/>
              </a:ext>
            </a:extLst>
          </p:cNvPr>
          <p:cNvSpPr txBox="1"/>
          <p:nvPr/>
        </p:nvSpPr>
        <p:spPr>
          <a:xfrm>
            <a:off x="7027640" y="4338146"/>
            <a:ext cx="1645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sz="2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7F4D0-DFBC-128B-257E-B41B276C6470}"/>
              </a:ext>
            </a:extLst>
          </p:cNvPr>
          <p:cNvSpPr txBox="1"/>
          <p:nvPr/>
        </p:nvSpPr>
        <p:spPr>
          <a:xfrm>
            <a:off x="10327005" y="4301769"/>
            <a:ext cx="1645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Agentic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1E5FC8-297F-CDAD-6473-73C5ED40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7CEF4F-581D-D20D-4FD5-1DA805FED2DF}"/>
              </a:ext>
            </a:extLst>
          </p:cNvPr>
          <p:cNvSpPr txBox="1"/>
          <p:nvPr/>
        </p:nvSpPr>
        <p:spPr>
          <a:xfrm>
            <a:off x="-3139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Resources to train your scientists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CE7B12-05B1-3334-A549-FEB698557EE2}"/>
              </a:ext>
            </a:extLst>
          </p:cNvPr>
          <p:cNvSpPr txBox="1"/>
          <p:nvPr/>
        </p:nvSpPr>
        <p:spPr>
          <a:xfrm>
            <a:off x="3296226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 and maintain software quality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F56B75-D653-FA33-986F-1FCBDB6494B1}"/>
              </a:ext>
            </a:extLst>
          </p:cNvPr>
          <p:cNvSpPr txBox="1"/>
          <p:nvPr/>
        </p:nvSpPr>
        <p:spPr>
          <a:xfrm>
            <a:off x="6650835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Software templates to help you start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2C053-21B2-B894-D097-CCAB92B026E2}"/>
              </a:ext>
            </a:extLst>
          </p:cNvPr>
          <p:cNvSpPr txBox="1"/>
          <p:nvPr/>
        </p:nvSpPr>
        <p:spPr>
          <a:xfrm>
            <a:off x="9839325" y="4999507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Skills to boost the team productivity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CAD1-18DD-1E1E-6665-6526783B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E0521-074C-088B-6C50-531DDADE8C94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Design – achieving modularization in DSS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663F89-8D67-7270-5D3C-4D27C3AD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7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43D2B-3609-E5F2-359E-009AD3775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ACEFF-A6FF-EB27-D151-97B21A72ED1E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Testing – verifying DSS at scale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BF0EC3-F7ED-334F-C1F6-E5FD0A16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072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0F2343"/>
                </a:solidFill>
                <a:latin typeface="Aptos Display"/>
              </a:rPr>
              <a:t>Case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5D5E82-D47A-37A7-2B7B-84D887C7C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F00BEA-BA70-D137-11DA-9B578A1356DB}"/>
              </a:ext>
            </a:extLst>
          </p:cNvPr>
          <p:cNvSpPr txBox="1"/>
          <p:nvPr/>
        </p:nvSpPr>
        <p:spPr>
          <a:xfrm>
            <a:off x="292843" y="6454629"/>
            <a:ext cx="11329984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100" dirty="0">
                <a:solidFill>
                  <a:srgbClr val="0F2343"/>
                </a:solidFill>
                <a:latin typeface="Aptos"/>
              </a:rPr>
              <a:t>* Data is confidential. At a high-level: throughput measured as commits to main branch per person per weak. Software quality measured as unit-testing coverage at line level, and code smells indicated by a static-code analysis tool.</a:t>
            </a:r>
            <a:endParaRPr sz="11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4F8EF-3E6A-0334-3A98-284B014B2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293021-B947-5E14-CBFA-7BD4A81028DC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Thank you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AC09C-0614-CF6C-CC15-BFDFE02E8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137670-C958-F44C-01A0-D4A33C269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762" y="-659156"/>
            <a:ext cx="7641799" cy="76417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9113E-29E4-4997-BAAE-9387A282678C}"/>
              </a:ext>
            </a:extLst>
          </p:cNvPr>
          <p:cNvSpPr txBox="1"/>
          <p:nvPr/>
        </p:nvSpPr>
        <p:spPr>
          <a:xfrm>
            <a:off x="858891" y="3161744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300979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3198</TotalTime>
  <Words>612</Words>
  <Application>Microsoft Office PowerPoint</Application>
  <PresentationFormat>Widescreen</PresentationFormat>
  <Paragraphs>110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Zenteno Smith, Francisco</cp:lastModifiedBy>
  <cp:revision>181</cp:revision>
  <dcterms:created xsi:type="dcterms:W3CDTF">2013-01-27T09:14:16Z</dcterms:created>
  <dcterms:modified xsi:type="dcterms:W3CDTF">2026-10-28T07:12:18Z</dcterms:modified>
  <cp:category/>
</cp:coreProperties>
</file>