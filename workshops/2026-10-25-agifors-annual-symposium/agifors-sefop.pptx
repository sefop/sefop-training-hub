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731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87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A77D-52E4-475F-8F66-88B530FFC6E8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C9C77-8531-4613-A047-115B56092CED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4C9CB-EC00-45C8-90A7-B81D698AE4A7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81C7E-565C-4249-ACB6-BB1600177463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3354-70A1-423C-80EE-A19E21E461F6}" type="datetime1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B4E82-6E6E-45F9-B1D4-2ACB92A969F4}" type="datetime1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7CB26-998E-485E-BE3D-E18117E7BFB1}" type="datetime1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B55A5-1783-4E20-9E58-3BBCD1556899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F13B-01C5-4282-93B0-5B945710DC35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0E7-01C7-465F-8F29-D3A50E883B89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BD988-613B-41D9-B531-672BCF9F6E33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5CC9C-3F22-4DB5-9F0E-65DB38F2095C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5640"/>
            <a:ext cx="10789920" cy="1046440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 Display"/>
              </a:rPr>
              <a:t>Rethinking the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e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mbedded Operations Research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eam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: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
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f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rom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roject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roduct, and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h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ow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g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et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46120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838258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9000" y="6239738"/>
            <a:ext cx="41503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B5C0D3"/>
                </a:solidFill>
                <a:latin typeface="Aptos"/>
              </a:rPr>
              <a:t>AGIFORS Annual Symposium · October 25,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510528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>
                <a:solidFill>
                  <a:srgbClr val="B5C0D3"/>
                </a:solidFill>
                <a:latin typeface="Aptos"/>
              </a:rPr>
              <a:t>1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6491400-6813-04C5-CAE0-B49DCD0B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6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36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683512"/>
            <a:ext cx="11440160" cy="110799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decision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If the decision is required </a:t>
            </a:r>
            <a:r>
              <a:rPr lang="en-US" sz="24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recurrently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4984" y="287750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984" y="351762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664209" y="307832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4984" y="4157750"/>
            <a:ext cx="640080" cy="640080"/>
          </a:xfrm>
          <a:prstGeom prst="rect">
            <a:avLst/>
          </a:prstGeom>
        </p:spPr>
      </p:pic>
      <p:sp>
        <p:nvSpPr>
          <p:cNvPr id="30" name="Arrow: Right 29">
            <a:extLst>
              <a:ext uri="{FF2B5EF4-FFF2-40B4-BE49-F238E27FC236}">
                <a16:creationId xmlns:a16="http://schemas.microsoft.com/office/drawing/2014/main" id="{AC31FAB0-7077-0AF3-29B4-D5348FEF17E3}"/>
              </a:ext>
            </a:extLst>
          </p:cNvPr>
          <p:cNvSpPr/>
          <p:nvPr/>
        </p:nvSpPr>
        <p:spPr>
          <a:xfrm>
            <a:off x="6553200" y="3340100"/>
            <a:ext cx="990600" cy="817606"/>
          </a:xfrm>
          <a:prstGeom prst="rightArrow">
            <a:avLst/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760209" y="3296166"/>
            <a:ext cx="3720591" cy="1354217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</a:rPr>
              <a:t>The OR solution becomes a software product, particularly, a 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decision-support system (DSS)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29260" y="5465556"/>
            <a:ext cx="11440160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The business value comes from </a:t>
            </a:r>
            <a:r>
              <a:rPr lang="en-US" sz="2400" u="sng" dirty="0">
                <a:solidFill>
                  <a:srgbClr val="0F2343"/>
                </a:solidFill>
                <a:latin typeface="Aptos"/>
              </a:rPr>
              <a:t>building a sustainable decision-making product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 over the entire lifetime of the business need.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6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36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DD7AC5-779B-0C31-ECA3-5F843C9B5901}"/>
              </a:ext>
            </a:extLst>
          </p:cNvPr>
          <p:cNvSpPr txBox="1"/>
          <p:nvPr/>
        </p:nvSpPr>
        <p:spPr>
          <a:xfrm>
            <a:off x="365760" y="1683512"/>
            <a:ext cx="11440160" cy="110799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decision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If the decision is required recurrently: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457127AE-F010-563D-7BEA-F21B1A62D1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4984" y="287750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6FB42CE2-6DB7-94DF-7E2E-8C0212A6D4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984" y="351762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B2CF3-7A2B-ED03-1661-24DC8294E4B4}"/>
              </a:ext>
            </a:extLst>
          </p:cNvPr>
          <p:cNvSpPr txBox="1"/>
          <p:nvPr/>
        </p:nvSpPr>
        <p:spPr>
          <a:xfrm>
            <a:off x="1664209" y="307832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17929366-0C8B-AD70-AB14-91AB3FCE8D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4984" y="4157750"/>
            <a:ext cx="640080" cy="640080"/>
          </a:xfrm>
          <a:prstGeom prst="rect">
            <a:avLst/>
          </a:prstGeom>
        </p:spPr>
      </p:pic>
      <p:sp>
        <p:nvSpPr>
          <p:cNvPr id="30" name="Arrow: Right 29">
            <a:extLst>
              <a:ext uri="{FF2B5EF4-FFF2-40B4-BE49-F238E27FC236}">
                <a16:creationId xmlns:a16="http://schemas.microsoft.com/office/drawing/2014/main" id="{7CD52F9B-998B-FFE6-D64F-03A6A6562382}"/>
              </a:ext>
            </a:extLst>
          </p:cNvPr>
          <p:cNvSpPr/>
          <p:nvPr/>
        </p:nvSpPr>
        <p:spPr>
          <a:xfrm>
            <a:off x="6553200" y="3340100"/>
            <a:ext cx="990600" cy="817606"/>
          </a:xfrm>
          <a:prstGeom prst="rightArrow">
            <a:avLst/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6CB2CC-02A2-371A-D8D6-5E6B9D56189D}"/>
              </a:ext>
            </a:extLst>
          </p:cNvPr>
          <p:cNvSpPr txBox="1"/>
          <p:nvPr/>
        </p:nvSpPr>
        <p:spPr>
          <a:xfrm>
            <a:off x="7760209" y="3296166"/>
            <a:ext cx="3720591" cy="1354217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</a:rPr>
              <a:t>The OR solution becomes a software product, particularly, a 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decision-support system (DSS)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DDDA61-B626-4030-7499-074B723513BB}"/>
              </a:ext>
            </a:extLst>
          </p:cNvPr>
          <p:cNvSpPr txBox="1"/>
          <p:nvPr/>
        </p:nvSpPr>
        <p:spPr>
          <a:xfrm>
            <a:off x="429260" y="5465556"/>
            <a:ext cx="1144016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The business value comes from </a:t>
            </a:r>
            <a:r>
              <a:rPr lang="en-US" sz="2400" u="sng" dirty="0">
                <a:solidFill>
                  <a:srgbClr val="0F2343"/>
                </a:solidFill>
                <a:latin typeface="Aptos"/>
              </a:rPr>
              <a:t>building a sustainable decision-making product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. 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A strong mathematical model can still create weak long-term value if the software around it is fragile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53312"/>
            <a:ext cx="10972800" cy="114300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600">
                <a:solidFill>
                  <a:srgbClr val="0F2343"/>
                </a:solidFill>
                <a:latin typeface="Aptos"/>
              </a:rPr>
              <a:t>1. OR teams naturally concentrate expertise on the mathematics; software engineering is rarely part of formal OR training.</a:t>
            </a:r>
          </a:p>
          <a:p>
            <a:pPr algn="l"/>
            <a:r>
              <a:rPr sz="1600">
                <a:solidFill>
                  <a:srgbClr val="0F2343"/>
                </a:solidFill>
                <a:latin typeface="Aptos"/>
              </a:rPr>
              <a:t>2. The result can be software that is difficult to reproduce, test, modify, deploy, or maintain.</a:t>
            </a:r>
          </a:p>
          <a:p>
            <a:pPr algn="l"/>
            <a:r>
              <a:rPr sz="1600">
                <a:solidFill>
                  <a:srgbClr val="0F2343"/>
                </a:solidFill>
                <a:latin typeface="Aptos"/>
              </a:rPr>
              <a:t>3. These problems become more expensive every time the decision-support system needs to change.</a:t>
            </a:r>
          </a:p>
        </p:txBody>
      </p:sp>
      <p:sp>
        <p:nvSpPr>
          <p:cNvPr id="5" name="Oval 4"/>
          <p:cNvSpPr/>
          <p:nvPr/>
        </p:nvSpPr>
        <p:spPr>
          <a:xfrm>
            <a:off x="1143000" y="2834640"/>
            <a:ext cx="2743200" cy="2743200"/>
          </a:xfrm>
          <a:prstGeom prst="ellipse">
            <a:avLst/>
          </a:prstGeom>
          <a:solidFill>
            <a:srgbClr val="24344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74519" y="3566160"/>
            <a:ext cx="1280160" cy="1280160"/>
          </a:xfrm>
          <a:prstGeom prst="ellipse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MATHEMATICAL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999232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324612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6908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93776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CI/CD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07492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Deploy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41648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Monitor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417320" y="3657600"/>
            <a:ext cx="365760" cy="182880"/>
          </a:xfrm>
          <a:prstGeom prst="line">
            <a:avLst/>
          </a:prstGeom>
          <a:ln w="27940">
            <a:solidFill>
              <a:srgbClr val="F7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17520" y="3794760"/>
            <a:ext cx="320040" cy="182879"/>
          </a:xfrm>
          <a:prstGeom prst="line">
            <a:avLst/>
          </a:prstGeom>
          <a:ln w="27940">
            <a:solidFill>
              <a:srgbClr val="F7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011680" y="5120640"/>
            <a:ext cx="228600" cy="274320"/>
          </a:xfrm>
          <a:prstGeom prst="line">
            <a:avLst/>
          </a:prstGeom>
          <a:ln w="27940">
            <a:solidFill>
              <a:srgbClr val="F7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63440" y="2743200"/>
            <a:ext cx="6675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37760" y="3017520"/>
            <a:ext cx="585216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700" b="1" i="0">
                <a:solidFill>
                  <a:srgbClr val="0F2343"/>
                </a:solidFill>
                <a:latin typeface="Aptos"/>
              </a:rPr>
              <a:t>Typical symptoms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383280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Hard to reproduce results reliably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730752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Slow and risky to modify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078224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Fear of breaking the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4425696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Eventual rewrite instead of evolution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5212080"/>
            <a:ext cx="411480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74920" y="5376672"/>
            <a:ext cx="3749039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1" i="0">
                <a:solidFill>
                  <a:srgbClr val="F97316"/>
                </a:solidFill>
                <a:latin typeface="Aptos"/>
              </a:rPr>
              <a:t>168 modellers: technical debt was widespread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67A26BA5-B708-2EDE-B501-D35FA36F2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Poor engineering puts a ceiling on how much value the model can deliver over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Weak practices can make the first version fast to build, but every subsequent change becomes harder.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Strong practices require more investment early, but keep the product adaptable as requirements, data, and models change.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For a recurring DSS, the ability to change sustainably is part of the business value.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423160"/>
            <a:ext cx="10515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371600" y="5303520"/>
            <a:ext cx="9692640" cy="0"/>
          </a:xfrm>
          <a:prstGeom prst="line">
            <a:avLst/>
          </a:prstGeom>
          <a:ln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371600" y="2743200"/>
            <a:ext cx="0" cy="2560320"/>
          </a:xfrm>
          <a:prstGeom prst="line">
            <a:avLst/>
          </a:prstGeom>
          <a:ln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86968" y="2606040"/>
            <a:ext cx="457200" cy="7315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ptos"/>
              </a:rPr>
              <a:t>Progress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5440680"/>
            <a:ext cx="731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ptos"/>
              </a:rPr>
              <a:t>Time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508760" y="3794760"/>
            <a:ext cx="822960" cy="100584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331720" y="3337560"/>
            <a:ext cx="822960" cy="45720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154680" y="3154680"/>
            <a:ext cx="914400" cy="18288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69080" y="3108960"/>
            <a:ext cx="640080" cy="4572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508760" y="4160520"/>
            <a:ext cx="822960" cy="73152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31720" y="3703320"/>
            <a:ext cx="1280160" cy="45720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611880" y="3429000"/>
            <a:ext cx="1828800" cy="27432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440680" y="3383280"/>
            <a:ext cx="1097280" cy="4572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508760" y="4892040"/>
            <a:ext cx="822960" cy="18288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331720" y="4434840"/>
            <a:ext cx="1463040" cy="45720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794760" y="3886200"/>
            <a:ext cx="1645920" cy="54864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440680" y="3154680"/>
            <a:ext cx="2194560" cy="73152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635240" y="2743200"/>
            <a:ext cx="2560320" cy="41148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965960" y="3520440"/>
            <a:ext cx="164592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Aptos"/>
              </a:rPr>
              <a:t>Short-lived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19" y="3749040"/>
            <a:ext cx="13716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0" i="0">
                <a:solidFill>
                  <a:srgbClr val="3B82F6"/>
                </a:solidFill>
                <a:latin typeface="Aptos"/>
              </a:rPr>
              <a:t>Legacy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880360"/>
            <a:ext cx="164592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F97316"/>
                </a:solidFill>
                <a:latin typeface="Aptos"/>
              </a:rPr>
              <a:t>Strategic product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526280"/>
            <a:ext cx="2560320" cy="3657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0F2343"/>
                </a:solidFill>
                <a:latin typeface="Aptos"/>
              </a:rPr>
              <a:t>Early speed was temporary.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5212080"/>
            <a:ext cx="201168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ptos"/>
              </a:rPr>
              <a:t>Illustrative — not empirical data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1C059C1A-ADC5-C5D9-1602-0FF1B1E0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An OR team that owns a DSS has to operate as a specialized software development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789920" cy="105156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80">
                <a:solidFill>
                  <a:srgbClr val="0F2343"/>
                </a:solidFill>
                <a:latin typeface="Aptos"/>
              </a:rPr>
              <a:t>1. The team's responsibility cannot end with the formulation: it also includes testing, integration, releases, operation, and continued interaction with the business.</a:t>
            </a:r>
          </a:p>
          <a:p>
            <a:pPr algn="l"/>
            <a:r>
              <a:rPr sz="1580">
                <a:solidFill>
                  <a:srgbClr val="0F2343"/>
                </a:solidFill>
                <a:latin typeface="Aptos"/>
              </a:rPr>
              <a:t>2. OR expertise and software-engineering capability therefore have to coexist in the team.</a:t>
            </a:r>
          </a:p>
          <a:p>
            <a:pPr algn="l"/>
            <a:r>
              <a:rPr sz="1580">
                <a:solidFill>
                  <a:srgbClr val="0F2343"/>
                </a:solidFill>
                <a:latin typeface="Aptos"/>
              </a:rPr>
              <a:t>3. The goal is not to turn OR scientists into software developers; it is to build a team capable of owning the complete decision product.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514600"/>
            <a:ext cx="3108960" cy="3108960"/>
          </a:xfrm>
          <a:prstGeom prst="ellipse">
            <a:avLst/>
          </a:prstGeom>
          <a:solidFill>
            <a:srgbClr val="24344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5998" y="3416198"/>
            <a:ext cx="1305763" cy="1305763"/>
          </a:xfrm>
          <a:prstGeom prst="ellipse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OR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Decision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6465" y="2609697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9153" y="2951683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1139" y="3977640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3705" y="4910328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Operate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5763" y="4785969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9110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Design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80560" y="4069080"/>
            <a:ext cx="2926080" cy="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77840" y="3767328"/>
            <a:ext cx="731520" cy="3200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30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493008"/>
            <a:ext cx="283464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00" b="1" i="0">
                <a:solidFill>
                  <a:srgbClr val="243447"/>
                </a:solidFill>
                <a:latin typeface="Aptos"/>
              </a:rPr>
              <a:t>Model ownership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315968"/>
            <a:ext cx="283464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700" b="1" i="0">
                <a:solidFill>
                  <a:srgbClr val="F97316"/>
                </a:solidFill>
                <a:latin typeface="Aptos"/>
              </a:rPr>
              <a:t>Product ownership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697480"/>
            <a:ext cx="356616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0" y="2907792"/>
            <a:ext cx="3017520" cy="25603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650" b="1" i="0">
                <a:solidFill>
                  <a:srgbClr val="0F2343"/>
                </a:solidFill>
                <a:latin typeface="Aptos"/>
              </a:rPr>
              <a:t>What product ownership adds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91840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Automated testing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639312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Delivery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986784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Release discipline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334256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Operational 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681728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Continuous business feedback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F0E3019-32BA-3D2D-6A3C-3A29D883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When we strengthened the engineering foundation, throughput increased while quality improved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468880" cy="36118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243447"/>
                </a:solidFill>
                <a:latin typeface="Aptos Display"/>
              </a:rPr>
              <a:t>1.0x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92024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1" i="0">
                <a:solidFill>
                  <a:srgbClr val="243447"/>
                </a:solidFill>
                <a:latin typeface="Aptos"/>
              </a:rPr>
              <a:t>Baseline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749039"/>
            <a:ext cx="201168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234440" y="4005072"/>
            <a:ext cx="640080" cy="64008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243447"/>
                </a:solidFill>
                <a:latin typeface="Aptos"/>
              </a:rPr>
              <a:t>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82880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30" b="0" i="0">
                <a:solidFill>
                  <a:srgbClr val="243447"/>
                </a:solidFill>
                <a:latin typeface="Aptos"/>
              </a:rPr>
              <a:t>Good science.
Manual effort.
Room to improve.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783080"/>
            <a:ext cx="2468880" cy="36118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0" y="2029968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3B82F6"/>
                </a:solidFill>
                <a:latin typeface="Aptos Display"/>
              </a:rPr>
              <a:t>2.3x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743200"/>
            <a:ext cx="192024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1" i="0">
                <a:solidFill>
                  <a:srgbClr val="3B82F6"/>
                </a:solidFill>
                <a:latin typeface="Aptos"/>
              </a:rPr>
              <a:t>Engineering practices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3749039"/>
            <a:ext cx="201168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069080" y="4005072"/>
            <a:ext cx="640080" cy="64008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3B82F6"/>
                </a:solidFill>
                <a:latin typeface="Aptos"/>
              </a:rPr>
              <a:t>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617720"/>
            <a:ext cx="182880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30" b="0" i="0">
                <a:solidFill>
                  <a:srgbClr val="243447"/>
                </a:solidFill>
                <a:latin typeface="Aptos"/>
              </a:rPr>
              <a:t>Version control.
Testing and CI.
Modular, maintainable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783080"/>
            <a:ext cx="2468880" cy="36118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029968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500" b="1" i="0">
                <a:solidFill>
                  <a:srgbClr val="F97316"/>
                </a:solidFill>
                <a:latin typeface="Aptos Display"/>
              </a:rPr>
              <a:t>4.1x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43200"/>
            <a:ext cx="192024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80" b="1" i="0">
                <a:solidFill>
                  <a:srgbClr val="F97316"/>
                </a:solidFill>
                <a:latin typeface="Aptos"/>
              </a:rPr>
              <a:t>Engineering +
agentic development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3749039"/>
            <a:ext cx="201168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903720" y="4005072"/>
            <a:ext cx="640080" cy="64008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97316"/>
                </a:solidFill>
                <a:latin typeface="Aptos"/>
              </a:rPr>
              <a:t>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182880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30" b="0" i="0">
                <a:solidFill>
                  <a:srgbClr val="243447"/>
                </a:solidFill>
                <a:latin typeface="Aptos"/>
              </a:rPr>
              <a:t>All of the above.
Plus AI agents as capable
team members.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27355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27355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783080"/>
            <a:ext cx="2697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0" y="1993392"/>
            <a:ext cx="2377440" cy="3200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700" b="1" i="0">
                <a:solidFill>
                  <a:srgbClr val="0F2343"/>
                </a:solidFill>
                <a:latin typeface="Aptos"/>
              </a:rPr>
              <a:t>Quality indicators (improved)</a:t>
            </a:r>
          </a:p>
        </p:txBody>
      </p:sp>
      <p:sp>
        <p:nvSpPr>
          <p:cNvPr id="26" name="Oval 25"/>
          <p:cNvSpPr/>
          <p:nvPr/>
        </p:nvSpPr>
        <p:spPr>
          <a:xfrm>
            <a:off x="9189720" y="2651760"/>
            <a:ext cx="457200" cy="45720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  <a:latin typeface="Aptos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679191"/>
            <a:ext cx="109728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0F2343"/>
                </a:solidFill>
                <a:latin typeface="Aptos"/>
              </a:rPr>
              <a:t>Unit-test
coverage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2724912"/>
            <a:ext cx="7315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16A34A"/>
                </a:solidFill>
                <a:latin typeface="Aptos"/>
              </a:rPr>
              <a:t>↑ Higher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098280" y="3364991"/>
            <a:ext cx="228600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189720" y="3584448"/>
            <a:ext cx="457200" cy="45720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  <a:latin typeface="Aptos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3611879"/>
            <a:ext cx="109728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0F2343"/>
                </a:solidFill>
                <a:latin typeface="Aptos"/>
              </a:rPr>
              <a:t>Integration
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3657600"/>
            <a:ext cx="7315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16A34A"/>
                </a:solidFill>
                <a:latin typeface="Aptos"/>
              </a:rPr>
              <a:t>↑ Higher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098280" y="4297680"/>
            <a:ext cx="228600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189720" y="4517136"/>
            <a:ext cx="457200" cy="45720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  <a:latin typeface="Aptos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4544568"/>
            <a:ext cx="109728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0F2343"/>
                </a:solidFill>
                <a:latin typeface="Aptos"/>
              </a:rPr>
              <a:t>Code smells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590288"/>
            <a:ext cx="7315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DC2626"/>
                </a:solidFill>
                <a:latin typeface="Aptos"/>
              </a:rPr>
              <a:t>↓ Lower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50408"/>
            <a:ext cx="111556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669280"/>
            <a:ext cx="34747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1" i="0">
                <a:solidFill>
                  <a:srgbClr val="0F2343"/>
                </a:solidFill>
                <a:latin typeface="Aptos"/>
              </a:rPr>
              <a:t>Consistent with software-engineering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897880"/>
            <a:ext cx="64008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0F2343"/>
                </a:solidFill>
                <a:latin typeface="Aptos"/>
              </a:rPr>
              <a:t>DORA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897880"/>
            <a:ext cx="283464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20" b="0" i="0">
                <a:solidFill>
                  <a:srgbClr val="243447"/>
                </a:solidFill>
                <a:latin typeface="Aptos"/>
              </a:rPr>
              <a:t>— Throughput and instability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50791" y="5742432"/>
            <a:ext cx="0" cy="41148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389120" y="5897880"/>
            <a:ext cx="64008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0F2343"/>
                </a:solidFill>
                <a:latin typeface="Aptos"/>
              </a:rPr>
              <a:t>Farley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3480" y="5897880"/>
            <a:ext cx="283464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20" b="0" i="0">
                <a:solidFill>
                  <a:srgbClr val="243447"/>
                </a:solidFill>
                <a:latin typeface="Aptos"/>
              </a:rPr>
              <a:t>— Better software faster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62671" y="5742432"/>
            <a:ext cx="0" cy="41148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001000" y="5897880"/>
            <a:ext cx="64008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0F2343"/>
                </a:solidFill>
                <a:latin typeface="Aptos"/>
              </a:rPr>
              <a:t>Google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5897880"/>
            <a:ext cx="283464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20" b="0" i="0">
                <a:solidFill>
                  <a:srgbClr val="243447"/>
                </a:solidFill>
                <a:latin typeface="Aptos"/>
              </a:rPr>
              <a:t>— Sustainable velocity and quality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6200" y="6400800"/>
            <a:ext cx="448056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Aptos"/>
              </a:rPr>
              <a:t>One team  •  4 scientists  •  15 months  •  no control group</a:t>
            </a:r>
          </a:p>
        </p:txBody>
      </p: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9498B4E1-EE1F-FA68-E67A-CAAACD5EA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OR software needs software engineering plus safeguards for decision-support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07592"/>
            <a:ext cx="10972800" cy="105156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Like ordinary software, a DSS needs short feedback loops, automated tests, CI/CD, reproducibility, and maintainable design.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But OR systems introduce three additional challenges: unknown answers, variable computation, and silent failures.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These differences are why software engineering for OR cannot simply be copied unchanged from conventional application development.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2880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7360" y="2670048"/>
            <a:ext cx="594360" cy="594360"/>
          </a:xfrm>
          <a:prstGeom prst="ellipse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97316"/>
                </a:solidFill>
                <a:latin typeface="Aptos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64992"/>
            <a:ext cx="25146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50" b="1" i="0">
                <a:solidFill>
                  <a:srgbClr val="0F2343"/>
                </a:solidFill>
                <a:latin typeface="Aptos"/>
              </a:rPr>
              <a:t>Unknown answer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730752"/>
            <a:ext cx="242316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3886200"/>
            <a:ext cx="25146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How do we test without
knowing the optimum?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468880"/>
            <a:ext cx="2880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0" y="2670048"/>
            <a:ext cx="594360" cy="59436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3B82F6"/>
                </a:solidFill>
                <a:latin typeface="Aptos"/>
              </a:rPr>
              <a:t>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364992"/>
            <a:ext cx="25146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50" b="1" i="0">
                <a:solidFill>
                  <a:srgbClr val="0F2343"/>
                </a:solidFill>
                <a:latin typeface="Aptos"/>
              </a:rPr>
              <a:t>Variable computation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06240" y="3730752"/>
            <a:ext cx="242316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886200"/>
            <a:ext cx="25146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Runtime and solution
quality vary by instance.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468880"/>
            <a:ext cx="2880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21040" y="2670048"/>
            <a:ext cx="594360" cy="594360"/>
          </a:xfrm>
          <a:prstGeom prst="ellipse">
            <a:avLst/>
          </a:prstGeom>
          <a:solidFill>
            <a:srgbClr val="FEF2F2"/>
          </a:solidFill>
          <a:ln>
            <a:solidFill>
              <a:srgbClr val="FE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DC2626"/>
                </a:solidFill>
                <a:latin typeface="Aptos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364992"/>
            <a:ext cx="25146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50" b="1" i="0">
                <a:solidFill>
                  <a:srgbClr val="0F2343"/>
                </a:solidFill>
                <a:latin typeface="Aptos"/>
              </a:rPr>
              <a:t>Silent failure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79" y="3730752"/>
            <a:ext cx="2423161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52360" y="3886200"/>
            <a:ext cx="25146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The system may run
while decisions get worse.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4892040"/>
            <a:ext cx="10012680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234440" y="5102352"/>
            <a:ext cx="438912" cy="438912"/>
          </a:xfrm>
          <a:prstGeom prst="ellipse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B82F6"/>
                </a:solidFill>
                <a:latin typeface="Aptos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148072"/>
            <a:ext cx="210312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700" b="1" i="0">
                <a:solidFill>
                  <a:srgbClr val="0F2343"/>
                </a:solidFill>
                <a:latin typeface="Aptos"/>
              </a:rPr>
              <a:t>Software engineering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375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Testing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091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CI/CD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Design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523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Reproducibility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8239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Monitoring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7E2AD451-26C0-DAB0-CD87-4612645FE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AI increases the return on strong engineering practices—and the cost of weak 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07592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AI coding assistants increase the amount of software a team can produce.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With automated tests, CI/CD, review, and clear architecture, that additional output can be validated quickly.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Without those controls, the same acceleration can increase technical debt—and in OR, even a plausible-looking formulation can be wrong.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51663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309360" y="2468880"/>
            <a:ext cx="51663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22860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800" b="1" i="0">
                <a:solidFill>
                  <a:srgbClr val="0F2343"/>
                </a:solidFill>
                <a:latin typeface="Aptos"/>
              </a:rPr>
              <a:t>Strong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154680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Automated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02152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9624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Code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Clear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37560"/>
            <a:ext cx="1645920" cy="5029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600" b="1" i="0">
                <a:solidFill>
                  <a:srgbClr val="F97316"/>
                </a:solidFill>
                <a:latin typeface="Aptos"/>
              </a:rPr>
              <a:t>AI 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4297680"/>
            <a:ext cx="22860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16A34A"/>
                </a:solidFill>
                <a:latin typeface="Aptos"/>
              </a:rPr>
              <a:t>Faster validated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43200"/>
            <a:ext cx="237744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800" b="1" i="0">
                <a:solidFill>
                  <a:srgbClr val="0F2343"/>
                </a:solidFill>
                <a:latin typeface="Aptos"/>
              </a:rPr>
              <a:t>Weak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154680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Few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502152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Manual processes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849624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Low 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197096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Unclear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337560"/>
            <a:ext cx="1645920" cy="5029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600" b="1" i="0">
                <a:solidFill>
                  <a:srgbClr val="F97316"/>
                </a:solidFill>
                <a:latin typeface="Aptos"/>
              </a:rPr>
              <a:t>AI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97680"/>
            <a:ext cx="292608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700" b="1" i="0">
                <a:solidFill>
                  <a:srgbClr val="DC2626"/>
                </a:solidFill>
                <a:latin typeface="Aptos"/>
              </a:rPr>
              <a:t>Faster accumulation of risk and debt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650992"/>
            <a:ext cx="411480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80" b="1" i="0">
                <a:solidFill>
                  <a:srgbClr val="64748B"/>
                </a:solidFill>
                <a:latin typeface="Aptos"/>
              </a:rPr>
              <a:t>Same multiplier. Different foundation.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3C9129B7-D68C-4769-4D6F-17C2B061F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The team should own what determines decision value and borrow capabilities that others provide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1. The embedded OR team should own the decision product end to end: business interaction, formulation, code quality, testing, delivery, and production behavior.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2. Platform teams can provide infrastructure and cloud capabilities; enabling teams can help develop capabilities such as cybersecurity and reliability.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3. Expertise can be borrowed; responsibility for the decision product cannot.</a:t>
            </a:r>
          </a:p>
        </p:txBody>
      </p:sp>
      <p:sp>
        <p:nvSpPr>
          <p:cNvPr id="5" name="Oval 4"/>
          <p:cNvSpPr/>
          <p:nvPr/>
        </p:nvSpPr>
        <p:spPr>
          <a:xfrm>
            <a:off x="3246120" y="2331720"/>
            <a:ext cx="5577840" cy="3611880"/>
          </a:xfrm>
          <a:prstGeom prst="ellipse">
            <a:avLst/>
          </a:prstGeom>
          <a:solidFill>
            <a:srgbClr val="F1F5F9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886200" y="2788920"/>
            <a:ext cx="4297680" cy="2697480"/>
          </a:xfrm>
          <a:prstGeom prst="ellipse">
            <a:avLst/>
          </a:prstGeom>
          <a:solidFill>
            <a:srgbClr val="E2EBFC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709160" y="3310128"/>
            <a:ext cx="2651760" cy="1645920"/>
          </a:xfrm>
          <a:prstGeom prst="ellipse">
            <a:avLst/>
          </a:prstGeom>
          <a:solidFill>
            <a:srgbClr val="FFEDD5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83480" y="3712463"/>
            <a:ext cx="2057400" cy="566928"/>
          </a:xfrm>
          <a:prstGeom prst="rect">
            <a:avLst/>
          </a:prstGeom>
          <a:noFill/>
        </p:spPr>
        <p:txBody>
          <a:bodyPr wrap="square" lIns="73152" tIns="73152" rIns="54864" bIns="36576" anchor="ctr">
            <a:spAutoFit/>
          </a:bodyPr>
          <a:lstStyle/>
          <a:p>
            <a:pPr algn="ctr"/>
            <a:r>
              <a:rPr sz="1800" b="1" i="0">
                <a:solidFill>
                  <a:srgbClr val="F97316"/>
                </a:solidFill>
                <a:latin typeface="Aptos"/>
              </a:rPr>
              <a:t>Embedded OR
product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2926080"/>
            <a:ext cx="329184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00" b="1" i="0">
                <a:solidFill>
                  <a:srgbClr val="3B82F6"/>
                </a:solidFill>
                <a:latin typeface="Aptos"/>
              </a:rPr>
              <a:t>Platform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450592"/>
            <a:ext cx="4206240" cy="3200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00" b="1" i="0">
                <a:solidFill>
                  <a:srgbClr val="243447"/>
                </a:solidFill>
                <a:latin typeface="Aptos"/>
              </a:rPr>
              <a:t>Enabling expertise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46120"/>
            <a:ext cx="82296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0F2343"/>
                </a:solidFill>
                <a:latin typeface="Aptos"/>
              </a:rPr>
              <a:t>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127248"/>
            <a:ext cx="82296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0F2343"/>
                </a:solidFill>
                <a:latin typeface="Aptos"/>
              </a:rPr>
              <a:t>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657600"/>
            <a:ext cx="82296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0F2343"/>
                </a:solidFill>
                <a:latin typeface="Aptos"/>
              </a:rPr>
              <a:t>Developer
platforms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97480"/>
            <a:ext cx="914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243447"/>
                </a:solidFill>
                <a:latin typeface="Aptos"/>
              </a:rP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2651760"/>
            <a:ext cx="914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243447"/>
                </a:solidFill>
                <a:latin typeface="Aptos"/>
              </a:rPr>
              <a:t>Reliability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880360"/>
            <a:ext cx="914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243447"/>
                </a:solidFill>
                <a:latin typeface="Aptos"/>
              </a:rPr>
              <a:t>Specialist
coaching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715000"/>
            <a:ext cx="557784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0F2343"/>
                </a:solidFill>
                <a:latin typeface="Aptos"/>
              </a:rPr>
              <a:t>Borrow expertise. Keep ownership.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D4814A7-260A-37ED-70D7-675431086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OR scientists need enough software engineering to build effectively inside a software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972800" cy="105156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1. Scientists need the engineering skills closest to their daily work: version control, automated testing, CI, clean design, reproducibility, and code review.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2. They do not need equal depth everywhere: deployment, infrastructure, and production operations can remain primarily software-developer responsibilities.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3. The objective is overlap, not role replacement: enough shared knowledge for scientists and developers to build the decision product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926080"/>
            <a:ext cx="3337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3337560" cy="457200"/>
          </a:xfrm>
          <a:prstGeom prst="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044952"/>
            <a:ext cx="3017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F97316"/>
                </a:solidFill>
                <a:latin typeface="Aptos"/>
              </a:rPr>
              <a:t>Core for OR scientists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56616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Version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858768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Automated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151376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443983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Clean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736592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Reproducibility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2920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Code 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79" y="2926080"/>
            <a:ext cx="3337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79" y="2926080"/>
            <a:ext cx="333756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3044952"/>
            <a:ext cx="3017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Aptos"/>
              </a:rPr>
              <a:t>Shared working knowledge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56616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3858768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4151376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Deployment concepts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4443983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Production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19" y="2926080"/>
            <a:ext cx="3337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75319" y="2926080"/>
            <a:ext cx="3337560" cy="45720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0" y="3044952"/>
            <a:ext cx="3017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243447"/>
                </a:solidFill>
                <a:latin typeface="Aptos"/>
              </a:rPr>
              <a:t>Developer-led expertise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356616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Continuous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3858768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Cloud infrastructure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5632" y="4151376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Production operations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4443983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Platform 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5696712"/>
            <a:ext cx="43891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700" b="1" i="0">
                <a:solidFill>
                  <a:srgbClr val="0F2343"/>
                </a:solidFill>
                <a:latin typeface="Aptos"/>
              </a:rPr>
              <a:t>Shared understanding ≠ equal expertise</a:t>
            </a: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5D5B5924-5459-1E2C-1B10-345EE9218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SEFOP packages the capabilities needed to make the transition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Train: software-engineering education tailored to OR scientists and the problems they actually encounter.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Lead + Deliver: guidance for managers and reference implementations for building production-grade OR software.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Go Agentic: AI-assisted development built on top of a strong software-engineering foundation.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F97316"/>
                </a:solidFill>
                <a:latin typeface="Aptos"/>
              </a:rPr>
              <a:t>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3410712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79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0F2343"/>
                </a:solidFill>
                <a:latin typeface="Aptos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79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Culture &amp; organization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410712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Aptos"/>
              </a:rPr>
              <a:t>DELIVER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Engineering practices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59" y="3410712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08007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19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243447"/>
                </a:solidFill>
                <a:latin typeface="Aptos"/>
              </a:rPr>
              <a:t>GO AGENTIC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19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AI-assisted development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7320" y="4983480"/>
            <a:ext cx="9326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5920" y="5184648"/>
            <a:ext cx="886968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80" b="1" i="0">
                <a:solidFill>
                  <a:srgbClr val="0F2343"/>
                </a:solidFill>
                <a:latin typeface="Aptos"/>
              </a:rPr>
              <a:t>So every OR team does not have to rediscover these practices independently.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897880"/>
            <a:ext cx="310896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250" b="1" i="0">
                <a:solidFill>
                  <a:srgbClr val="3B82F6"/>
                </a:solidFill>
                <a:latin typeface="Aptos"/>
              </a:rPr>
              <a:t>github.com/sefop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DF6D2A6D-AEB3-8A58-117E-D08C1B76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The shift is from building models as projects to owning decision products continuously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0392" y="1947672"/>
            <a:ext cx="384048" cy="384048"/>
          </a:xfrm>
          <a:prstGeom prst="ellipse">
            <a:avLst/>
          </a:prstGeom>
          <a:solidFill>
            <a:srgbClr val="FFEDD5"/>
          </a:solidFill>
          <a:ln>
            <a:solidFill>
              <a:srgbClr val="FF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74519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30" b="1" i="0">
                <a:solidFill>
                  <a:srgbClr val="0F2343"/>
                </a:solidFill>
                <a:latin typeface="Aptos"/>
              </a:rPr>
              <a:t>Software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992"/>
            <a:ext cx="2331720" cy="5486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70" b="0" i="0">
                <a:solidFill>
                  <a:srgbClr val="243447"/>
                </a:solidFill>
                <a:latin typeface="Aptos"/>
              </a:rPr>
              <a:t>The model creates value through a system that must keep working and changing.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73736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45152" y="1947672"/>
            <a:ext cx="384048" cy="384048"/>
          </a:xfrm>
          <a:prstGeom prst="ellipse">
            <a:avLst/>
          </a:prstGeom>
          <a:solidFill>
            <a:srgbClr val="FFEDD5"/>
          </a:solidFill>
          <a:ln>
            <a:solidFill>
              <a:srgbClr val="FF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874519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30" b="1" i="0">
                <a:solidFill>
                  <a:srgbClr val="0F2343"/>
                </a:solidFill>
                <a:latin typeface="Aptos"/>
              </a:rPr>
              <a:t>OR is different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221992"/>
            <a:ext cx="2331720" cy="5486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70" b="0" i="0">
                <a:solidFill>
                  <a:srgbClr val="243447"/>
                </a:solidFill>
                <a:latin typeface="Aptos"/>
              </a:rPr>
              <a:t>Generic software-engineering practices need to be adapted to optimization systems.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73736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439912" y="1947672"/>
            <a:ext cx="384048" cy="384048"/>
          </a:xfrm>
          <a:prstGeom prst="ellipse">
            <a:avLst/>
          </a:prstGeom>
          <a:solidFill>
            <a:srgbClr val="FFEDD5"/>
          </a:solidFill>
          <a:ln>
            <a:solidFill>
              <a:srgbClr val="FF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874519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30" b="1" i="0">
                <a:solidFill>
                  <a:srgbClr val="0F2343"/>
                </a:solidFill>
                <a:latin typeface="Aptos"/>
              </a:rPr>
              <a:t>Teams must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221992"/>
            <a:ext cx="2331720" cy="5486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70" b="0" i="0">
                <a:solidFill>
                  <a:srgbClr val="243447"/>
                </a:solidFill>
                <a:latin typeface="Aptos"/>
              </a:rPr>
              <a:t>Product ownership requires overlapping OR and engineering capabilities.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86200"/>
            <a:ext cx="109728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64748B"/>
                </a:solidFill>
                <a:latin typeface="Aptos"/>
              </a:rPr>
              <a:t>FROM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160520"/>
            <a:ext cx="4389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462272"/>
            <a:ext cx="3749039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000" b="1" i="0">
                <a:solidFill>
                  <a:srgbClr val="243447"/>
                </a:solidFill>
                <a:latin typeface="Aptos"/>
              </a:rPr>
              <a:t>Project  →  Model  →  Handoff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3886200"/>
            <a:ext cx="731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F97316"/>
                </a:solidFill>
                <a:latin typeface="Aptos"/>
              </a:rPr>
              <a:t>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4160520"/>
            <a:ext cx="5532120" cy="100584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52160" y="4462272"/>
            <a:ext cx="489204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000" b="1" i="0">
                <a:solidFill>
                  <a:srgbClr val="F97316"/>
                </a:solidFill>
                <a:latin typeface="Aptos"/>
              </a:rPr>
              <a:t>Product  →  Team  →  Continuous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669280"/>
            <a:ext cx="658368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600" b="1" i="0">
                <a:solidFill>
                  <a:srgbClr val="0F2343"/>
                </a:solidFill>
                <a:latin typeface="Aptos"/>
              </a:rPr>
              <a:t>SEFOP — a framework to help teams make the shift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5989320"/>
            <a:ext cx="274320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250" b="1" i="0">
                <a:solidFill>
                  <a:srgbClr val="3B82F6"/>
                </a:solidFill>
                <a:latin typeface="Aptos"/>
              </a:rPr>
              <a:t>github.com/sefop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517A77A8-97E4-F3A8-83B0-41BFA3528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1363</Words>
  <Application>Microsoft Office PowerPoint</Application>
  <PresentationFormat>Widescreen</PresentationFormat>
  <Paragraphs>242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10</cp:revision>
  <dcterms:created xsi:type="dcterms:W3CDTF">2013-01-27T09:14:16Z</dcterms:created>
  <dcterms:modified xsi:type="dcterms:W3CDTF">2026-09-18T23:58:28Z</dcterms:modified>
  <cp:category/>
</cp:coreProperties>
</file>