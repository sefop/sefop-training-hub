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8" r:id="rId4"/>
    <p:sldId id="270" r:id="rId5"/>
    <p:sldId id="271" r:id="rId6"/>
    <p:sldId id="275" r:id="rId7"/>
    <p:sldId id="272" r:id="rId8"/>
    <p:sldId id="273" r:id="rId9"/>
    <p:sldId id="274" r:id="rId10"/>
    <p:sldId id="277" r:id="rId11"/>
    <p:sldId id="27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7316"/>
    <a:srgbClr val="E9F1FB"/>
    <a:srgbClr val="F1F5F9"/>
    <a:srgbClr val="F9F2EE"/>
    <a:srgbClr val="3B82F6"/>
    <a:srgbClr val="0714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799" autoAdjust="0"/>
  </p:normalViewPr>
  <p:slideViewPr>
    <p:cSldViewPr snapToGrid="0" snapToObjects="1">
      <p:cViewPr varScale="1">
        <p:scale>
          <a:sx n="97" d="100"/>
          <a:sy n="97" d="100"/>
        </p:scale>
        <p:origin x="99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508B69-4B04-442E-A249-3DCED873EEF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0E717D-2DA7-42E8-9D35-D8C48612F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74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Hook: what is an OR team building?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Hook: sustainability is a software property, how good is it in DSS?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Some cracks: using </a:t>
            </a:r>
            <a:r>
              <a:rPr lang="en-US" dirty="0" err="1"/>
              <a:t>jupyter</a:t>
            </a:r>
            <a:r>
              <a:rPr lang="en-US" dirty="0"/>
              <a:t> notebooks; lack of automatic tests.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Hook: what is the price we pay because of these weak practices?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Short-lived system</a:t>
            </a:r>
            <a:r>
              <a:rPr lang="en-US" dirty="0"/>
              <a:t>: </a:t>
            </a:r>
            <a:r>
              <a:rPr dirty="0"/>
              <a:t>soon (maybe 1 year?) progress stalls as it can't support changes efficiently.</a:t>
            </a:r>
          </a:p>
          <a:p>
            <a:r>
              <a:rPr dirty="0"/>
              <a:t>Legacy system: started fine; after a couple of years the initial developers left. Now it is unclear how it works, or making a change is very difficult. </a:t>
            </a:r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Hook: so how strengthen the weak practices?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0E717D-2DA7-42E8-9D35-D8C48612FAD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9461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obvious fix</a:t>
            </a:r>
            <a:r>
              <a:rPr lang="en-US" dirty="0"/>
              <a:t>?</a:t>
            </a:r>
            <a:r>
              <a:rPr dirty="0"/>
              <a:t> to hire developers, </a:t>
            </a:r>
            <a:r>
              <a:rPr lang="en-US" dirty="0"/>
              <a:t>but that does not work.</a:t>
            </a:r>
          </a:p>
          <a:p>
            <a:pPr marL="171450" indent="-171450">
              <a:buFontTx/>
              <a:buChar char="-"/>
            </a:pPr>
            <a:r>
              <a:rPr lang="en-US" dirty="0"/>
              <a:t>OR should not know everything about SE, just what it needs.</a:t>
            </a:r>
          </a:p>
          <a:p>
            <a:pPr marL="171450" indent="-171450">
              <a:buFontTx/>
              <a:buChar char="-"/>
            </a:pPr>
            <a:r>
              <a:rPr lang="en-US" dirty="0"/>
              <a:t>OR engineers help scientists develop properly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Hook: then my science team will grow 10x? What is the actual scope I need?</a:t>
            </a:r>
          </a:p>
          <a:p>
            <a:pPr marL="0" indent="0">
              <a:buFontTx/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Hook:</a:t>
            </a:r>
          </a:p>
          <a:p>
            <a:r>
              <a:rPr lang="en-US" dirty="0"/>
              <a:t>Ok what happens now when we train scientists in software engineering?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Every team walks this leg first, whatever it decides to staff afterwards.</a:t>
            </a:r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Hook: 15 months of engineering. why bother, when AI writes the code?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0E717D-2DA7-42E8-9D35-D8C48612FAD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1730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Hook: AI multiplies what you already have. So what does your team already have?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Pause here. This is the only moment in the talk that is about their team rather than about OR teams in general.</a:t>
            </a:r>
            <a:endParaRPr lang="en-US" dirty="0"/>
          </a:p>
          <a:p>
            <a:endParaRPr lang="en-US" dirty="0"/>
          </a:p>
          <a:p>
            <a:r>
              <a:rPr lang="en-US" dirty="0"/>
              <a:t>Hook: if you identified a gap in OR Engineers or Scientists training…. How to close that gap?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>
              <a:spcAft>
                <a:spcPts val="400"/>
              </a:spcAft>
            </a:pPr>
            <a:r>
              <a:rPr lang="en-US" sz="1200" b="0" dirty="0">
                <a:solidFill>
                  <a:srgbClr val="64748B"/>
                </a:solidFill>
                <a:latin typeface="+mn-lt"/>
              </a:rPr>
              <a:t>SEFOP exists so OR teams do not have to rediscover these practices independently.</a:t>
            </a:r>
          </a:p>
          <a:p>
            <a:pPr marL="171450" indent="-171450" algn="l">
              <a:spcAft>
                <a:spcPts val="400"/>
              </a:spcAft>
              <a:buFontTx/>
              <a:buChar char="-"/>
            </a:pPr>
            <a:r>
              <a:rPr lang="en-US" sz="1200" b="0" dirty="0">
                <a:solidFill>
                  <a:srgbClr val="64748B"/>
                </a:solidFill>
                <a:latin typeface="+mn-lt"/>
              </a:rPr>
              <a:t>Train: teach unit testing to scientists, integration testing and testing optimization models</a:t>
            </a:r>
          </a:p>
          <a:p>
            <a:pPr marL="171450" indent="-171450" algn="l">
              <a:spcAft>
                <a:spcPts val="400"/>
              </a:spcAft>
              <a:buFontTx/>
              <a:buChar char="-"/>
            </a:pPr>
            <a:r>
              <a:rPr lang="en-US" sz="1200" b="0" dirty="0">
                <a:solidFill>
                  <a:srgbClr val="64748B"/>
                </a:solidFill>
                <a:latin typeface="+mn-lt"/>
              </a:rPr>
              <a:t>Lead: how to maintain a software quality practice in your scientific team?</a:t>
            </a:r>
          </a:p>
          <a:p>
            <a:pPr marL="171450" indent="-171450" algn="l">
              <a:spcAft>
                <a:spcPts val="400"/>
              </a:spcAft>
              <a:buFontTx/>
              <a:buChar char="-"/>
            </a:pPr>
            <a:r>
              <a:rPr lang="en-US" sz="1200" b="0" dirty="0">
                <a:solidFill>
                  <a:srgbClr val="64748B"/>
                </a:solidFill>
                <a:latin typeface="+mn-lt"/>
              </a:rPr>
              <a:t>Deliver: templates and design examples to help you start</a:t>
            </a:r>
          </a:p>
          <a:p>
            <a:pPr marL="171450" indent="-171450" algn="l">
              <a:spcAft>
                <a:spcPts val="400"/>
              </a:spcAft>
              <a:buFontTx/>
              <a:buChar char="-"/>
            </a:pPr>
            <a:r>
              <a:rPr lang="en-US" sz="1200" b="0" dirty="0">
                <a:solidFill>
                  <a:srgbClr val="64748B"/>
                </a:solidFill>
                <a:latin typeface="+mn-lt"/>
              </a:rPr>
              <a:t>Go agentic: agentic skills that could be useful for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7FF14-F878-45E8-AFB4-46D953F41C81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6F46-0C3C-4175-8B43-348544656D81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46EC6-7322-4DBC-84C7-E11D30942555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48B31-6056-4B86-B43A-9DBD0BACB6B8}" type="datetime1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A4DAE-E39A-4AB4-9A37-8C4CE854B5ED}" type="datetime1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0320F-0C3E-448D-9224-8CF88A1B4ED1}" type="datetime1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46C6B-8CC5-4835-9317-0254AF58E7FA}" type="datetime1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839325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DB2F-C7F6-4FDA-BA62-32815EE05B27}" type="datetime1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BFFA9-8A0F-4C1F-BDA9-E4A846D0523F}" type="datetime1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69591-628F-4BAB-AD9F-697EBD829841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EFADA-DB7A-4DBF-B5C8-201C4683F8E6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506CE3-984D-4D4B-A976-00BBA5D668A5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5800" y="59436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dirty="0">
                <a:solidFill>
                  <a:srgbClr val="E2EBF2"/>
                </a:solidFill>
                <a:latin typeface="Aptos"/>
              </a:rPr>
              <a:t>AGIFORS Annual Symposium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5850" y="1693307"/>
            <a:ext cx="10058400" cy="1231106"/>
          </a:xfrm>
          <a:prstGeom prst="rect">
            <a:avLst/>
          </a:prstGeom>
          <a:solidFill>
            <a:srgbClr val="07142B"/>
          </a:solidFill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 dirty="0">
                <a:solidFill>
                  <a:schemeClr val="bg1"/>
                </a:solidFill>
                <a:latin typeface="Aptos Display"/>
              </a:rPr>
              <a:t>Rethinking the embedded OR team</a:t>
            </a:r>
            <a:r>
              <a:rPr lang="en-US" sz="4000" b="1" dirty="0">
                <a:solidFill>
                  <a:schemeClr val="bg1"/>
                </a:solidFill>
                <a:latin typeface="Aptos Display"/>
              </a:rPr>
              <a:t> </a:t>
            </a:r>
            <a:r>
              <a:rPr sz="4000" b="1" dirty="0">
                <a:solidFill>
                  <a:schemeClr val="bg1"/>
                </a:solidFill>
                <a:latin typeface="Aptos Display"/>
              </a:rPr>
              <a:t>as a specialized software team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401568"/>
            <a:ext cx="1051560" cy="5486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3780383"/>
            <a:ext cx="10607040" cy="984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Aptos"/>
              </a:rPr>
              <a:t>Francisco Zenteno Smith</a:t>
            </a:r>
            <a:endParaRPr lang="en-US" sz="2800" b="1" dirty="0">
              <a:solidFill>
                <a:srgbClr val="FFFFFF"/>
              </a:solidFill>
              <a:latin typeface="Aptos"/>
            </a:endParaRPr>
          </a:p>
          <a:p>
            <a:pPr algn="ctr"/>
            <a:r>
              <a:rPr lang="en-US" dirty="0">
                <a:solidFill>
                  <a:srgbClr val="FFFFFF"/>
                </a:solidFill>
                <a:latin typeface="Aptos"/>
              </a:rPr>
              <a:t>Senior Operations Research Scientist</a:t>
            </a:r>
          </a:p>
          <a:p>
            <a:pPr algn="ctr"/>
            <a:r>
              <a:rPr lang="en-US" dirty="0">
                <a:solidFill>
                  <a:srgbClr val="FFFFFF"/>
                </a:solidFill>
                <a:latin typeface="Aptos"/>
              </a:rPr>
              <a:t>American Airlines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5AE60D-51D9-5A48-1353-302ABBC6369E}"/>
              </a:ext>
            </a:extLst>
          </p:cNvPr>
          <p:cNvSpPr txBox="1"/>
          <p:nvPr/>
        </p:nvSpPr>
        <p:spPr>
          <a:xfrm>
            <a:off x="0" y="5646574"/>
            <a:ext cx="121920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400" i="1" dirty="0">
                <a:solidFill>
                  <a:srgbClr val="FFFFFF"/>
                </a:solidFill>
                <a:latin typeface="Aptos"/>
              </a:rPr>
              <a:t>Every comment here represents my own opinion, and does not represent an American Airlines statement </a:t>
            </a:r>
            <a:endParaRPr lang="en-US" sz="1050" i="1" dirty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13360"/>
            <a:ext cx="115671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4000" b="1" i="0" dirty="0">
                <a:solidFill>
                  <a:srgbClr val="0F2343"/>
                </a:solidFill>
                <a:latin typeface="Aptos Display"/>
              </a:rPr>
              <a:t>Working in a project v/s building a product</a:t>
            </a:r>
            <a:endParaRPr sz="4000" b="1" i="0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488862"/>
            <a:ext cx="11567160" cy="1248290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2400" b="0" dirty="0">
                <a:solidFill>
                  <a:srgbClr val="0F2343"/>
                </a:solidFill>
                <a:latin typeface="Aptos"/>
              </a:rPr>
              <a:t>Operations Research (OR) turns data + business needs + mathematics </a:t>
            </a:r>
            <a:r>
              <a:rPr lang="en-US" sz="2400" b="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 </a:t>
            </a:r>
            <a:r>
              <a:rPr sz="2400" b="0" dirty="0">
                <a:solidFill>
                  <a:srgbClr val="0F2343"/>
                </a:solidFill>
                <a:latin typeface="Aptos"/>
              </a:rPr>
              <a:t>decision.</a:t>
            </a:r>
          </a:p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0F2343"/>
                </a:solidFill>
                <a:latin typeface="Aptos"/>
              </a:rPr>
              <a:t>	</a:t>
            </a:r>
            <a:r>
              <a:rPr sz="2000" dirty="0">
                <a:solidFill>
                  <a:srgbClr val="0F2343"/>
                </a:solidFill>
                <a:latin typeface="Aptos"/>
              </a:rPr>
              <a:t>A </a:t>
            </a:r>
            <a:r>
              <a:rPr sz="2000" b="1" dirty="0">
                <a:solidFill>
                  <a:srgbClr val="0F2343"/>
                </a:solidFill>
                <a:latin typeface="Aptos"/>
              </a:rPr>
              <a:t>project</a:t>
            </a:r>
            <a:r>
              <a:rPr sz="2000" b="0" dirty="0">
                <a:solidFill>
                  <a:srgbClr val="0F2343"/>
                </a:solidFill>
                <a:latin typeface="Aptos"/>
              </a:rPr>
              <a:t> </a:t>
            </a:r>
            <a:r>
              <a:rPr lang="en-US" sz="2000" b="0" dirty="0">
                <a:solidFill>
                  <a:srgbClr val="0F2343"/>
                </a:solidFill>
                <a:latin typeface="Aptos"/>
              </a:rPr>
              <a:t>delivers</a:t>
            </a:r>
            <a:r>
              <a:rPr sz="2000" b="0" dirty="0">
                <a:solidFill>
                  <a:srgbClr val="0F2343"/>
                </a:solidFill>
                <a:latin typeface="Aptos"/>
              </a:rPr>
              <a:t> a one-time decision</a:t>
            </a:r>
            <a:r>
              <a:rPr lang="en-US" sz="2000" dirty="0">
                <a:solidFill>
                  <a:srgbClr val="0F2343"/>
                </a:solidFill>
                <a:latin typeface="Aptos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0F2343"/>
                </a:solidFill>
                <a:latin typeface="Aptos"/>
              </a:rPr>
              <a:t>	</a:t>
            </a:r>
            <a:r>
              <a:rPr sz="2000" dirty="0">
                <a:solidFill>
                  <a:srgbClr val="0F2343"/>
                </a:solidFill>
                <a:latin typeface="Aptos"/>
              </a:rPr>
              <a:t>A </a:t>
            </a:r>
            <a:r>
              <a:rPr sz="2000" b="1" dirty="0">
                <a:solidFill>
                  <a:srgbClr val="0F2343"/>
                </a:solidFill>
                <a:latin typeface="Aptos"/>
              </a:rPr>
              <a:t>product</a:t>
            </a:r>
            <a:r>
              <a:rPr sz="2000" b="0" dirty="0">
                <a:solidFill>
                  <a:srgbClr val="0F2343"/>
                </a:solidFill>
                <a:latin typeface="Aptos"/>
              </a:rPr>
              <a:t> </a:t>
            </a:r>
            <a:r>
              <a:rPr lang="en-US" sz="2000" b="0" dirty="0">
                <a:solidFill>
                  <a:srgbClr val="0F2343"/>
                </a:solidFill>
                <a:latin typeface="Aptos"/>
              </a:rPr>
              <a:t>delivers a recurring decision.</a:t>
            </a:r>
            <a:endParaRPr lang="en-US" sz="2000" dirty="0">
              <a:solidFill>
                <a:srgbClr val="0F2343"/>
              </a:solidFill>
              <a:latin typeface="Aptos"/>
            </a:endParaRPr>
          </a:p>
        </p:txBody>
      </p:sp>
      <p:pic>
        <p:nvPicPr>
          <p:cNvPr id="23" name="Graphic 22" descr="Airplane with solid fill">
            <a:extLst>
              <a:ext uri="{FF2B5EF4-FFF2-40B4-BE49-F238E27FC236}">
                <a16:creationId xmlns:a16="http://schemas.microsoft.com/office/drawing/2014/main" id="{346383ED-F08C-CE59-A228-D3E3CF1C5A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3224" y="3636362"/>
            <a:ext cx="640080" cy="640080"/>
          </a:xfrm>
          <a:prstGeom prst="rect">
            <a:avLst/>
          </a:prstGeom>
        </p:spPr>
      </p:pic>
      <p:pic>
        <p:nvPicPr>
          <p:cNvPr id="25" name="Graphic 24" descr="Pilot male with solid fill">
            <a:extLst>
              <a:ext uri="{FF2B5EF4-FFF2-40B4-BE49-F238E27FC236}">
                <a16:creationId xmlns:a16="http://schemas.microsoft.com/office/drawing/2014/main" id="{808A3FA4-B9B9-3C55-0FB2-0794A6F436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3224" y="4276486"/>
            <a:ext cx="640080" cy="64008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4779463-3AE0-4406-F6DC-6C888E644398}"/>
              </a:ext>
            </a:extLst>
          </p:cNvPr>
          <p:cNvSpPr txBox="1"/>
          <p:nvPr/>
        </p:nvSpPr>
        <p:spPr>
          <a:xfrm>
            <a:off x="1552449" y="3837189"/>
            <a:ext cx="4777231" cy="1538883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algn="l"/>
            <a:r>
              <a:rPr lang="en-US" sz="2000" dirty="0">
                <a:solidFill>
                  <a:srgbClr val="0F2343"/>
                </a:solidFill>
                <a:latin typeface="Aptos"/>
              </a:rPr>
              <a:t>Plan the annual fleet composition</a:t>
            </a:r>
            <a:endParaRPr lang="en-US" sz="2000" b="1" dirty="0">
              <a:solidFill>
                <a:srgbClr val="0F2343"/>
              </a:solidFill>
              <a:latin typeface="Aptos"/>
              <a:sym typeface="Wingdings" panose="05000000000000000000" pitchFamily="2" charset="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0F2343"/>
              </a:solidFill>
              <a:latin typeface="Aptos"/>
              <a:sym typeface="Wingdings" panose="05000000000000000000" pitchFamily="2" charset="2"/>
            </a:endParaRPr>
          </a:p>
          <a:p>
            <a:pPr algn="l"/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Generate the monthly crew schedules</a:t>
            </a:r>
          </a:p>
          <a:p>
            <a:pPr algn="l"/>
            <a:endParaRPr lang="en-US" sz="2000" dirty="0">
              <a:solidFill>
                <a:srgbClr val="0F2343"/>
              </a:solidFill>
              <a:latin typeface="Aptos"/>
              <a:sym typeface="Wingdings" panose="05000000000000000000" pitchFamily="2" charset="2"/>
            </a:endParaRPr>
          </a:p>
          <a:p>
            <a:pPr algn="l"/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Recover from irregular operations</a:t>
            </a:r>
            <a:endParaRPr sz="2000" dirty="0">
              <a:solidFill>
                <a:srgbClr val="0F2343"/>
              </a:solidFill>
              <a:latin typeface="Aptos"/>
            </a:endParaRPr>
          </a:p>
        </p:txBody>
      </p:sp>
      <p:pic>
        <p:nvPicPr>
          <p:cNvPr id="29" name="Graphic 28" descr="Lightning with solid fill">
            <a:extLst>
              <a:ext uri="{FF2B5EF4-FFF2-40B4-BE49-F238E27FC236}">
                <a16:creationId xmlns:a16="http://schemas.microsoft.com/office/drawing/2014/main" id="{D5FB4D47-9306-5EAE-D4F1-AA8CA553A4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3224" y="4916610"/>
            <a:ext cx="640080" cy="64008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304BC2B-B999-069A-F453-3F115A98A815}"/>
              </a:ext>
            </a:extLst>
          </p:cNvPr>
          <p:cNvSpPr txBox="1"/>
          <p:nvPr/>
        </p:nvSpPr>
        <p:spPr>
          <a:xfrm>
            <a:off x="7059719" y="4242583"/>
            <a:ext cx="4677663" cy="707886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algn="ctr"/>
            <a:r>
              <a:rPr lang="en-US" sz="2200" b="1" dirty="0">
                <a:solidFill>
                  <a:srgbClr val="0F2343"/>
                </a:solidFill>
                <a:latin typeface="Aptos"/>
              </a:rPr>
              <a:t>These</a:t>
            </a:r>
            <a:r>
              <a:rPr sz="2200" b="1" dirty="0">
                <a:solidFill>
                  <a:srgbClr val="0F2343"/>
                </a:solidFill>
                <a:latin typeface="Aptos"/>
              </a:rPr>
              <a:t> product</a:t>
            </a:r>
            <a:r>
              <a:rPr lang="en-US" sz="2200" b="1" dirty="0">
                <a:solidFill>
                  <a:srgbClr val="0F2343"/>
                </a:solidFill>
                <a:latin typeface="Aptos"/>
              </a:rPr>
              <a:t>s</a:t>
            </a:r>
            <a:r>
              <a:rPr sz="2200" b="1" dirty="0">
                <a:solidFill>
                  <a:srgbClr val="0F2343"/>
                </a:solidFill>
                <a:latin typeface="Aptos"/>
              </a:rPr>
              <a:t> </a:t>
            </a:r>
            <a:r>
              <a:rPr lang="en-US" sz="2200" b="1" dirty="0">
                <a:solidFill>
                  <a:srgbClr val="0F2343"/>
                </a:solidFill>
                <a:latin typeface="Aptos"/>
              </a:rPr>
              <a:t>are also known as</a:t>
            </a:r>
          </a:p>
          <a:p>
            <a:pPr algn="ctr"/>
            <a:r>
              <a:rPr sz="2400" b="1" dirty="0">
                <a:solidFill>
                  <a:srgbClr val="F97316"/>
                </a:solidFill>
                <a:latin typeface="Aptos"/>
              </a:rPr>
              <a:t>decision-support system</a:t>
            </a:r>
            <a:r>
              <a:rPr lang="en-US" sz="2400" b="1" dirty="0">
                <a:solidFill>
                  <a:srgbClr val="F97316"/>
                </a:solidFill>
                <a:latin typeface="Aptos"/>
              </a:rPr>
              <a:t>s</a:t>
            </a:r>
            <a:r>
              <a:rPr sz="2400" b="1" dirty="0">
                <a:solidFill>
                  <a:srgbClr val="F97316"/>
                </a:solidFill>
                <a:latin typeface="Aptos"/>
              </a:rPr>
              <a:t> (DSS)</a:t>
            </a:r>
            <a:endParaRPr sz="2400" dirty="0">
              <a:solidFill>
                <a:srgbClr val="F97316"/>
              </a:solidFill>
              <a:latin typeface="Apto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D8BFC1-6CF9-44D6-8A0E-6DD357A2A5DC}"/>
              </a:ext>
            </a:extLst>
          </p:cNvPr>
          <p:cNvSpPr txBox="1"/>
          <p:nvPr/>
        </p:nvSpPr>
        <p:spPr>
          <a:xfrm>
            <a:off x="492760" y="5951100"/>
            <a:ext cx="11440160" cy="338554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2200" dirty="0">
                <a:solidFill>
                  <a:srgbClr val="0F2343"/>
                </a:solidFill>
                <a:latin typeface="Aptos"/>
              </a:rPr>
              <a:t>Its business value comes from </a:t>
            </a:r>
            <a:r>
              <a:rPr sz="2200" b="1" dirty="0">
                <a:solidFill>
                  <a:srgbClr val="0F2343"/>
                </a:solidFill>
                <a:latin typeface="Aptos"/>
              </a:rPr>
              <a:t>being sustainable over the lifetime of the business need</a:t>
            </a:r>
            <a:r>
              <a:rPr sz="2200" dirty="0">
                <a:solidFill>
                  <a:srgbClr val="0F2343"/>
                </a:solidFill>
                <a:latin typeface="Aptos"/>
              </a:rPr>
              <a:t>.</a:t>
            </a:r>
            <a:endParaRPr sz="240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42" name="Half Frame 41">
            <a:extLst>
              <a:ext uri="{FF2B5EF4-FFF2-40B4-BE49-F238E27FC236}">
                <a16:creationId xmlns:a16="http://schemas.microsoft.com/office/drawing/2014/main" id="{12D1AA8F-0805-0989-9397-699C7C614D7C}"/>
              </a:ext>
            </a:extLst>
          </p:cNvPr>
          <p:cNvSpPr/>
          <p:nvPr/>
        </p:nvSpPr>
        <p:spPr>
          <a:xfrm rot="7931673">
            <a:off x="5816163" y="4185198"/>
            <a:ext cx="842125" cy="842864"/>
          </a:xfrm>
          <a:prstGeom prst="halfFrame">
            <a:avLst>
              <a:gd name="adj1" fmla="val 22222"/>
              <a:gd name="adj2" fmla="val 22222"/>
            </a:avLst>
          </a:prstGeom>
          <a:solidFill>
            <a:srgbClr val="07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E796BF-8B07-91B8-7E72-BD4A45710603}"/>
              </a:ext>
            </a:extLst>
          </p:cNvPr>
          <p:cNvSpPr txBox="1"/>
          <p:nvPr/>
        </p:nvSpPr>
        <p:spPr>
          <a:xfrm>
            <a:off x="408432" y="3143967"/>
            <a:ext cx="11440160" cy="338554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rgbClr val="0F2343"/>
                </a:solidFill>
                <a:latin typeface="Aptos"/>
              </a:rPr>
              <a:t>Examples:</a:t>
            </a:r>
            <a:endParaRPr sz="240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9FDD39-FBA8-3120-AF80-591A148CA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7" grpId="0"/>
      <p:bldP spid="32" grpId="0"/>
      <p:bldP spid="34" grpId="0"/>
      <p:bldP spid="42" grpId="0" animBg="1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388D3-FEEB-4F1B-E0A0-4E7BE3F2D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C9F707-A9AE-6F46-3E41-731917B65D1B}"/>
              </a:ext>
            </a:extLst>
          </p:cNvPr>
          <p:cNvSpPr txBox="1"/>
          <p:nvPr/>
        </p:nvSpPr>
        <p:spPr>
          <a:xfrm>
            <a:off x="365760" y="213360"/>
            <a:ext cx="1156716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4000" b="1" i="0" dirty="0">
                <a:solidFill>
                  <a:srgbClr val="0F2343"/>
                </a:solidFill>
                <a:latin typeface="Aptos Display"/>
              </a:rPr>
              <a:t>DSS ofte</a:t>
            </a:r>
            <a:r>
              <a:rPr lang="en-US" sz="4000" b="1" dirty="0">
                <a:solidFill>
                  <a:srgbClr val="0F2343"/>
                </a:solidFill>
                <a:latin typeface="Aptos Display"/>
              </a:rPr>
              <a:t>n has weak software practices surrounding the applied mathematics</a:t>
            </a:r>
            <a:endParaRPr sz="4000" b="1" i="0" baseline="30000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036FCF-471F-9482-CD83-501EFE7170D2}"/>
              </a:ext>
            </a:extLst>
          </p:cNvPr>
          <p:cNvSpPr/>
          <p:nvPr/>
        </p:nvSpPr>
        <p:spPr>
          <a:xfrm>
            <a:off x="365760" y="2237740"/>
            <a:ext cx="2877895" cy="2740658"/>
          </a:xfrm>
          <a:prstGeom prst="rect">
            <a:avLst/>
          </a:prstGeom>
          <a:solidFill>
            <a:srgbClr val="07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9D194E-D349-1C21-35E3-62AEB7F63DD7}"/>
              </a:ext>
            </a:extLst>
          </p:cNvPr>
          <p:cNvCxnSpPr>
            <a:cxnSpLocks/>
          </p:cNvCxnSpPr>
          <p:nvPr/>
        </p:nvCxnSpPr>
        <p:spPr>
          <a:xfrm>
            <a:off x="1138936" y="2209801"/>
            <a:ext cx="0" cy="2763518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2AF3F67-D30B-9B79-12FA-A23D62DD38F0}"/>
              </a:ext>
            </a:extLst>
          </p:cNvPr>
          <p:cNvCxnSpPr>
            <a:cxnSpLocks/>
          </p:cNvCxnSpPr>
          <p:nvPr/>
        </p:nvCxnSpPr>
        <p:spPr>
          <a:xfrm>
            <a:off x="2559304" y="2214880"/>
            <a:ext cx="0" cy="2763518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3C26E8D-9E5A-E5E9-CE96-C6CDC5AAB10C}"/>
              </a:ext>
            </a:extLst>
          </p:cNvPr>
          <p:cNvCxnSpPr>
            <a:cxnSpLocks/>
          </p:cNvCxnSpPr>
          <p:nvPr/>
        </p:nvCxnSpPr>
        <p:spPr>
          <a:xfrm>
            <a:off x="365760" y="3054452"/>
            <a:ext cx="2877895" cy="0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7C832C6-953D-5848-8091-3B054ED1203B}"/>
              </a:ext>
            </a:extLst>
          </p:cNvPr>
          <p:cNvCxnSpPr>
            <a:cxnSpLocks/>
          </p:cNvCxnSpPr>
          <p:nvPr/>
        </p:nvCxnSpPr>
        <p:spPr>
          <a:xfrm>
            <a:off x="365760" y="4260952"/>
            <a:ext cx="2877895" cy="0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0F738DEB-F6F5-56AB-6291-D1EEE8000A38}"/>
              </a:ext>
            </a:extLst>
          </p:cNvPr>
          <p:cNvSpPr/>
          <p:nvPr/>
        </p:nvSpPr>
        <p:spPr>
          <a:xfrm>
            <a:off x="1520010" y="3381214"/>
            <a:ext cx="616413" cy="616413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CE9302-0C58-66DA-DF3B-96FBFDC516D0}"/>
              </a:ext>
            </a:extLst>
          </p:cNvPr>
          <p:cNvSpPr txBox="1"/>
          <p:nvPr/>
        </p:nvSpPr>
        <p:spPr>
          <a:xfrm>
            <a:off x="193040" y="1787129"/>
            <a:ext cx="3556000" cy="369332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algn="ctr"/>
            <a:r>
              <a:rPr lang="en-US" sz="2400" dirty="0">
                <a:solidFill>
                  <a:srgbClr val="0F2343"/>
                </a:solidFill>
                <a:latin typeface="Aptos"/>
              </a:rPr>
              <a:t>Decision-support system</a:t>
            </a:r>
            <a:endParaRPr sz="2400" dirty="0">
              <a:solidFill>
                <a:srgbClr val="0F2343"/>
              </a:solidFill>
              <a:latin typeface="Aptos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ADA70A64-923B-07CD-36E2-5D2215A89307}"/>
              </a:ext>
            </a:extLst>
          </p:cNvPr>
          <p:cNvGrpSpPr/>
          <p:nvPr/>
        </p:nvGrpSpPr>
        <p:grpSpPr>
          <a:xfrm>
            <a:off x="2214880" y="3049372"/>
            <a:ext cx="210820" cy="665449"/>
            <a:chOff x="2448560" y="3002280"/>
            <a:chExt cx="210820" cy="665449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0D9A473-E357-F115-B84B-0A1A2E8B2A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73960" y="3002280"/>
              <a:ext cx="81280" cy="165100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2385FE7-5F3D-F89B-3607-C3D54D0777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48560" y="3154680"/>
              <a:ext cx="106680" cy="96520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27DEA6DD-E8BF-D617-11BD-658E41E853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48560" y="3235961"/>
              <a:ext cx="152400" cy="127000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1922346-6EDB-1FD4-9DED-D06C29AFFE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55240" y="3349022"/>
              <a:ext cx="43180" cy="127000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773E4396-3015-A72A-76AF-4E2BEDB0EE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55240" y="3469641"/>
              <a:ext cx="104140" cy="127000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262D9E56-35EB-BF80-7D18-A0164F2F37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61895" y="3469641"/>
              <a:ext cx="93345" cy="104203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5ECDAEC-2AC5-76A4-6E9B-0E2AD776B0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7634" y="3586513"/>
              <a:ext cx="1429" cy="81216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C89E5620-45F3-92DE-F463-65455FD8F3F7}"/>
              </a:ext>
            </a:extLst>
          </p:cNvPr>
          <p:cNvGrpSpPr/>
          <p:nvPr/>
        </p:nvGrpSpPr>
        <p:grpSpPr>
          <a:xfrm>
            <a:off x="1319329" y="3970243"/>
            <a:ext cx="177843" cy="295789"/>
            <a:chOff x="1410769" y="3999351"/>
            <a:chExt cx="177843" cy="295789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73745DF-4C0E-6F0D-AB8B-DEE96840F2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36212" y="4072240"/>
              <a:ext cx="123490" cy="111139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802DC999-3657-8E19-7B90-27510C6AB4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36212" y="4168140"/>
              <a:ext cx="152400" cy="127000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8A84B3DE-DAB7-2F7D-4528-82B6E4F2F347}"/>
                </a:ext>
              </a:extLst>
            </p:cNvPr>
            <p:cNvCxnSpPr>
              <a:cxnSpLocks/>
            </p:cNvCxnSpPr>
            <p:nvPr/>
          </p:nvCxnSpPr>
          <p:spPr>
            <a:xfrm>
              <a:off x="1410769" y="3999351"/>
              <a:ext cx="148933" cy="85433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C20E2A5A-208E-EE25-A36B-BD1306B1F1E0}"/>
              </a:ext>
            </a:extLst>
          </p:cNvPr>
          <p:cNvSpPr/>
          <p:nvPr/>
        </p:nvSpPr>
        <p:spPr>
          <a:xfrm>
            <a:off x="570371" y="5196554"/>
            <a:ext cx="365760" cy="365760"/>
          </a:xfrm>
          <a:prstGeom prst="rect">
            <a:avLst/>
          </a:prstGeom>
          <a:solidFill>
            <a:srgbClr val="07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F83C73F0-9BA7-1CDF-F87F-4F42BCD0DB7B}"/>
              </a:ext>
            </a:extLst>
          </p:cNvPr>
          <p:cNvSpPr/>
          <p:nvPr/>
        </p:nvSpPr>
        <p:spPr>
          <a:xfrm>
            <a:off x="570371" y="5698576"/>
            <a:ext cx="322297" cy="322297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5136135-8F08-53A0-1C3C-DCD8ED689E2D}"/>
              </a:ext>
            </a:extLst>
          </p:cNvPr>
          <p:cNvSpPr txBox="1"/>
          <p:nvPr/>
        </p:nvSpPr>
        <p:spPr>
          <a:xfrm>
            <a:off x="1012331" y="5240934"/>
            <a:ext cx="2704591" cy="276999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algn="l"/>
            <a:r>
              <a:rPr lang="en-US" dirty="0">
                <a:solidFill>
                  <a:srgbClr val="0F2343"/>
                </a:solidFill>
                <a:latin typeface="Aptos"/>
              </a:rPr>
              <a:t>Software components</a:t>
            </a:r>
            <a:endParaRPr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5C6B36C-D9FC-0BDE-8BEE-8ECD2B952947}"/>
              </a:ext>
            </a:extLst>
          </p:cNvPr>
          <p:cNvSpPr txBox="1"/>
          <p:nvPr/>
        </p:nvSpPr>
        <p:spPr>
          <a:xfrm>
            <a:off x="988738" y="5716146"/>
            <a:ext cx="2704591" cy="276999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algn="l"/>
            <a:r>
              <a:rPr lang="en-US" dirty="0">
                <a:solidFill>
                  <a:srgbClr val="0F2343"/>
                </a:solidFill>
                <a:latin typeface="Aptos"/>
              </a:rPr>
              <a:t>Applied mathematics</a:t>
            </a:r>
            <a:endParaRPr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9C194EE-3678-95F3-16AC-0055DAB742EE}"/>
              </a:ext>
            </a:extLst>
          </p:cNvPr>
          <p:cNvSpPr txBox="1"/>
          <p:nvPr/>
        </p:nvSpPr>
        <p:spPr>
          <a:xfrm>
            <a:off x="340906" y="6528066"/>
            <a:ext cx="8652623" cy="184666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algn="l"/>
            <a:r>
              <a:rPr lang="en-US" sz="1200" dirty="0">
                <a:solidFill>
                  <a:srgbClr val="0F2343"/>
                </a:solidFill>
                <a:latin typeface="Aptos"/>
              </a:rPr>
              <a:t>Source: V</a:t>
            </a:r>
            <a:r>
              <a:rPr lang="it-IT" sz="1200" dirty="0">
                <a:solidFill>
                  <a:srgbClr val="0F2343"/>
                </a:solidFill>
                <a:latin typeface="Aptos"/>
              </a:rPr>
              <a:t>idoni, Cunico &amp; Vecchietti (2018, 2020); Vidoni (2021); Vidoni &amp; Cunico (2022); Kanewala &amp; Bieman (2014)</a:t>
            </a:r>
            <a:endParaRPr sz="120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88" name="Half Frame 87">
            <a:extLst>
              <a:ext uri="{FF2B5EF4-FFF2-40B4-BE49-F238E27FC236}">
                <a16:creationId xmlns:a16="http://schemas.microsoft.com/office/drawing/2014/main" id="{0651035A-E85C-0B97-75CB-DBA1672A2B5D}"/>
              </a:ext>
            </a:extLst>
          </p:cNvPr>
          <p:cNvSpPr/>
          <p:nvPr/>
        </p:nvSpPr>
        <p:spPr>
          <a:xfrm rot="7931673">
            <a:off x="3437194" y="3307914"/>
            <a:ext cx="842125" cy="842864"/>
          </a:xfrm>
          <a:prstGeom prst="halfFrame">
            <a:avLst>
              <a:gd name="adj1" fmla="val 22222"/>
              <a:gd name="adj2" fmla="val 22222"/>
            </a:avLst>
          </a:prstGeom>
          <a:solidFill>
            <a:srgbClr val="07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525FED7-552E-6EE3-97D8-477E6E6860A6}"/>
              </a:ext>
            </a:extLst>
          </p:cNvPr>
          <p:cNvSpPr txBox="1"/>
          <p:nvPr/>
        </p:nvSpPr>
        <p:spPr>
          <a:xfrm>
            <a:off x="4824984" y="1965308"/>
            <a:ext cx="6719314" cy="1600438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algn="l"/>
            <a:r>
              <a:rPr lang="en-US" sz="2400" b="1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Cultural reasons</a:t>
            </a:r>
            <a:endParaRPr lang="en-US" sz="2400" b="1" baseline="30000" dirty="0">
              <a:solidFill>
                <a:srgbClr val="0F2343"/>
              </a:solidFill>
              <a:latin typeface="Aptos"/>
              <a:sym typeface="Wingdings" panose="05000000000000000000" pitchFamily="2" charset="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Scientists are trained deeply in mathematics, but not in software engineering (SE).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They don’t know the benefits of SE, or they don’t think it is for them.</a:t>
            </a:r>
            <a:endParaRPr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2F24EDD-0C4A-5855-4A6C-24419EC47379}"/>
              </a:ext>
            </a:extLst>
          </p:cNvPr>
          <p:cNvSpPr txBox="1"/>
          <p:nvPr/>
        </p:nvSpPr>
        <p:spPr>
          <a:xfrm>
            <a:off x="4824985" y="4092473"/>
            <a:ext cx="6719314" cy="984885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r>
              <a:rPr lang="en-US" sz="2400" b="1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Technical reasons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DSS has unique challenges deriving from the fusion of applied mathematics and SE.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571187-EF99-43F8-610D-5D0E2CEC23E0}"/>
              </a:ext>
            </a:extLst>
          </p:cNvPr>
          <p:cNvSpPr txBox="1"/>
          <p:nvPr/>
        </p:nvSpPr>
        <p:spPr>
          <a:xfrm>
            <a:off x="5069518" y="5111687"/>
            <a:ext cx="60938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How to automatically test an optimization model?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How to design the system to be solver-agnostic?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How to set an experimentation platform?</a:t>
            </a:r>
            <a:endParaRPr lang="en-US" sz="180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4B2EDA-76DD-8C05-09A8-E5B310C2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99BB9CE4-44CD-0AAB-6DA8-31404CC71AFE}"/>
              </a:ext>
            </a:extLst>
          </p:cNvPr>
          <p:cNvSpPr/>
          <p:nvPr/>
        </p:nvSpPr>
        <p:spPr>
          <a:xfrm>
            <a:off x="2917539" y="1720142"/>
            <a:ext cx="5023297" cy="2662201"/>
          </a:xfrm>
          <a:prstGeom prst="wedgeRectCallout">
            <a:avLst>
              <a:gd name="adj1" fmla="val -59611"/>
              <a:gd name="adj2" fmla="val 17830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Some examples: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No version control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Lack of automated testing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Manual processes to make the system work.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Usage of </a:t>
            </a:r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</a:rPr>
              <a:t>jupyter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 notebooks in production.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Unclear software design.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3270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90" grpId="0"/>
      <p:bldP spid="92" grpId="0"/>
      <p:bldP spid="5" grpId="0"/>
      <p:bldP spid="7" grpId="0" animBg="1"/>
      <p:bldP spid="7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19A4D-3F27-87BE-987C-7A47110CB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6940FD-E43A-991F-D264-00F929F30095}"/>
              </a:ext>
            </a:extLst>
          </p:cNvPr>
          <p:cNvSpPr txBox="1"/>
          <p:nvPr/>
        </p:nvSpPr>
        <p:spPr>
          <a:xfrm>
            <a:off x="365760" y="213360"/>
            <a:ext cx="1156716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000" b="1">
                <a:solidFill>
                  <a:srgbClr val="0F2343"/>
                </a:solidFill>
                <a:latin typeface="Aptos Display"/>
              </a:rPr>
              <a:t>Weak software practices constrain the potential business value a DSS can deliver</a:t>
            </a:r>
            <a:endParaRPr sz="4000" b="1" i="0" baseline="30000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895C536-91BF-2855-F5F9-58EBE7A19080}"/>
              </a:ext>
            </a:extLst>
          </p:cNvPr>
          <p:cNvSpPr txBox="1"/>
          <p:nvPr/>
        </p:nvSpPr>
        <p:spPr>
          <a:xfrm>
            <a:off x="340906" y="6470484"/>
            <a:ext cx="8652623" cy="184666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algn="l"/>
            <a:r>
              <a:rPr lang="en-US" sz="1200" dirty="0">
                <a:solidFill>
                  <a:srgbClr val="0F2343"/>
                </a:solidFill>
                <a:latin typeface="Aptos"/>
              </a:rPr>
              <a:t>Source: A Philosophy of Software Design (John Ousterhout). These curves are illustrative.</a:t>
            </a:r>
            <a:endParaRPr sz="120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ACD475-C282-593F-6623-A5D951EC5D81}"/>
              </a:ext>
            </a:extLst>
          </p:cNvPr>
          <p:cNvSpPr txBox="1"/>
          <p:nvPr/>
        </p:nvSpPr>
        <p:spPr>
          <a:xfrm>
            <a:off x="365759" y="2069592"/>
            <a:ext cx="5560685" cy="3877985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algn="l"/>
            <a:r>
              <a:rPr lang="en-US" sz="2400" b="1" dirty="0">
                <a:solidFill>
                  <a:srgbClr val="0F2343"/>
                </a:solidFill>
                <a:latin typeface="Aptos"/>
              </a:rPr>
              <a:t>What happens to weak software?</a:t>
            </a:r>
          </a:p>
          <a:p>
            <a:pPr algn="l"/>
            <a:endParaRPr lang="en-US" sz="2400" b="1" dirty="0">
              <a:solidFill>
                <a:srgbClr val="0F2343"/>
              </a:solidFill>
              <a:latin typeface="Aptos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F2343"/>
                </a:solidFill>
                <a:latin typeface="Aptos"/>
              </a:rPr>
              <a:t>Harder to test, deploy and maintain.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F2343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F2343"/>
              </a:solidFill>
              <a:latin typeface="Aptos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F2343"/>
                </a:solidFill>
                <a:latin typeface="Aptos"/>
              </a:rPr>
              <a:t>Short-term delivery includes significant technical debt.</a:t>
            </a:r>
          </a:p>
          <a:p>
            <a:pPr algn="l"/>
            <a:endParaRPr lang="en-US" sz="2000" dirty="0">
              <a:solidFill>
                <a:srgbClr val="0F2343"/>
              </a:solidFill>
              <a:latin typeface="Aptos"/>
            </a:endParaRPr>
          </a:p>
          <a:p>
            <a:pPr algn="l"/>
            <a:endParaRPr lang="en-US" sz="2000" dirty="0">
              <a:solidFill>
                <a:srgbClr val="0F2343"/>
              </a:solidFill>
              <a:latin typeface="Aptos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F2343"/>
                </a:solidFill>
                <a:latin typeface="Aptos"/>
              </a:rPr>
              <a:t>At some point becomes unsustainable: rewrite or decommission.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sz="2400" dirty="0">
              <a:solidFill>
                <a:srgbClr val="0F2343"/>
              </a:solidFill>
              <a:latin typeface="Aptos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878DEF3-DAC5-EADC-568B-6A04D4755D34}"/>
              </a:ext>
            </a:extLst>
          </p:cNvPr>
          <p:cNvCxnSpPr>
            <a:cxnSpLocks/>
          </p:cNvCxnSpPr>
          <p:nvPr/>
        </p:nvCxnSpPr>
        <p:spPr>
          <a:xfrm flipV="1">
            <a:off x="6471920" y="2133600"/>
            <a:ext cx="0" cy="3688080"/>
          </a:xfrm>
          <a:prstGeom prst="straightConnector1">
            <a:avLst/>
          </a:prstGeom>
          <a:ln>
            <a:solidFill>
              <a:srgbClr val="07142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3167BB7-4ADC-92CA-38F2-8B95B75BA0DA}"/>
              </a:ext>
            </a:extLst>
          </p:cNvPr>
          <p:cNvCxnSpPr>
            <a:cxnSpLocks/>
          </p:cNvCxnSpPr>
          <p:nvPr/>
        </p:nvCxnSpPr>
        <p:spPr>
          <a:xfrm>
            <a:off x="6471920" y="5821680"/>
            <a:ext cx="4328160" cy="0"/>
          </a:xfrm>
          <a:prstGeom prst="straightConnector1">
            <a:avLst/>
          </a:prstGeom>
          <a:ln>
            <a:solidFill>
              <a:srgbClr val="07142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5B0DC7E-6703-F2BE-50F5-8538E16F7B5B}"/>
              </a:ext>
            </a:extLst>
          </p:cNvPr>
          <p:cNvSpPr txBox="1"/>
          <p:nvPr/>
        </p:nvSpPr>
        <p:spPr>
          <a:xfrm>
            <a:off x="6700875" y="2103812"/>
            <a:ext cx="1608430" cy="276999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algn="l"/>
            <a:r>
              <a:rPr lang="en-US" dirty="0">
                <a:solidFill>
                  <a:srgbClr val="07142B"/>
                </a:solidFill>
                <a:latin typeface="Aptos"/>
              </a:rPr>
              <a:t>Total progress</a:t>
            </a:r>
            <a:endParaRPr dirty="0">
              <a:solidFill>
                <a:srgbClr val="07142B"/>
              </a:solidFill>
              <a:latin typeface="Aptos"/>
            </a:endParaRP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2122D9E5-9641-243A-5701-1AAB14F13665}"/>
              </a:ext>
            </a:extLst>
          </p:cNvPr>
          <p:cNvSpPr/>
          <p:nvPr/>
        </p:nvSpPr>
        <p:spPr>
          <a:xfrm rot="16410470">
            <a:off x="6648889" y="4308024"/>
            <a:ext cx="2820006" cy="3175572"/>
          </a:xfrm>
          <a:prstGeom prst="arc">
            <a:avLst/>
          </a:prstGeom>
          <a:ln w="38100">
            <a:solidFill>
              <a:srgbClr val="0714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3B08F6-DC4B-2568-6589-FC3523207FB0}"/>
              </a:ext>
            </a:extLst>
          </p:cNvPr>
          <p:cNvSpPr txBox="1"/>
          <p:nvPr/>
        </p:nvSpPr>
        <p:spPr>
          <a:xfrm>
            <a:off x="10904510" y="5678197"/>
            <a:ext cx="797205" cy="276999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algn="l"/>
            <a:r>
              <a:rPr lang="en-US" dirty="0">
                <a:solidFill>
                  <a:srgbClr val="07142B"/>
                </a:solidFill>
                <a:latin typeface="Aptos"/>
              </a:rPr>
              <a:t>Time</a:t>
            </a:r>
            <a:endParaRPr dirty="0">
              <a:solidFill>
                <a:srgbClr val="07142B"/>
              </a:solidFill>
              <a:latin typeface="Aptos"/>
            </a:endParaRPr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5DF66D1F-6873-0AC5-6736-64C2A6E03BDE}"/>
              </a:ext>
            </a:extLst>
          </p:cNvPr>
          <p:cNvSpPr/>
          <p:nvPr/>
        </p:nvSpPr>
        <p:spPr>
          <a:xfrm rot="16410470">
            <a:off x="7789658" y="2038551"/>
            <a:ext cx="5463219" cy="8096824"/>
          </a:xfrm>
          <a:prstGeom prst="arc">
            <a:avLst/>
          </a:prstGeom>
          <a:ln w="38100">
            <a:solidFill>
              <a:srgbClr val="0714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86FA0F1-05F0-B5D3-19E1-E6587F71B4EC}"/>
              </a:ext>
            </a:extLst>
          </p:cNvPr>
          <p:cNvCxnSpPr>
            <a:cxnSpLocks/>
          </p:cNvCxnSpPr>
          <p:nvPr/>
        </p:nvCxnSpPr>
        <p:spPr>
          <a:xfrm flipV="1">
            <a:off x="6471920" y="2751376"/>
            <a:ext cx="1837385" cy="3070304"/>
          </a:xfrm>
          <a:prstGeom prst="line">
            <a:avLst/>
          </a:prstGeom>
          <a:ln w="38100">
            <a:solidFill>
              <a:srgbClr val="F97316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227492C0-5316-8A6C-5F73-DDB9CBB454DB}"/>
              </a:ext>
            </a:extLst>
          </p:cNvPr>
          <p:cNvSpPr/>
          <p:nvPr/>
        </p:nvSpPr>
        <p:spPr>
          <a:xfrm>
            <a:off x="8560387" y="2582204"/>
            <a:ext cx="1960880" cy="33834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  <a:latin typeface="Aptos"/>
              </a:rPr>
              <a:t>Solid foundations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D8BA7A5-7A69-BBE4-8702-2AE04A1362B0}"/>
              </a:ext>
            </a:extLst>
          </p:cNvPr>
          <p:cNvSpPr/>
          <p:nvPr/>
        </p:nvSpPr>
        <p:spPr>
          <a:xfrm>
            <a:off x="9954774" y="3428905"/>
            <a:ext cx="1690612" cy="338344"/>
          </a:xfrm>
          <a:prstGeom prst="rect">
            <a:avLst/>
          </a:prstGeom>
          <a:solidFill>
            <a:srgbClr val="07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  <a:latin typeface="Aptos"/>
              </a:rPr>
              <a:t>Legacy system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B1C6475-0718-C7C2-C5AA-8DECECEB9B30}"/>
              </a:ext>
            </a:extLst>
          </p:cNvPr>
          <p:cNvSpPr/>
          <p:nvPr/>
        </p:nvSpPr>
        <p:spPr>
          <a:xfrm>
            <a:off x="8259252" y="4313267"/>
            <a:ext cx="2032545" cy="338344"/>
          </a:xfrm>
          <a:prstGeom prst="rect">
            <a:avLst/>
          </a:prstGeom>
          <a:solidFill>
            <a:srgbClr val="07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  <a:latin typeface="Aptos"/>
              </a:rPr>
              <a:t>Short-lived system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30B03C-2123-7AEF-B77A-AE47DBACF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925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 animBg="1"/>
      <p:bldP spid="23" grpId="0"/>
      <p:bldP spid="25" grpId="0" animBg="1"/>
      <p:bldP spid="33" grpId="0" animBg="1"/>
      <p:bldP spid="34" grpId="0" animBg="1"/>
      <p:bldP spid="3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BC7A2-A6DE-C8B8-A266-117B500E2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537133-00D2-B296-3790-AF51B469D2D0}"/>
              </a:ext>
            </a:extLst>
          </p:cNvPr>
          <p:cNvSpPr txBox="1"/>
          <p:nvPr/>
        </p:nvSpPr>
        <p:spPr>
          <a:xfrm>
            <a:off x="365760" y="213360"/>
            <a:ext cx="1156716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4000" b="1" dirty="0">
                <a:solidFill>
                  <a:srgbClr val="0F2343"/>
                </a:solidFill>
                <a:latin typeface="Aptos Display"/>
              </a:rPr>
              <a:t>Operate as a specialized software development team to unlock the full value of a DSS</a:t>
            </a:r>
            <a:endParaRPr sz="4000" b="1" i="0" baseline="30000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4A4681D-4F89-CDE3-B0BB-0038B1269F89}"/>
              </a:ext>
            </a:extLst>
          </p:cNvPr>
          <p:cNvSpPr/>
          <p:nvPr/>
        </p:nvSpPr>
        <p:spPr>
          <a:xfrm>
            <a:off x="462280" y="3627120"/>
            <a:ext cx="3357880" cy="3017520"/>
          </a:xfrm>
          <a:prstGeom prst="ellipse">
            <a:avLst/>
          </a:prstGeom>
          <a:solidFill>
            <a:srgbClr val="F97316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70CF306-7DFD-B713-A616-8FD005FD74F3}"/>
              </a:ext>
            </a:extLst>
          </p:cNvPr>
          <p:cNvSpPr/>
          <p:nvPr/>
        </p:nvSpPr>
        <p:spPr>
          <a:xfrm>
            <a:off x="462280" y="1548844"/>
            <a:ext cx="3357880" cy="3017520"/>
          </a:xfrm>
          <a:prstGeom prst="ellipse">
            <a:avLst/>
          </a:prstGeom>
          <a:solidFill>
            <a:srgbClr val="07142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Aptos" panose="020B0004020202020204" pitchFamily="34" charset="0"/>
            </a:endParaRP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D40D346-36BD-4C80-4D82-A6ED0CD0FD0C}"/>
              </a:ext>
            </a:extLst>
          </p:cNvPr>
          <p:cNvCxnSpPr>
            <a:cxnSpLocks/>
          </p:cNvCxnSpPr>
          <p:nvPr/>
        </p:nvCxnSpPr>
        <p:spPr>
          <a:xfrm>
            <a:off x="3027680" y="2635794"/>
            <a:ext cx="1676400" cy="0"/>
          </a:xfrm>
          <a:prstGeom prst="straightConnector1">
            <a:avLst/>
          </a:prstGeom>
          <a:ln>
            <a:solidFill>
              <a:srgbClr val="07142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1AC9097-E73D-D8CC-7988-A1F79E34FA2B}"/>
              </a:ext>
            </a:extLst>
          </p:cNvPr>
          <p:cNvCxnSpPr>
            <a:cxnSpLocks/>
          </p:cNvCxnSpPr>
          <p:nvPr/>
        </p:nvCxnSpPr>
        <p:spPr>
          <a:xfrm>
            <a:off x="3027680" y="4090670"/>
            <a:ext cx="1676400" cy="0"/>
          </a:xfrm>
          <a:prstGeom prst="straightConnector1">
            <a:avLst/>
          </a:prstGeom>
          <a:ln>
            <a:solidFill>
              <a:srgbClr val="07142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E0EC73A7-6518-A3A8-9BAB-714684CBC546}"/>
              </a:ext>
            </a:extLst>
          </p:cNvPr>
          <p:cNvCxnSpPr>
            <a:cxnSpLocks/>
          </p:cNvCxnSpPr>
          <p:nvPr/>
        </p:nvCxnSpPr>
        <p:spPr>
          <a:xfrm>
            <a:off x="3027680" y="5542924"/>
            <a:ext cx="1676400" cy="0"/>
          </a:xfrm>
          <a:prstGeom prst="straightConnector1">
            <a:avLst/>
          </a:prstGeom>
          <a:ln>
            <a:solidFill>
              <a:srgbClr val="07142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6DE225F2-F3A6-67AD-471E-EA4205E9CC90}"/>
              </a:ext>
            </a:extLst>
          </p:cNvPr>
          <p:cNvSpPr txBox="1"/>
          <p:nvPr/>
        </p:nvSpPr>
        <p:spPr>
          <a:xfrm>
            <a:off x="4873374" y="2297240"/>
            <a:ext cx="7059546" cy="677108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algn="l"/>
            <a:r>
              <a:rPr lang="en-US" sz="2400" b="1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Developers</a:t>
            </a:r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 to tackle problems agnostic to OR: design a database, data, deployments.</a:t>
            </a:r>
            <a:endParaRPr sz="160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8016E2-ECA1-30EA-F9C7-A45A026D4455}"/>
              </a:ext>
            </a:extLst>
          </p:cNvPr>
          <p:cNvSpPr txBox="1"/>
          <p:nvPr/>
        </p:nvSpPr>
        <p:spPr>
          <a:xfrm>
            <a:off x="4842069" y="5206992"/>
            <a:ext cx="7059546" cy="677108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algn="l"/>
            <a:r>
              <a:rPr lang="en-US" sz="2400" b="1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Scientists</a:t>
            </a:r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 trained in </a:t>
            </a:r>
            <a:r>
              <a:rPr lang="en-US" sz="2000" u="sng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some</a:t>
            </a:r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 SE elements: SDLC, elicitation, agile, OOP, basics of design, automated testing, TDD, CI.</a:t>
            </a:r>
            <a:endParaRPr sz="160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DFBECD0-B79B-8E35-B53A-12D9DBB89D6A}"/>
              </a:ext>
            </a:extLst>
          </p:cNvPr>
          <p:cNvSpPr txBox="1"/>
          <p:nvPr/>
        </p:nvSpPr>
        <p:spPr>
          <a:xfrm>
            <a:off x="4842069" y="3587750"/>
            <a:ext cx="7059546" cy="1005840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algn="l"/>
            <a:r>
              <a:rPr lang="en-US" sz="2400" b="1" dirty="0">
                <a:solidFill>
                  <a:srgbClr val="0F2343"/>
                </a:solidFill>
                <a:latin typeface="Aptos"/>
              </a:rPr>
              <a:t>OR Engineers</a:t>
            </a:r>
            <a:r>
              <a:rPr sz="2000" b="0" dirty="0">
                <a:solidFill>
                  <a:srgbClr val="0F2343"/>
                </a:solidFill>
                <a:latin typeface="Aptos"/>
              </a:rPr>
              <a:t> </a:t>
            </a:r>
            <a:r>
              <a:rPr lang="en-US" sz="2000" b="0" dirty="0">
                <a:solidFill>
                  <a:srgbClr val="0F2343"/>
                </a:solidFill>
                <a:latin typeface="Aptos"/>
              </a:rPr>
              <a:t>to set</a:t>
            </a:r>
            <a:r>
              <a:rPr sz="2000" b="0" dirty="0">
                <a:solidFill>
                  <a:srgbClr val="0F2343"/>
                </a:solidFill>
                <a:latin typeface="Aptos"/>
              </a:rPr>
              <a:t> </a:t>
            </a:r>
            <a:r>
              <a:rPr lang="en-US" sz="2000" b="0" dirty="0">
                <a:solidFill>
                  <a:srgbClr val="0F2343"/>
                </a:solidFill>
                <a:latin typeface="Aptos"/>
              </a:rPr>
              <a:t>scientific</a:t>
            </a:r>
            <a:r>
              <a:rPr sz="2000" b="0" dirty="0">
                <a:solidFill>
                  <a:srgbClr val="0F2343"/>
                </a:solidFill>
                <a:latin typeface="Aptos"/>
              </a:rPr>
              <a:t> </a:t>
            </a:r>
            <a:r>
              <a:rPr lang="en-US" sz="2000" b="0" dirty="0">
                <a:solidFill>
                  <a:srgbClr val="0F2343"/>
                </a:solidFill>
                <a:latin typeface="Aptos"/>
              </a:rPr>
              <a:t>development needs: optimization model testing</a:t>
            </a:r>
            <a:r>
              <a:rPr sz="2000" b="0" dirty="0">
                <a:solidFill>
                  <a:srgbClr val="0F2343"/>
                </a:solidFill>
                <a:latin typeface="Aptos"/>
              </a:rPr>
              <a:t>, </a:t>
            </a:r>
            <a:r>
              <a:rPr lang="en-US" sz="2000" b="0" dirty="0">
                <a:solidFill>
                  <a:srgbClr val="0F2343"/>
                </a:solidFill>
                <a:latin typeface="Aptos"/>
              </a:rPr>
              <a:t>solver-agnostic design, experimentation suite, among others.</a:t>
            </a:r>
            <a:endParaRPr sz="160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901C05-FAAC-4E71-0873-19FC666A2078}"/>
              </a:ext>
            </a:extLst>
          </p:cNvPr>
          <p:cNvSpPr txBox="1"/>
          <p:nvPr/>
        </p:nvSpPr>
        <p:spPr>
          <a:xfrm>
            <a:off x="1471536" y="2505372"/>
            <a:ext cx="14782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Software</a:t>
            </a:r>
            <a:b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</a:b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Engineering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C0BF73-EF50-8BF3-4BB8-82120F16D1B3}"/>
              </a:ext>
            </a:extLst>
          </p:cNvPr>
          <p:cNvSpPr txBox="1"/>
          <p:nvPr/>
        </p:nvSpPr>
        <p:spPr>
          <a:xfrm>
            <a:off x="1502925" y="4925949"/>
            <a:ext cx="14155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Operations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Research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883C84-27FD-F66D-505D-D3D913B77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924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/>
      <p:bldP spid="87" grpId="0"/>
      <p:bldP spid="8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E8281-9896-64B1-6096-21E51F7B9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46D02F-6B0B-996E-8E33-91A236B17836}"/>
              </a:ext>
            </a:extLst>
          </p:cNvPr>
          <p:cNvSpPr txBox="1"/>
          <p:nvPr/>
        </p:nvSpPr>
        <p:spPr>
          <a:xfrm>
            <a:off x="365760" y="213360"/>
            <a:ext cx="1156716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dirty="0">
                <a:solidFill>
                  <a:srgbClr val="0F2343"/>
                </a:solidFill>
                <a:latin typeface="Aptos Display"/>
              </a:rPr>
              <a:t>The OR team owns the product, but it does not need to hold every skill itself</a:t>
            </a:r>
            <a:endParaRPr sz="4000" b="1" i="0" baseline="30000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65760" y="1804093"/>
            <a:ext cx="5486400" cy="3707022"/>
          </a:xfrm>
          <a:prstGeom prst="roundRect">
            <a:avLst>
              <a:gd name="adj" fmla="val 7667"/>
            </a:avLst>
          </a:prstGeom>
          <a:solidFill>
            <a:srgbClr val="F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65760" y="5902452"/>
            <a:ext cx="11457432" cy="502920"/>
          </a:xfrm>
          <a:prstGeom prst="roundRect">
            <a:avLst/>
          </a:prstGeom>
          <a:solidFill>
            <a:srgbClr val="0F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Aptos Display"/>
              </a:rPr>
              <a:t>Borrow expertise</a:t>
            </a:r>
            <a:r>
              <a:rPr lang="en-US" sz="2000" b="1" dirty="0">
                <a:solidFill>
                  <a:srgbClr val="FFFFFF"/>
                </a:solidFill>
                <a:latin typeface="Aptos Display"/>
              </a:rPr>
              <a:t> from your organization</a:t>
            </a:r>
            <a:r>
              <a:rPr sz="2000" b="1" dirty="0">
                <a:solidFill>
                  <a:srgbClr val="FFFFFF"/>
                </a:solidFill>
                <a:latin typeface="Aptos Display"/>
              </a:rPr>
              <a:t>. Keep product ownership.</a:t>
            </a:r>
          </a:p>
        </p:txBody>
      </p:sp>
      <p:sp>
        <p:nvSpPr>
          <p:cNvPr id="19" name="Rounded Rectangle 4">
            <a:extLst>
              <a:ext uri="{FF2B5EF4-FFF2-40B4-BE49-F238E27FC236}">
                <a16:creationId xmlns:a16="http://schemas.microsoft.com/office/drawing/2014/main" id="{11D39324-2762-08FD-6268-45EDFE4A53E3}"/>
              </a:ext>
            </a:extLst>
          </p:cNvPr>
          <p:cNvSpPr/>
          <p:nvPr/>
        </p:nvSpPr>
        <p:spPr>
          <a:xfrm>
            <a:off x="6248400" y="1748158"/>
            <a:ext cx="5486400" cy="3707022"/>
          </a:xfrm>
          <a:prstGeom prst="roundRect">
            <a:avLst>
              <a:gd name="adj" fmla="val 7334"/>
            </a:avLst>
          </a:prstGeom>
          <a:solidFill>
            <a:srgbClr val="E9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BE0993-DA21-3D5B-A442-AD34A197EE69}"/>
              </a:ext>
            </a:extLst>
          </p:cNvPr>
          <p:cNvSpPr txBox="1"/>
          <p:nvPr/>
        </p:nvSpPr>
        <p:spPr>
          <a:xfrm>
            <a:off x="365760" y="1892072"/>
            <a:ext cx="5486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97316"/>
                </a:solidFill>
                <a:latin typeface="Aptos" panose="020B0004020202020204" pitchFamily="34" charset="0"/>
              </a:rPr>
              <a:t>OWN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D641A7-263D-A057-BCA2-AA08F2B6313B}"/>
              </a:ext>
            </a:extLst>
          </p:cNvPr>
          <p:cNvSpPr txBox="1"/>
          <p:nvPr/>
        </p:nvSpPr>
        <p:spPr>
          <a:xfrm>
            <a:off x="6248400" y="1892072"/>
            <a:ext cx="5486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3B82F6"/>
                </a:solidFill>
                <a:latin typeface="Aptos" panose="020B0004020202020204" pitchFamily="34" charset="0"/>
              </a:rPr>
              <a:t>BORROW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E648204-F497-5152-2C64-ECEDAA84540D}"/>
              </a:ext>
            </a:extLst>
          </p:cNvPr>
          <p:cNvCxnSpPr/>
          <p:nvPr/>
        </p:nvCxnSpPr>
        <p:spPr>
          <a:xfrm>
            <a:off x="543697" y="2637030"/>
            <a:ext cx="511569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C36063B-1C9B-6027-A453-EB20CF8A324C}"/>
              </a:ext>
            </a:extLst>
          </p:cNvPr>
          <p:cNvCxnSpPr/>
          <p:nvPr/>
        </p:nvCxnSpPr>
        <p:spPr>
          <a:xfrm>
            <a:off x="6437870" y="2637030"/>
            <a:ext cx="511569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F622C4D-D1A1-74FE-B3EB-0A20AA3415B0}"/>
              </a:ext>
            </a:extLst>
          </p:cNvPr>
          <p:cNvSpPr txBox="1"/>
          <p:nvPr/>
        </p:nvSpPr>
        <p:spPr>
          <a:xfrm>
            <a:off x="1404407" y="2867262"/>
            <a:ext cx="4254988" cy="2162708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0F2343"/>
                </a:solidFill>
                <a:latin typeface="Aptos"/>
              </a:rPr>
              <a:t>Business interaction</a:t>
            </a:r>
          </a:p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0F2343"/>
                </a:solidFill>
                <a:latin typeface="Aptos"/>
              </a:rPr>
              <a:t>Product behavior</a:t>
            </a:r>
          </a:p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0F2343"/>
                </a:solidFill>
                <a:latin typeface="Aptos"/>
              </a:rPr>
              <a:t>Software quality</a:t>
            </a:r>
          </a:p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0F2343"/>
                </a:solidFill>
                <a:latin typeface="Aptos"/>
              </a:rPr>
              <a:t>CI/CD</a:t>
            </a:r>
            <a:endParaRPr sz="240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660F76A-B17B-6B86-FDF2-5721256C5003}"/>
              </a:ext>
            </a:extLst>
          </p:cNvPr>
          <p:cNvSpPr txBox="1"/>
          <p:nvPr/>
        </p:nvSpPr>
        <p:spPr>
          <a:xfrm>
            <a:off x="7298580" y="2867262"/>
            <a:ext cx="4254988" cy="2162708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0F2343"/>
                </a:solidFill>
                <a:latin typeface="Aptos"/>
              </a:rPr>
              <a:t>Cybersecurity</a:t>
            </a:r>
          </a:p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0F2343"/>
                </a:solidFill>
                <a:latin typeface="Aptos"/>
              </a:rPr>
              <a:t>Infrastructure</a:t>
            </a:r>
          </a:p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0F2343"/>
                </a:solidFill>
                <a:latin typeface="Aptos"/>
              </a:rPr>
              <a:t>Reliability expertise</a:t>
            </a:r>
          </a:p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0F2343"/>
                </a:solidFill>
                <a:latin typeface="Aptos"/>
              </a:rPr>
              <a:t>UI/UX</a:t>
            </a:r>
            <a:endParaRPr sz="240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CDF058-A229-2D05-351F-B60E27EC3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564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2DBCE-072F-C084-65A4-4E814DB5E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AFD8E-702B-8D3B-CCBF-59D9AB5BF823}"/>
              </a:ext>
            </a:extLst>
          </p:cNvPr>
          <p:cNvSpPr txBox="1"/>
          <p:nvPr/>
        </p:nvSpPr>
        <p:spPr>
          <a:xfrm>
            <a:off x="365760" y="213360"/>
            <a:ext cx="1156716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0F2343"/>
                </a:solidFill>
                <a:latin typeface="Aptos Display"/>
              </a:rPr>
              <a:t>Case study: strengthening the engineering of a DSS improved throughput and quality</a:t>
            </a:r>
            <a:endParaRPr sz="4000" b="1" i="0" baseline="30000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F3DEBA5-7514-FF31-66C9-230D83A5B68F}"/>
              </a:ext>
            </a:extLst>
          </p:cNvPr>
          <p:cNvSpPr txBox="1"/>
          <p:nvPr/>
        </p:nvSpPr>
        <p:spPr>
          <a:xfrm>
            <a:off x="2133601" y="1684020"/>
            <a:ext cx="7498079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dirty="0">
                <a:solidFill>
                  <a:srgbClr val="64748B"/>
                </a:solidFill>
                <a:latin typeface="Aptos"/>
              </a:rPr>
              <a:t>15-month case study · 4 OR scientists · </a:t>
            </a:r>
            <a:r>
              <a:rPr lang="en-US" sz="1800" b="0" dirty="0">
                <a:solidFill>
                  <a:srgbClr val="64748B"/>
                </a:solidFill>
                <a:latin typeface="Aptos"/>
              </a:rPr>
              <a:t>from </a:t>
            </a:r>
            <a:r>
              <a:rPr sz="1800" b="0" dirty="0">
                <a:solidFill>
                  <a:srgbClr val="64748B"/>
                </a:solidFill>
                <a:latin typeface="Aptos"/>
              </a:rPr>
              <a:t>pilot → </a:t>
            </a:r>
            <a:r>
              <a:rPr lang="en-US" sz="1800" b="0" dirty="0">
                <a:solidFill>
                  <a:srgbClr val="64748B"/>
                </a:solidFill>
                <a:latin typeface="Aptos"/>
              </a:rPr>
              <a:t>DSS</a:t>
            </a:r>
            <a:endParaRPr sz="1800" b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129" name="Rounded Rectangle 3">
            <a:extLst>
              <a:ext uri="{FF2B5EF4-FFF2-40B4-BE49-F238E27FC236}">
                <a16:creationId xmlns:a16="http://schemas.microsoft.com/office/drawing/2014/main" id="{DBF3ACAE-03E9-CF2E-0F2D-06D0E2358743}"/>
              </a:ext>
            </a:extLst>
          </p:cNvPr>
          <p:cNvSpPr/>
          <p:nvPr/>
        </p:nvSpPr>
        <p:spPr>
          <a:xfrm>
            <a:off x="346710" y="2207812"/>
            <a:ext cx="3841675" cy="405570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ounded Rectangle 22">
            <a:extLst>
              <a:ext uri="{FF2B5EF4-FFF2-40B4-BE49-F238E27FC236}">
                <a16:creationId xmlns:a16="http://schemas.microsoft.com/office/drawing/2014/main" id="{2800D059-7DF2-7BC8-1F67-9AB589B19B33}"/>
              </a:ext>
            </a:extLst>
          </p:cNvPr>
          <p:cNvSpPr/>
          <p:nvPr/>
        </p:nvSpPr>
        <p:spPr>
          <a:xfrm>
            <a:off x="7546694" y="2200573"/>
            <a:ext cx="4221634" cy="405570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ounded Rectangle 4">
            <a:extLst>
              <a:ext uri="{FF2B5EF4-FFF2-40B4-BE49-F238E27FC236}">
                <a16:creationId xmlns:a16="http://schemas.microsoft.com/office/drawing/2014/main" id="{1AB8E42D-F9C5-82C8-C20C-6F63AD871065}"/>
              </a:ext>
            </a:extLst>
          </p:cNvPr>
          <p:cNvSpPr/>
          <p:nvPr/>
        </p:nvSpPr>
        <p:spPr>
          <a:xfrm>
            <a:off x="335135" y="2200573"/>
            <a:ext cx="3841675" cy="941832"/>
          </a:xfrm>
          <a:prstGeom prst="roundRect">
            <a:avLst/>
          </a:prstGeom>
          <a:solidFill>
            <a:srgbClr val="F5F6F8"/>
          </a:solidFill>
          <a:ln>
            <a:solidFill>
              <a:srgbClr val="F5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07142B"/>
                </a:solidFill>
                <a:latin typeface="Aptos" panose="020B0004020202020204" pitchFamily="34" charset="0"/>
              </a:rPr>
              <a:t>Before</a:t>
            </a:r>
            <a:endParaRPr sz="2000" b="1" dirty="0">
              <a:solidFill>
                <a:srgbClr val="07142B"/>
              </a:solidFill>
              <a:latin typeface="Aptos" panose="020B0004020202020204" pitchFamily="34" charset="0"/>
            </a:endParaRPr>
          </a:p>
        </p:txBody>
      </p:sp>
      <p:sp>
        <p:nvSpPr>
          <p:cNvPr id="135" name="Rounded Rectangle 23">
            <a:extLst>
              <a:ext uri="{FF2B5EF4-FFF2-40B4-BE49-F238E27FC236}">
                <a16:creationId xmlns:a16="http://schemas.microsoft.com/office/drawing/2014/main" id="{5F75F507-4A09-5556-B177-AC09801988EF}"/>
              </a:ext>
            </a:extLst>
          </p:cNvPr>
          <p:cNvSpPr/>
          <p:nvPr/>
        </p:nvSpPr>
        <p:spPr>
          <a:xfrm>
            <a:off x="7546692" y="2207812"/>
            <a:ext cx="4221635" cy="941832"/>
          </a:xfrm>
          <a:prstGeom prst="roundRect">
            <a:avLst/>
          </a:prstGeom>
          <a:solidFill>
            <a:srgbClr val="0F2343"/>
          </a:solidFill>
          <a:ln>
            <a:solidFill>
              <a:srgbClr val="0F2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Aptos" panose="020B0004020202020204" pitchFamily="34" charset="0"/>
              </a:rPr>
              <a:t>After</a:t>
            </a:r>
            <a:endParaRPr sz="2800" b="1" dirty="0">
              <a:latin typeface="Aptos" panose="020B0004020202020204" pitchFamily="34" charset="0"/>
            </a:endParaRPr>
          </a:p>
        </p:txBody>
      </p: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86821BDF-6E11-002F-8814-010163246F7D}"/>
              </a:ext>
            </a:extLst>
          </p:cNvPr>
          <p:cNvGrpSpPr/>
          <p:nvPr/>
        </p:nvGrpSpPr>
        <p:grpSpPr>
          <a:xfrm>
            <a:off x="601014" y="3616508"/>
            <a:ext cx="510994" cy="678942"/>
            <a:chOff x="594793" y="3477789"/>
            <a:chExt cx="510994" cy="678942"/>
          </a:xfrm>
        </p:grpSpPr>
        <p:sp>
          <p:nvSpPr>
            <p:cNvPr id="137" name="Rounded Rectangle 7">
              <a:extLst>
                <a:ext uri="{FF2B5EF4-FFF2-40B4-BE49-F238E27FC236}">
                  <a16:creationId xmlns:a16="http://schemas.microsoft.com/office/drawing/2014/main" id="{9F5DC90D-2345-1DE4-418B-C4F2C96CD293}"/>
                </a:ext>
              </a:extLst>
            </p:cNvPr>
            <p:cNvSpPr/>
            <p:nvPr/>
          </p:nvSpPr>
          <p:spPr>
            <a:xfrm>
              <a:off x="594793" y="3885155"/>
              <a:ext cx="148132" cy="271576"/>
            </a:xfrm>
            <a:prstGeom prst="roundRect">
              <a:avLst/>
            </a:prstGeom>
            <a:solidFill>
              <a:srgbClr val="F97316"/>
            </a:solidFill>
            <a:ln>
              <a:solidFill>
                <a:srgbClr val="07142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9" name="Rounded Rectangle 8">
              <a:extLst>
                <a:ext uri="{FF2B5EF4-FFF2-40B4-BE49-F238E27FC236}">
                  <a16:creationId xmlns:a16="http://schemas.microsoft.com/office/drawing/2014/main" id="{2092F298-E3B5-38CC-072B-87ACCC691A6D}"/>
                </a:ext>
              </a:extLst>
            </p:cNvPr>
            <p:cNvSpPr/>
            <p:nvPr/>
          </p:nvSpPr>
          <p:spPr>
            <a:xfrm>
              <a:off x="776224" y="3712333"/>
              <a:ext cx="148132" cy="444398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07142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1" name="Rounded Rectangle 9">
              <a:extLst>
                <a:ext uri="{FF2B5EF4-FFF2-40B4-BE49-F238E27FC236}">
                  <a16:creationId xmlns:a16="http://schemas.microsoft.com/office/drawing/2014/main" id="{EF5A9777-647E-2D33-11B0-06FCC8E39B46}"/>
                </a:ext>
              </a:extLst>
            </p:cNvPr>
            <p:cNvSpPr/>
            <p:nvPr/>
          </p:nvSpPr>
          <p:spPr>
            <a:xfrm>
              <a:off x="957655" y="3477789"/>
              <a:ext cx="148132" cy="678942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07142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43" name="TextBox 142">
            <a:extLst>
              <a:ext uri="{FF2B5EF4-FFF2-40B4-BE49-F238E27FC236}">
                <a16:creationId xmlns:a16="http://schemas.microsoft.com/office/drawing/2014/main" id="{1248E5A1-D41D-144B-BE1F-2775E00FCD73}"/>
              </a:ext>
            </a:extLst>
          </p:cNvPr>
          <p:cNvSpPr txBox="1"/>
          <p:nvPr/>
        </p:nvSpPr>
        <p:spPr>
          <a:xfrm>
            <a:off x="1541522" y="3616508"/>
            <a:ext cx="1828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dirty="0">
                <a:solidFill>
                  <a:srgbClr val="0F2343"/>
                </a:solidFill>
                <a:latin typeface="Aptos"/>
              </a:rPr>
              <a:t>Throughput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C0E30909-7A5C-FF16-6297-91AD40247CB2}"/>
              </a:ext>
            </a:extLst>
          </p:cNvPr>
          <p:cNvSpPr txBox="1"/>
          <p:nvPr/>
        </p:nvSpPr>
        <p:spPr>
          <a:xfrm>
            <a:off x="1541522" y="3894670"/>
            <a:ext cx="11887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>
                <a:solidFill>
                  <a:srgbClr val="07142B"/>
                </a:solidFill>
                <a:latin typeface="Aptos Display"/>
              </a:rPr>
              <a:t>1</a:t>
            </a:r>
            <a:r>
              <a:rPr lang="en-US" sz="2800" b="1" dirty="0">
                <a:solidFill>
                  <a:srgbClr val="07142B"/>
                </a:solidFill>
                <a:latin typeface="Aptos Display"/>
              </a:rPr>
              <a:t>x</a:t>
            </a:r>
            <a:endParaRPr sz="2800" b="1" dirty="0">
              <a:solidFill>
                <a:srgbClr val="07142B"/>
              </a:solidFill>
              <a:latin typeface="Aptos Display"/>
            </a:endParaRP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CCC45EF3-8DC3-EB25-87F7-1D808D6D3163}"/>
              </a:ext>
            </a:extLst>
          </p:cNvPr>
          <p:cNvSpPr/>
          <p:nvPr/>
        </p:nvSpPr>
        <p:spPr>
          <a:xfrm>
            <a:off x="563251" y="4884383"/>
            <a:ext cx="658368" cy="658368"/>
          </a:xfrm>
          <a:prstGeom prst="ellipse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dirty="0">
                <a:solidFill>
                  <a:srgbClr val="64748B"/>
                </a:solidFill>
                <a:latin typeface="Aptos"/>
              </a:rPr>
              <a:t>✕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5F3C9BED-9488-8D97-0D1D-E9B986BF8A20}"/>
              </a:ext>
            </a:extLst>
          </p:cNvPr>
          <p:cNvSpPr txBox="1"/>
          <p:nvPr/>
        </p:nvSpPr>
        <p:spPr>
          <a:xfrm>
            <a:off x="1541522" y="4756367"/>
            <a:ext cx="1828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 dirty="0">
                <a:solidFill>
                  <a:srgbClr val="0F2343"/>
                </a:solidFill>
                <a:latin typeface="Aptos"/>
              </a:rPr>
              <a:t>Software q</a:t>
            </a:r>
            <a:r>
              <a:rPr b="1" dirty="0">
                <a:solidFill>
                  <a:srgbClr val="0F2343"/>
                </a:solidFill>
                <a:latin typeface="Aptos"/>
              </a:rPr>
              <a:t>uality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127124C7-918E-3F1D-CBCB-948554ED8E83}"/>
              </a:ext>
            </a:extLst>
          </p:cNvPr>
          <p:cNvSpPr txBox="1"/>
          <p:nvPr/>
        </p:nvSpPr>
        <p:spPr>
          <a:xfrm>
            <a:off x="1541522" y="5085551"/>
            <a:ext cx="222783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dirty="0">
                <a:solidFill>
                  <a:srgbClr val="64748B"/>
                </a:solidFill>
                <a:latin typeface="Aptos"/>
              </a:rPr>
              <a:t>Low test coverage
</a:t>
            </a:r>
            <a:r>
              <a:rPr lang="en-US" sz="1500" b="0" dirty="0">
                <a:solidFill>
                  <a:srgbClr val="64748B"/>
                </a:solidFill>
                <a:latin typeface="Aptos"/>
              </a:rPr>
              <a:t>C</a:t>
            </a:r>
            <a:r>
              <a:rPr sz="1500" b="0" dirty="0">
                <a:solidFill>
                  <a:srgbClr val="64748B"/>
                </a:solidFill>
                <a:latin typeface="Aptos"/>
              </a:rPr>
              <a:t>ode smells</a:t>
            </a:r>
            <a:r>
              <a:rPr lang="en-US" sz="1500" b="0" dirty="0">
                <a:solidFill>
                  <a:srgbClr val="64748B"/>
                </a:solidFill>
                <a:latin typeface="Aptos"/>
              </a:rPr>
              <a:t> unattended</a:t>
            </a:r>
            <a:endParaRPr sz="1500" b="0" dirty="0">
              <a:solidFill>
                <a:srgbClr val="64748B"/>
              </a:solidFill>
              <a:latin typeface="Aptos"/>
            </a:endParaRPr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18E45920-EA1B-664B-0C5D-069A57B7C632}"/>
              </a:ext>
            </a:extLst>
          </p:cNvPr>
          <p:cNvGrpSpPr/>
          <p:nvPr/>
        </p:nvGrpSpPr>
        <p:grpSpPr>
          <a:xfrm>
            <a:off x="7797657" y="3616508"/>
            <a:ext cx="510994" cy="678942"/>
            <a:chOff x="594793" y="3477789"/>
            <a:chExt cx="510994" cy="678942"/>
          </a:xfrm>
        </p:grpSpPr>
        <p:sp>
          <p:nvSpPr>
            <p:cNvPr id="154" name="Rounded Rectangle 7">
              <a:extLst>
                <a:ext uri="{FF2B5EF4-FFF2-40B4-BE49-F238E27FC236}">
                  <a16:creationId xmlns:a16="http://schemas.microsoft.com/office/drawing/2014/main" id="{94CBB81B-B4CC-5484-A196-B5C26D06B937}"/>
                </a:ext>
              </a:extLst>
            </p:cNvPr>
            <p:cNvSpPr/>
            <p:nvPr/>
          </p:nvSpPr>
          <p:spPr>
            <a:xfrm>
              <a:off x="594793" y="3885155"/>
              <a:ext cx="148132" cy="271576"/>
            </a:xfrm>
            <a:prstGeom prst="roundRect">
              <a:avLst/>
            </a:prstGeom>
            <a:solidFill>
              <a:srgbClr val="F97316"/>
            </a:solidFill>
            <a:ln>
              <a:solidFill>
                <a:srgbClr val="07142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5" name="Rounded Rectangle 8">
              <a:extLst>
                <a:ext uri="{FF2B5EF4-FFF2-40B4-BE49-F238E27FC236}">
                  <a16:creationId xmlns:a16="http://schemas.microsoft.com/office/drawing/2014/main" id="{CD9D8E59-8794-655F-6001-0E894889A818}"/>
                </a:ext>
              </a:extLst>
            </p:cNvPr>
            <p:cNvSpPr/>
            <p:nvPr/>
          </p:nvSpPr>
          <p:spPr>
            <a:xfrm>
              <a:off x="776224" y="3712333"/>
              <a:ext cx="148132" cy="444398"/>
            </a:xfrm>
            <a:prstGeom prst="roundRect">
              <a:avLst/>
            </a:prstGeom>
            <a:solidFill>
              <a:srgbClr val="F97316"/>
            </a:solidFill>
            <a:ln>
              <a:solidFill>
                <a:srgbClr val="07142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6" name="Rounded Rectangle 9">
              <a:extLst>
                <a:ext uri="{FF2B5EF4-FFF2-40B4-BE49-F238E27FC236}">
                  <a16:creationId xmlns:a16="http://schemas.microsoft.com/office/drawing/2014/main" id="{F275AF4E-D587-CBF5-672E-EA34FBE187D6}"/>
                </a:ext>
              </a:extLst>
            </p:cNvPr>
            <p:cNvSpPr/>
            <p:nvPr/>
          </p:nvSpPr>
          <p:spPr>
            <a:xfrm>
              <a:off x="957655" y="3477789"/>
              <a:ext cx="148132" cy="678942"/>
            </a:xfrm>
            <a:prstGeom prst="roundRect">
              <a:avLst/>
            </a:prstGeom>
            <a:solidFill>
              <a:srgbClr val="F97316"/>
            </a:solidFill>
            <a:ln>
              <a:solidFill>
                <a:srgbClr val="07142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58" name="Right Arrow 20">
            <a:extLst>
              <a:ext uri="{FF2B5EF4-FFF2-40B4-BE49-F238E27FC236}">
                <a16:creationId xmlns:a16="http://schemas.microsoft.com/office/drawing/2014/main" id="{93D02929-DCF2-5FD3-BA6A-0833E5F0D652}"/>
              </a:ext>
            </a:extLst>
          </p:cNvPr>
          <p:cNvSpPr/>
          <p:nvPr/>
        </p:nvSpPr>
        <p:spPr>
          <a:xfrm>
            <a:off x="4481295" y="2943532"/>
            <a:ext cx="2749336" cy="1493060"/>
          </a:xfrm>
          <a:prstGeom prst="rightArrow">
            <a:avLst/>
          </a:prstGeom>
          <a:solidFill>
            <a:srgbClr val="E6EBF2"/>
          </a:solidFill>
          <a:ln>
            <a:solidFill>
              <a:srgbClr val="E6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7142B"/>
                </a:solidFill>
                <a:latin typeface="Aptos" panose="020B0004020202020204" pitchFamily="34" charset="0"/>
              </a:rPr>
              <a:t>15 months transformation</a:t>
            </a:r>
            <a:endParaRPr b="1" dirty="0">
              <a:solidFill>
                <a:srgbClr val="07142B"/>
              </a:solidFill>
              <a:latin typeface="Aptos" panose="020B0004020202020204" pitchFamily="34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02DDC1CF-77B3-CB53-4377-DC057088CFE2}"/>
              </a:ext>
            </a:extLst>
          </p:cNvPr>
          <p:cNvSpPr txBox="1"/>
          <p:nvPr/>
        </p:nvSpPr>
        <p:spPr>
          <a:xfrm>
            <a:off x="8741045" y="3616508"/>
            <a:ext cx="1828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dirty="0">
                <a:solidFill>
                  <a:srgbClr val="0F2343"/>
                </a:solidFill>
                <a:latin typeface="Aptos"/>
              </a:rPr>
              <a:t>Throughput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BF0305AE-6423-E31A-1A77-89595FA4FC41}"/>
              </a:ext>
            </a:extLst>
          </p:cNvPr>
          <p:cNvSpPr txBox="1"/>
          <p:nvPr/>
        </p:nvSpPr>
        <p:spPr>
          <a:xfrm>
            <a:off x="8741045" y="3894670"/>
            <a:ext cx="11887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800" b="1" dirty="0">
                <a:solidFill>
                  <a:srgbClr val="07142B"/>
                </a:solidFill>
                <a:latin typeface="Aptos Display"/>
              </a:rPr>
              <a:t>2.3x</a:t>
            </a:r>
            <a:endParaRPr sz="2800" b="1" dirty="0">
              <a:solidFill>
                <a:srgbClr val="07142B"/>
              </a:solidFill>
              <a:latin typeface="Aptos Display"/>
            </a:endParaRPr>
          </a:p>
        </p:txBody>
      </p:sp>
      <p:sp>
        <p:nvSpPr>
          <p:cNvPr id="168" name="Rounded Rectangle 31">
            <a:extLst>
              <a:ext uri="{FF2B5EF4-FFF2-40B4-BE49-F238E27FC236}">
                <a16:creationId xmlns:a16="http://schemas.microsoft.com/office/drawing/2014/main" id="{8C91AB8F-2992-F8B0-4472-5CB24B9AB145}"/>
              </a:ext>
            </a:extLst>
          </p:cNvPr>
          <p:cNvSpPr/>
          <p:nvPr/>
        </p:nvSpPr>
        <p:spPr>
          <a:xfrm>
            <a:off x="10368985" y="3798743"/>
            <a:ext cx="1116543" cy="486179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Aptos" panose="020B0004020202020204" pitchFamily="34" charset="0"/>
              </a:rPr>
              <a:t>+130%</a:t>
            </a:r>
            <a:endParaRPr sz="2000" b="1" dirty="0">
              <a:solidFill>
                <a:srgbClr val="00B050"/>
              </a:solidFill>
              <a:latin typeface="Aptos" panose="020B0004020202020204" pitchFamily="34" charset="0"/>
            </a:endParaRPr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44BBDA73-EB0D-1C5F-4F13-38486AF78EC8}"/>
              </a:ext>
            </a:extLst>
          </p:cNvPr>
          <p:cNvSpPr/>
          <p:nvPr/>
        </p:nvSpPr>
        <p:spPr>
          <a:xfrm>
            <a:off x="7814685" y="4962696"/>
            <a:ext cx="658368" cy="658368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485A4735-546B-B0F7-9721-BDD96F404EB7}"/>
              </a:ext>
            </a:extLst>
          </p:cNvPr>
          <p:cNvSpPr txBox="1"/>
          <p:nvPr/>
        </p:nvSpPr>
        <p:spPr>
          <a:xfrm>
            <a:off x="8626745" y="4709521"/>
            <a:ext cx="2057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dirty="0">
                <a:solidFill>
                  <a:srgbClr val="0F2343"/>
                </a:solidFill>
                <a:latin typeface="Aptos"/>
              </a:rPr>
              <a:t>Software quality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F125125E-DCF1-B78D-4525-4AF10AB3B8D9}"/>
              </a:ext>
            </a:extLst>
          </p:cNvPr>
          <p:cNvSpPr txBox="1"/>
          <p:nvPr/>
        </p:nvSpPr>
        <p:spPr>
          <a:xfrm>
            <a:off x="8741044" y="5128621"/>
            <a:ext cx="2744484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 dirty="0">
                <a:solidFill>
                  <a:srgbClr val="F97316"/>
                </a:solidFill>
                <a:latin typeface="Aptos"/>
              </a:rPr>
              <a:t>+42pp </a:t>
            </a:r>
            <a:r>
              <a:rPr lang="en-US" sz="1600" b="0" dirty="0">
                <a:solidFill>
                  <a:srgbClr val="64748B"/>
                </a:solidFill>
                <a:latin typeface="Aptos"/>
              </a:rPr>
              <a:t>in test coverage</a:t>
            </a:r>
            <a:r>
              <a:rPr sz="1600" b="0" dirty="0">
                <a:solidFill>
                  <a:srgbClr val="64748B"/>
                </a:solidFill>
                <a:latin typeface="Aptos"/>
              </a:rPr>
              <a:t>
</a:t>
            </a:r>
            <a:r>
              <a:rPr lang="en-US" sz="1600" b="1" dirty="0">
                <a:solidFill>
                  <a:srgbClr val="F97316"/>
                </a:solidFill>
                <a:latin typeface="Aptos"/>
              </a:rPr>
              <a:t>2/3 reduction </a:t>
            </a:r>
            <a:r>
              <a:rPr lang="en-US" sz="1600" dirty="0">
                <a:solidFill>
                  <a:srgbClr val="64748B"/>
                </a:solidFill>
                <a:latin typeface="Aptos"/>
              </a:rPr>
              <a:t>in code smells</a:t>
            </a:r>
            <a:endParaRPr sz="1600" b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79099312-4687-E950-0E61-74FAE7AE5702}"/>
              </a:ext>
            </a:extLst>
          </p:cNvPr>
          <p:cNvSpPr txBox="1"/>
          <p:nvPr/>
        </p:nvSpPr>
        <p:spPr>
          <a:xfrm>
            <a:off x="4450373" y="4651567"/>
            <a:ext cx="29117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>
                <a:solidFill>
                  <a:srgbClr val="07142B"/>
                </a:solidFill>
                <a:latin typeface="Aptos" panose="020B0004020202020204" pitchFamily="34" charset="0"/>
              </a:rPr>
              <a:t>Heavy training of SE to OR scientists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>
                <a:solidFill>
                  <a:srgbClr val="07142B"/>
                </a:solidFill>
                <a:latin typeface="Aptos" panose="020B0004020202020204" pitchFamily="34" charset="0"/>
              </a:rPr>
              <a:t>Refactoring the system for OR needs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5D5E82-D47A-37A7-2B7B-84D887C7C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F00BEA-BA70-D137-11DA-9B578A1356DB}"/>
              </a:ext>
            </a:extLst>
          </p:cNvPr>
          <p:cNvSpPr txBox="1"/>
          <p:nvPr/>
        </p:nvSpPr>
        <p:spPr>
          <a:xfrm>
            <a:off x="292843" y="6454629"/>
            <a:ext cx="11329984" cy="338554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algn="l"/>
            <a:r>
              <a:rPr lang="en-US" sz="1100" dirty="0">
                <a:solidFill>
                  <a:srgbClr val="0F2343"/>
                </a:solidFill>
                <a:latin typeface="Aptos"/>
              </a:rPr>
              <a:t>* Data is confidential. At a high-level: throughput measured as commits to main branch per person per weak. Software quality measured as unit-testing coverage at line level, and code smells indicated by a static-code analysis tool.</a:t>
            </a:r>
            <a:endParaRPr sz="1100" dirty="0">
              <a:solidFill>
                <a:srgbClr val="0F2343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80052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935C7-C6CD-2B47-E0E1-C4F7EF056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23">
            <a:extLst>
              <a:ext uri="{FF2B5EF4-FFF2-40B4-BE49-F238E27FC236}">
                <a16:creationId xmlns:a16="http://schemas.microsoft.com/office/drawing/2014/main" id="{4EF6B409-E9E8-F6C3-699A-0C91FD056ED9}"/>
              </a:ext>
            </a:extLst>
          </p:cNvPr>
          <p:cNvSpPr/>
          <p:nvPr/>
        </p:nvSpPr>
        <p:spPr>
          <a:xfrm>
            <a:off x="502920" y="4219956"/>
            <a:ext cx="5486400" cy="192024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E6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E84C49A-5C86-E3F4-6D78-666C16D0A780}"/>
              </a:ext>
            </a:extLst>
          </p:cNvPr>
          <p:cNvSpPr/>
          <p:nvPr/>
        </p:nvSpPr>
        <p:spPr>
          <a:xfrm>
            <a:off x="502920" y="1842516"/>
            <a:ext cx="5486400" cy="192024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E6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DE2BC4-32C1-DE81-D0BC-BEBFB83EC572}"/>
              </a:ext>
            </a:extLst>
          </p:cNvPr>
          <p:cNvSpPr txBox="1"/>
          <p:nvPr/>
        </p:nvSpPr>
        <p:spPr>
          <a:xfrm>
            <a:off x="365760" y="213360"/>
            <a:ext cx="1156716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4000" b="1" dirty="0">
                <a:solidFill>
                  <a:srgbClr val="0F2343"/>
                </a:solidFill>
                <a:latin typeface="Aptos Display"/>
              </a:rPr>
              <a:t>AI-coding assistants require the engineering investment urgently: they </a:t>
            </a:r>
            <a:r>
              <a:rPr lang="en-US" sz="4000" b="1" dirty="0">
                <a:solidFill>
                  <a:srgbClr val="F97316"/>
                </a:solidFill>
                <a:latin typeface="Aptos Display"/>
              </a:rPr>
              <a:t>amplify</a:t>
            </a:r>
            <a:r>
              <a:rPr lang="en-US" sz="4000" b="1" dirty="0">
                <a:solidFill>
                  <a:srgbClr val="0F2343"/>
                </a:solidFill>
                <a:latin typeface="Aptos Display"/>
              </a:rPr>
              <a:t> your practices</a:t>
            </a:r>
            <a:endParaRPr sz="4000" b="1" i="0" baseline="30000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3C411A-8287-4F76-7EF1-15D324480F45}"/>
              </a:ext>
            </a:extLst>
          </p:cNvPr>
          <p:cNvSpPr txBox="1"/>
          <p:nvPr/>
        </p:nvSpPr>
        <p:spPr>
          <a:xfrm>
            <a:off x="502920" y="1928370"/>
            <a:ext cx="5475428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 dirty="0">
                <a:solidFill>
                  <a:srgbClr val="0F2343"/>
                </a:solidFill>
                <a:latin typeface="Aptos Display"/>
              </a:rPr>
              <a:t>Strong </a:t>
            </a:r>
            <a:r>
              <a:rPr lang="en-US" sz="2300" b="1" dirty="0">
                <a:solidFill>
                  <a:srgbClr val="0F2343"/>
                </a:solidFill>
                <a:latin typeface="Aptos Display"/>
              </a:rPr>
              <a:t>engineering practices</a:t>
            </a:r>
            <a:endParaRPr sz="2300" b="1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2F8373-385B-E059-154E-8E038B731705}"/>
              </a:ext>
            </a:extLst>
          </p:cNvPr>
          <p:cNvSpPr txBox="1"/>
          <p:nvPr/>
        </p:nvSpPr>
        <p:spPr>
          <a:xfrm>
            <a:off x="2918713" y="3372613"/>
            <a:ext cx="664973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dirty="0">
                <a:solidFill>
                  <a:srgbClr val="0F2343"/>
                </a:solidFill>
                <a:latin typeface="Aptos"/>
              </a:rPr>
              <a:t>CI/CD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66139A-4DED-E134-8E3D-83EDF24253ED}"/>
              </a:ext>
            </a:extLst>
          </p:cNvPr>
          <p:cNvSpPr txBox="1"/>
          <p:nvPr/>
        </p:nvSpPr>
        <p:spPr>
          <a:xfrm>
            <a:off x="4343400" y="3372613"/>
            <a:ext cx="130982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dirty="0">
                <a:solidFill>
                  <a:srgbClr val="0F2343"/>
                </a:solidFill>
                <a:latin typeface="Aptos"/>
              </a:rPr>
              <a:t>Architecture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0841FFE-6DCC-E920-BA0E-72DD5E87B184}"/>
              </a:ext>
            </a:extLst>
          </p:cNvPr>
          <p:cNvSpPr/>
          <p:nvPr/>
        </p:nvSpPr>
        <p:spPr>
          <a:xfrm>
            <a:off x="1691640" y="2391157"/>
            <a:ext cx="10972" cy="10972"/>
          </a:xfrm>
          <a:prstGeom prst="rect">
            <a:avLst/>
          </a:prstGeom>
          <a:solidFill>
            <a:srgbClr val="E6EBF2"/>
          </a:solidFill>
          <a:ln>
            <a:solidFill>
              <a:srgbClr val="E6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F6A4D8A-9DE9-A3B7-F870-F0E708ED0A50}"/>
              </a:ext>
            </a:extLst>
          </p:cNvPr>
          <p:cNvSpPr/>
          <p:nvPr/>
        </p:nvSpPr>
        <p:spPr>
          <a:xfrm>
            <a:off x="2880360" y="2391157"/>
            <a:ext cx="10972" cy="10972"/>
          </a:xfrm>
          <a:prstGeom prst="rect">
            <a:avLst/>
          </a:prstGeom>
          <a:solidFill>
            <a:srgbClr val="E6EBF2"/>
          </a:solidFill>
          <a:ln>
            <a:solidFill>
              <a:srgbClr val="E6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685544B-7287-6406-4D44-7818F5004EA8}"/>
              </a:ext>
            </a:extLst>
          </p:cNvPr>
          <p:cNvSpPr/>
          <p:nvPr/>
        </p:nvSpPr>
        <p:spPr>
          <a:xfrm>
            <a:off x="4069080" y="2391157"/>
            <a:ext cx="10972" cy="10972"/>
          </a:xfrm>
          <a:prstGeom prst="rect">
            <a:avLst/>
          </a:prstGeom>
          <a:solidFill>
            <a:srgbClr val="E6EBF2"/>
          </a:solidFill>
          <a:ln>
            <a:solidFill>
              <a:srgbClr val="E6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02D743-F9D6-1CC2-9DDB-57885229B551}"/>
              </a:ext>
            </a:extLst>
          </p:cNvPr>
          <p:cNvSpPr txBox="1"/>
          <p:nvPr/>
        </p:nvSpPr>
        <p:spPr>
          <a:xfrm>
            <a:off x="6178552" y="2626355"/>
            <a:ext cx="411480" cy="4770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100" b="1" dirty="0">
                <a:solidFill>
                  <a:srgbClr val="07142B"/>
                </a:solidFill>
                <a:latin typeface="Aptos Display"/>
              </a:rPr>
              <a:t>×</a:t>
            </a:r>
          </a:p>
        </p:txBody>
      </p:sp>
      <p:sp>
        <p:nvSpPr>
          <p:cNvPr id="32" name="Rounded Rectangle 17">
            <a:extLst>
              <a:ext uri="{FF2B5EF4-FFF2-40B4-BE49-F238E27FC236}">
                <a16:creationId xmlns:a16="http://schemas.microsoft.com/office/drawing/2014/main" id="{46494049-A8A5-8301-657F-C892193A1CE0}"/>
              </a:ext>
            </a:extLst>
          </p:cNvPr>
          <p:cNvSpPr/>
          <p:nvPr/>
        </p:nvSpPr>
        <p:spPr>
          <a:xfrm>
            <a:off x="6675120" y="2453402"/>
            <a:ext cx="960120" cy="8229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3B82F6"/>
                </a:solidFill>
              </a:rPr>
              <a:t>AI</a:t>
            </a:r>
            <a:endParaRPr sz="2800" b="1" dirty="0">
              <a:solidFill>
                <a:srgbClr val="3B82F6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55814F-EA71-1AA2-0F8B-5027B47BC6DD}"/>
              </a:ext>
            </a:extLst>
          </p:cNvPr>
          <p:cNvSpPr txBox="1"/>
          <p:nvPr/>
        </p:nvSpPr>
        <p:spPr>
          <a:xfrm>
            <a:off x="7795260" y="2646537"/>
            <a:ext cx="411480" cy="4770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100" b="1">
                <a:solidFill>
                  <a:srgbClr val="07142B"/>
                </a:solidFill>
                <a:latin typeface="Aptos Display"/>
              </a:rPr>
              <a:t>=</a:t>
            </a:r>
          </a:p>
        </p:txBody>
      </p:sp>
      <p:sp>
        <p:nvSpPr>
          <p:cNvPr id="38" name="Rounded Rectangle 20">
            <a:extLst>
              <a:ext uri="{FF2B5EF4-FFF2-40B4-BE49-F238E27FC236}">
                <a16:creationId xmlns:a16="http://schemas.microsoft.com/office/drawing/2014/main" id="{6A2C0CBF-6AA6-5D05-1E8B-FDE2BE9938D3}"/>
              </a:ext>
            </a:extLst>
          </p:cNvPr>
          <p:cNvSpPr/>
          <p:nvPr/>
        </p:nvSpPr>
        <p:spPr>
          <a:xfrm>
            <a:off x="8329168" y="2150983"/>
            <a:ext cx="3603752" cy="15087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38331F4-A992-E745-ED0C-F7C2A545A880}"/>
              </a:ext>
            </a:extLst>
          </p:cNvPr>
          <p:cNvSpPr txBox="1"/>
          <p:nvPr/>
        </p:nvSpPr>
        <p:spPr>
          <a:xfrm>
            <a:off x="8526780" y="2419204"/>
            <a:ext cx="34137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dirty="0">
                <a:solidFill>
                  <a:srgbClr val="16A34A"/>
                </a:solidFill>
                <a:latin typeface="Aptos Display"/>
              </a:rPr>
              <a:t>↗  Sustainable</a:t>
            </a:r>
            <a:r>
              <a:rPr lang="en-US" sz="2200" b="1" dirty="0">
                <a:solidFill>
                  <a:srgbClr val="16A34A"/>
                </a:solidFill>
                <a:latin typeface="Aptos Display"/>
              </a:rPr>
              <a:t> </a:t>
            </a:r>
            <a:r>
              <a:rPr sz="2200" b="1" dirty="0">
                <a:solidFill>
                  <a:srgbClr val="16A34A"/>
                </a:solidFill>
                <a:latin typeface="Aptos Display"/>
              </a:rPr>
              <a:t>acceleration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2A4005-2581-685A-9610-70735319695E}"/>
              </a:ext>
            </a:extLst>
          </p:cNvPr>
          <p:cNvSpPr txBox="1"/>
          <p:nvPr/>
        </p:nvSpPr>
        <p:spPr>
          <a:xfrm>
            <a:off x="8641080" y="2999363"/>
            <a:ext cx="31851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dirty="0">
                <a:solidFill>
                  <a:srgbClr val="0F2343"/>
                </a:solidFill>
                <a:latin typeface="Aptos"/>
              </a:rPr>
              <a:t>Faster delivery + higher quality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D572935-2F3A-8881-F0E6-562D4D43ABC4}"/>
              </a:ext>
            </a:extLst>
          </p:cNvPr>
          <p:cNvSpPr txBox="1"/>
          <p:nvPr/>
        </p:nvSpPr>
        <p:spPr>
          <a:xfrm>
            <a:off x="502920" y="4366261"/>
            <a:ext cx="5522976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 dirty="0">
                <a:solidFill>
                  <a:srgbClr val="0F2343"/>
                </a:solidFill>
                <a:latin typeface="Aptos Display"/>
              </a:rPr>
              <a:t>Weak </a:t>
            </a:r>
            <a:r>
              <a:rPr lang="en-US" sz="2300" b="1" dirty="0">
                <a:solidFill>
                  <a:srgbClr val="0F2343"/>
                </a:solidFill>
                <a:latin typeface="Aptos Display"/>
              </a:rPr>
              <a:t>engineering practices</a:t>
            </a:r>
            <a:endParaRPr sz="2300" b="1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95D9494-A008-B8AF-2BC5-C3C4A67875A9}"/>
              </a:ext>
            </a:extLst>
          </p:cNvPr>
          <p:cNvSpPr txBox="1"/>
          <p:nvPr/>
        </p:nvSpPr>
        <p:spPr>
          <a:xfrm>
            <a:off x="6178552" y="4941549"/>
            <a:ext cx="411480" cy="4770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100" b="1" dirty="0">
                <a:solidFill>
                  <a:srgbClr val="07142B"/>
                </a:solidFill>
                <a:latin typeface="Aptos Display"/>
              </a:rPr>
              <a:t>×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5D8712A-43D7-345F-EEBA-4EE15D9B2955}"/>
              </a:ext>
            </a:extLst>
          </p:cNvPr>
          <p:cNvSpPr txBox="1"/>
          <p:nvPr/>
        </p:nvSpPr>
        <p:spPr>
          <a:xfrm>
            <a:off x="7795260" y="4960863"/>
            <a:ext cx="411480" cy="4770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100" b="1" dirty="0">
                <a:solidFill>
                  <a:srgbClr val="07142B"/>
                </a:solidFill>
                <a:latin typeface="Aptos Display"/>
              </a:rPr>
              <a:t>=</a:t>
            </a:r>
          </a:p>
        </p:txBody>
      </p:sp>
      <p:sp>
        <p:nvSpPr>
          <p:cNvPr id="68" name="Rounded Rectangle 35">
            <a:extLst>
              <a:ext uri="{FF2B5EF4-FFF2-40B4-BE49-F238E27FC236}">
                <a16:creationId xmlns:a16="http://schemas.microsoft.com/office/drawing/2014/main" id="{567286ED-7660-286E-99DC-DAD427F459D5}"/>
              </a:ext>
            </a:extLst>
          </p:cNvPr>
          <p:cNvSpPr/>
          <p:nvPr/>
        </p:nvSpPr>
        <p:spPr>
          <a:xfrm>
            <a:off x="8321040" y="4402837"/>
            <a:ext cx="3603752" cy="15087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E35B1C6-5A30-5850-EB2A-4A88B037501C}"/>
              </a:ext>
            </a:extLst>
          </p:cNvPr>
          <p:cNvSpPr txBox="1"/>
          <p:nvPr/>
        </p:nvSpPr>
        <p:spPr>
          <a:xfrm>
            <a:off x="8450034" y="4642969"/>
            <a:ext cx="366522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dirty="0">
                <a:solidFill>
                  <a:srgbClr val="DC2626"/>
                </a:solidFill>
                <a:latin typeface="Aptos Display"/>
              </a:rPr>
              <a:t>↘  Accelerated</a:t>
            </a:r>
            <a:r>
              <a:rPr lang="en-US" sz="2100" b="1" dirty="0">
                <a:solidFill>
                  <a:srgbClr val="DC2626"/>
                </a:solidFill>
                <a:latin typeface="Aptos Display"/>
              </a:rPr>
              <a:t> </a:t>
            </a:r>
            <a:r>
              <a:rPr sz="2100" b="1" dirty="0">
                <a:solidFill>
                  <a:srgbClr val="DC2626"/>
                </a:solidFill>
                <a:latin typeface="Aptos Display"/>
              </a:rPr>
              <a:t>technical debt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0432CD0-A1FC-9D4F-878C-15403F739229}"/>
              </a:ext>
            </a:extLst>
          </p:cNvPr>
          <p:cNvSpPr txBox="1"/>
          <p:nvPr/>
        </p:nvSpPr>
        <p:spPr>
          <a:xfrm>
            <a:off x="9002484" y="5300366"/>
            <a:ext cx="25603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dirty="0">
                <a:solidFill>
                  <a:srgbClr val="0F2343"/>
                </a:solidFill>
                <a:latin typeface="Aptos"/>
              </a:rPr>
              <a:t>More output + more risk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5641D63-CECE-B86F-D7DA-599967FCAB5A}"/>
              </a:ext>
            </a:extLst>
          </p:cNvPr>
          <p:cNvSpPr txBox="1"/>
          <p:nvPr/>
        </p:nvSpPr>
        <p:spPr>
          <a:xfrm>
            <a:off x="365760" y="6505694"/>
            <a:ext cx="11749494" cy="184666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algn="l"/>
            <a:r>
              <a:rPr lang="en-US" sz="1200" dirty="0">
                <a:solidFill>
                  <a:srgbClr val="0F2343"/>
                </a:solidFill>
                <a:latin typeface="Aptos"/>
              </a:rPr>
              <a:t>Source: DORA Research 2025 – State of AI-assisted Software Development (Google Cloud, 2025)</a:t>
            </a:r>
            <a:endParaRPr sz="1200" dirty="0">
              <a:solidFill>
                <a:srgbClr val="0F2343"/>
              </a:solidFill>
              <a:latin typeface="Aptos"/>
            </a:endParaRPr>
          </a:p>
        </p:txBody>
      </p:sp>
      <p:pic>
        <p:nvPicPr>
          <p:cNvPr id="76" name="Graphic 75" descr="Clipboard Mixed with solid fill">
            <a:extLst>
              <a:ext uri="{FF2B5EF4-FFF2-40B4-BE49-F238E27FC236}">
                <a16:creationId xmlns:a16="http://schemas.microsoft.com/office/drawing/2014/main" id="{C0D0DD34-B5B9-F297-EEB0-CCC0C1C8BF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52" y="2519304"/>
            <a:ext cx="731520" cy="731520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4D1787E6-CC16-93A4-0161-6F5E0D7F47B5}"/>
              </a:ext>
            </a:extLst>
          </p:cNvPr>
          <p:cNvSpPr txBox="1"/>
          <p:nvPr/>
        </p:nvSpPr>
        <p:spPr>
          <a:xfrm>
            <a:off x="554417" y="3361297"/>
            <a:ext cx="183008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b="0" dirty="0">
                <a:solidFill>
                  <a:srgbClr val="0F2343"/>
                </a:solidFill>
                <a:latin typeface="Aptos"/>
              </a:rPr>
              <a:t>Automated testing</a:t>
            </a:r>
            <a:endParaRPr b="0" dirty="0">
              <a:solidFill>
                <a:srgbClr val="0F2343"/>
              </a:solidFill>
              <a:latin typeface="Aptos"/>
            </a:endParaRPr>
          </a:p>
        </p:txBody>
      </p:sp>
      <p:pic>
        <p:nvPicPr>
          <p:cNvPr id="79" name="Graphic 78" descr="Arrow circle with solid fill">
            <a:extLst>
              <a:ext uri="{FF2B5EF4-FFF2-40B4-BE49-F238E27FC236}">
                <a16:creationId xmlns:a16="http://schemas.microsoft.com/office/drawing/2014/main" id="{B9B0F380-C4CB-DD8F-87D1-0B27A9B630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42768" y="2492991"/>
            <a:ext cx="731520" cy="731520"/>
          </a:xfrm>
          <a:prstGeom prst="rect">
            <a:avLst/>
          </a:prstGeom>
        </p:spPr>
      </p:pic>
      <p:pic>
        <p:nvPicPr>
          <p:cNvPr id="81" name="Graphic 80" descr="Layers Design with solid fill">
            <a:extLst>
              <a:ext uri="{FF2B5EF4-FFF2-40B4-BE49-F238E27FC236}">
                <a16:creationId xmlns:a16="http://schemas.microsoft.com/office/drawing/2014/main" id="{547F71B6-11C7-5617-E6E6-0FD1D33257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75988" y="2407682"/>
            <a:ext cx="914400" cy="914400"/>
          </a:xfrm>
          <a:prstGeom prst="rect">
            <a:avLst/>
          </a:prstGeom>
        </p:spPr>
      </p:pic>
      <p:sp>
        <p:nvSpPr>
          <p:cNvPr id="87" name="Rounded Rectangle 17">
            <a:extLst>
              <a:ext uri="{FF2B5EF4-FFF2-40B4-BE49-F238E27FC236}">
                <a16:creationId xmlns:a16="http://schemas.microsoft.com/office/drawing/2014/main" id="{DD7DA103-519B-866E-846A-72CD5362BFBF}"/>
              </a:ext>
            </a:extLst>
          </p:cNvPr>
          <p:cNvSpPr/>
          <p:nvPr/>
        </p:nvSpPr>
        <p:spPr>
          <a:xfrm>
            <a:off x="6675120" y="4768596"/>
            <a:ext cx="960120" cy="8229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3B82F6"/>
                </a:solidFill>
              </a:rPr>
              <a:t>AI</a:t>
            </a:r>
            <a:endParaRPr sz="2800" b="1" dirty="0">
              <a:solidFill>
                <a:srgbClr val="3B82F6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C62797A-E0E1-EF48-8CD7-79020325176D}"/>
              </a:ext>
            </a:extLst>
          </p:cNvPr>
          <p:cNvSpPr txBox="1"/>
          <p:nvPr/>
        </p:nvSpPr>
        <p:spPr>
          <a:xfrm>
            <a:off x="2790107" y="5603994"/>
            <a:ext cx="1066408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00" b="0" dirty="0">
                <a:solidFill>
                  <a:srgbClr val="0F2343"/>
                </a:solidFill>
                <a:latin typeface="Aptos"/>
              </a:rPr>
              <a:t>Manual processes</a:t>
            </a:r>
            <a:endParaRPr sz="1600" b="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90B4742-721E-7C2E-7B57-8012CF4CF34E}"/>
              </a:ext>
            </a:extLst>
          </p:cNvPr>
          <p:cNvSpPr txBox="1"/>
          <p:nvPr/>
        </p:nvSpPr>
        <p:spPr>
          <a:xfrm>
            <a:off x="4343400" y="5603994"/>
            <a:ext cx="1309828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00" dirty="0">
                <a:solidFill>
                  <a:srgbClr val="0F2343"/>
                </a:solidFill>
                <a:latin typeface="Aptos"/>
              </a:rPr>
              <a:t>Unclear design</a:t>
            </a:r>
            <a:endParaRPr sz="1600" b="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E8CD048-9CCA-8C88-5767-1AF0DF212CF8}"/>
              </a:ext>
            </a:extLst>
          </p:cNvPr>
          <p:cNvSpPr txBox="1"/>
          <p:nvPr/>
        </p:nvSpPr>
        <p:spPr>
          <a:xfrm>
            <a:off x="635697" y="5603994"/>
            <a:ext cx="1830084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00" dirty="0">
                <a:solidFill>
                  <a:srgbClr val="0F2343"/>
                </a:solidFill>
                <a:latin typeface="Aptos"/>
              </a:rPr>
              <a:t>Manual</a:t>
            </a:r>
            <a:r>
              <a:rPr lang="en-US" sz="1600" b="0" dirty="0">
                <a:solidFill>
                  <a:srgbClr val="0F2343"/>
                </a:solidFill>
                <a:latin typeface="Aptos"/>
              </a:rPr>
              <a:t> testing</a:t>
            </a:r>
          </a:p>
          <a:p>
            <a:pPr algn="ctr"/>
            <a:r>
              <a:rPr lang="en-US" sz="1600" dirty="0">
                <a:solidFill>
                  <a:srgbClr val="0F2343"/>
                </a:solidFill>
                <a:latin typeface="Aptos"/>
              </a:rPr>
              <a:t>(or absence)</a:t>
            </a:r>
            <a:endParaRPr sz="1600" b="0" dirty="0">
              <a:solidFill>
                <a:srgbClr val="0F2343"/>
              </a:solidFill>
              <a:latin typeface="Aptos"/>
            </a:endParaRPr>
          </a:p>
        </p:txBody>
      </p:sp>
      <p:pic>
        <p:nvPicPr>
          <p:cNvPr id="102" name="Graphic 101" descr="Touchscreen with solid fill">
            <a:extLst>
              <a:ext uri="{FF2B5EF4-FFF2-40B4-BE49-F238E27FC236}">
                <a16:creationId xmlns:a16="http://schemas.microsoft.com/office/drawing/2014/main" id="{B7606590-4346-0450-F410-F0A0F70DB8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95435" y="4838546"/>
            <a:ext cx="721689" cy="721689"/>
          </a:xfrm>
          <a:prstGeom prst="rect">
            <a:avLst/>
          </a:prstGeom>
        </p:spPr>
      </p:pic>
      <p:pic>
        <p:nvPicPr>
          <p:cNvPr id="104" name="Graphic 103" descr="Warning with solid fill">
            <a:extLst>
              <a:ext uri="{FF2B5EF4-FFF2-40B4-BE49-F238E27FC236}">
                <a16:creationId xmlns:a16="http://schemas.microsoft.com/office/drawing/2014/main" id="{B12507AC-2721-0FDD-20E3-E6515004F5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9212" y="4822972"/>
            <a:ext cx="708864" cy="708864"/>
          </a:xfrm>
          <a:prstGeom prst="rect">
            <a:avLst/>
          </a:prstGeom>
        </p:spPr>
      </p:pic>
      <p:pic>
        <p:nvPicPr>
          <p:cNvPr id="106" name="Graphic 105" descr="Sad face with solid fill with solid fill">
            <a:extLst>
              <a:ext uri="{FF2B5EF4-FFF2-40B4-BE49-F238E27FC236}">
                <a16:creationId xmlns:a16="http://schemas.microsoft.com/office/drawing/2014/main" id="{2E45CDB7-F9DB-FC5F-9749-ED84AD93C3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0692" y="4811463"/>
            <a:ext cx="780093" cy="78009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C32F9C-F085-EDA4-3109-A0FDABB2C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70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ECAD1-18DD-1E1E-6665-6526783BB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DE0521-074C-088B-6C50-531DDADE8C94}"/>
              </a:ext>
            </a:extLst>
          </p:cNvPr>
          <p:cNvSpPr txBox="1"/>
          <p:nvPr/>
        </p:nvSpPr>
        <p:spPr>
          <a:xfrm>
            <a:off x="365760" y="213360"/>
            <a:ext cx="1156716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4000" b="1" dirty="0">
                <a:solidFill>
                  <a:srgbClr val="0F2343"/>
                </a:solidFill>
                <a:latin typeface="Aptos Display"/>
              </a:rPr>
              <a:t>A reflection: what could you improve in your team structure and practices</a:t>
            </a:r>
            <a:r>
              <a:rPr sz="4000" b="1" dirty="0">
                <a:solidFill>
                  <a:srgbClr val="0F2343"/>
                </a:solidFill>
                <a:latin typeface="Aptos Display"/>
              </a:rPr>
              <a:t>?</a:t>
            </a:r>
            <a:endParaRPr sz="4000" b="1" i="0" baseline="30000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9593569-2483-EC91-AB7D-E18DAFE8D5D3}"/>
              </a:ext>
            </a:extLst>
          </p:cNvPr>
          <p:cNvSpPr/>
          <p:nvPr/>
        </p:nvSpPr>
        <p:spPr>
          <a:xfrm>
            <a:off x="462280" y="3627120"/>
            <a:ext cx="3357880" cy="3017520"/>
          </a:xfrm>
          <a:prstGeom prst="ellipse">
            <a:avLst/>
          </a:prstGeom>
          <a:solidFill>
            <a:srgbClr val="F97316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8D34C75-466F-3827-9632-4E29F453AAF4}"/>
              </a:ext>
            </a:extLst>
          </p:cNvPr>
          <p:cNvSpPr/>
          <p:nvPr/>
        </p:nvSpPr>
        <p:spPr>
          <a:xfrm>
            <a:off x="462280" y="1548844"/>
            <a:ext cx="3357880" cy="3017520"/>
          </a:xfrm>
          <a:prstGeom prst="ellipse">
            <a:avLst/>
          </a:prstGeom>
          <a:solidFill>
            <a:srgbClr val="07142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Aptos" panose="020B0004020202020204" pitchFamily="34" charset="0"/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18B315C-5074-6AE9-C194-1714346DE199}"/>
              </a:ext>
            </a:extLst>
          </p:cNvPr>
          <p:cNvCxnSpPr>
            <a:cxnSpLocks/>
          </p:cNvCxnSpPr>
          <p:nvPr/>
        </p:nvCxnSpPr>
        <p:spPr>
          <a:xfrm>
            <a:off x="3027680" y="2635794"/>
            <a:ext cx="1676400" cy="0"/>
          </a:xfrm>
          <a:prstGeom prst="straightConnector1">
            <a:avLst/>
          </a:prstGeom>
          <a:ln>
            <a:solidFill>
              <a:srgbClr val="07142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30E2244-EC69-8FB0-2533-72D82DFA77BD}"/>
              </a:ext>
            </a:extLst>
          </p:cNvPr>
          <p:cNvCxnSpPr>
            <a:cxnSpLocks/>
          </p:cNvCxnSpPr>
          <p:nvPr/>
        </p:nvCxnSpPr>
        <p:spPr>
          <a:xfrm>
            <a:off x="3027680" y="4090670"/>
            <a:ext cx="1676400" cy="0"/>
          </a:xfrm>
          <a:prstGeom prst="straightConnector1">
            <a:avLst/>
          </a:prstGeom>
          <a:ln>
            <a:solidFill>
              <a:srgbClr val="07142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16507B7-F8DA-625B-0349-E6A2E27B504B}"/>
              </a:ext>
            </a:extLst>
          </p:cNvPr>
          <p:cNvCxnSpPr>
            <a:cxnSpLocks/>
          </p:cNvCxnSpPr>
          <p:nvPr/>
        </p:nvCxnSpPr>
        <p:spPr>
          <a:xfrm>
            <a:off x="3027680" y="5542924"/>
            <a:ext cx="1676400" cy="0"/>
          </a:xfrm>
          <a:prstGeom prst="straightConnector1">
            <a:avLst/>
          </a:prstGeom>
          <a:ln>
            <a:solidFill>
              <a:srgbClr val="07142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BFEDAD77-31D7-B464-D941-127A8BC70511}"/>
              </a:ext>
            </a:extLst>
          </p:cNvPr>
          <p:cNvSpPr txBox="1"/>
          <p:nvPr/>
        </p:nvSpPr>
        <p:spPr>
          <a:xfrm>
            <a:off x="4873374" y="2297240"/>
            <a:ext cx="7059546" cy="677108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algn="l"/>
            <a:r>
              <a:rPr lang="en-US" sz="2400" b="1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Developers</a:t>
            </a:r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 to tackle problems unrelated to OR: design a database, data, deployments.</a:t>
            </a:r>
            <a:endParaRPr sz="160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D07A43C-BA10-A97C-9FE7-CE3F37179358}"/>
              </a:ext>
            </a:extLst>
          </p:cNvPr>
          <p:cNvSpPr txBox="1"/>
          <p:nvPr/>
        </p:nvSpPr>
        <p:spPr>
          <a:xfrm>
            <a:off x="4842069" y="5206992"/>
            <a:ext cx="7059546" cy="677108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algn="l"/>
            <a:r>
              <a:rPr lang="en-US" sz="2400" b="1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Scientists</a:t>
            </a:r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 trained in </a:t>
            </a:r>
            <a:r>
              <a:rPr lang="en-US" sz="2000" u="sng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some</a:t>
            </a:r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 SE elements: SDLC, elicitation, agile, OOP, basics of design, automated testing, TDD, CI.</a:t>
            </a:r>
            <a:endParaRPr sz="160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C848E63-95B3-614C-6A77-057FA3D909F4}"/>
              </a:ext>
            </a:extLst>
          </p:cNvPr>
          <p:cNvSpPr txBox="1"/>
          <p:nvPr/>
        </p:nvSpPr>
        <p:spPr>
          <a:xfrm>
            <a:off x="4842069" y="3587750"/>
            <a:ext cx="7059546" cy="1005840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pPr algn="l"/>
            <a:r>
              <a:rPr lang="en-US" sz="2400" b="1" dirty="0">
                <a:solidFill>
                  <a:srgbClr val="0F2343"/>
                </a:solidFill>
                <a:latin typeface="Aptos"/>
              </a:rPr>
              <a:t>OR Engineers</a:t>
            </a:r>
            <a:r>
              <a:rPr sz="2000" b="0" dirty="0">
                <a:solidFill>
                  <a:srgbClr val="0F2343"/>
                </a:solidFill>
                <a:latin typeface="Aptos"/>
              </a:rPr>
              <a:t> </a:t>
            </a:r>
            <a:r>
              <a:rPr lang="en-US" sz="2000" b="0" dirty="0">
                <a:solidFill>
                  <a:srgbClr val="0F2343"/>
                </a:solidFill>
                <a:latin typeface="Aptos"/>
              </a:rPr>
              <a:t>to set</a:t>
            </a:r>
            <a:r>
              <a:rPr sz="2000" b="0" dirty="0">
                <a:solidFill>
                  <a:srgbClr val="0F2343"/>
                </a:solidFill>
                <a:latin typeface="Aptos"/>
              </a:rPr>
              <a:t> </a:t>
            </a:r>
            <a:r>
              <a:rPr lang="en-US" sz="2000" b="0" dirty="0">
                <a:solidFill>
                  <a:srgbClr val="0F2343"/>
                </a:solidFill>
                <a:latin typeface="Aptos"/>
              </a:rPr>
              <a:t>scientific</a:t>
            </a:r>
            <a:r>
              <a:rPr sz="2000" b="0" dirty="0">
                <a:solidFill>
                  <a:srgbClr val="0F2343"/>
                </a:solidFill>
                <a:latin typeface="Aptos"/>
              </a:rPr>
              <a:t> </a:t>
            </a:r>
            <a:r>
              <a:rPr lang="en-US" sz="2000" b="0" dirty="0">
                <a:solidFill>
                  <a:srgbClr val="0F2343"/>
                </a:solidFill>
                <a:latin typeface="Aptos"/>
              </a:rPr>
              <a:t>development needs: optimization model testing</a:t>
            </a:r>
            <a:r>
              <a:rPr sz="2000" b="0" dirty="0">
                <a:solidFill>
                  <a:srgbClr val="0F2343"/>
                </a:solidFill>
                <a:latin typeface="Aptos"/>
              </a:rPr>
              <a:t>, </a:t>
            </a:r>
            <a:r>
              <a:rPr lang="en-US" sz="2000" b="0" dirty="0">
                <a:solidFill>
                  <a:srgbClr val="0F2343"/>
                </a:solidFill>
                <a:latin typeface="Aptos"/>
              </a:rPr>
              <a:t>solver-agnostic design, experimentation suite, among others.</a:t>
            </a:r>
            <a:endParaRPr sz="160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402A929-E5DD-3828-008F-A7C866990E67}"/>
              </a:ext>
            </a:extLst>
          </p:cNvPr>
          <p:cNvSpPr txBox="1"/>
          <p:nvPr/>
        </p:nvSpPr>
        <p:spPr>
          <a:xfrm>
            <a:off x="1471536" y="2505372"/>
            <a:ext cx="14782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Software</a:t>
            </a:r>
            <a:b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</a:b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Engineering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86B52E4-CD6E-E2D1-8690-5AC7747DBDCE}"/>
              </a:ext>
            </a:extLst>
          </p:cNvPr>
          <p:cNvSpPr txBox="1"/>
          <p:nvPr/>
        </p:nvSpPr>
        <p:spPr>
          <a:xfrm>
            <a:off x="1502925" y="4925949"/>
            <a:ext cx="14155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Operations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Research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663F89-8D67-7270-5D3C-4D27C3AD8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79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D49CE-C866-2E3D-423D-41F436878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22411A1C-31C5-152B-C891-9094AA979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9634" y="1271354"/>
            <a:ext cx="5373286" cy="537328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FA1D3BD-6DB6-1715-517A-27EE88BBA04A}"/>
              </a:ext>
            </a:extLst>
          </p:cNvPr>
          <p:cNvSpPr txBox="1"/>
          <p:nvPr/>
        </p:nvSpPr>
        <p:spPr>
          <a:xfrm>
            <a:off x="365760" y="213360"/>
            <a:ext cx="1156716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dirty="0">
                <a:solidFill>
                  <a:srgbClr val="0F2343"/>
                </a:solidFill>
                <a:latin typeface="Aptos Display"/>
              </a:rPr>
              <a:t>How do you build that team? </a:t>
            </a:r>
            <a:r>
              <a:rPr sz="4000" b="1" dirty="0">
                <a:solidFill>
                  <a:srgbClr val="F97316"/>
                </a:solidFill>
                <a:latin typeface="Aptos Display"/>
              </a:rPr>
              <a:t>SEFOP</a:t>
            </a:r>
            <a:r>
              <a:rPr sz="4000" b="1" dirty="0">
                <a:solidFill>
                  <a:srgbClr val="0F2343"/>
                </a:solidFill>
                <a:latin typeface="Aptos Display"/>
              </a:rPr>
              <a:t> packages practices</a:t>
            </a:r>
            <a:r>
              <a:rPr lang="en-US" sz="4000" b="1" dirty="0">
                <a:solidFill>
                  <a:srgbClr val="0F2343"/>
                </a:solidFill>
                <a:latin typeface="Aptos Display"/>
              </a:rPr>
              <a:t> and training materials</a:t>
            </a:r>
            <a:endParaRPr sz="4000" b="1" i="0" baseline="30000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679379" y="6213753"/>
            <a:ext cx="3133796" cy="430887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dirty="0">
                <a:solidFill>
                  <a:srgbClr val="0F2343"/>
                </a:solidFill>
                <a:latin typeface="Aptos"/>
              </a:rPr>
              <a:t>github.com/</a:t>
            </a:r>
            <a:r>
              <a:rPr sz="2800" b="1" dirty="0" err="1">
                <a:solidFill>
                  <a:srgbClr val="0F2343"/>
                </a:solidFill>
                <a:latin typeface="Aptos"/>
              </a:rPr>
              <a:t>sefop</a:t>
            </a:r>
            <a:endParaRPr sz="2800" b="1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A2AAC7-92A8-2E98-7927-C58D1885D6A6}"/>
              </a:ext>
            </a:extLst>
          </p:cNvPr>
          <p:cNvSpPr txBox="1"/>
          <p:nvPr/>
        </p:nvSpPr>
        <p:spPr>
          <a:xfrm>
            <a:off x="365760" y="1895295"/>
            <a:ext cx="6193875" cy="738664"/>
          </a:xfrm>
          <a:prstGeom prst="rect">
            <a:avLst/>
          </a:prstGeom>
          <a:noFill/>
        </p:spPr>
        <p:txBody>
          <a:bodyPr wrap="square" tIns="0" rIns="45720" bIns="0">
            <a:spAutoFit/>
          </a:bodyPr>
          <a:lstStyle/>
          <a:p>
            <a:r>
              <a:rPr lang="en-US" sz="2400" b="1" dirty="0">
                <a:solidFill>
                  <a:srgbClr val="0F2343"/>
                </a:solidFill>
                <a:latin typeface="Aptos"/>
              </a:rPr>
              <a:t>S</a:t>
            </a:r>
            <a:r>
              <a:rPr lang="en-US" sz="2400" dirty="0">
                <a:solidFill>
                  <a:srgbClr val="0F2343"/>
                </a:solidFill>
                <a:latin typeface="Aptos"/>
              </a:rPr>
              <a:t>oftware</a:t>
            </a:r>
            <a:r>
              <a:rPr lang="en-US" sz="2400" b="1" dirty="0">
                <a:solidFill>
                  <a:srgbClr val="0F2343"/>
                </a:solidFill>
                <a:latin typeface="Aptos"/>
              </a:rPr>
              <a:t> E</a:t>
            </a:r>
            <a:r>
              <a:rPr lang="en-US" sz="2400" dirty="0">
                <a:solidFill>
                  <a:srgbClr val="0F2343"/>
                </a:solidFill>
                <a:latin typeface="Aptos"/>
              </a:rPr>
              <a:t>ngineering</a:t>
            </a:r>
            <a:r>
              <a:rPr lang="en-US" sz="2400" b="1" dirty="0">
                <a:solidFill>
                  <a:srgbClr val="0F2343"/>
                </a:solidFill>
                <a:latin typeface="Aptos"/>
              </a:rPr>
              <a:t> F</a:t>
            </a:r>
            <a:r>
              <a:rPr lang="en-US" sz="2400" dirty="0">
                <a:solidFill>
                  <a:srgbClr val="0F2343"/>
                </a:solidFill>
                <a:latin typeface="Aptos"/>
              </a:rPr>
              <a:t>ramework</a:t>
            </a:r>
            <a:r>
              <a:rPr lang="en-US" sz="2400" b="1" dirty="0">
                <a:solidFill>
                  <a:srgbClr val="0F2343"/>
                </a:solidFill>
                <a:latin typeface="Aptos"/>
              </a:rPr>
              <a:t> </a:t>
            </a:r>
            <a:r>
              <a:rPr lang="en-US" sz="2400" dirty="0">
                <a:solidFill>
                  <a:srgbClr val="0F2343"/>
                </a:solidFill>
                <a:latin typeface="Aptos"/>
              </a:rPr>
              <a:t>for </a:t>
            </a:r>
            <a:r>
              <a:rPr lang="en-US" sz="2400" b="1" dirty="0">
                <a:solidFill>
                  <a:srgbClr val="0F2343"/>
                </a:solidFill>
                <a:latin typeface="Aptos"/>
              </a:rPr>
              <a:t>O</a:t>
            </a:r>
            <a:r>
              <a:rPr lang="en-US" sz="2400" dirty="0">
                <a:solidFill>
                  <a:srgbClr val="0F2343"/>
                </a:solidFill>
                <a:latin typeface="Aptos"/>
              </a:rPr>
              <a:t>ptimization</a:t>
            </a:r>
            <a:r>
              <a:rPr lang="en-US" sz="2400" b="1" dirty="0">
                <a:solidFill>
                  <a:srgbClr val="0F2343"/>
                </a:solidFill>
                <a:latin typeface="Aptos"/>
              </a:rPr>
              <a:t> </a:t>
            </a:r>
            <a:r>
              <a:rPr lang="en-US" sz="2400" b="1" dirty="0">
                <a:solidFill>
                  <a:srgbClr val="0F2343"/>
                </a:solidFill>
                <a:latin typeface="Aptos" panose="020B0004020202020204" pitchFamily="34" charset="0"/>
              </a:rPr>
              <a:t>P</a:t>
            </a:r>
            <a:r>
              <a:rPr lang="en-US" sz="2400" dirty="0">
                <a:solidFill>
                  <a:srgbClr val="0F2343"/>
                </a:solidFill>
                <a:latin typeface="Aptos" panose="020B0004020202020204" pitchFamily="34" charset="0"/>
              </a:rPr>
              <a:t>rograms 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t>— free &amp; open-source</a:t>
            </a:r>
            <a:r>
              <a:rPr lang="en-US" sz="2400" dirty="0">
                <a:solidFill>
                  <a:srgbClr val="0F2343"/>
                </a:solidFill>
                <a:latin typeface="Aptos" panose="020B0004020202020204" pitchFamily="34" charset="0"/>
              </a:rPr>
              <a:t> 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09A9ACA-ACDD-DE32-4754-A4FDC9C0FD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357" y="2645739"/>
            <a:ext cx="1737360" cy="173736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3A122A3-D632-227E-8EBE-3EEEA24CF0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274" y="4569191"/>
            <a:ext cx="1737360" cy="173736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BFEC196A-61F4-6E95-B0B1-07A1D3FD89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714" y="2737179"/>
            <a:ext cx="1554480" cy="155448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1BB8DB83-27EE-DF17-6FE0-75DEDF1321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16797" y="4660631"/>
            <a:ext cx="1554480" cy="155448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CEB3279D-A715-1768-0F0B-9B3E38A334DE}"/>
              </a:ext>
            </a:extLst>
          </p:cNvPr>
          <p:cNvSpPr txBox="1"/>
          <p:nvPr/>
        </p:nvSpPr>
        <p:spPr>
          <a:xfrm>
            <a:off x="1321821" y="4169081"/>
            <a:ext cx="9482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Train</a:t>
            </a:r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13C749-40E6-AFD5-97C4-DD8D8DD44EA9}"/>
              </a:ext>
            </a:extLst>
          </p:cNvPr>
          <p:cNvSpPr txBox="1"/>
          <p:nvPr/>
        </p:nvSpPr>
        <p:spPr>
          <a:xfrm>
            <a:off x="4220920" y="4169081"/>
            <a:ext cx="9482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Lead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022F8AC-347E-5A91-9AA5-6CE8C5564342}"/>
              </a:ext>
            </a:extLst>
          </p:cNvPr>
          <p:cNvSpPr txBox="1"/>
          <p:nvPr/>
        </p:nvSpPr>
        <p:spPr>
          <a:xfrm>
            <a:off x="1196626" y="6153588"/>
            <a:ext cx="12254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Deliver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9C7F4D0-DFBC-128B-257E-B41B276C6470}"/>
              </a:ext>
            </a:extLst>
          </p:cNvPr>
          <p:cNvSpPr txBox="1"/>
          <p:nvPr/>
        </p:nvSpPr>
        <p:spPr>
          <a:xfrm>
            <a:off x="3916797" y="6150122"/>
            <a:ext cx="1645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0F2343"/>
                </a:solidFill>
                <a:latin typeface="Aptos"/>
                <a:sym typeface="Wingdings" panose="05000000000000000000" pitchFamily="2" charset="2"/>
              </a:rPr>
              <a:t>Go agentic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1E5FC8-297F-CDAD-6473-73C5ED40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577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639C2-67EF-3D9B-4837-FD17E0184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1D2AE3-A542-72C8-4C2B-55C7C0E59928}"/>
              </a:ext>
            </a:extLst>
          </p:cNvPr>
          <p:cNvSpPr txBox="1"/>
          <p:nvPr/>
        </p:nvSpPr>
        <p:spPr>
          <a:xfrm>
            <a:off x="365760" y="213360"/>
            <a:ext cx="115671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dirty="0">
                <a:solidFill>
                  <a:srgbClr val="0F2343"/>
                </a:solidFill>
                <a:latin typeface="Aptos Display"/>
              </a:rPr>
              <a:t>Conclusion</a:t>
            </a:r>
            <a:r>
              <a:rPr lang="en-US" sz="4000" b="1" dirty="0">
                <a:solidFill>
                  <a:srgbClr val="0F2343"/>
                </a:solidFill>
                <a:latin typeface="Aptos Display"/>
              </a:rPr>
              <a:t>s</a:t>
            </a:r>
            <a:endParaRPr sz="4000" b="1" i="0" baseline="30000" dirty="0">
              <a:solidFill>
                <a:srgbClr val="0F2343"/>
              </a:solidFill>
              <a:latin typeface="Aptos Display"/>
            </a:endParaRPr>
          </a:p>
        </p:txBody>
      </p:sp>
      <p:sp>
        <p:nvSpPr>
          <p:cNvPr id="3" name="Oval 2"/>
          <p:cNvSpPr/>
          <p:nvPr/>
        </p:nvSpPr>
        <p:spPr>
          <a:xfrm>
            <a:off x="463974" y="1506083"/>
            <a:ext cx="830862" cy="830862"/>
          </a:xfrm>
          <a:prstGeom prst="ellipse">
            <a:avLst/>
          </a:prstGeom>
          <a:solidFill>
            <a:srgbClr val="0F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Aptos" panose="020B0004020202020204" pitchFamily="34" charset="0"/>
              </a:rPr>
              <a:t>1</a:t>
            </a:r>
            <a:endParaRPr sz="2800" b="1" dirty="0">
              <a:latin typeface="Aptos" panose="020B00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51376" y="1716670"/>
            <a:ext cx="9492827" cy="36933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 dirty="0">
                <a:solidFill>
                  <a:srgbClr val="0F2343"/>
                </a:solidFill>
                <a:latin typeface="Aptos"/>
              </a:rPr>
              <a:t>A recurring decision is a product.</a:t>
            </a:r>
            <a:r>
              <a:rPr lang="en-US" sz="2400" b="0" dirty="0">
                <a:solidFill>
                  <a:srgbClr val="0F2343"/>
                </a:solidFill>
                <a:latin typeface="Aptos"/>
              </a:rPr>
              <a:t> Product is software.</a:t>
            </a:r>
            <a:endParaRPr sz="2400" b="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51376" y="2979178"/>
            <a:ext cx="9492827" cy="73866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2400" b="0" dirty="0">
                <a:solidFill>
                  <a:srgbClr val="0F2343"/>
                </a:solidFill>
                <a:latin typeface="Aptos"/>
              </a:rPr>
              <a:t>Software</a:t>
            </a:r>
            <a:r>
              <a:rPr sz="2400" b="0" dirty="0">
                <a:solidFill>
                  <a:srgbClr val="0F2343"/>
                </a:solidFill>
                <a:latin typeface="Aptos"/>
              </a:rPr>
              <a:t> need</a:t>
            </a:r>
            <a:r>
              <a:rPr lang="en-US" sz="2400" b="0" dirty="0">
                <a:solidFill>
                  <a:srgbClr val="0F2343"/>
                </a:solidFill>
                <a:latin typeface="Aptos"/>
              </a:rPr>
              <a:t>s</a:t>
            </a:r>
            <a:r>
              <a:rPr sz="2400" b="0" dirty="0">
                <a:solidFill>
                  <a:srgbClr val="0F2343"/>
                </a:solidFill>
                <a:latin typeface="Aptos"/>
              </a:rPr>
              <a:t> </a:t>
            </a:r>
            <a:r>
              <a:rPr lang="en-US" sz="2400" b="0" dirty="0">
                <a:solidFill>
                  <a:srgbClr val="0F2343"/>
                </a:solidFill>
                <a:latin typeface="Aptos"/>
              </a:rPr>
              <a:t>proper </a:t>
            </a:r>
            <a:r>
              <a:rPr sz="2400" b="0" dirty="0">
                <a:solidFill>
                  <a:srgbClr val="0F2343"/>
                </a:solidFill>
                <a:latin typeface="Aptos"/>
              </a:rPr>
              <a:t>engineering practices</a:t>
            </a:r>
            <a:r>
              <a:rPr lang="en-US" sz="2400" b="0" dirty="0">
                <a:solidFill>
                  <a:srgbClr val="0F2343"/>
                </a:solidFill>
                <a:latin typeface="Aptos"/>
              </a:rPr>
              <a:t> to unlock its full business value.</a:t>
            </a:r>
            <a:endParaRPr sz="2400" b="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51376" y="4298576"/>
            <a:ext cx="9492827" cy="73866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 dirty="0">
                <a:solidFill>
                  <a:srgbClr val="0F2343"/>
                </a:solidFill>
                <a:latin typeface="Aptos"/>
              </a:rPr>
              <a:t>The OR team has to own the </a:t>
            </a:r>
            <a:r>
              <a:rPr lang="en-US" sz="2400" b="0" dirty="0">
                <a:solidFill>
                  <a:srgbClr val="0F2343"/>
                </a:solidFill>
                <a:latin typeface="Aptos"/>
              </a:rPr>
              <a:t>lifecycle of the </a:t>
            </a:r>
            <a:r>
              <a:rPr sz="2400" b="0" dirty="0">
                <a:solidFill>
                  <a:srgbClr val="0F2343"/>
                </a:solidFill>
                <a:latin typeface="Aptos"/>
              </a:rPr>
              <a:t>product, </a:t>
            </a:r>
            <a:r>
              <a:rPr lang="en-US" sz="2400" dirty="0">
                <a:solidFill>
                  <a:srgbClr val="0F2343"/>
                </a:solidFill>
                <a:latin typeface="Aptos"/>
              </a:rPr>
              <a:t>with its specific software &amp; scientific needs.</a:t>
            </a:r>
            <a:endParaRPr sz="2400" b="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51376" y="5579441"/>
            <a:ext cx="9956802" cy="36933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2400" b="0" dirty="0">
                <a:solidFill>
                  <a:srgbClr val="0F2343"/>
                </a:solidFill>
                <a:latin typeface="Aptos"/>
              </a:rPr>
              <a:t>AI-coding assistants need proper engineering first to unlock full potential.  </a:t>
            </a:r>
            <a:endParaRPr sz="2400" b="0" dirty="0">
              <a:solidFill>
                <a:srgbClr val="0F2343"/>
              </a:solidFill>
              <a:latin typeface="Apto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FC1515D-B1D5-E84F-931F-45C879B1F17C}"/>
              </a:ext>
            </a:extLst>
          </p:cNvPr>
          <p:cNvSpPr/>
          <p:nvPr/>
        </p:nvSpPr>
        <p:spPr>
          <a:xfrm>
            <a:off x="463974" y="2786947"/>
            <a:ext cx="830862" cy="830862"/>
          </a:xfrm>
          <a:prstGeom prst="ellipse">
            <a:avLst/>
          </a:prstGeom>
          <a:solidFill>
            <a:srgbClr val="0F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Aptos" panose="020B0004020202020204" pitchFamily="34" charset="0"/>
              </a:rPr>
              <a:t>2</a:t>
            </a:r>
            <a:endParaRPr sz="2800" b="1" dirty="0">
              <a:latin typeface="Aptos" panose="020B0004020202020204" pitchFamily="34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71F4C30-3CEC-098D-0118-C753D52B3A2F}"/>
              </a:ext>
            </a:extLst>
          </p:cNvPr>
          <p:cNvSpPr/>
          <p:nvPr/>
        </p:nvSpPr>
        <p:spPr>
          <a:xfrm>
            <a:off x="463974" y="4067811"/>
            <a:ext cx="830862" cy="830862"/>
          </a:xfrm>
          <a:prstGeom prst="ellipse">
            <a:avLst/>
          </a:prstGeom>
          <a:solidFill>
            <a:srgbClr val="0F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Aptos" panose="020B0004020202020204" pitchFamily="34" charset="0"/>
              </a:rPr>
              <a:t>3</a:t>
            </a:r>
            <a:endParaRPr sz="2800" b="1" dirty="0">
              <a:latin typeface="Aptos" panose="020B0004020202020204" pitchFamily="34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21650A3-6C64-0309-0E3B-F77325B3F440}"/>
              </a:ext>
            </a:extLst>
          </p:cNvPr>
          <p:cNvSpPr/>
          <p:nvPr/>
        </p:nvSpPr>
        <p:spPr>
          <a:xfrm>
            <a:off x="463974" y="5348676"/>
            <a:ext cx="830862" cy="830862"/>
          </a:xfrm>
          <a:prstGeom prst="ellipse">
            <a:avLst/>
          </a:prstGeom>
          <a:solidFill>
            <a:srgbClr val="0F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Aptos" panose="020B0004020202020204" pitchFamily="34" charset="0"/>
              </a:rPr>
              <a:t>4</a:t>
            </a:r>
            <a:endParaRPr sz="2800" b="1" dirty="0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98A76-CE52-0DF7-63DB-9D3F8A664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789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3165</TotalTime>
  <Words>1176</Words>
  <Application>Microsoft Office PowerPoint</Application>
  <PresentationFormat>Widescreen</PresentationFormat>
  <Paragraphs>176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Francisco Zenteno Smith</cp:lastModifiedBy>
  <cp:revision>174</cp:revision>
  <dcterms:created xsi:type="dcterms:W3CDTF">2013-01-27T09:14:16Z</dcterms:created>
  <dcterms:modified xsi:type="dcterms:W3CDTF">2026-10-20T02:43:44Z</dcterms:modified>
  <cp:category/>
</cp:coreProperties>
</file>