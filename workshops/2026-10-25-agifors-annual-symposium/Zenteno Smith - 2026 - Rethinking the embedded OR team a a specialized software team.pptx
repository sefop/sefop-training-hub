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4"/>
    <p:sldId id="270" r:id="rId5"/>
    <p:sldId id="271" r:id="rId6"/>
    <p:sldId id="275" r:id="rId7"/>
    <p:sldId id="272" r:id="rId8"/>
    <p:sldId id="273" r:id="rId9"/>
    <p:sldId id="274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E9F1FB"/>
    <a:srgbClr val="F1F5F9"/>
    <a:srgbClr val="F9F2EE"/>
    <a:srgbClr val="3B82F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99" autoAdjust="0"/>
  </p:normalViewPr>
  <p:slideViewPr>
    <p:cSldViewPr snapToGrid="0" snapToObjects="1">
      <p:cViewPr varScale="1">
        <p:scale>
          <a:sx n="97" d="100"/>
          <a:sy n="97" d="100"/>
        </p:scale>
        <p:origin x="18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what is an OR team building?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sustainability is a software property, how good is it in DSS?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Some cracks: using </a:t>
            </a:r>
            <a:r>
              <a:rPr lang="en-US" dirty="0" err="1"/>
              <a:t>jupyter</a:t>
            </a:r>
            <a:r>
              <a:rPr lang="en-US" dirty="0"/>
              <a:t> notebooks; lack of automatic tests.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what is the price we pay because of these weak practices?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Short-lived system</a:t>
            </a:r>
            <a:r>
              <a:rPr lang="en-US" dirty="0"/>
              <a:t>: </a:t>
            </a:r>
            <a:r>
              <a:rPr dirty="0"/>
              <a:t>soon (maybe 1 year?) progress stalls as it can't support changes efficiently.</a:t>
            </a:r>
          </a:p>
          <a:p>
            <a:r>
              <a:rPr dirty="0"/>
              <a:t>Legacy system: started fine; after a couple of years the initial developers left. Now it is unclear how it works, or making a change is very difficult. 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so how strengthen the weak practices?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6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obvious fix</a:t>
            </a:r>
            <a:r>
              <a:rPr lang="en-US" dirty="0"/>
              <a:t>?</a:t>
            </a:r>
            <a:r>
              <a:rPr dirty="0"/>
              <a:t> to hire developers, </a:t>
            </a:r>
            <a:r>
              <a:rPr lang="en-US" dirty="0"/>
              <a:t>but that does not work.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should not know everything about SE, just what it needs.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engineers help scientists develop properly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then my science team will grow 10x? What is the actual scope I need?</a:t>
            </a:r>
          </a:p>
          <a:p>
            <a:pPr marL="0" indent="0">
              <a:buFontTx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</a:t>
            </a:r>
          </a:p>
          <a:p>
            <a:r>
              <a:rPr lang="en-US" dirty="0"/>
              <a:t>Ok what happens now when we train scientists in software engineering?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Every team walks this leg first, whatever it decides to staff afterwards.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15 months of engineering. why bother, when AI writes the code?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AI multiplies what you already have. So what does your team already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Pause here. This is the only moment in the talk that is about their team rather than about OR teams in general.</a:t>
            </a:r>
            <a:endParaRPr lang="en-US" dirty="0"/>
          </a:p>
          <a:p>
            <a:endParaRPr lang="en-US" dirty="0"/>
          </a:p>
          <a:p>
            <a:r>
              <a:rPr lang="en-US" dirty="0"/>
              <a:t>Hook: if you identified a gap in OR Engineers or Scientists training…. How to close that gap?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SEFOP exists so OR teams do not have to rediscover these practices independently.</a:t>
            </a:r>
          </a:p>
          <a:p>
            <a:pPr marL="171450" indent="-171450" algn="l">
              <a:spcAft>
                <a:spcPts val="400"/>
              </a:spcAft>
              <a:buFontTx/>
              <a:buChar char="-"/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Train: teach unit testing to scientists, integration testing and testing optimization models</a:t>
            </a:r>
          </a:p>
          <a:p>
            <a:pPr marL="171450" indent="-171450" algn="l">
              <a:spcAft>
                <a:spcPts val="400"/>
              </a:spcAft>
              <a:buFontTx/>
              <a:buChar char="-"/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Lead: how to maintain a software quality practice in your scientific team?</a:t>
            </a:r>
          </a:p>
          <a:p>
            <a:pPr marL="171450" indent="-171450" algn="l">
              <a:spcAft>
                <a:spcPts val="400"/>
              </a:spcAft>
              <a:buFontTx/>
              <a:buChar char="-"/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Deliver: templates and design examples to help you start</a:t>
            </a:r>
          </a:p>
          <a:p>
            <a:pPr marL="171450" indent="-171450" algn="l">
              <a:spcAft>
                <a:spcPts val="400"/>
              </a:spcAft>
              <a:buFontTx/>
              <a:buChar char="-"/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Go agentic: agentic skills that could be useful for you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7FF14-F878-45E8-AFB4-46D953F41C81}" type="datetime1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B6F46-0C3C-4175-8B43-348544656D81}" type="datetime1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46EC6-7322-4DBC-84C7-E11D30942555}" type="datetime1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48B31-6056-4B86-B43A-9DBD0BACB6B8}" type="datetime1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A4DAE-E39A-4AB4-9A37-8C4CE854B5ED}" type="datetime1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0320F-0C3E-448D-9224-8CF88A1B4ED1}" type="datetime1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C46C6B-8CC5-4835-9317-0254AF58E7FA}" type="datetime1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2DB2F-C7F6-4FDA-BA62-32815EE05B27}" type="datetime1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BFFA9-8A0F-4C1F-BDA9-E4A846D0523F}" type="datetime1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9591-628F-4BAB-AD9F-697EBD829841}" type="datetime1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EFADA-DB7A-4DBF-B5C8-201C4683F8E6}" type="datetime1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06CE3-984D-4D4B-A976-00BBA5D668A5}" type="datetime1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5850" y="1693307"/>
            <a:ext cx="10058400" cy="123110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dirty="0">
                <a:solidFill>
                  <a:schemeClr val="bg1"/>
                </a:solidFill>
                <a:latin typeface="Aptos Display"/>
              </a:rPr>
              <a:t>Rethinking the embedded OR team</a:t>
            </a:r>
            <a:r>
              <a:rPr lang="en-US" sz="4000" b="1" dirty="0">
                <a:solidFill>
                  <a:schemeClr val="bg1"/>
                </a:solidFill>
                <a:latin typeface="Aptos Display"/>
              </a:rPr>
              <a:t> </a:t>
            </a:r>
            <a:r>
              <a:rPr sz="4000" b="1" dirty="0">
                <a:solidFill>
                  <a:schemeClr val="bg1"/>
                </a:solidFill>
                <a:latin typeface="Aptos Display"/>
              </a:rPr>
              <a:t>as a specialized software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646574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i="1" dirty="0">
                <a:solidFill>
                  <a:srgbClr val="FFFFFF"/>
                </a:solidFill>
                <a:latin typeface="Aptos"/>
              </a:rPr>
              <a:t>Every comment here represents my own opinion, and does not represent an American Airlines statement </a:t>
            </a:r>
            <a:endParaRPr lang="en-US" sz="1050" i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488862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project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product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decision.</a:t>
            </a: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3224" y="363636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3224" y="427648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552449" y="383718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3224" y="491661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059719" y="4242583"/>
            <a:ext cx="4677663" cy="70788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200" b="1" dirty="0">
                <a:solidFill>
                  <a:srgbClr val="0F2343"/>
                </a:solidFill>
                <a:latin typeface="Aptos"/>
              </a:rPr>
              <a:t>These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product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are also known as</a:t>
            </a:r>
          </a:p>
          <a:p>
            <a:pPr algn="ctr"/>
            <a:r>
              <a:rPr sz="2400" b="1" dirty="0">
                <a:solidFill>
                  <a:srgbClr val="F97316"/>
                </a:solidFill>
                <a:latin typeface="Aptos"/>
              </a:rPr>
              <a:t>decision-support system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s</a:t>
            </a:r>
            <a:r>
              <a:rPr sz="2400" b="1" dirty="0">
                <a:solidFill>
                  <a:srgbClr val="F97316"/>
                </a:solidFill>
                <a:latin typeface="Aptos"/>
              </a:rPr>
              <a:t> (DSS)</a:t>
            </a:r>
            <a:endParaRPr sz="2400" dirty="0">
              <a:solidFill>
                <a:srgbClr val="F97316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92760" y="5951100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rgbClr val="0F2343"/>
                </a:solidFill>
                <a:latin typeface="Aptos"/>
              </a:rPr>
              <a:t>Its business value comes from 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being sustainable over the lifetime of the business need</a:t>
            </a:r>
            <a:r>
              <a:rPr sz="2200" dirty="0">
                <a:solidFill>
                  <a:srgbClr val="0F2343"/>
                </a:solidFill>
                <a:latin typeface="Aptos"/>
              </a:rPr>
              <a:t>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816163" y="4185198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796BF-8B07-91B8-7E72-BD4A45710603}"/>
              </a:ext>
            </a:extLst>
          </p:cNvPr>
          <p:cNvSpPr txBox="1"/>
          <p:nvPr/>
        </p:nvSpPr>
        <p:spPr>
          <a:xfrm>
            <a:off x="408432" y="3143967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0F2343"/>
                </a:solidFill>
                <a:latin typeface="Aptos"/>
              </a:rPr>
              <a:t>Examples: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FDD39-FBA8-3120-AF80-591A148C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7" grpId="0"/>
      <p:bldP spid="32" grpId="0"/>
      <p:bldP spid="34" grpId="0"/>
      <p:bldP spid="42" grpId="0" animBg="1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applied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0544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2609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381214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49372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3970243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it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9848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fusion of applied mathematics and 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71187-EF99-43F8-610D-5D0E2CEC23E0}"/>
              </a:ext>
            </a:extLst>
          </p:cNvPr>
          <p:cNvSpPr txBox="1"/>
          <p:nvPr/>
        </p:nvSpPr>
        <p:spPr>
          <a:xfrm>
            <a:off x="5069518" y="5111687"/>
            <a:ext cx="60938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set an experimentation platform?</a:t>
            </a:r>
            <a:endParaRPr lang="en-US" sz="18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4B2EDA-76DD-8C05-09A8-E5B310C2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99BB9CE4-44CD-0AAB-6DA8-31404CC71AFE}"/>
              </a:ext>
            </a:extLst>
          </p:cNvPr>
          <p:cNvSpPr/>
          <p:nvPr/>
        </p:nvSpPr>
        <p:spPr>
          <a:xfrm>
            <a:off x="2917539" y="1720142"/>
            <a:ext cx="5023297" cy="2662201"/>
          </a:xfrm>
          <a:prstGeom prst="wedgeRectCallout">
            <a:avLst>
              <a:gd name="adj1" fmla="val -59611"/>
              <a:gd name="adj2" fmla="val 1783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Some examples: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No version control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Lack of automated testing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Manual processes to make the system work.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Usage of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jupyter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notebooks in production.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Unclear software design.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  <p:bldP spid="5" grpId="0"/>
      <p:bldP spid="7" grpId="0" animBg="1"/>
      <p:bldP spid="7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9A4D-3F27-87BE-987C-7A47110C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6940FD-E43A-991F-D264-00F929F30095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>
                <a:solidFill>
                  <a:srgbClr val="0F2343"/>
                </a:solidFill>
                <a:latin typeface="Aptos Display"/>
              </a:rPr>
              <a:t>Weak software practices constrain the potential business value a DSS can deliver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95C536-91BF-2855-F5F9-58EBE7A19080}"/>
              </a:ext>
            </a:extLst>
          </p:cNvPr>
          <p:cNvSpPr txBox="1"/>
          <p:nvPr/>
        </p:nvSpPr>
        <p:spPr>
          <a:xfrm>
            <a:off x="340906" y="6470484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A Philosophy of Software Design (John Ousterhout). These curves are illustrative.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CD475-C282-593F-6623-A5D951EC5D81}"/>
              </a:ext>
            </a:extLst>
          </p:cNvPr>
          <p:cNvSpPr txBox="1"/>
          <p:nvPr/>
        </p:nvSpPr>
        <p:spPr>
          <a:xfrm>
            <a:off x="365759" y="2069592"/>
            <a:ext cx="5560685" cy="38779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What happens to weak software?</a:t>
            </a:r>
          </a:p>
          <a:p>
            <a:pPr algn="l"/>
            <a:endParaRPr lang="en-US" sz="2400" b="1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Harder to test, deploy and maintain.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Short-term delivery includes significant technical debt.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At some point becomes unsustainable: rewrite or decommission.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sz="240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78DEF3-DAC5-EADC-568B-6A04D4755D34}"/>
              </a:ext>
            </a:extLst>
          </p:cNvPr>
          <p:cNvCxnSpPr>
            <a:cxnSpLocks/>
          </p:cNvCxnSpPr>
          <p:nvPr/>
        </p:nvCxnSpPr>
        <p:spPr>
          <a:xfrm flipV="1">
            <a:off x="6471920" y="2133600"/>
            <a:ext cx="0" cy="368808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167BB7-4ADC-92CA-38F2-8B95B75BA0DA}"/>
              </a:ext>
            </a:extLst>
          </p:cNvPr>
          <p:cNvCxnSpPr>
            <a:cxnSpLocks/>
          </p:cNvCxnSpPr>
          <p:nvPr/>
        </p:nvCxnSpPr>
        <p:spPr>
          <a:xfrm>
            <a:off x="6471920" y="5821680"/>
            <a:ext cx="432816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5B0DC7E-6703-F2BE-50F5-8538E16F7B5B}"/>
              </a:ext>
            </a:extLst>
          </p:cNvPr>
          <p:cNvSpPr txBox="1"/>
          <p:nvPr/>
        </p:nvSpPr>
        <p:spPr>
          <a:xfrm>
            <a:off x="6700875" y="2103812"/>
            <a:ext cx="1608430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Total progress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2122D9E5-9641-243A-5701-1AAB14F13665}"/>
              </a:ext>
            </a:extLst>
          </p:cNvPr>
          <p:cNvSpPr/>
          <p:nvPr/>
        </p:nvSpPr>
        <p:spPr>
          <a:xfrm rot="16410470">
            <a:off x="6648889" y="4308024"/>
            <a:ext cx="2820006" cy="3175572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B08F6-DC4B-2568-6589-FC3523207FB0}"/>
              </a:ext>
            </a:extLst>
          </p:cNvPr>
          <p:cNvSpPr txBox="1"/>
          <p:nvPr/>
        </p:nvSpPr>
        <p:spPr>
          <a:xfrm>
            <a:off x="10904510" y="5678197"/>
            <a:ext cx="797205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Time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DF66D1F-6873-0AC5-6736-64C2A6E03BDE}"/>
              </a:ext>
            </a:extLst>
          </p:cNvPr>
          <p:cNvSpPr/>
          <p:nvPr/>
        </p:nvSpPr>
        <p:spPr>
          <a:xfrm rot="16410470">
            <a:off x="7789658" y="2038551"/>
            <a:ext cx="5463219" cy="8096824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6FA0F1-05F0-B5D3-19E1-E6587F71B4EC}"/>
              </a:ext>
            </a:extLst>
          </p:cNvPr>
          <p:cNvCxnSpPr>
            <a:cxnSpLocks/>
          </p:cNvCxnSpPr>
          <p:nvPr/>
        </p:nvCxnSpPr>
        <p:spPr>
          <a:xfrm flipV="1">
            <a:off x="6471920" y="2751376"/>
            <a:ext cx="1837385" cy="3070304"/>
          </a:xfrm>
          <a:prstGeom prst="line">
            <a:avLst/>
          </a:prstGeom>
          <a:ln w="38100">
            <a:solidFill>
              <a:srgbClr val="F97316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27492C0-5316-8A6C-5F73-DDB9CBB454DB}"/>
              </a:ext>
            </a:extLst>
          </p:cNvPr>
          <p:cNvSpPr/>
          <p:nvPr/>
        </p:nvSpPr>
        <p:spPr>
          <a:xfrm>
            <a:off x="8560387" y="2582204"/>
            <a:ext cx="1960880" cy="33834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Solid foundations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8BA7A5-7A69-BBE4-8702-2AE04A1362B0}"/>
              </a:ext>
            </a:extLst>
          </p:cNvPr>
          <p:cNvSpPr/>
          <p:nvPr/>
        </p:nvSpPr>
        <p:spPr>
          <a:xfrm>
            <a:off x="9954774" y="3428905"/>
            <a:ext cx="1690612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Legacy system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1C6475-0718-C7C2-C5AA-8DECECEB9B30}"/>
              </a:ext>
            </a:extLst>
          </p:cNvPr>
          <p:cNvSpPr/>
          <p:nvPr/>
        </p:nvSpPr>
        <p:spPr>
          <a:xfrm>
            <a:off x="8259252" y="4313267"/>
            <a:ext cx="2032545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Short-lived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30B03C-2123-7AEF-B77A-AE47DBACF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92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  <p:bldP spid="25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BC7A2-A6DE-C8B8-A266-117B500E2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537133-00D2-B296-3790-AF51B469D2D0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Operate as a specialized software development team to unlock the full value of a DSS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4A4681D-4F89-CDE3-B0BB-0038B1269F89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70CF306-7DFD-B713-A616-8FD005FD74F3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40D346-36BD-4C80-4D82-A6ED0CD0FD0C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1AC9097-E73D-D8CC-7988-A1F79E34FA2B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0EC73A7-6518-A3A8-9BAB-714684CBC546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DE225F2-F3A6-67AD-471E-EA4205E9CC90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agnostic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8016E2-ECA1-30EA-F9C7-A45A026D4455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FBECD0-B79B-8E35-B53A-12D9DBB89D6A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01C05-FAAC-4E71-0873-19FC666A2078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C0BF73-EF50-8BF3-4BB8-82120F16D1B3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883C84-27FD-F66D-505D-D3D913B77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9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7" grpId="0"/>
      <p:bldP spid="8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E8281-9896-64B1-6096-21E51F7B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46D02F-6B0B-996E-8E33-91A236B17836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The OR team owns the product, but it does not need to hold every skill itself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65760" y="1804093"/>
            <a:ext cx="5486400" cy="3707022"/>
          </a:xfrm>
          <a:prstGeom prst="roundRect">
            <a:avLst>
              <a:gd name="adj" fmla="val 7667"/>
            </a:avLst>
          </a:prstGeom>
          <a:solidFill>
            <a:srgbClr val="F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65760" y="5902452"/>
            <a:ext cx="11457432" cy="502920"/>
          </a:xfrm>
          <a:prstGeom prst="roundRect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Aptos Display"/>
              </a:rPr>
              <a:t>Borrow expertise</a:t>
            </a:r>
            <a:r>
              <a:rPr lang="en-US" sz="2000" b="1" dirty="0">
                <a:solidFill>
                  <a:srgbClr val="FFFFFF"/>
                </a:solidFill>
                <a:latin typeface="Aptos Display"/>
              </a:rPr>
              <a:t> from your organization</a:t>
            </a:r>
            <a:r>
              <a:rPr sz="2000" b="1" dirty="0">
                <a:solidFill>
                  <a:srgbClr val="FFFFFF"/>
                </a:solidFill>
                <a:latin typeface="Aptos Display"/>
              </a:rPr>
              <a:t>. Keep product ownership.</a:t>
            </a:r>
          </a:p>
        </p:txBody>
      </p:sp>
      <p:sp>
        <p:nvSpPr>
          <p:cNvPr id="19" name="Rounded Rectangle 4">
            <a:extLst>
              <a:ext uri="{FF2B5EF4-FFF2-40B4-BE49-F238E27FC236}">
                <a16:creationId xmlns:a16="http://schemas.microsoft.com/office/drawing/2014/main" id="{11D39324-2762-08FD-6268-45EDFE4A53E3}"/>
              </a:ext>
            </a:extLst>
          </p:cNvPr>
          <p:cNvSpPr/>
          <p:nvPr/>
        </p:nvSpPr>
        <p:spPr>
          <a:xfrm>
            <a:off x="6248400" y="1748158"/>
            <a:ext cx="5486400" cy="3707022"/>
          </a:xfrm>
          <a:prstGeom prst="roundRect">
            <a:avLst>
              <a:gd name="adj" fmla="val 7334"/>
            </a:avLst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BE0993-DA21-3D5B-A442-AD34A197EE69}"/>
              </a:ext>
            </a:extLst>
          </p:cNvPr>
          <p:cNvSpPr txBox="1"/>
          <p:nvPr/>
        </p:nvSpPr>
        <p:spPr>
          <a:xfrm>
            <a:off x="36576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97316"/>
                </a:solidFill>
                <a:latin typeface="Aptos" panose="020B0004020202020204" pitchFamily="34" charset="0"/>
              </a:rPr>
              <a:t>OWN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D641A7-263D-A057-BCA2-AA08F2B6313B}"/>
              </a:ext>
            </a:extLst>
          </p:cNvPr>
          <p:cNvSpPr txBox="1"/>
          <p:nvPr/>
        </p:nvSpPr>
        <p:spPr>
          <a:xfrm>
            <a:off x="624840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3B82F6"/>
                </a:solidFill>
                <a:latin typeface="Aptos" panose="020B0004020202020204" pitchFamily="34" charset="0"/>
              </a:rPr>
              <a:t>BORROW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648204-F497-5152-2C64-ECEDAA84540D}"/>
              </a:ext>
            </a:extLst>
          </p:cNvPr>
          <p:cNvCxnSpPr/>
          <p:nvPr/>
        </p:nvCxnSpPr>
        <p:spPr>
          <a:xfrm>
            <a:off x="543697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36063B-1C9B-6027-A453-EB20CF8A324C}"/>
              </a:ext>
            </a:extLst>
          </p:cNvPr>
          <p:cNvCxnSpPr/>
          <p:nvPr/>
        </p:nvCxnSpPr>
        <p:spPr>
          <a:xfrm>
            <a:off x="6437870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F622C4D-D1A1-74FE-B3EB-0A20AA3415B0}"/>
              </a:ext>
            </a:extLst>
          </p:cNvPr>
          <p:cNvSpPr txBox="1"/>
          <p:nvPr/>
        </p:nvSpPr>
        <p:spPr>
          <a:xfrm>
            <a:off x="1404407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Business interaction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Product behavior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Software quality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CI/CD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60F76A-B17B-6B86-FDF2-5721256C5003}"/>
              </a:ext>
            </a:extLst>
          </p:cNvPr>
          <p:cNvSpPr txBox="1"/>
          <p:nvPr/>
        </p:nvSpPr>
        <p:spPr>
          <a:xfrm>
            <a:off x="7298580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Cybersecurity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Infrastructure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Reliability expertise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UI/UX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CDF058-A229-2D05-351F-B60E27EC3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5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0F2343"/>
                </a:solidFill>
                <a:latin typeface="Aptos Display"/>
              </a:rPr>
              <a:t>Case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5D5E82-D47A-37A7-2B7B-84D887C7C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F00BEA-BA70-D137-11DA-9B578A1356DB}"/>
              </a:ext>
            </a:extLst>
          </p:cNvPr>
          <p:cNvSpPr txBox="1"/>
          <p:nvPr/>
        </p:nvSpPr>
        <p:spPr>
          <a:xfrm>
            <a:off x="292843" y="6454629"/>
            <a:ext cx="11329984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100" dirty="0">
                <a:solidFill>
                  <a:srgbClr val="0F2343"/>
                </a:solidFill>
                <a:latin typeface="Aptos"/>
              </a:rPr>
              <a:t>* Data is confidential. At a high-level: throughput measured as commits to main branch per person per weak. Software quality measured as unit-testing coverage at line level, and code smells indicated by a static-code analysis tool.</a:t>
            </a:r>
            <a:endParaRPr sz="11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AI-coding assistants require the engineering investment urgently: they </a:t>
            </a:r>
            <a:r>
              <a:rPr lang="en-US" sz="4000" b="1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your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C32F9C-F085-EDA4-3109-A0FDABB2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CAD1-18DD-1E1E-6665-6526783B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E0521-074C-088B-6C50-531DDADE8C94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reflection: what could you improve in your team structure and practices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?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9593569-2483-EC91-AB7D-E18DAFE8D5D3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8D34C75-466F-3827-9632-4E29F453AAF4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18B315C-5074-6AE9-C194-1714346DE199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30E2244-EC69-8FB0-2533-72D82DFA77BD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6507B7-F8DA-625B-0349-E6A2E27B504B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EDAD77-31D7-B464-D941-127A8BC70511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07A43C-BA10-A97C-9FE7-CE3F37179358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848E63-95B3-614C-6A77-057FA3D909F4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02A929-E5DD-3828-008F-A7C866990E67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6B52E4-CD6E-E2D1-8690-5AC7747DBDCE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663F89-8D67-7270-5D3C-4D27C3AD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7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411A1C-31C5-152B-C891-9094AA979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634" y="1271354"/>
            <a:ext cx="5373286" cy="5373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How do you build that team? </a:t>
            </a:r>
            <a:r>
              <a:rPr sz="4000" b="1" dirty="0">
                <a:solidFill>
                  <a:srgbClr val="F97316"/>
                </a:solidFill>
                <a:latin typeface="Aptos Display"/>
              </a:rPr>
              <a:t>SEFOP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packages practices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and training materials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679379" y="6213753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2AAC7-92A8-2E98-7927-C58D1885D6A6}"/>
              </a:ext>
            </a:extLst>
          </p:cNvPr>
          <p:cNvSpPr txBox="1"/>
          <p:nvPr/>
        </p:nvSpPr>
        <p:spPr>
          <a:xfrm>
            <a:off x="365760" y="1895295"/>
            <a:ext cx="6193875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free &amp; 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09A9ACA-ACDD-DE32-4754-A4FDC9C0F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357" y="2645739"/>
            <a:ext cx="1737360" cy="17373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3A122A3-D632-227E-8EBE-3EEEA24CF0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74" y="4569191"/>
            <a:ext cx="1737360" cy="173736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FEC196A-61F4-6E95-B0B1-07A1D3FD8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714" y="2737179"/>
            <a:ext cx="1554480" cy="155448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BB8DB83-27EE-DF17-6FE0-75DEDF1321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6797" y="4660631"/>
            <a:ext cx="1554480" cy="155448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EB3279D-A715-1768-0F0B-9B3E38A334DE}"/>
              </a:ext>
            </a:extLst>
          </p:cNvPr>
          <p:cNvSpPr txBox="1"/>
          <p:nvPr/>
        </p:nvSpPr>
        <p:spPr>
          <a:xfrm>
            <a:off x="1321821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3C749-40E6-AFD5-97C4-DD8D8DD44EA9}"/>
              </a:ext>
            </a:extLst>
          </p:cNvPr>
          <p:cNvSpPr txBox="1"/>
          <p:nvPr/>
        </p:nvSpPr>
        <p:spPr>
          <a:xfrm>
            <a:off x="4220920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22F8AC-347E-5A91-9AA5-6CE8C5564342}"/>
              </a:ext>
            </a:extLst>
          </p:cNvPr>
          <p:cNvSpPr txBox="1"/>
          <p:nvPr/>
        </p:nvSpPr>
        <p:spPr>
          <a:xfrm>
            <a:off x="1196626" y="6153588"/>
            <a:ext cx="12254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7F4D0-DFBC-128B-257E-B41B276C6470}"/>
              </a:ext>
            </a:extLst>
          </p:cNvPr>
          <p:cNvSpPr txBox="1"/>
          <p:nvPr/>
        </p:nvSpPr>
        <p:spPr>
          <a:xfrm>
            <a:off x="3916797" y="6150122"/>
            <a:ext cx="1645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Go agentic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1E5FC8-297F-CDAD-6473-73C5ED40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39C2-67EF-3D9B-4837-FD17E018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1D2AE3-A542-72C8-4C2B-55C7C0E59928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Conclusion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Oval 2"/>
          <p:cNvSpPr/>
          <p:nvPr/>
        </p:nvSpPr>
        <p:spPr>
          <a:xfrm>
            <a:off x="463974" y="1506083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1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51376" y="1716670"/>
            <a:ext cx="9492827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A recurring decision is a product.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Product is software.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51376" y="2979178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Software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 need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s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proper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engineering practices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to unlock its full business value.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51376" y="4298576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The OR team has to own the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lifecycle of the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product,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with its specific software &amp; scientific needs.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51376" y="5579441"/>
            <a:ext cx="9956802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AI-coding assistants need proper engineering first to unlock full potential.  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FC1515D-B1D5-E84F-931F-45C879B1F17C}"/>
              </a:ext>
            </a:extLst>
          </p:cNvPr>
          <p:cNvSpPr/>
          <p:nvPr/>
        </p:nvSpPr>
        <p:spPr>
          <a:xfrm>
            <a:off x="463974" y="2786947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2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1F4C30-3CEC-098D-0118-C753D52B3A2F}"/>
              </a:ext>
            </a:extLst>
          </p:cNvPr>
          <p:cNvSpPr/>
          <p:nvPr/>
        </p:nvSpPr>
        <p:spPr>
          <a:xfrm>
            <a:off x="463974" y="4067811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3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21650A3-6C64-0309-0E3B-F77325B3F440}"/>
              </a:ext>
            </a:extLst>
          </p:cNvPr>
          <p:cNvSpPr/>
          <p:nvPr/>
        </p:nvSpPr>
        <p:spPr>
          <a:xfrm>
            <a:off x="463974" y="5348676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4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98A76-CE52-0DF7-63DB-9D3F8A66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8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3153</TotalTime>
  <Words>1176</Words>
  <Application>Microsoft Office PowerPoint</Application>
  <PresentationFormat>Widescreen</PresentationFormat>
  <Paragraphs>176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174</cp:revision>
  <dcterms:created xsi:type="dcterms:W3CDTF">2013-01-27T09:14:16Z</dcterms:created>
  <dcterms:modified xsi:type="dcterms:W3CDTF">2026-10-17T20:37:52Z</dcterms:modified>
  <cp:category/>
</cp:coreProperties>
</file>